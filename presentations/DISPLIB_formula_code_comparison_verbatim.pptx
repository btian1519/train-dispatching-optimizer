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ce435fd0a64012" /><Relationship Type="http://schemas.openxmlformats.org/officeDocument/2006/relationships/extended-properties" Target="/docProps/app.xml" Id="R1c2fec8a2d6b42f4" /><Relationship Type="http://schemas.openxmlformats.org/officeDocument/2006/relationships/officeDocument" Target="/ppt/presentation.xml" Id="R93581803b6d44a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2515b11306400e"/>
  </p:sldMasterIdLst>
  <p:notesMasterIdLst>
    <p:notesMasterId xmlns:r="http://schemas.openxmlformats.org/officeDocument/2006/relationships" r:id="R9d4762f5b8744858"/>
  </p:notesMasterIdLst>
  <p:sldIdLst>
    <p:sldId xmlns:r="http://schemas.openxmlformats.org/officeDocument/2006/relationships" id="256" r:id="R5652ab7acb0a4293"/>
    <p:sldId xmlns:r="http://schemas.openxmlformats.org/officeDocument/2006/relationships" id="257" r:id="R7b101a71b18f4430"/>
    <p:sldId xmlns:r="http://schemas.openxmlformats.org/officeDocument/2006/relationships" id="258" r:id="Rdc6c51c600b74670"/>
    <p:sldId xmlns:r="http://schemas.openxmlformats.org/officeDocument/2006/relationships" id="259" r:id="R24669e141f344e94"/>
    <p:sldId xmlns:r="http://schemas.openxmlformats.org/officeDocument/2006/relationships" id="260" r:id="Rf8e423f8a8714bb4"/>
    <p:sldId xmlns:r="http://schemas.openxmlformats.org/officeDocument/2006/relationships" id="261" r:id="R32eacb206ce042f4"/>
    <p:sldId xmlns:r="http://schemas.openxmlformats.org/officeDocument/2006/relationships" id="262" r:id="R091563edf81d4aa8"/>
    <p:sldId xmlns:r="http://schemas.openxmlformats.org/officeDocument/2006/relationships" id="263" r:id="R258e329f4b3a40f4"/>
    <p:sldId xmlns:r="http://schemas.openxmlformats.org/officeDocument/2006/relationships" id="264" r:id="Rb5bffbde35b6490c"/>
    <p:sldId xmlns:r="http://schemas.openxmlformats.org/officeDocument/2006/relationships" id="265" r:id="Rccb97b9e7aaf402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2515b11306400e" /><Relationship Type="http://schemas.openxmlformats.org/officeDocument/2006/relationships/theme" Target="/ppt/theme/theme1.xml" Id="Rbb107bf165be4b60" /><Relationship Type="http://schemas.openxmlformats.org/officeDocument/2006/relationships/notesMaster" Target="/ppt/notesMasters/notesMaster1.xml" Id="R9d4762f5b8744858" /><Relationship Type="http://schemas.openxmlformats.org/officeDocument/2006/relationships/presProps" Target="/ppt/presProps.xml" Id="R1bab70d070cc47cf" /><Relationship Type="http://schemas.openxmlformats.org/officeDocument/2006/relationships/viewProps" Target="/ppt/viewProps.xml" Id="Rff088d8a5eaf444d" /><Relationship Type="http://schemas.openxmlformats.org/officeDocument/2006/relationships/tableStyles" Target="/ppt/tableStyles.xml" Id="R01ed017d8e5f4851" /><Relationship Type="http://schemas.openxmlformats.org/officeDocument/2006/relationships/slide" Target="/ppt/slides/slide1.xml" Id="R5652ab7acb0a4293" /><Relationship Type="http://schemas.openxmlformats.org/officeDocument/2006/relationships/slide" Target="/ppt/slides/slide2.xml" Id="R7b101a71b18f4430" /><Relationship Type="http://schemas.openxmlformats.org/officeDocument/2006/relationships/slide" Target="/ppt/slides/slide3.xml" Id="Rdc6c51c600b74670" /><Relationship Type="http://schemas.openxmlformats.org/officeDocument/2006/relationships/slide" Target="/ppt/slides/slide4.xml" Id="R24669e141f344e94" /><Relationship Type="http://schemas.openxmlformats.org/officeDocument/2006/relationships/slide" Target="/ppt/slides/slide5.xml" Id="Rf8e423f8a8714bb4" /><Relationship Type="http://schemas.openxmlformats.org/officeDocument/2006/relationships/slide" Target="/ppt/slides/slide6.xml" Id="R32eacb206ce042f4" /><Relationship Type="http://schemas.openxmlformats.org/officeDocument/2006/relationships/slide" Target="/ppt/slides/slide7.xml" Id="R091563edf81d4aa8" /><Relationship Type="http://schemas.openxmlformats.org/officeDocument/2006/relationships/slide" Target="/ppt/slides/slide8.xml" Id="R258e329f4b3a40f4" /><Relationship Type="http://schemas.openxmlformats.org/officeDocument/2006/relationships/slide" Target="/ppt/slides/slide9.xml" Id="Rb5bffbde35b6490c" /><Relationship Type="http://schemas.openxmlformats.org/officeDocument/2006/relationships/slide" Target="/ppt/slides/slide10.xml" Id="Rccb97b9e7aaf40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adc3e725de545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c7ac7380d8419d" /><Relationship Type="http://schemas.openxmlformats.org/officeDocument/2006/relationships/notesMaster" Target="/ppt/notesMasters/notesMaster1.xml" Id="Reac48331e48f4e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9793f7bda547cf" /><Relationship Type="http://schemas.openxmlformats.org/officeDocument/2006/relationships/notesMaster" Target="/ppt/notesMasters/notesMaster1.xml" Id="Rc24f89ca9d3548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a5cc41c7da42ce" /><Relationship Type="http://schemas.openxmlformats.org/officeDocument/2006/relationships/notesMaster" Target="/ppt/notesMasters/notesMaster1.xml" Id="R15a3f7ee483d4b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a22ba1c65e4cda" /><Relationship Type="http://schemas.openxmlformats.org/officeDocument/2006/relationships/notesMaster" Target="/ppt/notesMasters/notesMaster1.xml" Id="R6ef8935abf3848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8d51a4125a438b" /><Relationship Type="http://schemas.openxmlformats.org/officeDocument/2006/relationships/notesMaster" Target="/ppt/notesMasters/notesMaster1.xml" Id="Rd6abc413d82a45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136e12f0374244" /><Relationship Type="http://schemas.openxmlformats.org/officeDocument/2006/relationships/notesMaster" Target="/ppt/notesMasters/notesMaster1.xml" Id="Rebcdf44f6baa42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3cd9c4818c4525" /><Relationship Type="http://schemas.openxmlformats.org/officeDocument/2006/relationships/notesMaster" Target="/ppt/notesMasters/notesMaster1.xml" Id="Rfea3a73fc79940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97084354354996" /><Relationship Type="http://schemas.openxmlformats.org/officeDocument/2006/relationships/notesMaster" Target="/ppt/notesMasters/notesMaster1.xml" Id="R25b97c335f4a40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a55d1e6cdd4812" /><Relationship Type="http://schemas.openxmlformats.org/officeDocument/2006/relationships/notesMaster" Target="/ppt/notesMasters/notesMaster1.xml" Id="Re6425b8e56d84d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50e5b215c54323" /><Relationship Type="http://schemas.openxmlformats.org/officeDocument/2006/relationships/notesMaster" Target="/ppt/notesMasters/notesMaster1.xml" Id="R197a0bd2e0314b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f478ecc767479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5563a47caa0430e" /><Relationship Type="http://schemas.openxmlformats.org/officeDocument/2006/relationships/slideLayout" Target="/ppt/slideLayouts/slideLayout2.xml" Id="R4b48398b81d14e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48398b81d14e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464c6530e24aee" /><Relationship Type="http://schemas.openxmlformats.org/officeDocument/2006/relationships/notesSlide" Target="/ppt/notesSlides/notesSlide1.xml" Id="Re9da1b71be2a4c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8abc276e3c401d" /><Relationship Type="http://schemas.openxmlformats.org/officeDocument/2006/relationships/image" Target="/ppt/media/image.png" Id="Rf3824fe24f3c4b9e" /><Relationship Type="http://schemas.openxmlformats.org/officeDocument/2006/relationships/notesSlide" Target="/ppt/notesSlides/notesSlide2.xml" Id="R2198b5e2144b43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80bef2fb024a46" /><Relationship Type="http://schemas.openxmlformats.org/officeDocument/2006/relationships/image" Target="/ppt/media/image2.png" Id="R8e66a20db1d24576" /><Relationship Type="http://schemas.openxmlformats.org/officeDocument/2006/relationships/notesSlide" Target="/ppt/notesSlides/notesSlide3.xml" Id="R0b519d35475e45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7de52e8d7c45f4" /><Relationship Type="http://schemas.openxmlformats.org/officeDocument/2006/relationships/image" Target="/ppt/media/image3.png" Id="Rba5317c05c6c495e" /><Relationship Type="http://schemas.openxmlformats.org/officeDocument/2006/relationships/notesSlide" Target="/ppt/notesSlides/notesSlide4.xml" Id="R35372a68293148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cf100025d7423a" /><Relationship Type="http://schemas.openxmlformats.org/officeDocument/2006/relationships/image" Target="/ppt/media/image4.png" Id="R7eece637f2ae4a23" /><Relationship Type="http://schemas.openxmlformats.org/officeDocument/2006/relationships/notesSlide" Target="/ppt/notesSlides/notesSlide5.xml" Id="Ra00aa19d85c044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b51da9bae64b28" /><Relationship Type="http://schemas.openxmlformats.org/officeDocument/2006/relationships/image" Target="/ppt/media/image5.png" Id="R28cee3f7d8cd4ade" /><Relationship Type="http://schemas.openxmlformats.org/officeDocument/2006/relationships/notesSlide" Target="/ppt/notesSlides/notesSlide6.xml" Id="R14c494424ec743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884bffe5144376" /><Relationship Type="http://schemas.openxmlformats.org/officeDocument/2006/relationships/image" Target="/ppt/media/image6.png" Id="R12e337db1a8843fb" /><Relationship Type="http://schemas.openxmlformats.org/officeDocument/2006/relationships/notesSlide" Target="/ppt/notesSlides/notesSlide7.xml" Id="Reae8c4f025e341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73531f3a1f47f5" /><Relationship Type="http://schemas.openxmlformats.org/officeDocument/2006/relationships/image" Target="/ppt/media/image7.png" Id="Rff561eb72e2946f3" /><Relationship Type="http://schemas.openxmlformats.org/officeDocument/2006/relationships/image" Target="/ppt/media/image8.png" Id="Rb75566c466bd41c8" /><Relationship Type="http://schemas.openxmlformats.org/officeDocument/2006/relationships/notesSlide" Target="/ppt/notesSlides/notesSlide8.xml" Id="R404cb2d62f4249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694fbdcdd84889" /><Relationship Type="http://schemas.openxmlformats.org/officeDocument/2006/relationships/image" Target="/ppt/media/image9.png" Id="R804fee449da64d89" /><Relationship Type="http://schemas.openxmlformats.org/officeDocument/2006/relationships/notesSlide" Target="/ppt/notesSlides/notesSlide9.xml" Id="Re7e5c4e49a3340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b87976bcbc45d9" /><Relationship Type="http://schemas.openxmlformats.org/officeDocument/2006/relationships/notesSlide" Target="/ppt/notesSlides/notesSlide10.xml" Id="R56f115a27b6645c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894716-2280-42EF-9D33-E62ED125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BDD10-0B84-4C36-A584-4C8F3C91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D663B-A65D-48C8-8CB6-ADFC2BB9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DISPLIB TRAIN DISPATCHING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8779C-A886-4661-8544-9AABCECC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Mathematical model</a:t>
            </a:r>
          </a:p>
          <a:p xmlns:a="http://schemas.openxmlformats.org/drawingml/2006/main">
            <a:pPr algn="l">
              <a:defRPr sz="3675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mapped to actual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CF9BD-8CEC-4CE2-87A9-21AB5D5B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Every code panel is a verbatim excerpt from the repository, selected by file and line range.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E20AA-D988-4679-B4E1-AEC0F166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867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69D9E-C67B-41A9-80A3-EBC63D8C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C7CED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C7CED8"/>
                </a:solidFill>
                <a:latin typeface="Aptos"/>
                <a:ea typeface="Aptos"/>
                <a:cs typeface="Aptos"/>
              </a:rPr>
              <a:t>what changed from the previous draft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ED2E1-301A-431B-BB71-A32EB7A0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81200"/>
            <a:ext cx="428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B0A6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0B0A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D0351-2472-46BE-A978-AB3B13A1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 pseudo-code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EFA2F-1AB5-4062-AD45-B3C04F82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288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7CED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7CED8"/>
                </a:solidFill>
                <a:latin typeface="Aptos"/>
                <a:ea typeface="Aptos"/>
                <a:cs typeface="Aptos"/>
              </a:rPr>
              <a:t>Code boxes are read from .py files at build time.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AA2E7-B41B-4524-8B32-F6513CFD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428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D6C1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A7D6C1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9D125-1CEB-4917-AEAB-3A98A8DE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Exact locations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E1E99-5D66-4195-AFBC-74E35974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7CED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7CED8"/>
                </a:solidFill>
                <a:latin typeface="Aptos"/>
                <a:ea typeface="Aptos"/>
                <a:cs typeface="Aptos"/>
              </a:rPr>
              <a:t>Every excerpt has file name and line range.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164149-22B0-4A69-A4A6-60130C97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52800"/>
            <a:ext cx="428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B0A6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0B0A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91AE0-23F9-4C8A-BD9F-6A064D80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71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Same comparison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408E45-D3EC-4B5F-AD4A-C265EC39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7CED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7CED8"/>
                </a:solidFill>
                <a:latin typeface="Aptos"/>
                <a:ea typeface="Aptos"/>
                <a:cs typeface="Aptos"/>
              </a:rPr>
              <a:t>Math, baseline MIP, and CP-SAT remain side-by-side.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4F6A54-0457-48C4-9F00-79C046F6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38600"/>
            <a:ext cx="428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D6C1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A7D6C1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A309D-596F-43F8-A7F2-7B1BA8DA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576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Honest caveats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5540BD-676F-483C-96EE-78242FC1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7CED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7CED8"/>
                </a:solidFill>
                <a:latin typeface="Aptos"/>
                <a:ea typeface="Aptos"/>
                <a:cs typeface="Aptos"/>
              </a:rPr>
              <a:t>Objective and u-variable implementation details are explicit.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CA1786-3EAA-4E5D-81D3-326526A0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FE7B86-8F17-42BE-89EC-53F09158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Deck rebuilt with verbatim code excerpts from phase1_baseline/src and phase2_extend/src.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82A000-74C6-49E3-8125-9E21B22B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592904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5ADE46-835B-49E0-A0CF-7538E4B7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192E2-EF27-4133-ADFB-D167C234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37CC8-A10D-47B9-97BA-61410EE6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VERBATIM CODE MAP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3C38A-FF48-4FF9-A75E-2288D524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Decision variables are implemented as real solver variables.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B8071-69C0-40BA-8E4F-3DC6538B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This slide shows the actual variable dictionaries and addVar/NewIntVar calls.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D5DF4-E256-406A-AF0B-A6B033CA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CEF5D-6BAF-4F91-B064-3AB7D51A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Mathematical expression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67608-9548-471E-B7F1-C26C3ACB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478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63EC5-43A3-4440-B046-193870DD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Baseline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B5E84-DA09-45CF-8AC9-72AF5286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478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82D3C9-096D-4582-87EB-269D1BEB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Extended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68207-BDB5-420A-A2C3-C99703C5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09750"/>
            <a:ext cx="952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920E6-9862-46C7-A7B0-7B2C363D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09750"/>
            <a:ext cx="952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1B1DBF-36B4-4011-8D94-7DCF86F0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CD3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24fe24f3c4b9e"/>
          <a:stretch xmlns:a="http://schemas.openxmlformats.org/drawingml/2006/main"/>
        </p:blipFill>
        <p:spPr>
          <a:xfrm xmlns:a="http://schemas.openxmlformats.org/drawingml/2006/main">
            <a:off x="647700" y="2772185"/>
            <a:ext cx="2990850" cy="932631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1EB45F-9203-45DF-84C0-3585BD55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00525"/>
            <a:ext cx="2990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Paper: variable definitions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82EE6-819A-4712-97D8-E67A7FA4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91050"/>
            <a:ext cx="3219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478">
            <a:solidFill>
              <a:srgbClr val="A33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302415-5AE6-4CD7-8D2A-41BE109E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2990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MAPPING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6EE47D-80B9-4735-A30B-04CA0E43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2990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x, y, t and u are created inside _build_model(). z, v and w appear on the resource and objective slides.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F7A568-D098-4522-82C2-B39A3BEC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A3BFD5-AD8C-49AF-A708-6F8D05E9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D1C686-D3C7-4F31-AB98-D9B307D5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phase1_baseline/src/mip_model.py:13-41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BFE74C-9174-4B27-A80D-5BCB7148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14600"/>
            <a:ext cx="30861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Variables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self.x = {} # x[train.id, op.id]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self.y = {} # y[train.id, op_a.id, op_b.id]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self.t = {} # t[train.id, op.id]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self.u = {} # u[train.id, op.id]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self.z = {} # z[t1, o1, t2, o2]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self.z_ba = {} # z_ba tracking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self.v = {} # v[c_idx]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self.w = {} # w[c_idx]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self._build_model()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def _build_model(self):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1. Variables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train in self.instance.trains: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op in train.operations: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Variable x_i,a (1 if operation is selected)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self.x[train.id, op.id] = self.model.addVar(vtype=GRB.BINARY, name=f"x_{train.id}_{op.id}")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Variable t_i,a (start time)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ub = op.start_ub if op.start_ub is not None and op.start_ub &lt; float('inf') else GRB.INFINITY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self.t[train.id, op.id] = self.model.addVar(lb=op.start_lb, ub=ub, vtype=GRB.CONTINUOUS, name=f"t_{train.id}_{op.id}")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Variable u_i,a (ordering logic)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self.u[train.id, op.id] = self.model.addVar(lb=0, vtype=GRB.CONTINUOUS, name=f"u_{train.id}_{op.id}")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Variable y_i,a,b (1 if operation b immediately follows a)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for succ in op.successors:</a:t>
            </a:r>
          </a:p>
          <a:p xmlns:a="http://schemas.openxmlformats.org/drawingml/2006/main">
            <a:pPr algn="l">
              <a:defRPr sz="51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1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self.y[train.id, op.id, succ] = self.model.addVar(vtype=GRB.BINARY, name=f"y_{train.id}_{op.id}_{succ}")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A0D80B-5F39-4DAB-B564-0718CEEE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9B3087-0AFF-4879-A18F-E9080B0A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3387EB-F8F3-4C32-902C-6CAC6CF2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phase2_extend/src/cp_model.py:16-67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55B545-EB81-470D-B54A-19797E8A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14600"/>
            <a:ext cx="30861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Core CP Variables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self.x = {}  # x[train_id, op_id]: Boolean, 1 if operation is selected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self.y = {}  # y[train_id, op_a, op_b]: Boolean, 1 if sequence A -&gt; B is taken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self.u = {}  # u[train_id, op_id]: Integer, topological sequence rank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self.starts = {}   # starts[train_id, op_id]: Integer, start time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self.durations = {} # durations[train_id, op_id]: Integer, duration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self.ends = {}     # ends[train_id, op_id]: Integer, end time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self.status = None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self.obj_val = float('inf')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Use a scaling factor since CP-SAT only supports integers, but cost coefficients might be floats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self.COEFF_SCALE = 1000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self._build_model()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def _build_model(self):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resource_intervals = {} # {resource_name: [list of extended IntervalVars]}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obj_costs = [] # List of integer cost variables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-----------------------------------------------------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1. Variables &amp; Interval Construction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-----------------------------------------------------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train in self.instance.trains: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op in train.operations: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t_id = train.id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o_id = op.id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Active boolean var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self.x[t_id, o_id] = self.model.NewBoolVar(f"x_{t_id}_{o_id}")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self.u[t_id, o_id] = self.model.NewIntVar(0, sum(len(tr.operations) for tr in self.instance.trains), f"u_{t_id}_{o_id}")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Time bounds mapping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lb = max(0, int(op.start_lb))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ub_val = op.start_ub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ub = self.horizon if (ub_val is None or ub_val == float('inf')) else min(self.horizon, int(ub_val))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if ub &lt; lb: ub = lb # Safety fallback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self.starts[t_id, o_id] = self.model.NewIntVar(lb, ub, f"st_{t_id}_{o_id}")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self.durations[t_id, o_id] = self.model.NewIntVar(int(op.min_duration), self.horizon, f"dur_{t_id}_{o_id}")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self.ends[t_id, o_id] = self.model.NewIntVar(lb + int(op.min_duration), self.horizon + self.horizon, f"end_{t_id}_{o_id}")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The heart of CP: Optional Interval Variable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iv = self.model.NewOptionalIntervalVar(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self.starts[t_id, o_id],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self.durations[t_id, o_id],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self.ends[t_id, o_id],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self.x[t_id, o_id], 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f"iv_{t_id}_{o_id}"</a:t>
            </a:r>
          </a:p>
          <a:p xmlns:a="http://schemas.openxmlformats.org/drawingml/2006/main">
            <a:pPr algn="l">
              <a:defRPr sz="37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37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BE5E96-65CF-4A6D-876E-29732993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03EBD8-A3A2-487A-9DE2-CDD27FA6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The displayed code is verbatim from the current repository files.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2E5CA1-1526-43DA-AFCD-E967CAFE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004398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53AF70-2B75-406B-AC01-A888BE7E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3247C-0EE2-45FA-9D68-C409ECD4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4779E-20C9-4FF5-B85B-CE05282D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VERBATIM CODE MAP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E3FCD-F173-4434-B24F-0E4B6AC6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Route feasibility is encoded by the actual flow constraints.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AE523-1A07-4D2F-9DCB-ED70C5D1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The baseline block is exactly the code section you are reviewing.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2A798-94C2-4660-8799-57B5EE1B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489B0-C096-4EF1-9412-6F7F493C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Mathematical expression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DE95A-0A28-4283-BE00-1A9C5311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478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CFB3B-9FB0-4530-BC0C-3C974B5E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Baseline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84F33-93D9-464F-AEED-372DF280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478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B8B7B-7F67-4412-88E2-0177E8C0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Extended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1C6C6-4B7B-41D9-A3C4-AD654673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09750"/>
            <a:ext cx="952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9CCB79-BF44-4FDD-95A6-2FA0A282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09750"/>
            <a:ext cx="952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49AE56-E344-4003-A8BD-82ADABD0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32194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CD3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6a20db1d24576"/>
          <a:stretch xmlns:a="http://schemas.openxmlformats.org/drawingml/2006/main"/>
        </p:blipFill>
        <p:spPr>
          <a:xfrm xmlns:a="http://schemas.openxmlformats.org/drawingml/2006/main">
            <a:off x="647700" y="2695026"/>
            <a:ext cx="2990850" cy="1258398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5C186E-9160-4CAD-9A20-7C06731D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71975"/>
            <a:ext cx="2990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Paper Eq. (1): routing constraints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C14E10-96B5-420B-A733-5506D01A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3219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478">
            <a:solidFill>
              <a:srgbClr val="A33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06D444-04F8-4A0D-B5D2-67040F41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2990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 MEANING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1487D0-F353-4072-A609-E202EFBA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67300"/>
            <a:ext cx="2990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Entry leaves once, exit is reached once, intermediate operations conserve flow, and y is linked to x.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743FD-5F62-42DD-A0C5-87AE7221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A908C1-CBE1-4EDB-9823-78DFD828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C078F8-50C0-46EC-B740-5D320EA9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phase1_baseline/src/mip_model.py:70-102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0D4C97-27EA-4CE2-B266-DC38D116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14600"/>
            <a:ext cx="30861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A) Flow constraints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train in self.instance.trains: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entries = [op.id for op in train.operations if len(predecessors[train.id][op.id]) == 0]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exits = [op.id for op in train.operations if len(op.successors) == 0]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# Flow leaving entry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entry in entries: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op = train.get_operation(entry)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self.model.addConstr(gp.quicksum(self.y[train.id, entry, succ] for succ in op.successors) == 1)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self.model.addConstr(self.x[train.id, entry] == 1)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# Flow entering exit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exit in exits: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self.model.addConstr(gp.quicksum(self.y[train.id, pred, exit] for pred in predecessors[train.id][exit]) == 1)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self.model.addConstr(self.x[train.id, exit] == 1)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# Flow conservation for intermediate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op in train.operations: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if op.id not in entries and op.id not in exits: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sum_in = gp.quicksum(self.y[train.id, pred, op.id] for pred in predecessors[train.id][op.id])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sum_out = gp.quicksum(self.y[train.id, op.id, succ] for succ in op.successors)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self.model.addConstr(sum_in == sum_out)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self.model.addConstr(sum_in == self.x[train.id, op.id])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# Logical y relates to x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op in train.operations: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for succ in op.successors: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self.model.addConstr(self.y[train.id, op.id, succ] &lt;= self.x[train.id, op.id])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self.model.addConstr(self.y[train.id, op.id, succ] &lt;= self.x[train.id, succ])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self.model.addConstr(self.x[train.id, op.id] + self.x[train.id, succ] - 1 &lt;= self.y[train.id, op.id, succ])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# Duration minimum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self.model.addConstr(self.t[train.id, succ] - self.t[train.id, op.id] &gt;= op.min_duration * self.y[train.id, op.id, succ])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262BD0-5D16-4032-AD7F-327B3F13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ED2284-F8F0-4FD5-82ED-2C20479A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6CD25A-7009-4D82-8FF8-2A41ED70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phase2_extend/src/cp_model.py:156-188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741700-880C-4B52-B11D-10C2B226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14600"/>
            <a:ext cx="30861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3. Flow Constraints (Entering &amp; Leaving)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-----------------------------------------------------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predecessors = {train.id: {op.id: [] for op in train.operations} for train in self.instance.trains}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train in self.instance.trains: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op in train.operations: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for succ in op.successors: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predecessors[train.id][succ].append(op.id)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train in self.instance.trains: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t_id = train.id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starts_idx = [op.id for op in train.operations if len(predecessors[t_id][op.id]) == 0]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ends_idx = [op.id for op in train.operations if len(op.successors) == 0]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# Start Ops must be active (usually only 1 start)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o_idx in starts_idx: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self.model.Add(self.x[t_id, o_idx] == 1)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# End Ops must be active (usually only 1 end)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o_idx in ends_idx: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self.model.Add(self.x[t_id, o_idx] == 1)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op in train.operations: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o_id = op.id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Flow OUT: sum_out == x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if o_id not in ends_idx: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self.model.Add(sum(self.y[t_id, o_id, succ] for succ in op.successors) == self.x[t_id, o_id])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Flow IN: sum_in == x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if o_id not in starts_idx: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preds = predecessors[t_id][o_id]</a:t>
            </a:r>
          </a:p>
          <a:p xmlns:a="http://schemas.openxmlformats.org/drawingml/2006/main">
            <a:pPr algn="l">
              <a:defRPr sz="446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6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self.model.Add(sum(self.y[t_id, p, o_id] for p in preds) == self.x[t_id, o_id])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C0A1E9-0AF8-43C9-A3D4-590C11B6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EE6358-EAEE-4759-AD54-E7EDE4FE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Eq. (1) is the direct counterpart of the flow-constraint loops.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3CFF2A-E92E-48A6-8119-0C25E87C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832045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DA464D-49D3-48CC-A200-D47A3AEA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562F1-67BC-4FEA-ACB9-7E8F962C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72720-BE19-489B-9496-70FD3FA1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VERBATIM CODE MAP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149A4-DC6A-4E94-B0C0-871FF1E2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Time windows and durations are implemented in separate exact snippets.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57A2D-465F-4B20-9DCF-4D21399E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The baseline uses t variables; the extension uses start-duration-end intervals.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53625-04A2-45A3-BAAD-C5AAE620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56B6C-9038-4260-A229-0ABAFC12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Mathematical expression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6731E-F9B5-45FB-A08A-1A129BC4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478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10CBD-7D45-4924-84DE-E66058EE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Baseline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24C77-0738-4692-9B0C-ABCABF04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478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B86A4B-FAFF-435D-B9B2-9387C428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Extended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840B4-0B0A-4CFC-BA22-2D885444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09750"/>
            <a:ext cx="952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680E7C-D3D3-42F2-8873-F7452E10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09750"/>
            <a:ext cx="952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A8E2E-A1DC-44BD-BF30-94305747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32194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CD3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317c05c6c495e"/>
          <a:stretch xmlns:a="http://schemas.openxmlformats.org/drawingml/2006/main"/>
        </p:blipFill>
        <p:spPr>
          <a:xfrm xmlns:a="http://schemas.openxmlformats.org/drawingml/2006/main">
            <a:off x="647700" y="2728858"/>
            <a:ext cx="2990850" cy="790684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D3D9A-79AF-4470-8542-845D5039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2990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Problem definition: time bounds and minimum duration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1501F-2C57-4598-AD01-68EDA545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3219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478">
            <a:solidFill>
              <a:srgbClr val="A33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5D2EC-F808-4955-A6EC-30A28E3A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2990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 MEANING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65A608-6D0C-431D-B291-C56F877B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2990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The displayed snippets are exact line ranges, but split because the code creates time variables and duration constraints in different parts of _build_model().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5C5672-B207-4025-8968-236B6AF4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A587F3-FA66-4780-B1B9-541F89AB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4BC35A-3A67-47BE-852F-AE657766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mip_model.py:32-34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15C858-76FD-4396-9FBA-200925E5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14600"/>
            <a:ext cx="3086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4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Variable t_i,a (start time)</a:t>
            </a:r>
          </a:p>
          <a:p xmlns:a="http://schemas.openxmlformats.org/drawingml/2006/main">
            <a:pPr algn="l">
              <a:defRPr sz="54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4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ub = op.start_ub if op.start_ub is not None and op.start_ub &lt; float('inf') else GRB.INFINITY</a:t>
            </a:r>
          </a:p>
          <a:p xmlns:a="http://schemas.openxmlformats.org/drawingml/2006/main">
            <a:pPr algn="l">
              <a:defRPr sz="54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4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self.t[train.id, op.id] = self.model.addVar(lb=op.start_lb, ub=ub, vtype=GRB.CONTINUOUS, name=f"t_{train.id}_{op.id}")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C139C7-75B2-46AF-B21A-8AACC952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95700"/>
            <a:ext cx="3314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1F0B13-0DFC-4B21-9B5F-78A36D76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95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A7BD6F-851F-4100-A828-A2827539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52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mip_model.py:101-102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C2438D-E92E-4B7B-A91B-D73065E0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38600"/>
            <a:ext cx="30861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4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# Duration minimum</a:t>
            </a:r>
          </a:p>
          <a:p xmlns:a="http://schemas.openxmlformats.org/drawingml/2006/main">
            <a:pPr algn="l">
              <a:defRPr sz="54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4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self.model.addConstr(self.t[train.id, succ] - self.t[train.id, op.id] &gt;= op.min_duration * self.y[train.id, op.id, succ])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C80EF6-3E73-44FC-A8C7-A8149CE0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815F55-8E73-46D1-AEEF-EC2D72BC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8608DA-7C62-4768-B647-7CF65216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cp_model.py:50-67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90D46C-D187-46D4-8CAE-88188B48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14600"/>
            <a:ext cx="3086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Time bounds mapping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lb = max(0, int(op.start_lb))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ub_val = op.start_ub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ub = self.horizon if (ub_val is None or ub_val == float('inf')) else min(self.horizon, int(ub_val))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if ub &lt; lb: ub = lb # Safety fallback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self.starts[t_id, o_id] = self.model.NewIntVar(lb, ub, f"st_{t_id}_{o_id}")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self.durations[t_id, o_id] = self.model.NewIntVar(int(op.min_duration), self.horizon, f"dur_{t_id}_{o_id}")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self.ends[t_id, o_id] = self.model.NewIntVar(lb + int(op.min_duration), self.horizon + self.horizon, f"end_{t_id}_{o_id}")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The heart of CP: Optional Interval Variable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iv = self.model.NewOptionalIntervalVar(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self.starts[t_id, o_id], 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self.durations[t_id, o_id], 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self.ends[t_id, o_id], 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self.x[t_id, o_id], 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f"iv_{t_id}_{o_id}"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BE7E78-4A04-4989-B256-95780818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43400"/>
            <a:ext cx="33147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E3F0F6-8A25-4D99-9963-CDAED98E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434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42B333-CC23-4E41-B5E1-7F03A734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005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cp_model.py:190-197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4E7E9F-3145-45CD-9DF7-1D46C297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86300"/>
            <a:ext cx="3086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Precedences Time Logic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for succ in op.successors: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# IF y[op-&gt;succ] is true =&gt; start(succ) == end(op)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# This is critical: the train occupies the resource until it physically starts the next operation!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self.model.Add(self.starts[t_id, succ] == self.ends[t_id, o_id]).OnlyEnforceIf(self.y[t_id, o_id, succ])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# Strict topological rank progression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self.model.Add(self.u[t_id, succ] &gt;= self.u[t_id, o_id] + 1).OnlyEnforceIf(self.y[t_id, o_id, succ])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704381-93C8-4CF6-B980-DE15B906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7948EB-3B5B-4928-B215-EFAF18F7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No synthetic abbreviations are used inside the code boxes.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80F870-DD76-49B7-ABB9-774A8EC3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791622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3C0D95-960F-4250-B649-F509B39E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DE788-DFB7-47D5-8D74-14689C46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91E76-84CA-4A46-84BA-F4F2DFDA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VERBATIM CODE MAP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8BFAE-B5FC-4350-B4B0-B91F0811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The conflict set A is built by scanning shared resources.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CC347-EBBD-453D-BD60-A4BE5FD3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Both phases use the same parser logic for conflict-pair generation.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EAC9C-F153-41CB-8C22-CBF11F36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8AE0A-8BA2-4CDF-85BE-191429FE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Mathematical expression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65761-54D4-4D82-9DC0-40BC1E09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478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9EA1F-07E0-4086-A9B5-2111B4EB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Baseline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824D3-30C6-499C-9887-9B7D7E23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478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FBB84-F8B9-4405-A653-AAE9D17C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Extended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8DC5B2-B261-439F-BF62-99190EE9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09750"/>
            <a:ext cx="952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DEB15-F15C-4C4D-949C-FC3DA9A7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09750"/>
            <a:ext cx="952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D01728-8C49-4B9B-AAA4-C5C01FB3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3219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CD3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ce637f2ae4a23"/>
          <a:stretch xmlns:a="http://schemas.openxmlformats.org/drawingml/2006/main"/>
        </p:blipFill>
        <p:spPr>
          <a:xfrm xmlns:a="http://schemas.openxmlformats.org/drawingml/2006/main">
            <a:off x="647700" y="2748371"/>
            <a:ext cx="2990850" cy="256359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829DED-A441-4C93-AAE0-E6E64E2B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67075"/>
            <a:ext cx="2990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Paper: conflict set 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2BFC8F-6421-42A9-AFAD-E826A244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3219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478">
            <a:solidFill>
              <a:srgbClr val="A33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4BD8DB-1655-493C-BED1-E1047269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2990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 MEANING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5F4DD-89A3-4410-9853-ECCECD20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2990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A contains operation pairs from different trains that require the same resource. The code returns train ids, operation ids, resource name and both release times.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A9ED2B-DCAD-4050-8EF3-11086B0E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CBC97C-8A23-4032-8E23-A2E1E341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57A570-F2B7-46F3-A83F-CEC08EB3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phase1_baseline/src/data_parser.py:85-113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982E22-AF94-49C9-8B63-D95EB1D9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14600"/>
            <a:ext cx="30861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def find_conflict_pairs(self) -&gt; List[Tuple[int, int, int, int, str, int, int]]: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"""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Returns pairs of operations from different trains that require the same resource.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Returns tuples of (train_i, op_a, train_j, op_b, resource, lambda_i, lambda_j)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i &lt; j to avoid duplicate symmetric pairs.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"""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Map resource -&gt; list of (train_idx, op_idx, release_time)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res_map = {}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t in self.trains: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op in t.operations: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for req in op.resources: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if req.resource not in res_map: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res_map[req.resource] = []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res_map[req.resource].append((t.id, op.id, req.release_time))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conflicts = []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res, usage_list in res_map.items():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idx1 in range(len(usage_list)):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for idx2 in range(idx1 + 1, len(usage_list)):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t1, op1, l1 = usage_list[idx1]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t2, op2, l2 = usage_list[idx2]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if t1 != t2: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# ensure t1 &lt; t2 for consistent ordering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if t1 &gt; t2: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    conflicts.append((t2, op2, t1, op1, res, l2, l1))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else: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    conflicts.append((t1, op1, t2, op2, res, l1, l2))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return list(set(conflicts))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54818F-8D35-48AB-95B1-8E3B2A45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943D0-F608-41F6-B039-AFF15B93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461555-C429-4ACC-919A-6DD41988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phase2_extend/src/data_parser.py:85-113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C9AE56-639B-4298-9683-9406FE2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14600"/>
            <a:ext cx="30861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def find_conflict_pairs(self) -&gt; List[Tuple[int, int, int, int, str, int, int]]: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"""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Returns pairs of operations from different trains that require the same resource.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Returns tuples of (train_i, op_a, train_j, op_b, resource, lambda_i, lambda_j)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i &lt; j to avoid duplicate symmetric pairs.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"""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Map resource -&gt; list of (train_idx, op_idx, release_time)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res_map = {}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t in self.trains: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op in t.operations: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for req in op.resources: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if req.resource not in res_map: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res_map[req.resource] = []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res_map[req.resource].append((t.id, op.id, req.release_time))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conflicts = []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res, usage_list in res_map.items():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idx1 in range(len(usage_list)):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for idx2 in range(idx1 + 1, len(usage_list)):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t1, op1, l1 = usage_list[idx1]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t2, op2, l2 = usage_list[idx2]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if t1 != t2: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# ensure t1 &lt; t2 for consistent ordering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if t1 &gt; t2: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    conflicts.append((t2, op2, t1, op1, res, l2, l1))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else: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    conflicts.append((t1, op1, t2, op2, res, l1, l2))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return list(set(conflicts))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97FE37-14A6-462B-9B93-065A0E73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98CB76-07D3-4F71-9A57-D3C662E3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The two parser files currently contain the same conflict-pair implementation.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B092D3-E876-4887-8113-7B7F8051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716514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AAF34A-AB52-4CAD-AC30-376FF061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B1126-3530-4EBA-A48D-5FB73DBF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8F0DE-AB4B-4291-B3B6-38E41925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VERBATIM CODE MAP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101C5-B34C-41B4-BC23-6294EBD0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Resource exclusivity is actual z-precedence code versus actual interval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3CFF0-5F7A-4A66-AAA2-5C0BED5E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This is the code-level counterpart of Eq. (2).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CBB28-5E57-4110-A92A-CC263A1B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FD8E2-FFA3-4819-AA0D-F60469D6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Mathematical expression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065B5-FB57-4D8C-A40D-463170AF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478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A071E-AE12-4B2C-BBCF-C42EE52C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Baseline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F8609-5BD1-4555-81DD-F45A2CA2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478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3B44A-E1EC-40CE-8126-CD403ACC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Extended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3108B-588A-4AED-9589-6B050360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09750"/>
            <a:ext cx="952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4B27D-2985-491F-A76F-105964B0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09750"/>
            <a:ext cx="952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0FF8B1-F364-4F78-B3C2-A11C6858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32194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CD3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ee3f7d8cd4ade"/>
          <a:stretch xmlns:a="http://schemas.openxmlformats.org/drawingml/2006/main"/>
        </p:blipFill>
        <p:spPr>
          <a:xfrm xmlns:a="http://schemas.openxmlformats.org/drawingml/2006/main">
            <a:off x="647700" y="2733424"/>
            <a:ext cx="2990850" cy="724403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E4D6C1-5228-4B0F-8F3C-7C6471B9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14775"/>
            <a:ext cx="2990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Paper Eq. (2): resource precedence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91CE3F-AF93-43C0-9217-AA250645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3219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478">
            <a:solidFill>
              <a:srgbClr val="A33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92660A-CA71-4F61-B4F7-B6E75D4C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2990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 MEANING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C7A335-067D-4FE7-B70B-BB19EE59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2990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Baseline creates z_ab/z_ba and adds indicator constraints. CP-SAT extends intervals by release_time and applies AddNoOverlap.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503BD7-E940-489C-AF69-044133AD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9C74C7-89C5-4260-B24D-479B5F3F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1454A4-F96A-43F1-A185-58310287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mip_model.py:43-53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764AA4-82CD-40D2-9A64-DF03F95A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14600"/>
            <a:ext cx="3086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Resource Precedence z variables</a:t>
            </a:r>
          </a:p>
          <a:p xmlns:a="http://schemas.openxmlformats.org/drawingml/2006/main">
            <a:pPr algn="l">
              <a:defRPr sz="45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conflicts = self.instance.find_conflict_pairs()</a:t>
            </a:r>
          </a:p>
          <a:p xmlns:a="http://schemas.openxmlformats.org/drawingml/2006/main">
            <a:pPr algn="l">
              <a:defRPr sz="45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c in conflicts:</a:t>
            </a:r>
          </a:p>
          <a:p xmlns:a="http://schemas.openxmlformats.org/drawingml/2006/main">
            <a:pPr algn="l">
              <a:defRPr sz="45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t1, o1, t2, o2, res, l1, l2 = c</a:t>
            </a:r>
          </a:p>
          <a:p xmlns:a="http://schemas.openxmlformats.org/drawingml/2006/main">
            <a:pPr algn="l">
              <a:defRPr sz="45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# z_ab (1 if t1_o1 precedes t2_o2)</a:t>
            </a:r>
          </a:p>
          <a:p xmlns:a="http://schemas.openxmlformats.org/drawingml/2006/main">
            <a:pPr algn="l">
              <a:defRPr sz="45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z_ab = self.model.addVar(vtype=GRB.BINARY, name=f"z_{t1}_{o1}_{t2}_{o2}_r_{res}")</a:t>
            </a:r>
          </a:p>
          <a:p xmlns:a="http://schemas.openxmlformats.org/drawingml/2006/main">
            <a:pPr algn="l">
              <a:defRPr sz="45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# z_ba (1 if t2_o2 precedes t1_o1)</a:t>
            </a:r>
          </a:p>
          <a:p xmlns:a="http://schemas.openxmlformats.org/drawingml/2006/main">
            <a:pPr algn="l">
              <a:defRPr sz="45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z_ba = self.model.addVar(vtype=GRB.BINARY, name=f"z_{t2}_{o2}_{t1}_{o1}_r_{res}")</a:t>
            </a:r>
          </a:p>
          <a:p xmlns:a="http://schemas.openxmlformats.org/drawingml/2006/main">
            <a:pPr algn="l">
              <a:defRPr sz="45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5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self.z[t1, o1, t2, o2, res] = z_ab</a:t>
            </a:r>
          </a:p>
          <a:p xmlns:a="http://schemas.openxmlformats.org/drawingml/2006/main">
            <a:pPr algn="l">
              <a:defRPr sz="450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0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self.z_ba[t1, o1, t2, o2, res] = z_ba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DC8FD8-EE63-4F64-8E74-3F523EF8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33800"/>
            <a:ext cx="33147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892105-A73A-419E-B3FF-F17CABA0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338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1B7A3A-91AF-4765-B2E3-0A700E45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mip_model.py:125-148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6B2E07-4B3C-4EF7-876F-CC42F0D0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76700"/>
            <a:ext cx="30861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self.model.addConstr(x_a &gt;= z_ab + z_ba)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self.model.addConstr(x_b &gt;= z_ab + z_ba)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self.model.addConstr(x_a + x_b - 1 &lt;= z_ab + z_ba)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op_a = self.instance.trains[t1].get_operation(o1)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op_b = self.instance.trains[t2].get_operation(o2)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succ_a in op_a.successors: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1. Physical time-blocking: If Train 1 goes before Train 2 (z_ab==1), Train 1 must fully 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reach its next step (succ_a) before Train 2's timeline is allowed to start.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self.model.addConstr((z_ab == 1) &gt;&gt; (self.t[t1, succ_a] - self.t[t2, o2] &lt;= -l1))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2. Cycle-crushing sequence: If Train 1 goes before Train 2, the topological rank (u-value)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assigned to Train 1's next step must be strictly smaller than Train 2's start. This breaks cyclic swapping.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--&gt; Corresponds to DISPLIB Paper Eq (3) lower part: u_{a_bar}^i - u_b^j &lt;= -1 + M(1 - z_{a,b}^{i,j})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    (u_{a_bar}^i &lt;==&gt; self.u[t1, succ_a],  u_b^j &lt;==&gt; self.u[t2, o2], z_{a,b}^{i,j} &lt;==&gt; z_ab)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self.model.addConstr((z_ab == 1) &gt;&gt; (self.u[t1, succ_a] - self.u[t2, o2] &lt;= -1))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succ_b in op_b.successors: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Same blocking logic mirrored if Train 2 goes before Train 1 (z_ba==1).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--&gt; Corresponds to DISPLIB Paper Eq (3) lower part: u_{b_bar}^j - u_a^i &lt;= -1 + M(1 - z_{b,a}^{i,j})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    (u_{b_bar}^j &lt;==&gt; self.u[t2, succ_b], u_a^i &lt;==&gt; self.u[t1, o1], z_{b,a}^{i,j} &lt;==&gt; z_ba)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self.model.addConstr((z_ba == 1) &gt;&gt; (self.t[t2, succ_b] - self.t[t1, o1] &lt;= -l2))</a:t>
            </a:r>
          </a:p>
          <a:p xmlns:a="http://schemas.openxmlformats.org/drawingml/2006/main">
            <a:pPr algn="l">
              <a:defRPr sz="40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0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self.model.addConstr((z_ba == 1) &gt;&gt; (self.u[t2, succ_b] - self.u[t1, o1] &lt;= -1))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F40550-DCC3-4C5B-8EB7-E5862795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32304E-8A6F-4622-9234-E69B949A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FF0299-855C-4B96-AB52-E0BDE3FD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cp_model.py:69-90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B352F5-EE28-4874-9325-C39A31BC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14600"/>
            <a:ext cx="30861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Process resources for AddNoOverlap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for r_data in op.resources: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res_name = r_data.resource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rel_time = int(r_data.release_time)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if res_name not in resource_intervals: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resource_intervals[res_name] = []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# If there's a headway (release_time), we must artificially extend the block's end.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if rel_time &gt; 0: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ext_dur = self.model.NewIntVar(int(op.min_duration) + rel_time, self.horizon + rel_time, f"ext_dur_{t_id}_{o_id}_{res_name}")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self.model.Add(ext_dur == self.durations[t_id, o_id] + rel_time)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ext_end = self.model.NewIntVar(lb + int(op.min_duration) + rel_time, self.horizon * 2 + rel_time, f"ext_end_{t_id}_{o_id}_{res_name}")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self.model.Add(ext_end == self.ends[t_id, o_id] + rel_time)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ext_iv = self.model.NewOptionalIntervalVar(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    self.starts[t_id, o_id], ext_dur, ext_end, self.x[t_id, o_id], f"ext_iv_{t_id}_{o_id}_{res_name}"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resource_intervals[res_name].append(ext_iv)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else:</a:t>
            </a:r>
          </a:p>
          <a:p xmlns:a="http://schemas.openxmlformats.org/drawingml/2006/main">
            <a:pPr algn="l">
              <a:defRPr sz="44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4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resource_intervals[res_name].append(iv)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1AF953-9B0D-4A9B-ADE5-A6B0D11C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95850"/>
            <a:ext cx="3314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209AA0-A03E-4480-8BD8-E15C1728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9585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B0B83B-43AD-4623-904C-E95FDED5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5300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cp_model.py:117-119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C30585-4039-4361-879D-8A60AA2E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38750"/>
            <a:ext cx="3086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0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0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This absolutely annihilates the logic of Big-M!</a:t>
            </a:r>
          </a:p>
          <a:p xmlns:a="http://schemas.openxmlformats.org/drawingml/2006/main">
            <a:pPr algn="l">
              <a:defRPr sz="50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0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res_name, intervals in resource_intervals.items():</a:t>
            </a:r>
          </a:p>
          <a:p xmlns:a="http://schemas.openxmlformats.org/drawingml/2006/main">
            <a:pPr algn="l">
              <a:defRPr sz="50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0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self.model.AddNoOverlap(intervals)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F58417-C549-4DB3-80E9-6B738D7E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EED775-09E4-4745-AEF5-A5836B23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The baseline and extension use different modeling primitives for the same safety condition.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E1DC1E-ADDB-4EA5-914A-02792EC4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466835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FEC250-573F-4D98-ACF6-3572C0C5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DDCC0-0A9A-4592-A5D7-E8C3B6B1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DF07B-C749-4B20-8B74-72128645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VERBATIM CODE MAP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D0399-217F-4D0A-B3B5-6D0395D9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Global ordering is implemented by the actual u-rank constraints.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DB32D-4E34-436C-ACC9-57B95FB3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This prevents same-time resource swapping and supports verifier-compatible event order.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3F718-C9F6-417E-9CD3-09040A24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5B436-E3DA-45FF-B2AF-3A19E698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Mathematical expression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FF208-140E-4CB7-B488-1E544B02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478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3A15D-125A-4CFC-9BBD-5E2369FF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Baseline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DF0E3-8F74-40F5-B815-23CB170B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478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E3B80-4C33-452B-96C7-AA672061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Extended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E346B-5A23-4D9A-B5B6-059893CB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09750"/>
            <a:ext cx="952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11B9C-58F3-4E84-82BF-325F551E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09750"/>
            <a:ext cx="952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D94DC-ED7C-4494-9E35-FF906B44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32194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CD3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337db1a8843fb"/>
          <a:stretch xmlns:a="http://schemas.openxmlformats.org/drawingml/2006/main"/>
        </p:blipFill>
        <p:spPr>
          <a:xfrm xmlns:a="http://schemas.openxmlformats.org/drawingml/2006/main">
            <a:off x="647700" y="2562721"/>
            <a:ext cx="2990850" cy="475258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120F05-1D80-48E2-83BD-E23638F9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24225"/>
            <a:ext cx="2990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Paper Eq. (3): ordering constraints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E3FC35-EFC9-48F3-B2C6-C200A640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3219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478">
            <a:solidFill>
              <a:srgbClr val="A33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A34B6B-C5F4-49F1-927B-48E7F862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2990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 MEANING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BEE822-95C4-496B-8546-A61A76DE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2990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u is used as a topological rank. Same-train and cross-train precedence relationships push successor events later in the rank order.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B1644B-6763-4473-9E02-908D01C0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DF0905-51B6-4583-A5F1-A7EA28C5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78ED0A-F3EA-4308-976F-47C94080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mip_model.py:132-148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37AB56-E769-4BF2-8CEC-F62866C0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14600"/>
            <a:ext cx="30861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succ_a in op_a.successors: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1. Physical time-blocking: If Train 1 goes before Train 2 (z_ab==1), Train 1 must fully 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reach its next step (succ_a) before Train 2's timeline is allowed to start.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self.model.addConstr((z_ab == 1) &gt;&gt; (self.t[t1, succ_a] - self.t[t2, o2] &lt;= -l1))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2. Cycle-crushing sequence: If Train 1 goes before Train 2, the topological rank (u-value)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assigned to Train 1's next step must be strictly smaller than Train 2's start. This breaks cyclic swapping.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--&gt; Corresponds to DISPLIB Paper Eq (3) lower part: u_{a_bar}^i - u_b^j &lt;= -1 + M(1 - z_{a,b}^{i,j})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    (u_{a_bar}^i &lt;==&gt; self.u[t1, succ_a],  u_b^j &lt;==&gt; self.u[t2, o2], z_{a,b}^{i,j} &lt;==&gt; z_ab)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self.model.addConstr((z_ab == 1) &gt;&gt; (self.u[t1, succ_a] - self.u[t2, o2] &lt;= -1))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succ_b in op_b.successors: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Same blocking logic mirrored if Train 2 goes before Train 1 (z_ba==1).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--&gt; Corresponds to DISPLIB Paper Eq (3) lower part: u_{b_bar}^j - u_a^i &lt;= -1 + M(1 - z_{b,a}^{i,j})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    (u_{b_bar}^j &lt;==&gt; self.u[t2, succ_b], u_a^i &lt;==&gt; self.u[t1, o1], z_{b,a}^{i,j} &lt;==&gt; z_ba)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self.model.addConstr((z_ba == 1) &gt;&gt; (self.t[t2, succ_b] - self.t[t1, o1] &lt;= -l2))</a:t>
            </a:r>
          </a:p>
          <a:p xmlns:a="http://schemas.openxmlformats.org/drawingml/2006/main">
            <a:pPr algn="l">
              <a:defRPr sz="41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1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self.model.addConstr((z_ba == 1) &gt;&gt; (self.u[t2, succ_b] - self.u[t1, o1] &lt;= -1))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CE9913-F968-4004-A570-EA11D186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48150"/>
            <a:ext cx="33147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BCC7E4-81E8-4467-B6CD-A8E1E87C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4815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DD769B-7507-4582-8EDA-8EEAE4D5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0530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mip_model.py:157-164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869280-15D6-4DCD-9448-E280D6EE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91050"/>
            <a:ext cx="3086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train in self.instance.trains: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op in train.operations: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for succ in op.successors: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# Enforce strictly increasing topological sequence (u-values) 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# as the train progresses forward through its route.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# --&gt; Corresponds to DISPLIB Paper Eq (3) upper part: u_a^i - u_b^i &lt;= -1 + M(1 - y_{a,b}^i)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#     (u_a^i &lt;==&gt; self.u[..op.id], u_b^i &lt;==&gt; self.u[..succ])</a:t>
            </a:r>
          </a:p>
          <a:p xmlns:a="http://schemas.openxmlformats.org/drawingml/2006/main">
            <a:pPr algn="l">
              <a:defRPr sz="458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58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self.model.addConstr((self.y[train.id, op.id, succ] == 1) &gt;&gt; (self.u[train.id, op.id] - self.u[train.id, succ] &lt;= -1))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5E892B-809A-41ED-B7FB-95CE3877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BD80E6-7F66-4CED-B8C0-9A51AD97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9CC558-81F1-4BFB-917C-44096CE3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cp_model.py:146-153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EF8314-F8C1-4E40-8C7B-DCB978D1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14600"/>
            <a:ext cx="3086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succ_a in op_a.successors:</a:t>
            </a:r>
          </a:p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If Train 1 goes before Train 2 (z_ab==1), Train 1 must reach succ_a before Train 2 starts o2.</a:t>
            </a:r>
          </a:p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self.model.Add(self.starts[t2, o2] &gt;= self.starts[t1, succ_a] + l1).OnlyEnforceIf([z_ab, self.y[t1, o1, succ_a]])</a:t>
            </a:r>
          </a:p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self.model.Add(self.u[t2, o2] &gt;= self.u[t1, succ_a] + 1).OnlyEnforceIf([z_ab, self.y[t1, o1, succ_a]])</a:t>
            </a:r>
          </a:p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succ_b in op_b.successors:</a:t>
            </a:r>
          </a:p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self.model.Add(self.starts[t1, o1] &gt;= self.starts[t2, succ_b] + l2).OnlyEnforceIf([z_ba, self.y[t2, o2, succ_b]])</a:t>
            </a:r>
          </a:p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self.model.Add(self.u[t1, o1] &gt;= self.u[t2, succ_b] + 1).OnlyEnforceIf([z_ba, self.y[t2, o2, succ_b]])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5B1989-FA03-405D-B093-DF7375AE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10000"/>
            <a:ext cx="3314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073018-A161-40D0-9222-D0281E40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100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990613-39CD-419D-A869-FC9DDC4C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671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cp_model.py:190-197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F42E7F-B23A-409B-BB2D-73C59628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52900"/>
            <a:ext cx="30861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# Precedences Time Logic</a:t>
            </a:r>
          </a:p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for succ in op.successors:</a:t>
            </a:r>
          </a:p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# IF y[op-&gt;succ] is true =&gt; start(succ) == end(op)</a:t>
            </a:r>
          </a:p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# This is critical: the train occupies the resource until it physically starts the next operation!</a:t>
            </a:r>
          </a:p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self.model.Add(self.starts[t_id, succ] == self.ends[t_id, o_id]).OnlyEnforceIf(self.y[t_id, o_id, succ])</a:t>
            </a:r>
          </a:p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</a:t>
            </a:r>
          </a:p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# Strict topological rank progression</a:t>
            </a:r>
          </a:p>
          <a:p xmlns:a="http://schemas.openxmlformats.org/drawingml/2006/main">
            <a:pPr algn="l">
              <a:defRPr sz="469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69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self.model.Add(self.u[t_id, succ] &gt;= self.u[t_id, o_id] + 1).OnlyEnforceIf(self.y[t_id, o_id, succ])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1601AE-74E7-4841-94C6-FD7526BD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970D1C-9688-48DA-8891-AF3DEC57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Implementation caveat: baseline u is continuous in code, while the paper defines u as integer.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8DF4D5-F1D2-4E29-8A89-49CFF06B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907557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F14E8C-0172-4726-A444-365BF428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5ED06-F709-4759-ABDA-6FADDC37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FE133-CE64-4F73-B102-A7C793B9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VERBATIM CODE MAP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D2A85-7DF2-43FA-B627-5C8E55D9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The objective code is the actual implementation of weighted delay.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6920D-F2A4-493E-97CE-48C285A1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The formula allows a step term; the current code implements the linear delay term.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526B8-E223-4E71-8A16-8694087C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34160-440F-4CE7-B41D-0CA3644D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Mathematical expression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65764-2054-41EC-9CBD-FEED7B0B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478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B5F3C-CB7C-4F80-A613-8889ADBB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Baseline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9BE98-D9CE-4381-A27D-2270E0E6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478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F916C-D7D2-4DB7-8BD0-E7E04372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Extended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C616A-0942-429C-916A-E356389B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09750"/>
            <a:ext cx="952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D8873-7B22-4AEF-B084-2DB58F19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09750"/>
            <a:ext cx="952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7284F-C2B8-4B75-98D9-F6683100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3219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CD3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61eb72e2946f3"/>
          <a:stretch xmlns:a="http://schemas.openxmlformats.org/drawingml/2006/main"/>
        </p:blipFill>
        <p:spPr>
          <a:xfrm xmlns:a="http://schemas.openxmlformats.org/drawingml/2006/main">
            <a:off x="1034921" y="2305050"/>
            <a:ext cx="2216408" cy="8191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D9268C-7A9C-4FEE-9185-3CB537BC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52775"/>
            <a:ext cx="2990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Problem definition: delay cost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B7CCCB-EBE1-4365-9029-F15BF909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3219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CD3C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566c466bd41c8"/>
          <a:stretch xmlns:a="http://schemas.openxmlformats.org/drawingml/2006/main"/>
        </p:blipFill>
        <p:spPr>
          <a:xfrm xmlns:a="http://schemas.openxmlformats.org/drawingml/2006/main">
            <a:off x="647700" y="3764997"/>
            <a:ext cx="2990850" cy="356707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31C5C2-0927-4A58-839B-8C732AB2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9575"/>
            <a:ext cx="2990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Paper Eq. (4): objective constraints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A03FBB-4706-43B3-82C8-9FDD7AD8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3219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478">
            <a:solidFill>
              <a:srgbClr val="A33A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063E51-54AD-4441-9FB3-0D45E518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2990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IMPLEMENTATION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3C4A00-10F5-409C-B47E-8B45E4BF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2990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The code boxes are exact. They show coeff-based delay, but not the fixed increment/zeta step penalty from the full DISPLIB definition.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29D238-817A-4BDA-BB72-23936850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D6FBA7-D58E-4E35-A4A1-3706CA28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5FE02E-1291-4021-A3AD-81572CF3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mip_model.py:55-58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ED1D21-74A4-4B44-950A-448D71FC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14600"/>
            <a:ext cx="3086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0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0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Objective variables</a:t>
            </a:r>
          </a:p>
          <a:p xmlns:a="http://schemas.openxmlformats.org/drawingml/2006/main">
            <a:pPr algn="l">
              <a:defRPr sz="50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0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c_idx, comp in enumerate(self.instance.objective):</a:t>
            </a:r>
          </a:p>
          <a:p xmlns:a="http://schemas.openxmlformats.org/drawingml/2006/main">
            <a:pPr algn="l">
              <a:defRPr sz="50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0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self.v[c_idx] = self.model.addVar(vtype=GRB.BINARY, name=f"v_{c_idx}")</a:t>
            </a:r>
          </a:p>
          <a:p xmlns:a="http://schemas.openxmlformats.org/drawingml/2006/main">
            <a:pPr algn="l">
              <a:defRPr sz="503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503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self.w[c_idx] = self.model.addVar(lb=0, vtype=GRB.CONTINUOUS, name=f"w_{c_idx}")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D6EBD8-6D34-42F7-BBE0-640A8A6D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24250"/>
            <a:ext cx="33147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76A392-5ABA-4B2C-8DC2-B20EC8E8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2425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56E2A6-DEA7-453E-9D6F-A00021F0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8140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mip_model.py:166-183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142233-C24C-4880-91AD-7C76AD94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67150"/>
            <a:ext cx="30861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D) Objective Cost Component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obj_expr = gp.LinExpr()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c_idx, comp in enumerate(self.instance.objective):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if comp.train == -1 or comp.operation == -1: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continue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w_c = self.w[c_idx]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v_c = self.v[c_idx]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t_a = self.t[comp.train, comp.operation]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x_a = self.x[comp.train, comp.operation]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# Indicators for computing penalty exactly when x_a == 1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self.model.addConstr((x_a == 1) &gt;&gt; (t_a - comp.threshold &lt;= self.M * v_c))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self.model.addConstr((x_a == 1) &gt;&gt; (w_c &gt;= comp.coeff * (t_a - comp.threshold)))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obj_expr += w_c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35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5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self.model.setObjective(obj_expr, GRB.MINIMIZE)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E13C26-5DB4-4CB2-BC06-147D5686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6B7647-1618-4BB1-BAF4-9F2951D5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47378B-5760-4087-B228-052BD0AE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cp_model.py:200-229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5EFDE0-24D0-4553-969A-686EFAA6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14600"/>
            <a:ext cx="30861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4. Objective Costs Calculation (Penalty)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-----------------------------------------------------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c_idx, comp in enumerate(self.instance.objective):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if comp.train == -1 or comp.operation == -1: 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continue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t_id = comp.train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o_id = comp.operation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th = int(comp.threshold)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cf = comp.coeff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scaled_cf = int(cf * self.COEFF_SCALE)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x_a = self.x.get((t_id, o_id))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if x_a is None: 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continue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over_time = self.model.NewIntVar(0, self.horizon * 2, f"ov_{c_idx}")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self.model.Add(over_time &gt;= self.starts[t_id, o_id] - th).OnlyEnforceIf(x_a)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cost_var = self.model.NewIntVar(0, int(self.horizon * 2 * max(1, scaled_cf)), f"cost_{c_idx}")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self.model.Add(cost_var == over_time * scaled_cf).OnlyEnforceIf(x_a)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self.model.Add(cost_var == 0).OnlyEnforceIf(x_a.Not())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obj_costs.append(cost_var)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-----------------------------------------------------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5. Set Objective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-----------------------------------------------------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if len(obj_costs) &gt; 0: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self.model.Minimize(sum(obj_costs))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30C40A-00AA-4511-851A-DE80EAB4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BF94F9-BBE5-4086-B8C9-F27E45FE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Objective limitation is useful to mention in the report because it is visible in the real code.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DCDDAB-9394-4859-BA6F-104BBC49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280161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7F961B-D834-444B-A081-BD5E59A8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44D05-DA4F-4E98-B9D6-A5070471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95927-F180-421A-BECB-8A8748DA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VERBATIM CODE MAP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17758-74C5-4D0E-ADD2-9E1B8D26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The exported solution is the code-level form of the ordered event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82FDC-FF8F-4908-B2D6-42FDE671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This maps DISPLIB's Pi sequence to the final JSON events list.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177EB-43E8-4B0B-97D8-C4DE000F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85D1F-4042-400B-9E3A-4C2D5420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Mathematical expression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7E0F4-43EF-4855-A1A5-A2AE13CE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478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C5288-D99E-4F3D-B35A-5C52FCB9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Baseline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24758-BFE9-46FB-A76D-9CC41EC6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478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05B832-8FBC-4086-B588-7940B112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Extended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EE16A-418B-4E6F-9B53-205E9266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09750"/>
            <a:ext cx="952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C0578-0BA7-4F3F-86EB-FE4CB5AF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09750"/>
            <a:ext cx="952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195CF-BE24-434A-BD37-06709BD3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3219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CD3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fee449da64d89"/>
          <a:stretch xmlns:a="http://schemas.openxmlformats.org/drawingml/2006/main"/>
        </p:blipFill>
        <p:spPr>
          <a:xfrm xmlns:a="http://schemas.openxmlformats.org/drawingml/2006/main">
            <a:off x="647700" y="2348419"/>
            <a:ext cx="2990850" cy="1018162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794FAB-704A-424D-BBF2-298AD87C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38525"/>
            <a:ext cx="2990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563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Problem definition: ordered event sequence and resource release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E69329-4248-4035-AA36-5EAA711C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3219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478">
            <a:solidFill>
              <a:srgbClr val="A33A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0971BB-92CC-49F1-A614-F4D3A31E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2990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 MEANING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27E336-51B8-4FF4-90A1-D873940A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2990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The solution is not just a set of times. It is an ordered event list. Both solvers sort by time and u before writing JSON.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9214E1-D69C-4C69-864D-5CEA8EDC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BC37ED-7097-49FE-AEE6-14346306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8BB16C-CA87-4CCC-9241-7FB92ABE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mip_model.py:189-218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05FA7F-E8D5-464A-8A7F-64BB3C7E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14600"/>
            <a:ext cx="30861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def export_solution(self, filename: str):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if self.model.status not in (GRB.OPTIMAL, GRB.TIME_LIMIT, GRB.SUBOPTIMAL):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print("No valid solution to export!")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return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events = []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train in self.instance.trains: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op in train.operations: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val_x = self.x[train.id, op.id].X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if val_x &gt; 0.5: # Operation is selected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val_t = self.t[train.id, op.id].X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events.append({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"operation": op.id,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"time": int(round(val_t)),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"train": train.id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})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---------------------------------------------------------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ROBUST TOPOLOGICAL SORT FOR VERIFIER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---------------------------------------------------------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We can directly use the topological rank `u` calculated by the Gurobi solver!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This completely guarantees no cyclic dependencies and matches the physical causality.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events.sort(key=lambda x: (x["time"], self.u[x["train"], x["operation"]].X))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final_events = events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---------------------------------------------------------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output = {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"events": events,</a:t>
            </a:r>
          </a:p>
          <a:p xmlns:a="http://schemas.openxmlformats.org/drawingml/2006/main">
            <a:pPr algn="l">
              <a:defRPr sz="431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31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"objective_value": int(round(self.model.ObjVal))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6B4CD3-BD79-4237-9E9F-F303DD69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C04475-8401-4E59-BC4E-15D59588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14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886DA6-9D12-4D96-B69B-A36F008A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28850"/>
            <a:ext cx="3086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cp_model.py:250-282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F1A9CC-6614-450A-AEA3-0B9CCD2B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14600"/>
            <a:ext cx="30861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def export_solution(self, filename: str):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if self.status not in ["OPTIMAL", "FEASIBLE"]: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print("Cannot export: No feasible solution available.")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return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events = []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for train in self.instance.trains: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t_id = train.id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for op in train.operations: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o_id = op.id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if self.solver.BooleanValue(self.x[t_id, o_id]):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st = self.solver.Value(self.starts[t_id, o_id])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events.append({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"operation": o_id,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"time": int(st),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    "train": t_id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    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---------------------------------------------------------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ROBUST TOPOLOGICAL SORT FOR VERIFIER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---------------------------------------------------------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We can directly use the topological rank `u` calculated by the CP-SAT solver!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This completely guarantees no cyclic dependencies and matches the physical causality.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events.sort(key=lambda x: (x["time"], self.solver.Value(self.u[x["train"], x["operation"]])))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final_events = events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    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events = final_events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# ---------------------------------------------------------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output = {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"events": events,</a:t>
            </a:r>
          </a:p>
          <a:p xmlns:a="http://schemas.openxmlformats.org/drawingml/2006/main">
            <a:pPr algn="l">
              <a:defRPr sz="424" b="0">
                <a:solidFill>
                  <a:srgbClr val="F6F0E8"/>
                </a:solidFill>
                <a:latin typeface="Consolas"/>
                <a:ea typeface="Consolas"/>
                <a:cs typeface="Consolas"/>
              </a:defRPr>
            </a:pPr>
            <a:r>
              <a:rPr sz="424" b="0">
                <a:solidFill>
                  <a:srgbClr val="F6F0E8"/>
                </a:solidFill>
                <a:latin typeface="Consolas"/>
                <a:ea typeface="Consolas"/>
                <a:cs typeface="Consolas"/>
              </a:rPr>
              <a:t>            "objective_value": int(round(self.obj_val))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F578AA-D9D0-44B4-8F4C-F44530AA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84550D-D870-457A-B551-E1DD1B0F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These snippets are also where objective_value and events are written to the DISPLIB solution file.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F275CA-F55E-43FB-A947-FFCD9F95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9447311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0F31CC-CAA3-48C0-970C-7EEE4780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46D90-DA1A-4684-804A-B799731D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7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C6712-30B7-4E9C-A596-102B97FC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VERBATIM CODE MAP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EB173-8C0C-49A1-AEE2-ACCBD911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What to say in the report: baseline is the reference MILP, extension is a CP-SAT reformulation.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73D8B-7536-4B88-8CB2-B1319378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The important point is not that the code text is short; it is that every line maps to a mathematical role.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2F230-BD1E-4BF4-842D-770D78C6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1B992-AABB-43D1-9162-AF685C6F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336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370A1-4025-4811-80CD-3D68F282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574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251E3-8F7C-43D2-8BA8-42ED3B01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3360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41E98-CC2F-41DC-9CA7-DC60EA5B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574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2DC68A-96F5-406E-9B36-EC451E27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3360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Extended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4EC36-CC9A-413B-9E8E-56C31905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4763">
            <a:solidFill>
              <a:srgbClr val="DCD3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99F57-D1DA-4B8A-A3A3-6A81380E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574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21A24"/>
                </a:solidFill>
                <a:latin typeface="Aptos"/>
                <a:ea typeface="Aptos"/>
                <a:cs typeface="Aptos"/>
              </a:rPr>
              <a:t>Variables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16F030-8021-40FF-A6AF-C4BD1546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8125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4763">
            <a:solidFill>
              <a:srgbClr val="DCD3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6B1FC3-BFEB-4931-ADFD-8DAC5297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574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Gurobi addVar dictionaries x, y, t, u, z, v, 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9C0E2B-0614-43B4-80F4-2EE0F09C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8125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4763">
            <a:solidFill>
              <a:srgbClr val="DCD3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340C81-EF38-4E10-8461-409C3274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574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CP-SAT Bool/Int variables and optional intervals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D32BF5-B4D4-48A9-9FDE-1DB2FC11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C"/>
          </a:solidFill>
          <a:ln xmlns:a="http://schemas.openxmlformats.org/drawingml/2006/main" w="4763">
            <a:solidFill>
              <a:srgbClr val="DCD3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94A899-D25F-4ECB-87FA-2D9AD641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956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21A24"/>
                </a:solidFill>
                <a:latin typeface="Aptos"/>
                <a:ea typeface="Aptos"/>
                <a:cs typeface="Aptos"/>
              </a:rPr>
              <a:t>Route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EBD0FB-A218-4BCC-8996-A893F3A7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1940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C"/>
          </a:solidFill>
          <a:ln xmlns:a="http://schemas.openxmlformats.org/drawingml/2006/main" w="4763">
            <a:solidFill>
              <a:srgbClr val="DCD3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F38BF4-6E5D-442D-9430-76403E30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956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Flow constraints over predecessors and successors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550285-249B-4456-BA62-19E15A53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1940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C"/>
          </a:solidFill>
          <a:ln xmlns:a="http://schemas.openxmlformats.org/drawingml/2006/main" w="4763">
            <a:solidFill>
              <a:srgbClr val="DCD3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30C83D-8BC5-4955-BED9-9CFFEEB2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956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Same x/y route logic with Add(...) constraints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98E7E4-81AC-45C9-9B4C-B3BC2A07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4763">
            <a:solidFill>
              <a:srgbClr val="DCD3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EA4E66-1787-4F0B-8DC4-337348DF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337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21A24"/>
                </a:solidFill>
                <a:latin typeface="Aptos"/>
                <a:ea typeface="Aptos"/>
                <a:cs typeface="Aptos"/>
              </a:rPr>
              <a:t>Time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96AF97-AABF-43C8-BFE2-53594BBD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5755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4763">
            <a:solidFill>
              <a:srgbClr val="DCD3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3E33BF-D14F-4985-A669-581ECBAD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337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Continuous t with lower/upper bounds and duration inequalities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054C4D-5665-4965-8DEB-8F938CC3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5755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4763">
            <a:solidFill>
              <a:srgbClr val="DCD3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4F37E5-8E08-4ABB-8F1B-36C67444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337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Integer starts/durations/ends plus optional intervals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164113-97BE-44EC-B53A-ECE1E285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957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C"/>
          </a:solidFill>
          <a:ln xmlns:a="http://schemas.openxmlformats.org/drawingml/2006/main" w="4763">
            <a:solidFill>
              <a:srgbClr val="DCD3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35EBD4-524B-4824-9584-F1AD9306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719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21A24"/>
                </a:solidFill>
                <a:latin typeface="Aptos"/>
                <a:ea typeface="Aptos"/>
                <a:cs typeface="Aptos"/>
              </a:rPr>
              <a:t>Resources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C0C7BE-CD72-4FA5-BA99-DB8F34C0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9570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C"/>
          </a:solidFill>
          <a:ln xmlns:a="http://schemas.openxmlformats.org/drawingml/2006/main" w="4763">
            <a:solidFill>
              <a:srgbClr val="DCD3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E33C95-8EAB-43F0-979B-ED0B6094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719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Pairwise z_ab/z_ba precedence constraints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56441B-10E8-4654-9EAF-2A03F810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9570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C"/>
          </a:solidFill>
          <a:ln xmlns:a="http://schemas.openxmlformats.org/drawingml/2006/main" w="4763">
            <a:solidFill>
              <a:srgbClr val="DCD3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588D3F-663D-408A-963D-260BAE9D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719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AddNoOverlap on resource occupation intervals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2065E9-CB6B-47BF-8FFC-C19048F9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3385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4763">
            <a:solidFill>
              <a:srgbClr val="DCD3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5843AD-464A-4E79-A2D4-3884B715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00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21A24"/>
                </a:solidFill>
                <a:latin typeface="Aptos"/>
                <a:ea typeface="Aptos"/>
                <a:cs typeface="Aptos"/>
              </a:rPr>
              <a:t>Ordering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896BBA-0176-452D-9C0C-A6834372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3385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4763">
            <a:solidFill>
              <a:srgbClr val="DCD3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178E26-BEAC-4C56-8163-65BC278A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100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u-rank indicator constraints and export sorting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D57B0D-D543-4041-A033-F744D524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3385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4763">
            <a:solidFill>
              <a:srgbClr val="DCD3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8B6076-1AF1-4572-8B1C-581213B1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100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u-rank OnlyEnforceIf constraints and export sorting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2F88E5-9DE9-4148-B9B4-6DB3892E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C"/>
          </a:solidFill>
          <a:ln xmlns:a="http://schemas.openxmlformats.org/drawingml/2006/main" w="4763">
            <a:solidFill>
              <a:srgbClr val="DCD3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479EEA-195C-4AD9-899D-CB02E851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482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121A24"/>
                </a:solidFill>
                <a:latin typeface="Aptos"/>
                <a:ea typeface="Aptos"/>
                <a:cs typeface="Aptos"/>
              </a:rPr>
              <a:t>Objective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03E323-9FC3-435D-903D-A542A21B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7200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C"/>
          </a:solidFill>
          <a:ln xmlns:a="http://schemas.openxmlformats.org/drawingml/2006/main" w="4763">
            <a:solidFill>
              <a:srgbClr val="DCD3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DCBEA1-FB53-48B0-8F89-2EB19615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482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w_c minimizes coeff * delay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01EE29-1FD8-48ED-9FB6-92DF6EAC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72000"/>
            <a:ext cx="342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C"/>
          </a:solidFill>
          <a:ln xmlns:a="http://schemas.openxmlformats.org/drawingml/2006/main" w="4763">
            <a:solidFill>
              <a:srgbClr val="DCD3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FB3A13-953F-4D9B-A54E-41CAB56C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482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scaled integer cost_var minimizes coeff * delay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E6B90A-4D41-4D6D-B2B8-9C37D768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478">
            <a:solidFill>
              <a:srgbClr val="1E5B8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14BCA1-CAD3-499B-91E5-3C1B18D2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24500"/>
            <a:ext cx="424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STRONG SENTENCE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2727B8-0AE4-4E15-AB5B-B79AB4AC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34050"/>
            <a:ext cx="424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The baseline follows the paper's MILP structure closely; the extended model keeps the same DISPLIB feasibility logic but replaces pairwise resource modeling with interval scheduling.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13407E-2FD4-47CF-8596-DD6D8B5D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42925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478">
            <a:solidFill>
              <a:srgbClr val="A33A2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F3A09F-6E83-4754-88E6-FC46C1A1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524500"/>
            <a:ext cx="4248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HONEST CAVEAT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1762E0-45DA-49C0-944C-1BB699AA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734050"/>
            <a:ext cx="424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For strict accuracy, say that the current implementation does not fully model DISPLIB's fixed step penalty and that baseline u is continuous in code.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468AA65-9A85-4C81-8293-028AD512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E76EF1A-3A15-4B5E-8B4B-2C39A4EE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All code excerpts in this deck are verbatim selections from the repository.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6989EB5-9E54-481A-A3C1-E461EDF8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44183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2026-05-17T19:35:57.6090000Z</dcterms:created>
  <dcterms:modified xsi:type="dcterms:W3CDTF">2026-05-17T19:35:57.6090000Z</dcterms:modified>
</coreProperties>
</file>