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14/05/2026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Train Dispatching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Zielsetzung:</a:t>
            </a:r>
          </a:p>
          <a:p>
            <a:pPr>
              <a:defRPr sz="1600"/>
            </a:pPr>
            <a:r>
              <a:t>Zuweisung von Streckenressourcen (z. B. Gleise) an Züge unter strikter Einhaltung von Sicherheitsabständen.</a:t>
            </a:r>
          </a:p>
          <a:p>
            <a:br/>
            <a:r>
              <a:t>Herausforderung (Flow &amp; Time Routing):</a:t>
            </a:r>
          </a:p>
          <a:p>
            <a:pPr>
              <a:defRPr sz="1600"/>
            </a:pPr>
            <a:r>
              <a:t>Simultane Optimierung der Zugpfade (Routing) und der exakten Belegungszeiten (Scheduling).</a:t>
            </a:r>
          </a:p>
        </p:txBody>
      </p:sp>
      <p:pic>
        <p:nvPicPr>
          <p:cNvPr id="6" name="Picture 5" descr="intr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Variablen-Mapping: Math vs.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Logik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Math. Modell (Paper)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Baseline (Gurobi)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Extend (CP-SAT)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Ausführung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x_a ∈ {0, 1}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x[train_id, op_id]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x[t_id, o_id]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Pfad / Fluss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y_ab ∈ {0, 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y[train_id, op_a, op_b]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y[t_id, o_id, succ]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Zeit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t_a ≥ 0 (Startzeit)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t[train_id, op_id] (Kontinuierlich)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IntervalVar (Start, Dauer, Ende)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Kollision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z_ab ∈ {0, 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Keine extra Variable (Big-M Logik)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Keine Variable (Globale Constraint)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Topologie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u_a ≥ 0 (Rang)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u[train_id, op_id] (Kontinuierlich)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u[t_id, o_id] (Integer)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Zielfunktion (Makespan)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1">
                <a:solidFill>
                  <a:srgbClr val="646464"/>
                </a:solidFill>
              </a:defRPr>
            </a:pPr>
            <a:r>
              <a:t>Mathematisches Modell: min( max_{i, a} (t_{i,a} + d_{i,a})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931920" cy="19202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makespan = model.addVar(vtype=GRB.CONTINUOUS, name='makespan')</a:t>
            </a:r>
            <a:br/>
            <a:r>
              <a:t>for t_id, o_id in ...:</a:t>
            </a:r>
            <a:br/>
            <a:r>
              <a:t>    model.addConstr(makespan &gt;= self.t[t_id, o_id] + duration)</a:t>
            </a:r>
            <a:br/>
            <a:r>
              <a:t>model.setObjective(makespan, GRB.MINIMIZE)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651760"/>
            <a:ext cx="3931920" cy="19202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makespan = model.NewIntVar(0, horizon, 'makespan')</a:t>
            </a:r>
            <a:br/>
            <a:r>
              <a:t>for t_id in trains:</a:t>
            </a:r>
            <a:br/>
            <a:r>
              <a:t>    end_vars = [self.ends[t_id, o_id] for o_id in ...]</a:t>
            </a:r>
            <a:br/>
            <a:r>
              <a:t>    model.AddMaxEquality(makespan, end_vars)</a:t>
            </a:r>
            <a:br/>
            <a:r>
              <a:t>model.Minimize(makespan)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Flow &amp;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Precedence Constraint:  t_b ≥ t_a + d_a  (wenn y_ab =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93192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Flow Conservation</a:t>
            </a:r>
            <a:br/>
            <a:r>
              <a:t>model.addConstr(quicksum(y[t, a, b]) == x[t, a])</a:t>
            </a:r>
            <a:br/>
            <a:br/>
            <a:r>
              <a:t># Precedence (Indicator Constraint)</a:t>
            </a:r>
            <a:br/>
            <a:r>
              <a:t>model.addConstr((y[t, a, b] == 1) &gt;&gt; </a:t>
            </a:r>
            <a:br/>
            <a:r>
              <a:t>                (t[t, b] &gt;= t[t, a] + d_a))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01168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377440"/>
            <a:ext cx="393192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Flow Conservation</a:t>
            </a:r>
            <a:br/>
            <a:r>
              <a:t>model.AddExactlyOne([y[t, a, b] for b in ...])</a:t>
            </a:r>
            <a:br/>
            <a:br/>
            <a:r>
              <a:t># Precedence (OnlyEnforceIf)</a:t>
            </a:r>
            <a:br/>
            <a:r>
              <a:t>model.Add(starts[t, b] &gt;= ends[t, a]).OnlyEnforceIf(y[t, a, b])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Kollision &amp; Deadlock-Prävention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Kollisions-Vermeidung und Anti-Swapping (Deadlocks)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N² Kollisions-Check (Big-M)</a:t>
            </a:r>
            <a:br/>
            <a:r>
              <a:t>model.addConstr((z_ab == 1) &gt;&gt; (t_b &gt;= t_a + d_a + H))</a:t>
            </a:r>
            <a:br/>
            <a:r>
              <a:t>model.addConstr((z_ba == 1) &gt;&gt; (t_a &gt;= t_b + d_b + H))</a:t>
            </a:r>
            <a:br/>
            <a:r>
              <a:t>model.addConstr(z_ab + z_ba == 1)</a:t>
            </a:r>
            <a:br/>
            <a:br/>
            <a:r>
              <a:t># Deadlock Prävention (Topologische Rank)</a:t>
            </a:r>
            <a:br/>
            <a:r>
              <a:t>model.addConstr(u_b &gt;= u_a + 1 - M*(1-y_ab))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82880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Globale Constraint (O(N) vs O(N²))</a:t>
            </a:r>
            <a:br/>
            <a:r>
              <a:t># IntervalVars: start, duration, end</a:t>
            </a:r>
            <a:br/>
            <a:r>
              <a:t>intervals_on_resource_r = [...]</a:t>
            </a:r>
            <a:br/>
            <a:r>
              <a:t>model.AddNoOverlap(intervals_on_resource_r)</a:t>
            </a:r>
            <a:br/>
            <a:br/>
            <a:r>
              <a:t># Deadlock Prävention (Manuell synchronisiert)</a:t>
            </a:r>
            <a:br/>
            <a:r>
              <a:t>model.Add(u[t, b] &gt;= u[t, a] + 1).OnlyEnforceIf(y_ab)</a:t>
            </a:r>
          </a:p>
        </p:txBody>
      </p:sp>
      <p:pic>
        <p:nvPicPr>
          <p:cNvPr id="10" name="Picture 9" descr="math_screensho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828800" cy="23666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OR-Tools (CP-SAT)?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66CC"/>
                </a:solidFill>
              </a:rPr>
              <a:t>Natives Zeitblock-Denken (Interval Variables): </a:t>
            </a:r>
            <a:r>
              <a:rPr sz="1600" b="0"/>
              <a:t>MIP modelliert Zeit als isolierten Punkt t. CP-SAT bündelt [Start, Dauer, Ende] in einer untrennbaren IntervalVar. Perfekt für Scheduling.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66CC"/>
                </a:solidFill>
              </a:rPr>
              <a:t>Keine Big-M Constraint-Explosion: </a:t>
            </a:r>
            <a:r>
              <a:rPr sz="1600" b="0"/>
              <a:t>MIP benötigt N² Variablen (z_ab) für Konflikte. CP-SAT nutzt AddNoOverlap, welches hochoptimierte Edge-finding Algorithmen verwendet und den Suchraum massiv verkleinert.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66CC"/>
                </a:solidFill>
              </a:rPr>
              <a:t>Exakte Lösung vs. Heuristik: </a:t>
            </a:r>
            <a:r>
              <a:rPr sz="1600" b="0"/>
              <a:t>Im Gegensatz zu Heuristiken (z.B. Hexaly / Local Search) ist CP-SAT ein exakter Löser (kombiniert SAT-Techniken mit Large Neighborhood Search). Garantiert das globale Optimum!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66CC"/>
                </a:solidFill>
              </a:rPr>
              <a:t>Deadlock-Freiheit bewahrt: </a:t>
            </a:r>
            <a:r>
              <a:rPr sz="1600" b="0"/>
              <a:t>Durch die Integration der topologischen Ränge (u) aus dem mathematischen Modell verhindern wir Deadlocks vollständig (hybrider Ansatz).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884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Symbol</vt:lpstr>
      <vt:lpstr>Wingdings</vt:lpstr>
      <vt:lpstr>Präsentation_Master_RWTH_Institute_16zu9</vt:lpstr>
      <vt:lpstr>Das Train Dispatching Problem</vt:lpstr>
      <vt:lpstr>Variablen-Mapping: Math vs. Code</vt:lpstr>
      <vt:lpstr>Vergleich: Zielfunktion (Makespan)</vt:lpstr>
      <vt:lpstr>Vergleich: Flow &amp; Precedence</vt:lpstr>
      <vt:lpstr>Vergleich: Kollision &amp; Deadlock-Prävention</vt:lpstr>
      <vt:lpstr>Warum OR-Tools (CP-SAT)?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Tianyang Bai</dc:creator>
  <cp:lastModifiedBy>Tianyang Bai</cp:lastModifiedBy>
  <cp:revision>2</cp:revision>
  <dcterms:created xsi:type="dcterms:W3CDTF">2026-05-14T08:40:29Z</dcterms:created>
  <dcterms:modified xsi:type="dcterms:W3CDTF">2026-05-14T11:21:10Z</dcterms:modified>
</cp:coreProperties>
</file>