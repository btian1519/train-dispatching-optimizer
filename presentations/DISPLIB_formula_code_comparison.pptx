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>
        <p:scale>
          <a:sx n="100" d="100"/>
          <a:sy n="100" d="100"/>
        </p:scale>
        <p:origin x="-312" y="-1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_1/3 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DF0A73D3-FBC1-4D47-8543-A11BA3B4DC28}"/>
              </a:ext>
            </a:extLst>
          </p:cNvPr>
          <p:cNvSpPr/>
          <p:nvPr/>
        </p:nvSpPr>
        <p:spPr>
          <a:xfrm>
            <a:off x="0" y="0"/>
            <a:ext cx="12192000" cy="23129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28800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F4CBBA1-954F-4A35-A14D-1D851EF8E326}"/>
              </a:ext>
            </a:extLst>
          </p:cNvPr>
          <p:cNvSpPr txBox="1"/>
          <p:nvPr/>
        </p:nvSpPr>
        <p:spPr>
          <a:xfrm>
            <a:off x="-1776413" y="479425"/>
            <a:ext cx="1576388" cy="132397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de-DE" altLang="de-DE" sz="1000" b="1"/>
              <a:t>Institutslogo:</a:t>
            </a:r>
          </a:p>
          <a:p>
            <a:pPr eaLnBrk="1" hangingPunct="1">
              <a:buFontTx/>
              <a:buChar char="-"/>
              <a:defRPr/>
            </a:pPr>
            <a:r>
              <a:rPr lang="de-DE" altLang="de-DE" sz="1000"/>
              <a:t>Dateiformat: PNG in RGB</a:t>
            </a:r>
          </a:p>
          <a:p>
            <a:pPr eaLnBrk="1" hangingPunct="1">
              <a:buFontTx/>
              <a:buChar char="-"/>
              <a:defRPr/>
            </a:pPr>
            <a:r>
              <a:rPr lang="de-DE" altLang="de-DE" sz="1000"/>
              <a:t>Skalieren auf</a:t>
            </a:r>
          </a:p>
          <a:p>
            <a:pPr eaLnBrk="1" hangingPunct="1">
              <a:defRPr/>
            </a:pPr>
            <a:r>
              <a:rPr lang="de-DE" altLang="de-DE" sz="1000"/>
              <a:t>     Höhe: 2,26 cm</a:t>
            </a:r>
          </a:p>
          <a:p>
            <a:pPr eaLnBrk="1" hangingPunct="1">
              <a:defRPr/>
            </a:pPr>
            <a:r>
              <a:rPr lang="de-DE" altLang="de-DE" sz="1000"/>
              <a:t>     (Breite variiert je nach   </a:t>
            </a:r>
          </a:p>
          <a:p>
            <a:pPr eaLnBrk="1" hangingPunct="1">
              <a:defRPr/>
            </a:pPr>
            <a:r>
              <a:rPr lang="de-DE" altLang="de-DE" sz="1000"/>
              <a:t>     Schutzraum)</a:t>
            </a:r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852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Grafik 7" descr="Ein Bild, das Objekt enthält.&#10;&#10;Mit hoher Zuverlässigkeit generierte Beschreibung">
            <a:extLst>
              <a:ext uri="{FF2B5EF4-FFF2-40B4-BE49-F238E27FC236}">
                <a16:creationId xmlns:a16="http://schemas.microsoft.com/office/drawing/2014/main" id="{19A859E0-99BD-4462-A66E-7FFF62E401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094" y="6044400"/>
            <a:ext cx="2910019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840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_1/3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7">
            <a:extLst>
              <a:ext uri="{FF2B5EF4-FFF2-40B4-BE49-F238E27FC236}">
                <a16:creationId xmlns:a16="http://schemas.microsoft.com/office/drawing/2014/main" id="{965939E9-23E5-4822-9F20-1E5729CD1F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12192000" cy="229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C54D22BF-B1FC-40F1-832A-3AB19A24FBCE}"/>
              </a:ext>
            </a:extLst>
          </p:cNvPr>
          <p:cNvSpPr txBox="1"/>
          <p:nvPr/>
        </p:nvSpPr>
        <p:spPr>
          <a:xfrm>
            <a:off x="-1703388" y="495300"/>
            <a:ext cx="1439863" cy="1477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b="1" dirty="0">
                <a:latin typeface="+mn-lt"/>
                <a:ea typeface="+mn-ea"/>
              </a:rPr>
              <a:t>Bild zuschneiden unter: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Format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Zuschneiden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 err="1">
                <a:latin typeface="+mn-lt"/>
                <a:ea typeface="+mn-ea"/>
              </a:rPr>
              <a:t>Zuschneidewerkzeug</a:t>
            </a:r>
            <a:r>
              <a:rPr lang="de-DE" sz="1000" dirty="0">
                <a:latin typeface="+mn-lt"/>
                <a:ea typeface="+mn-ea"/>
              </a:rPr>
              <a:t> horizontal bis zur ersten oder zweiten Linie ziehen</a:t>
            </a:r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Grafik 6" descr="Ein Bild, das Objekt enthält.&#10;&#10;Mit hoher Zuverlässigkeit generierte Beschreibung">
            <a:extLst>
              <a:ext uri="{FF2B5EF4-FFF2-40B4-BE49-F238E27FC236}">
                <a16:creationId xmlns:a16="http://schemas.microsoft.com/office/drawing/2014/main" id="{CCAD97C0-27D9-4A7C-82D4-A17FE9DE90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094" y="6044400"/>
            <a:ext cx="2910019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145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_2/3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690C6E24-94B2-4220-99A9-3818B4A91586}"/>
              </a:ext>
            </a:extLst>
          </p:cNvPr>
          <p:cNvSpPr txBox="1"/>
          <p:nvPr/>
        </p:nvSpPr>
        <p:spPr>
          <a:xfrm>
            <a:off x="-1703388" y="495300"/>
            <a:ext cx="1439863" cy="1477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b="1" dirty="0">
                <a:latin typeface="+mn-lt"/>
                <a:ea typeface="+mn-ea"/>
              </a:rPr>
              <a:t>Bild zuschneiden unter: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Format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Zuschneiden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 err="1">
                <a:latin typeface="+mn-lt"/>
                <a:ea typeface="+mn-ea"/>
              </a:rPr>
              <a:t>Zuschneidewerkzeug</a:t>
            </a:r>
            <a:r>
              <a:rPr lang="de-DE" sz="1000" dirty="0">
                <a:latin typeface="+mn-lt"/>
                <a:ea typeface="+mn-ea"/>
              </a:rPr>
              <a:t> horizontal bis zur ersten oder zweiten Linie ziehen</a:t>
            </a:r>
          </a:p>
        </p:txBody>
      </p:sp>
      <p:pic>
        <p:nvPicPr>
          <p:cNvPr id="5" name="Grafik 9">
            <a:extLst>
              <a:ext uri="{FF2B5EF4-FFF2-40B4-BE49-F238E27FC236}">
                <a16:creationId xmlns:a16="http://schemas.microsoft.com/office/drawing/2014/main" id="{E3EF9CEB-A41E-45D4-A833-3E2B3393FD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453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le 1"/>
          <p:cNvSpPr>
            <a:spLocks noGrp="1"/>
          </p:cNvSpPr>
          <p:nvPr>
            <p:ph type="ctrTitle"/>
          </p:nvPr>
        </p:nvSpPr>
        <p:spPr>
          <a:xfrm>
            <a:off x="384000" y="473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384000" y="5230801"/>
            <a:ext cx="11484000" cy="81281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Grafik 6" descr="Ein Bild, das Objekt enthält.&#10;&#10;Mit hoher Zuverlässigkeit generierte Beschreibung">
            <a:extLst>
              <a:ext uri="{FF2B5EF4-FFF2-40B4-BE49-F238E27FC236}">
                <a16:creationId xmlns:a16="http://schemas.microsoft.com/office/drawing/2014/main" id="{75A3AB05-F813-4AC6-9044-5F0DA7A3C8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094" y="6044400"/>
            <a:ext cx="2910019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998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FCEC0078-E1D4-4A54-B33E-F7A0F4720198}"/>
              </a:ext>
            </a:extLst>
          </p:cNvPr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6" name="Grafik 5" descr="Ein Bild, das Objekt enthält.&#10;&#10;Mit hoher Zuverlässigkeit generierte Beschreibung">
            <a:extLst>
              <a:ext uri="{FF2B5EF4-FFF2-40B4-BE49-F238E27FC236}">
                <a16:creationId xmlns:a16="http://schemas.microsoft.com/office/drawing/2014/main" id="{D05B0B5C-83F5-4414-B2AA-037B41B9C7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094" y="6044400"/>
            <a:ext cx="2910019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454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_mittig, horizontale Li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7">
            <a:extLst>
              <a:ext uri="{FF2B5EF4-FFF2-40B4-BE49-F238E27FC236}">
                <a16:creationId xmlns:a16="http://schemas.microsoft.com/office/drawing/2014/main" id="{D5D0E2FC-3DC5-4EA0-A175-0B1CC51FC78A}"/>
              </a:ext>
            </a:extLst>
          </p:cNvPr>
          <p:cNvCxnSpPr/>
          <p:nvPr/>
        </p:nvCxnSpPr>
        <p:spPr>
          <a:xfrm>
            <a:off x="392113" y="303688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384000" y="3196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6" name="Grafik 5" descr="Ein Bild, das Objekt enthält.&#10;&#10;Mit hoher Zuverlässigkeit generierte Beschreibung">
            <a:extLst>
              <a:ext uri="{FF2B5EF4-FFF2-40B4-BE49-F238E27FC236}">
                <a16:creationId xmlns:a16="http://schemas.microsoft.com/office/drawing/2014/main" id="{813E6BA0-BACC-4066-A4A7-81433711D3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094" y="6044400"/>
            <a:ext cx="2910019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04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_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373038" y="1684800"/>
            <a:ext cx="11484000" cy="31932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876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/>
          </p:nvPr>
        </p:nvSpPr>
        <p:spPr>
          <a:xfrm>
            <a:off x="383117" y="1684801"/>
            <a:ext cx="11484000" cy="37512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57701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_Text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7">
            <a:extLst>
              <a:ext uri="{FF2B5EF4-FFF2-40B4-BE49-F238E27FC236}">
                <a16:creationId xmlns:a16="http://schemas.microsoft.com/office/drawing/2014/main" id="{25821BAF-A998-441B-8191-CE326EE1E9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7375" y="1684338"/>
            <a:ext cx="3635375" cy="398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platzhalter 11"/>
          <p:cNvSpPr>
            <a:spLocks noGrp="1"/>
          </p:cNvSpPr>
          <p:nvPr>
            <p:ph type="body" sz="quarter" idx="14"/>
          </p:nvPr>
        </p:nvSpPr>
        <p:spPr>
          <a:xfrm>
            <a:off x="383117" y="1684800"/>
            <a:ext cx="7560000" cy="3985955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10598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7">
            <a:extLst>
              <a:ext uri="{FF2B5EF4-FFF2-40B4-BE49-F238E27FC236}">
                <a16:creationId xmlns:a16="http://schemas.microsoft.com/office/drawing/2014/main" id="{668FF3C9-89D1-4793-A0F8-160C43D2C7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3" y="1152525"/>
            <a:ext cx="11480800" cy="398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83117" y="5359401"/>
            <a:ext cx="11484000" cy="49953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9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814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_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24"/>
          <p:cNvSpPr>
            <a:spLocks noGrp="1"/>
          </p:cNvSpPr>
          <p:nvPr>
            <p:ph type="body" sz="quarter" idx="1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FontTx/>
              <a:buNone/>
              <a:defRPr sz="2000" b="1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iagrammplatzhalter 8"/>
          <p:cNvSpPr>
            <a:spLocks noGrp="1"/>
          </p:cNvSpPr>
          <p:nvPr>
            <p:ph type="chart" sz="quarter" idx="13"/>
          </p:nvPr>
        </p:nvSpPr>
        <p:spPr>
          <a:xfrm>
            <a:off x="383117" y="1684800"/>
            <a:ext cx="11484000" cy="36322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noProof="0"/>
              <a:t>Click icon to add chart</a:t>
            </a:r>
            <a:endParaRPr lang="de-DE" noProof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3306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C3FBA6D-D185-4E65-BA58-F6D60A8CDCD2}"/>
              </a:ext>
            </a:extLst>
          </p:cNvPr>
          <p:cNvSpPr txBox="1">
            <a:spLocks/>
          </p:cNvSpPr>
          <p:nvPr/>
        </p:nvSpPr>
        <p:spPr>
          <a:xfrm>
            <a:off x="382588" y="2487613"/>
            <a:ext cx="11483975" cy="10795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defRPr/>
            </a:pPr>
            <a:r>
              <a:rPr lang="de-DE" altLang="de-DE" sz="3200" b="1">
                <a:solidFill>
                  <a:schemeClr val="tx2"/>
                </a:solidFill>
              </a:rPr>
              <a:t>Vielen Dank</a:t>
            </a:r>
            <a:br>
              <a:rPr lang="de-DE" altLang="de-DE" sz="3200" b="1">
                <a:solidFill>
                  <a:schemeClr val="tx2"/>
                </a:solidFill>
              </a:rPr>
            </a:br>
            <a:r>
              <a:rPr lang="de-DE" altLang="de-DE" sz="3200" b="1">
                <a:solidFill>
                  <a:schemeClr val="tx2"/>
                </a:solidFill>
              </a:rPr>
              <a:t>für Ihre Aufmerksamkeit</a:t>
            </a:r>
            <a:endParaRPr lang="en-US" altLang="de-DE" sz="3200" b="1">
              <a:solidFill>
                <a:schemeClr val="tx2"/>
              </a:solidFill>
            </a:endParaRPr>
          </a:p>
        </p:txBody>
      </p:sp>
      <p:cxnSp>
        <p:nvCxnSpPr>
          <p:cNvPr id="5" name="Gerader Verbinder 11">
            <a:extLst>
              <a:ext uri="{FF2B5EF4-FFF2-40B4-BE49-F238E27FC236}">
                <a16:creationId xmlns:a16="http://schemas.microsoft.com/office/drawing/2014/main" id="{7EAD0A55-458C-461C-8A98-FB757E9F4A7E}"/>
              </a:ext>
            </a:extLst>
          </p:cNvPr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platzhalter 24"/>
          <p:cNvSpPr>
            <a:spLocks noGrp="1"/>
          </p:cNvSpPr>
          <p:nvPr>
            <p:ph type="body" sz="quarter" idx="11"/>
          </p:nvPr>
        </p:nvSpPr>
        <p:spPr>
          <a:xfrm>
            <a:off x="384000" y="3988800"/>
            <a:ext cx="11484000" cy="165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fik 5" descr="Ein Bild, das Objekt enthält.&#10;&#10;Mit hoher Zuverlässigkeit generierte Beschreibung">
            <a:extLst>
              <a:ext uri="{FF2B5EF4-FFF2-40B4-BE49-F238E27FC236}">
                <a16:creationId xmlns:a16="http://schemas.microsoft.com/office/drawing/2014/main" id="{BF6B2EA4-A7DF-477E-A555-153DA86B23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094" y="6044400"/>
            <a:ext cx="2910019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7396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3170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8CBF0E6-97C3-473E-A6E8-CB800563BB33}"/>
              </a:ext>
            </a:extLst>
          </p:cNvPr>
          <p:cNvSpPr txBox="1">
            <a:spLocks/>
          </p:cNvSpPr>
          <p:nvPr/>
        </p:nvSpPr>
        <p:spPr>
          <a:xfrm>
            <a:off x="1195388" y="6227763"/>
            <a:ext cx="7002462" cy="63023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de-DE" altLang="de-DE" sz="900">
                <a:solidFill>
                  <a:schemeClr val="tx2"/>
                </a:solidFill>
              </a:rPr>
              <a:t>Titel der Präsentation  |  Name des Vortragenden  |  Organisationseinheit  |  00.00.2000  |  Die Fußzeile bietet Platz für einen Text über 3 Zeilen  |  Die Fußzeile bietet Platz für einen Text über 3 Zeilen  |  Die Fußzeile bietet Platz für 3 Zeilen  |  Die Fußzeile bietet Platz für 3 Zeilen  |  Die Fußzeile bietet Platz für 3 Zeilen  |  Die Fußzeile bietet Platz für 3 Zeilen</a:t>
            </a:r>
          </a:p>
          <a:p>
            <a:pPr eaLnBrk="1" hangingPunct="1">
              <a:defRPr/>
            </a:pPr>
            <a:endParaRPr lang="de-DE" altLang="de-DE" sz="900">
              <a:solidFill>
                <a:schemeClr val="tx2"/>
              </a:solidFill>
            </a:endParaRP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03F14107-F8A8-4432-ADBA-17617EB7E0D5}"/>
              </a:ext>
            </a:extLst>
          </p:cNvPr>
          <p:cNvCxnSpPr/>
          <p:nvPr/>
        </p:nvCxnSpPr>
        <p:spPr>
          <a:xfrm>
            <a:off x="360363" y="81438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A4433757-720D-4347-908D-4390B2080B31}"/>
              </a:ext>
            </a:extLst>
          </p:cNvPr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0" name="Textfeld 6">
            <a:extLst>
              <a:ext uri="{FF2B5EF4-FFF2-40B4-BE49-F238E27FC236}">
                <a16:creationId xmlns:a16="http://schemas.microsoft.com/office/drawing/2014/main" id="{1EFD7C95-1B86-405C-AB6F-F43FD0AF22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784350" y="5073650"/>
            <a:ext cx="1668462" cy="178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de-DE" altLang="de-DE" sz="1000" b="1"/>
              <a:t>Fußzeile anpassen:</a:t>
            </a:r>
            <a:endParaRPr lang="de-DE" altLang="de-DE" sz="1000"/>
          </a:p>
          <a:p>
            <a:pPr eaLnBrk="1" hangingPunct="1">
              <a:defRPr/>
            </a:pPr>
            <a:r>
              <a:rPr lang="de-DE" altLang="de-DE" sz="1000"/>
              <a:t>Zum Anpassen der Fußzeile unter Karteireiter Ansicht &gt; auf Folienmaster klicken. Links in der Übersicht auf die oberste Folie scrollen und dort in die Fußzeile klicken. So wird der Text automatisch auf allen Seiten angepasst.</a:t>
            </a:r>
            <a:endParaRPr lang="de-DE" altLang="de-DE" sz="1000" b="1"/>
          </a:p>
        </p:txBody>
      </p:sp>
      <p:sp>
        <p:nvSpPr>
          <p:cNvPr id="1031" name="Textfeld 13">
            <a:extLst>
              <a:ext uri="{FF2B5EF4-FFF2-40B4-BE49-F238E27FC236}">
                <a16:creationId xmlns:a16="http://schemas.microsoft.com/office/drawing/2014/main" id="{6F5E163A-F32F-4307-A238-CBCE094AFD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363" y="6227763"/>
            <a:ext cx="730250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D96AFAB6-A7B6-45C5-B5AC-8B3CADFAAA85}" type="slidenum">
              <a:rPr lang="de-DE" altLang="de-DE" sz="900">
                <a:solidFill>
                  <a:schemeClr val="tx2"/>
                </a:solidFill>
              </a:rPr>
              <a:pPr eaLnBrk="1" hangingPunct="1"/>
              <a:t>‹#›</a:t>
            </a:fld>
            <a:endParaRPr lang="de-DE" altLang="de-DE" sz="900">
              <a:solidFill>
                <a:schemeClr val="tx2"/>
              </a:solidFill>
            </a:endParaRPr>
          </a:p>
        </p:txBody>
      </p:sp>
      <p:pic>
        <p:nvPicPr>
          <p:cNvPr id="3" name="Grafik 2" descr="Ein Bild, das Objekt enthält.&#10;&#10;Mit hoher Zuverlässigkeit generierte Beschreibung">
            <a:extLst>
              <a:ext uri="{FF2B5EF4-FFF2-40B4-BE49-F238E27FC236}">
                <a16:creationId xmlns:a16="http://schemas.microsoft.com/office/drawing/2014/main" id="{9A65EF06-F076-4140-B064-D92FFD5FE32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094" y="6044400"/>
            <a:ext cx="2910019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59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159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tabLst>
          <a:tab pos="215900" algn="l"/>
        </a:tabLst>
        <a:defRPr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marL="431800" indent="-215900" algn="l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Symbol" panose="05050102010706020507" pitchFamily="18" charset="2"/>
        <a:buChar char="-"/>
        <a:tabLst>
          <a:tab pos="4318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marL="6477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tabLst>
          <a:tab pos="6477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marL="8636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00000"/>
        <a:buFont typeface="Arial" panose="020B0604020202020204" pitchFamily="34" charset="0"/>
        <a:buChar char="-"/>
        <a:tabLst>
          <a:tab pos="8636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marL="863600" indent="-2159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-"/>
        <a:tabLst>
          <a:tab pos="89535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746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279ED94-A188-4695-8000-D0C55B99EB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02DF6B-62E9-4BDD-9DF2-AF1E06CD2896}"/>
              </a:ext>
            </a:extLst>
          </p:cNvPr>
          <p:cNvSpPr>
            <a:spLocks noGrp="1"/>
          </p:cNvSpPr>
          <p:nvPr/>
        </p:nvSpPr>
        <p:spPr>
          <a:xfrm>
            <a:off x="533400" y="514350"/>
            <a:ext cx="47625" cy="495300"/>
          </a:xfrm>
          <a:prstGeom prst="rect">
            <a:avLst/>
          </a:prstGeom>
          <a:solidFill>
            <a:srgbClr val="A33A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975846-6D2D-4A3C-AE07-4DBD2A2FECC6}"/>
              </a:ext>
            </a:extLst>
          </p:cNvPr>
          <p:cNvSpPr>
            <a:spLocks noGrp="1"/>
          </p:cNvSpPr>
          <p:nvPr/>
        </p:nvSpPr>
        <p:spPr>
          <a:xfrm>
            <a:off x="723900" y="495300"/>
            <a:ext cx="4095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17083"/>
                </a:solidFill>
                <a:latin typeface="Aptos"/>
                <a:ea typeface="Aptos"/>
                <a:cs typeface="Aptos"/>
              </a:rPr>
              <a:t>DISPLIB TRAIN DISPATCHING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57A8D2-F3B3-400C-812D-119E25069464}"/>
              </a:ext>
            </a:extLst>
          </p:cNvPr>
          <p:cNvSpPr>
            <a:spLocks noGrp="1"/>
          </p:cNvSpPr>
          <p:nvPr/>
        </p:nvSpPr>
        <p:spPr>
          <a:xfrm>
            <a:off x="533400" y="1619250"/>
            <a:ext cx="657225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825" b="1">
                <a:solidFill>
                  <a:srgbClr val="121A24"/>
                </a:solidFill>
                <a:latin typeface="Georgia"/>
                <a:ea typeface="Georgia"/>
                <a:cs typeface="Georgia"/>
              </a:defRPr>
            </a:pPr>
            <a:r>
              <a:rPr sz="3825" b="1">
                <a:solidFill>
                  <a:srgbClr val="121A24"/>
                </a:solidFill>
                <a:latin typeface="Georgia"/>
                <a:ea typeface="Georgia"/>
                <a:cs typeface="Georgia"/>
              </a:rPr>
              <a:t>Mathematical model</a:t>
            </a:r>
          </a:p>
          <a:p>
            <a:pPr algn="l">
              <a:defRPr sz="3825" b="1">
                <a:solidFill>
                  <a:srgbClr val="121A24"/>
                </a:solidFill>
                <a:latin typeface="Georgia"/>
                <a:ea typeface="Georgia"/>
                <a:cs typeface="Georgia"/>
              </a:defRPr>
            </a:pPr>
            <a:r>
              <a:rPr sz="3825" b="1">
                <a:solidFill>
                  <a:srgbClr val="121A24"/>
                </a:solidFill>
                <a:latin typeface="Georgia"/>
                <a:ea typeface="Georgia"/>
                <a:cs typeface="Georgia"/>
              </a:rPr>
              <a:t>mapped to code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44D295-2639-45D1-AF5C-1850D9571432}"/>
              </a:ext>
            </a:extLst>
          </p:cNvPr>
          <p:cNvSpPr>
            <a:spLocks noGrp="1"/>
          </p:cNvSpPr>
          <p:nvPr/>
        </p:nvSpPr>
        <p:spPr>
          <a:xfrm>
            <a:off x="552450" y="3295650"/>
            <a:ext cx="5810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Formula screenshots on the left; baseline Gurobi MIP in the middle; extended OR-Tools CP-SAT on the right.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183110-FC2F-4066-9A16-76315FC72FD8}"/>
              </a:ext>
            </a:extLst>
          </p:cNvPr>
          <p:cNvSpPr>
            <a:spLocks noGrp="1"/>
          </p:cNvSpPr>
          <p:nvPr/>
        </p:nvSpPr>
        <p:spPr>
          <a:xfrm>
            <a:off x="7239000" y="1066800"/>
            <a:ext cx="3810000" cy="4095750"/>
          </a:xfrm>
          <a:prstGeom prst="rect">
            <a:avLst/>
          </a:prstGeom>
          <a:solidFill>
            <a:srgbClr val="121A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D1AE34-AC40-49EE-AFFC-7BA660BBA549}"/>
              </a:ext>
            </a:extLst>
          </p:cNvPr>
          <p:cNvSpPr>
            <a:spLocks noGrp="1"/>
          </p:cNvSpPr>
          <p:nvPr/>
        </p:nvSpPr>
        <p:spPr>
          <a:xfrm>
            <a:off x="7524750" y="1352550"/>
            <a:ext cx="2952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C6CCD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6CCD4"/>
                </a:solidFill>
                <a:latin typeface="Aptos"/>
                <a:ea typeface="Aptos"/>
                <a:cs typeface="Aptos"/>
              </a:rPr>
              <a:t>comparison spine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A40972-2ECE-423F-98BB-3DAAD9048688}"/>
              </a:ext>
            </a:extLst>
          </p:cNvPr>
          <p:cNvSpPr>
            <a:spLocks noGrp="1"/>
          </p:cNvSpPr>
          <p:nvPr/>
        </p:nvSpPr>
        <p:spPr>
          <a:xfrm>
            <a:off x="7524750" y="1885950"/>
            <a:ext cx="457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F0B0A6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F0B0A6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9A3F89-006B-4532-84E6-417409C6C846}"/>
              </a:ext>
            </a:extLst>
          </p:cNvPr>
          <p:cNvSpPr>
            <a:spLocks noGrp="1"/>
          </p:cNvSpPr>
          <p:nvPr/>
        </p:nvSpPr>
        <p:spPr>
          <a:xfrm>
            <a:off x="8115300" y="1905000"/>
            <a:ext cx="2286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 objects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6CA772-F9C6-40A2-A473-FD0C358C2646}"/>
              </a:ext>
            </a:extLst>
          </p:cNvPr>
          <p:cNvSpPr>
            <a:spLocks noGrp="1"/>
          </p:cNvSpPr>
          <p:nvPr/>
        </p:nvSpPr>
        <p:spPr>
          <a:xfrm>
            <a:off x="8115300" y="215265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C6CCD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6CCD4"/>
                </a:solidFill>
                <a:latin typeface="Aptos"/>
                <a:ea typeface="Aptos"/>
                <a:cs typeface="Aptos"/>
              </a:rPr>
              <a:t>Operation graph, resources, objective components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A4757F-B7BF-4B83-B30F-12133BD523F7}"/>
              </a:ext>
            </a:extLst>
          </p:cNvPr>
          <p:cNvSpPr>
            <a:spLocks noGrp="1"/>
          </p:cNvSpPr>
          <p:nvPr/>
        </p:nvSpPr>
        <p:spPr>
          <a:xfrm>
            <a:off x="7524750" y="2609850"/>
            <a:ext cx="457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A7D6C1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A7D6C1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B504B0-F660-41C5-9995-D09A68BAC644}"/>
              </a:ext>
            </a:extLst>
          </p:cNvPr>
          <p:cNvSpPr>
            <a:spLocks noGrp="1"/>
          </p:cNvSpPr>
          <p:nvPr/>
        </p:nvSpPr>
        <p:spPr>
          <a:xfrm>
            <a:off x="8115300" y="2628900"/>
            <a:ext cx="2286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Path logic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D102F10-4180-485F-A775-B9283E4500A3}"/>
              </a:ext>
            </a:extLst>
          </p:cNvPr>
          <p:cNvSpPr>
            <a:spLocks noGrp="1"/>
          </p:cNvSpPr>
          <p:nvPr/>
        </p:nvSpPr>
        <p:spPr>
          <a:xfrm>
            <a:off x="8115300" y="287655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C6CCD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6CCD4"/>
                </a:solidFill>
                <a:latin typeface="Aptos"/>
                <a:ea typeface="Aptos"/>
                <a:cs typeface="Aptos"/>
              </a:rPr>
              <a:t>Flow constraints choose one route per train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BEA842-5E23-4944-B4A2-6B4887A6154E}"/>
              </a:ext>
            </a:extLst>
          </p:cNvPr>
          <p:cNvSpPr>
            <a:spLocks noGrp="1"/>
          </p:cNvSpPr>
          <p:nvPr/>
        </p:nvSpPr>
        <p:spPr>
          <a:xfrm>
            <a:off x="7524750" y="3333750"/>
            <a:ext cx="457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F0B0A6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F0B0A6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4247706-8865-43E4-B69A-D772AD1D82A7}"/>
              </a:ext>
            </a:extLst>
          </p:cNvPr>
          <p:cNvSpPr>
            <a:spLocks noGrp="1"/>
          </p:cNvSpPr>
          <p:nvPr/>
        </p:nvSpPr>
        <p:spPr>
          <a:xfrm>
            <a:off x="8115300" y="3352800"/>
            <a:ext cx="2286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Safety logic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A75E86-E207-485E-82FB-7C498A1BC107}"/>
              </a:ext>
            </a:extLst>
          </p:cNvPr>
          <p:cNvSpPr>
            <a:spLocks noGrp="1"/>
          </p:cNvSpPr>
          <p:nvPr/>
        </p:nvSpPr>
        <p:spPr>
          <a:xfrm>
            <a:off x="8115300" y="360045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C6CCD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6CCD4"/>
                </a:solidFill>
                <a:latin typeface="Aptos"/>
                <a:ea typeface="Aptos"/>
                <a:cs typeface="Aptos"/>
              </a:rPr>
              <a:t>Resource exclusivity and anti-swapping order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F2BAB4A-0DD2-464B-82AA-78C703662F30}"/>
              </a:ext>
            </a:extLst>
          </p:cNvPr>
          <p:cNvSpPr>
            <a:spLocks noGrp="1"/>
          </p:cNvSpPr>
          <p:nvPr/>
        </p:nvSpPr>
        <p:spPr>
          <a:xfrm>
            <a:off x="7524750" y="4057650"/>
            <a:ext cx="457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A7D6C1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A7D6C1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FAD12B-0D47-4ED1-802D-E8BD546A0D40}"/>
              </a:ext>
            </a:extLst>
          </p:cNvPr>
          <p:cNvSpPr>
            <a:spLocks noGrp="1"/>
          </p:cNvSpPr>
          <p:nvPr/>
        </p:nvSpPr>
        <p:spPr>
          <a:xfrm>
            <a:off x="8115300" y="4076700"/>
            <a:ext cx="2286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Cost logic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E059767-6472-4A46-8157-B2D93299E0CA}"/>
              </a:ext>
            </a:extLst>
          </p:cNvPr>
          <p:cNvSpPr>
            <a:spLocks noGrp="1"/>
          </p:cNvSpPr>
          <p:nvPr/>
        </p:nvSpPr>
        <p:spPr>
          <a:xfrm>
            <a:off x="8115300" y="432435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C6CCD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6CCD4"/>
                </a:solidFill>
                <a:latin typeface="Aptos"/>
                <a:ea typeface="Aptos"/>
                <a:cs typeface="Aptos"/>
              </a:rPr>
              <a:t>Weighted delay objective and implementation gap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FC1164F-D38A-45AB-81F0-597E4014D164}"/>
              </a:ext>
            </a:extLst>
          </p:cNvPr>
          <p:cNvSpPr>
            <a:spLocks noGrp="1"/>
          </p:cNvSpPr>
          <p:nvPr/>
        </p:nvSpPr>
        <p:spPr>
          <a:xfrm>
            <a:off x="533400" y="4972050"/>
            <a:ext cx="5905500" cy="9525"/>
          </a:xfrm>
          <a:prstGeom prst="rect">
            <a:avLst/>
          </a:prstGeom>
          <a:solidFill>
            <a:srgbClr val="DCD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EDED4C1-F2CF-44C0-A733-37AFE33FCF53}"/>
              </a:ext>
            </a:extLst>
          </p:cNvPr>
          <p:cNvSpPr>
            <a:spLocks noGrp="1"/>
          </p:cNvSpPr>
          <p:nvPr/>
        </p:nvSpPr>
        <p:spPr>
          <a:xfrm>
            <a:off x="590550" y="5334000"/>
            <a:ext cx="76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E5B87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1E5B87"/>
                </a:solidFill>
                <a:latin typeface="Consolas"/>
                <a:ea typeface="Consolas"/>
                <a:cs typeface="Consolas"/>
              </a:rPr>
              <a:t>Eq(1)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BB92EEC-4B5A-4FE4-B375-318A4C0E684F}"/>
              </a:ext>
            </a:extLst>
          </p:cNvPr>
          <p:cNvSpPr>
            <a:spLocks noGrp="1"/>
          </p:cNvSpPr>
          <p:nvPr/>
        </p:nvSpPr>
        <p:spPr>
          <a:xfrm>
            <a:off x="1409700" y="5429250"/>
            <a:ext cx="323850" cy="13335"/>
          </a:xfrm>
          <a:prstGeom prst="rect">
            <a:avLst/>
          </a:prstGeom>
          <a:solidFill>
            <a:srgbClr val="1E5B8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CCAFDEA-A34E-42F2-810A-26A7E29E427A}"/>
              </a:ext>
            </a:extLst>
          </p:cNvPr>
          <p:cNvSpPr>
            <a:spLocks noGrp="1"/>
          </p:cNvSpPr>
          <p:nvPr/>
        </p:nvSpPr>
        <p:spPr>
          <a:xfrm>
            <a:off x="1828800" y="5314950"/>
            <a:ext cx="22383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21A24"/>
                </a:solidFill>
                <a:latin typeface="Aptos"/>
                <a:ea typeface="Aptos"/>
                <a:cs typeface="Aptos"/>
              </a:rPr>
              <a:t>Route feasibility and running times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7ECB427-72E1-4AEF-9A56-0BA16082CE5F}"/>
              </a:ext>
            </a:extLst>
          </p:cNvPr>
          <p:cNvSpPr>
            <a:spLocks noGrp="1"/>
          </p:cNvSpPr>
          <p:nvPr/>
        </p:nvSpPr>
        <p:spPr>
          <a:xfrm>
            <a:off x="590550" y="5734050"/>
            <a:ext cx="76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A33A2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A33A2A"/>
                </a:solidFill>
                <a:latin typeface="Consolas"/>
                <a:ea typeface="Consolas"/>
                <a:cs typeface="Consolas"/>
              </a:rPr>
              <a:t>Eq(2)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5CEF7B6-ABBF-4F6C-9867-AC5F51676718}"/>
              </a:ext>
            </a:extLst>
          </p:cNvPr>
          <p:cNvSpPr>
            <a:spLocks noGrp="1"/>
          </p:cNvSpPr>
          <p:nvPr/>
        </p:nvSpPr>
        <p:spPr>
          <a:xfrm>
            <a:off x="1409700" y="5829300"/>
            <a:ext cx="323850" cy="13335"/>
          </a:xfrm>
          <a:prstGeom prst="rect">
            <a:avLst/>
          </a:prstGeom>
          <a:solidFill>
            <a:srgbClr val="A33A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E69EAE3-2803-4B63-AA1D-9FE8E9451645}"/>
              </a:ext>
            </a:extLst>
          </p:cNvPr>
          <p:cNvSpPr>
            <a:spLocks noGrp="1"/>
          </p:cNvSpPr>
          <p:nvPr/>
        </p:nvSpPr>
        <p:spPr>
          <a:xfrm>
            <a:off x="1828800" y="5715000"/>
            <a:ext cx="22383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21A24"/>
                </a:solidFill>
                <a:latin typeface="Aptos"/>
                <a:ea typeface="Aptos"/>
                <a:cs typeface="Aptos"/>
              </a:rPr>
              <a:t>Pairwise shared-resource precedence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DC372DF-C92C-455D-A385-AB225D5EC924}"/>
              </a:ext>
            </a:extLst>
          </p:cNvPr>
          <p:cNvSpPr>
            <a:spLocks noGrp="1"/>
          </p:cNvSpPr>
          <p:nvPr/>
        </p:nvSpPr>
        <p:spPr>
          <a:xfrm>
            <a:off x="590550" y="6134100"/>
            <a:ext cx="76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D7A57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2D7A57"/>
                </a:solidFill>
                <a:latin typeface="Consolas"/>
                <a:ea typeface="Consolas"/>
                <a:cs typeface="Consolas"/>
              </a:rPr>
              <a:t>Eq(3)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C1CE3C3-7BCD-43FD-A642-EEAEFDE72FE8}"/>
              </a:ext>
            </a:extLst>
          </p:cNvPr>
          <p:cNvSpPr>
            <a:spLocks noGrp="1"/>
          </p:cNvSpPr>
          <p:nvPr/>
        </p:nvSpPr>
        <p:spPr>
          <a:xfrm>
            <a:off x="1409700" y="6229350"/>
            <a:ext cx="323850" cy="13335"/>
          </a:xfrm>
          <a:prstGeom prst="rect">
            <a:avLst/>
          </a:prstGeom>
          <a:solidFill>
            <a:srgbClr val="2D7A5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5967E07-9BFF-4F0A-AEE8-C09F65447F52}"/>
              </a:ext>
            </a:extLst>
          </p:cNvPr>
          <p:cNvSpPr>
            <a:spLocks noGrp="1"/>
          </p:cNvSpPr>
          <p:nvPr/>
        </p:nvSpPr>
        <p:spPr>
          <a:xfrm>
            <a:off x="1828800" y="6115050"/>
            <a:ext cx="22383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21A24"/>
                </a:solidFill>
                <a:latin typeface="Aptos"/>
                <a:ea typeface="Aptos"/>
                <a:cs typeface="Aptos"/>
              </a:rPr>
              <a:t>Global event order against swapping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3C2302F-3551-4950-97EA-89F47012E2A0}"/>
              </a:ext>
            </a:extLst>
          </p:cNvPr>
          <p:cNvSpPr>
            <a:spLocks noGrp="1"/>
          </p:cNvSpPr>
          <p:nvPr/>
        </p:nvSpPr>
        <p:spPr>
          <a:xfrm>
            <a:off x="533400" y="6457950"/>
            <a:ext cx="11125200" cy="9525"/>
          </a:xfrm>
          <a:prstGeom prst="rect">
            <a:avLst/>
          </a:prstGeom>
          <a:solidFill>
            <a:srgbClr val="DCD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CDCE854-D5F6-4169-9441-DBBCA17E457A}"/>
              </a:ext>
            </a:extLst>
          </p:cNvPr>
          <p:cNvSpPr>
            <a:spLocks noGrp="1"/>
          </p:cNvSpPr>
          <p:nvPr/>
        </p:nvSpPr>
        <p:spPr>
          <a:xfrm>
            <a:off x="533400" y="6572250"/>
            <a:ext cx="933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Output: editable PowerPoint deck for the optimization lab report.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BCF529E-2A31-4396-A2D0-0BFF68D3D6DC}"/>
              </a:ext>
            </a:extLst>
          </p:cNvPr>
          <p:cNvSpPr>
            <a:spLocks noGrp="1"/>
          </p:cNvSpPr>
          <p:nvPr/>
        </p:nvSpPr>
        <p:spPr>
          <a:xfrm>
            <a:off x="11296650" y="655320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1708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72657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CDC6EAD6-AADA-4384-9F11-DC028B8A185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" name="kicker-2-marker">
            <a:extLst>
              <a:ext uri="{FF2B5EF4-FFF2-40B4-BE49-F238E27FC236}">
                <a16:creationId xmlns:a16="http://schemas.microsoft.com/office/drawing/2014/main" id="{DEC860EE-EE8D-4DC3-AF98-744FA1B16274}"/>
              </a:ext>
            </a:extLst>
          </p:cNvPr>
          <p:cNvSpPr>
            <a:spLocks noGrp="1"/>
          </p:cNvSpPr>
          <p:nvPr/>
        </p:nvSpPr>
        <p:spPr>
          <a:xfrm>
            <a:off x="533400" y="428625"/>
            <a:ext cx="47625" cy="228600"/>
          </a:xfrm>
          <a:prstGeom prst="rect">
            <a:avLst/>
          </a:prstGeom>
          <a:solidFill>
            <a:srgbClr val="A33A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kicker-2-label">
            <a:extLst>
              <a:ext uri="{FF2B5EF4-FFF2-40B4-BE49-F238E27FC236}">
                <a16:creationId xmlns:a16="http://schemas.microsoft.com/office/drawing/2014/main" id="{6277CB93-F716-4B45-B9B4-5A6F18A30BA1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42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17083"/>
                </a:solidFill>
                <a:latin typeface="Aptos"/>
                <a:ea typeface="Aptos"/>
                <a:cs typeface="Aptos"/>
              </a:rPr>
              <a:t>MODEL MAP 02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45494C-41D1-422C-BD67-3B01B497AEAB}"/>
              </a:ext>
            </a:extLst>
          </p:cNvPr>
          <p:cNvSpPr>
            <a:spLocks noGrp="1"/>
          </p:cNvSpPr>
          <p:nvPr/>
        </p:nvSpPr>
        <p:spPr>
          <a:xfrm>
            <a:off x="533400" y="781050"/>
            <a:ext cx="8953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21A24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121A24"/>
                </a:solidFill>
                <a:latin typeface="Georgia"/>
                <a:ea typeface="Georgia"/>
                <a:cs typeface="Georgia"/>
              </a:rPr>
              <a:t>Both solvers start from the same DISPLIB objects.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D0FFB1-B527-4F30-8A1F-6CB293D64C86}"/>
              </a:ext>
            </a:extLst>
          </p:cNvPr>
          <p:cNvSpPr>
            <a:spLocks noGrp="1"/>
          </p:cNvSpPr>
          <p:nvPr/>
        </p:nvSpPr>
        <p:spPr>
          <a:xfrm>
            <a:off x="533400" y="1524000"/>
            <a:ext cx="6858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The formulation changes, but the parsed problem vocabulary is shared.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62BAE2-C322-43AA-A423-BC2E9184C0CF}"/>
              </a:ext>
            </a:extLst>
          </p:cNvPr>
          <p:cNvSpPr>
            <a:spLocks noGrp="1"/>
          </p:cNvSpPr>
          <p:nvPr/>
        </p:nvSpPr>
        <p:spPr>
          <a:xfrm>
            <a:off x="533400" y="1809750"/>
            <a:ext cx="47625" cy="228600"/>
          </a:xfrm>
          <a:prstGeom prst="rect">
            <a:avLst/>
          </a:prstGeom>
          <a:solidFill>
            <a:srgbClr val="A33A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924ACC-4D75-4F1E-A953-0A1B806441AC}"/>
              </a:ext>
            </a:extLst>
          </p:cNvPr>
          <p:cNvSpPr>
            <a:spLocks noGrp="1"/>
          </p:cNvSpPr>
          <p:nvPr/>
        </p:nvSpPr>
        <p:spPr>
          <a:xfrm>
            <a:off x="666750" y="1771650"/>
            <a:ext cx="2667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A33A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33A2A"/>
                </a:solidFill>
                <a:latin typeface="Aptos"/>
                <a:ea typeface="Aptos"/>
                <a:cs typeface="Aptos"/>
              </a:rPr>
              <a:t>Mathematical expression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04FE41-AA5B-4504-814C-A24B2FCC2014}"/>
              </a:ext>
            </a:extLst>
          </p:cNvPr>
          <p:cNvSpPr>
            <a:spLocks noGrp="1"/>
          </p:cNvSpPr>
          <p:nvPr/>
        </p:nvSpPr>
        <p:spPr>
          <a:xfrm>
            <a:off x="4419600" y="1809750"/>
            <a:ext cx="47625" cy="228600"/>
          </a:xfrm>
          <a:prstGeom prst="rect">
            <a:avLst/>
          </a:prstGeom>
          <a:solidFill>
            <a:srgbClr val="1E5B8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D74187-588E-4126-A7E3-0F5923260C63}"/>
              </a:ext>
            </a:extLst>
          </p:cNvPr>
          <p:cNvSpPr>
            <a:spLocks noGrp="1"/>
          </p:cNvSpPr>
          <p:nvPr/>
        </p:nvSpPr>
        <p:spPr>
          <a:xfrm>
            <a:off x="4552950" y="1771650"/>
            <a:ext cx="2667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E5B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5B87"/>
                </a:solidFill>
                <a:latin typeface="Aptos"/>
                <a:ea typeface="Aptos"/>
                <a:cs typeface="Aptos"/>
              </a:rPr>
              <a:t>Baseline MIP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B75869-F98A-4E5C-857C-9E1DDCA7CE14}"/>
              </a:ext>
            </a:extLst>
          </p:cNvPr>
          <p:cNvSpPr>
            <a:spLocks noGrp="1"/>
          </p:cNvSpPr>
          <p:nvPr/>
        </p:nvSpPr>
        <p:spPr>
          <a:xfrm>
            <a:off x="8153400" y="1809750"/>
            <a:ext cx="47625" cy="228600"/>
          </a:xfrm>
          <a:prstGeom prst="rect">
            <a:avLst/>
          </a:prstGeom>
          <a:solidFill>
            <a:srgbClr val="2D7A5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E5E23A-B939-4DDD-96B9-97D6993CAADC}"/>
              </a:ext>
            </a:extLst>
          </p:cNvPr>
          <p:cNvSpPr>
            <a:spLocks noGrp="1"/>
          </p:cNvSpPr>
          <p:nvPr/>
        </p:nvSpPr>
        <p:spPr>
          <a:xfrm>
            <a:off x="8286750" y="1771650"/>
            <a:ext cx="2667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2D7A5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7A57"/>
                </a:solidFill>
                <a:latin typeface="Aptos"/>
                <a:ea typeface="Aptos"/>
                <a:cs typeface="Aptos"/>
              </a:rPr>
              <a:t>Extended CP-SAT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B555B6-CE67-4941-B1C5-1D5116AA8014}"/>
              </a:ext>
            </a:extLst>
          </p:cNvPr>
          <p:cNvSpPr>
            <a:spLocks noGrp="1"/>
          </p:cNvSpPr>
          <p:nvPr/>
        </p:nvSpPr>
        <p:spPr>
          <a:xfrm>
            <a:off x="4114800" y="1809750"/>
            <a:ext cx="9525" cy="4191000"/>
          </a:xfrm>
          <a:prstGeom prst="rect">
            <a:avLst/>
          </a:prstGeom>
          <a:solidFill>
            <a:srgbClr val="DCD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C692A1-FAF3-4E3A-92B9-277B285B040C}"/>
              </a:ext>
            </a:extLst>
          </p:cNvPr>
          <p:cNvSpPr>
            <a:spLocks noGrp="1"/>
          </p:cNvSpPr>
          <p:nvPr/>
        </p:nvSpPr>
        <p:spPr>
          <a:xfrm>
            <a:off x="7848600" y="1809750"/>
            <a:ext cx="9525" cy="4191000"/>
          </a:xfrm>
          <a:prstGeom prst="rect">
            <a:avLst/>
          </a:prstGeom>
          <a:solidFill>
            <a:srgbClr val="DCD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A43C48-C456-4545-BAE0-3AA6A73EF0C1}"/>
              </a:ext>
            </a:extLst>
          </p:cNvPr>
          <p:cNvSpPr>
            <a:spLocks noGrp="1"/>
          </p:cNvSpPr>
          <p:nvPr/>
        </p:nvSpPr>
        <p:spPr>
          <a:xfrm>
            <a:off x="533400" y="2152650"/>
            <a:ext cx="3333750" cy="2266950"/>
          </a:xfrm>
          <a:prstGeom prst="rect">
            <a:avLst/>
          </a:prstGeom>
          <a:solidFill>
            <a:srgbClr val="FFFDF8"/>
          </a:solidFill>
          <a:ln w="9525">
            <a:solidFill>
              <a:srgbClr val="DCD3C4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2788879"/>
            <a:ext cx="3067050" cy="95639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CEA1EF1-E0C6-42D1-AE13-07F3D93F1EF3}"/>
              </a:ext>
            </a:extLst>
          </p:cNvPr>
          <p:cNvSpPr>
            <a:spLocks noGrp="1"/>
          </p:cNvSpPr>
          <p:nvPr/>
        </p:nvSpPr>
        <p:spPr>
          <a:xfrm>
            <a:off x="666750" y="4229100"/>
            <a:ext cx="30670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Paper: variable and routing vocabulary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DD06CFC-0C76-4F77-AA4F-CFA95327C5F0}"/>
              </a:ext>
            </a:extLst>
          </p:cNvPr>
          <p:cNvSpPr>
            <a:spLocks noGrp="1"/>
          </p:cNvSpPr>
          <p:nvPr/>
        </p:nvSpPr>
        <p:spPr>
          <a:xfrm>
            <a:off x="704850" y="4686300"/>
            <a:ext cx="76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A33A2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A33A2A"/>
                </a:solidFill>
                <a:latin typeface="Consolas"/>
                <a:ea typeface="Consolas"/>
                <a:cs typeface="Consolas"/>
              </a:rPr>
              <a:t>O_i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2EB7FBE-8231-41A3-B430-89D8E4A4D2A4}"/>
              </a:ext>
            </a:extLst>
          </p:cNvPr>
          <p:cNvSpPr>
            <a:spLocks noGrp="1"/>
          </p:cNvSpPr>
          <p:nvPr/>
        </p:nvSpPr>
        <p:spPr>
          <a:xfrm>
            <a:off x="1524000" y="4781550"/>
            <a:ext cx="323850" cy="13335"/>
          </a:xfrm>
          <a:prstGeom prst="rect">
            <a:avLst/>
          </a:prstGeom>
          <a:solidFill>
            <a:srgbClr val="A33A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2A1799-6D42-4C7F-BD8F-47FFF84AD054}"/>
              </a:ext>
            </a:extLst>
          </p:cNvPr>
          <p:cNvSpPr>
            <a:spLocks noGrp="1"/>
          </p:cNvSpPr>
          <p:nvPr/>
        </p:nvSpPr>
        <p:spPr>
          <a:xfrm>
            <a:off x="1943100" y="4667250"/>
            <a:ext cx="22383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21A24"/>
                </a:solidFill>
                <a:latin typeface="Aptos"/>
                <a:ea typeface="Aptos"/>
                <a:cs typeface="Aptos"/>
              </a:rPr>
              <a:t>train.operations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D75567B-D568-412D-825E-7FE5C74E0C78}"/>
              </a:ext>
            </a:extLst>
          </p:cNvPr>
          <p:cNvSpPr>
            <a:spLocks noGrp="1"/>
          </p:cNvSpPr>
          <p:nvPr/>
        </p:nvSpPr>
        <p:spPr>
          <a:xfrm>
            <a:off x="704850" y="5086350"/>
            <a:ext cx="76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A33A2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A33A2A"/>
                </a:solidFill>
                <a:latin typeface="Consolas"/>
                <a:ea typeface="Consolas"/>
                <a:cs typeface="Consolas"/>
              </a:rPr>
              <a:t>S_i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80E4873-9A03-44FE-A3BB-220A43E0E66B}"/>
              </a:ext>
            </a:extLst>
          </p:cNvPr>
          <p:cNvSpPr>
            <a:spLocks noGrp="1"/>
          </p:cNvSpPr>
          <p:nvPr/>
        </p:nvSpPr>
        <p:spPr>
          <a:xfrm>
            <a:off x="1524000" y="5181600"/>
            <a:ext cx="323850" cy="13335"/>
          </a:xfrm>
          <a:prstGeom prst="rect">
            <a:avLst/>
          </a:prstGeom>
          <a:solidFill>
            <a:srgbClr val="A33A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8A3A38F-9BD2-4F31-B793-F4092E658773}"/>
              </a:ext>
            </a:extLst>
          </p:cNvPr>
          <p:cNvSpPr>
            <a:spLocks noGrp="1"/>
          </p:cNvSpPr>
          <p:nvPr/>
        </p:nvSpPr>
        <p:spPr>
          <a:xfrm>
            <a:off x="1943100" y="5067300"/>
            <a:ext cx="22383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21A24"/>
                </a:solidFill>
                <a:latin typeface="Aptos"/>
                <a:ea typeface="Aptos"/>
                <a:cs typeface="Aptos"/>
              </a:rPr>
              <a:t>op.successors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6F6CA05-E7FA-4562-94E2-E514DE32E772}"/>
              </a:ext>
            </a:extLst>
          </p:cNvPr>
          <p:cNvSpPr>
            <a:spLocks noGrp="1"/>
          </p:cNvSpPr>
          <p:nvPr/>
        </p:nvSpPr>
        <p:spPr>
          <a:xfrm>
            <a:off x="704850" y="5486400"/>
            <a:ext cx="76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A33A2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A33A2A"/>
                </a:solidFill>
                <a:latin typeface="Consolas"/>
                <a:ea typeface="Consolas"/>
                <a:cs typeface="Consolas"/>
              </a:rPr>
              <a:t>Psi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D4EB2CC-7111-46C4-B013-03AF881EBAA2}"/>
              </a:ext>
            </a:extLst>
          </p:cNvPr>
          <p:cNvSpPr>
            <a:spLocks noGrp="1"/>
          </p:cNvSpPr>
          <p:nvPr/>
        </p:nvSpPr>
        <p:spPr>
          <a:xfrm>
            <a:off x="1524000" y="5581650"/>
            <a:ext cx="323850" cy="13335"/>
          </a:xfrm>
          <a:prstGeom prst="rect">
            <a:avLst/>
          </a:prstGeom>
          <a:solidFill>
            <a:srgbClr val="A33A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DEBFD01-AE8B-43E9-940F-F0E06082CDAD}"/>
              </a:ext>
            </a:extLst>
          </p:cNvPr>
          <p:cNvSpPr>
            <a:spLocks noGrp="1"/>
          </p:cNvSpPr>
          <p:nvPr/>
        </p:nvSpPr>
        <p:spPr>
          <a:xfrm>
            <a:off x="1943100" y="5467350"/>
            <a:ext cx="22383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21A24"/>
                </a:solidFill>
                <a:latin typeface="Aptos"/>
                <a:ea typeface="Aptos"/>
                <a:cs typeface="Aptos"/>
              </a:rPr>
              <a:t>op.resources + release_time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8F18404-9B33-4C0D-A173-6BB022CE50B8}"/>
              </a:ext>
            </a:extLst>
          </p:cNvPr>
          <p:cNvSpPr>
            <a:spLocks noGrp="1"/>
          </p:cNvSpPr>
          <p:nvPr/>
        </p:nvSpPr>
        <p:spPr>
          <a:xfrm>
            <a:off x="4419600" y="2152650"/>
            <a:ext cx="3028950" cy="287655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81CACA4-C7E7-425A-A3A1-3407B3CF2DDA}"/>
              </a:ext>
            </a:extLst>
          </p:cNvPr>
          <p:cNvSpPr>
            <a:spLocks noGrp="1"/>
          </p:cNvSpPr>
          <p:nvPr/>
        </p:nvSpPr>
        <p:spPr>
          <a:xfrm>
            <a:off x="4419600" y="2152650"/>
            <a:ext cx="3028950" cy="266700"/>
          </a:xfrm>
          <a:prstGeom prst="rect">
            <a:avLst/>
          </a:prstGeom>
          <a:solidFill>
            <a:srgbClr val="222A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0B6B98F-755C-468C-8F23-784EFE971671}"/>
              </a:ext>
            </a:extLst>
          </p:cNvPr>
          <p:cNvSpPr>
            <a:spLocks noGrp="1"/>
          </p:cNvSpPr>
          <p:nvPr/>
        </p:nvSpPr>
        <p:spPr>
          <a:xfrm>
            <a:off x="4552950" y="2200275"/>
            <a:ext cx="2762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1E5B87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E5B87"/>
                </a:solidFill>
                <a:latin typeface="Aptos"/>
                <a:ea typeface="Aptos"/>
                <a:cs typeface="Aptos"/>
              </a:rPr>
              <a:t>phase1_baseline/src/data_parser.py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5D47C3C-E1DB-413D-B7A7-D060E9AE4175}"/>
              </a:ext>
            </a:extLst>
          </p:cNvPr>
          <p:cNvSpPr>
            <a:spLocks noGrp="1"/>
          </p:cNvSpPr>
          <p:nvPr/>
        </p:nvSpPr>
        <p:spPr>
          <a:xfrm>
            <a:off x="4552950" y="2514600"/>
            <a:ext cx="2762250" cy="2419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class Operation: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    id: int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    min_duration: int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    successors: List[int]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    start_lb: int = 0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    start_ub: Optional[float] = None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    resources: List[ResourceRequirement]</a:t>
            </a:r>
          </a:p>
          <a:p>
            <a:endParaRPr sz="788" b="0">
              <a:solidFill>
                <a:srgbClr val="F1ECE4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class ObjectiveComponent: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    train: int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    operation: int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    threshold: int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    coeff: float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41F181A-2BDF-4A60-9438-E06AEB29400F}"/>
              </a:ext>
            </a:extLst>
          </p:cNvPr>
          <p:cNvSpPr>
            <a:spLocks noGrp="1"/>
          </p:cNvSpPr>
          <p:nvPr/>
        </p:nvSpPr>
        <p:spPr>
          <a:xfrm>
            <a:off x="4419600" y="5219700"/>
            <a:ext cx="3028950" cy="781050"/>
          </a:xfrm>
          <a:prstGeom prst="rect">
            <a:avLst/>
          </a:prstGeom>
          <a:solidFill>
            <a:srgbClr val="FFFFFF">
              <a:alpha val="0"/>
            </a:srgbClr>
          </a:solidFill>
          <a:ln w="11430">
            <a:solidFill>
              <a:srgbClr val="1E5B87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7627608-ACAC-465E-9B26-DCFF20EF1CA2}"/>
              </a:ext>
            </a:extLst>
          </p:cNvPr>
          <p:cNvSpPr>
            <a:spLocks noGrp="1"/>
          </p:cNvSpPr>
          <p:nvPr/>
        </p:nvSpPr>
        <p:spPr>
          <a:xfrm>
            <a:off x="4552950" y="5334000"/>
            <a:ext cx="2762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1E5B87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1E5B87"/>
                </a:solidFill>
                <a:latin typeface="Aptos"/>
                <a:ea typeface="Aptos"/>
                <a:cs typeface="Aptos"/>
              </a:rPr>
              <a:t>BASELINE ROLE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8DC4632-DE52-4443-9CC2-CE3616AF22E3}"/>
              </a:ext>
            </a:extLst>
          </p:cNvPr>
          <p:cNvSpPr>
            <a:spLocks noGrp="1"/>
          </p:cNvSpPr>
          <p:nvPr/>
        </p:nvSpPr>
        <p:spPr>
          <a:xfrm>
            <a:off x="4552950" y="5543550"/>
            <a:ext cx="2762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21A24"/>
                </a:solidFill>
                <a:latin typeface="Aptos"/>
                <a:ea typeface="Aptos"/>
                <a:cs typeface="Aptos"/>
              </a:rPr>
              <a:t>The parser turns the DISPLIB JSON into the objects that the Gurobi MIP loops over.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00E083B-D6B5-4A40-8A76-4C742EE084B1}"/>
              </a:ext>
            </a:extLst>
          </p:cNvPr>
          <p:cNvSpPr>
            <a:spLocks noGrp="1"/>
          </p:cNvSpPr>
          <p:nvPr/>
        </p:nvSpPr>
        <p:spPr>
          <a:xfrm>
            <a:off x="8153400" y="2152650"/>
            <a:ext cx="3028950" cy="287655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4D8E607-6BD9-4A8B-9DEF-79A4F4BED102}"/>
              </a:ext>
            </a:extLst>
          </p:cNvPr>
          <p:cNvSpPr>
            <a:spLocks noGrp="1"/>
          </p:cNvSpPr>
          <p:nvPr/>
        </p:nvSpPr>
        <p:spPr>
          <a:xfrm>
            <a:off x="8153400" y="2152650"/>
            <a:ext cx="3028950" cy="266700"/>
          </a:xfrm>
          <a:prstGeom prst="rect">
            <a:avLst/>
          </a:prstGeom>
          <a:solidFill>
            <a:srgbClr val="222A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E1309C4-CF03-484A-87B6-7372746E6196}"/>
              </a:ext>
            </a:extLst>
          </p:cNvPr>
          <p:cNvSpPr>
            <a:spLocks noGrp="1"/>
          </p:cNvSpPr>
          <p:nvPr/>
        </p:nvSpPr>
        <p:spPr>
          <a:xfrm>
            <a:off x="8286750" y="2200275"/>
            <a:ext cx="2762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2D7A57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D7A57"/>
                </a:solidFill>
                <a:latin typeface="Aptos"/>
                <a:ea typeface="Aptos"/>
                <a:cs typeface="Aptos"/>
              </a:rPr>
              <a:t>phase2_extend/src/data_parser.py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DDF0787-CB63-45D1-AA7F-48CA754D430B}"/>
              </a:ext>
            </a:extLst>
          </p:cNvPr>
          <p:cNvSpPr>
            <a:spLocks noGrp="1"/>
          </p:cNvSpPr>
          <p:nvPr/>
        </p:nvSpPr>
        <p:spPr>
          <a:xfrm>
            <a:off x="8286750" y="2514600"/>
            <a:ext cx="2762250" cy="2419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class Operation: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    id: int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    min_duration: int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    successors: List[int]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    start_lb: int = 0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    start_ub: Optional[float] = None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    resources: List[ResourceRequirement]</a:t>
            </a:r>
          </a:p>
          <a:p>
            <a:endParaRPr sz="788" b="0">
              <a:solidFill>
                <a:srgbClr val="F1ECE4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find_conflict_pairs()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    -&gt; (train_i, op_a, train_j,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        op_b, resource, lambda_i,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        lambda_j)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E862B60-D0B0-4A96-A57D-93160851B418}"/>
              </a:ext>
            </a:extLst>
          </p:cNvPr>
          <p:cNvSpPr>
            <a:spLocks noGrp="1"/>
          </p:cNvSpPr>
          <p:nvPr/>
        </p:nvSpPr>
        <p:spPr>
          <a:xfrm>
            <a:off x="8153400" y="5219700"/>
            <a:ext cx="3028950" cy="781050"/>
          </a:xfrm>
          <a:prstGeom prst="rect">
            <a:avLst/>
          </a:prstGeom>
          <a:solidFill>
            <a:srgbClr val="FFFFFF">
              <a:alpha val="0"/>
            </a:srgbClr>
          </a:solidFill>
          <a:ln w="11430">
            <a:solidFill>
              <a:srgbClr val="2D7A57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8CF4929-7BA8-4B6B-AFED-3FB6695302BC}"/>
              </a:ext>
            </a:extLst>
          </p:cNvPr>
          <p:cNvSpPr>
            <a:spLocks noGrp="1"/>
          </p:cNvSpPr>
          <p:nvPr/>
        </p:nvSpPr>
        <p:spPr>
          <a:xfrm>
            <a:off x="8286750" y="5334000"/>
            <a:ext cx="2762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2D7A57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D7A57"/>
                </a:solidFill>
                <a:latin typeface="Aptos"/>
                <a:ea typeface="Aptos"/>
                <a:cs typeface="Aptos"/>
              </a:rPr>
              <a:t>EXTENDED ROLE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1D8D1F6-9FED-4840-AC42-62A400DA05E9}"/>
              </a:ext>
            </a:extLst>
          </p:cNvPr>
          <p:cNvSpPr>
            <a:spLocks noGrp="1"/>
          </p:cNvSpPr>
          <p:nvPr/>
        </p:nvSpPr>
        <p:spPr>
          <a:xfrm>
            <a:off x="8286750" y="5543550"/>
            <a:ext cx="2762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21A24"/>
                </a:solidFill>
                <a:latin typeface="Aptos"/>
                <a:ea typeface="Aptos"/>
                <a:cs typeface="Aptos"/>
              </a:rPr>
              <a:t>CP-SAT uses the same data objects, so the comparison isolates the modeling layer.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CDA9701-44FF-446B-81FA-234F7310D180}"/>
              </a:ext>
            </a:extLst>
          </p:cNvPr>
          <p:cNvSpPr>
            <a:spLocks noGrp="1"/>
          </p:cNvSpPr>
          <p:nvPr/>
        </p:nvSpPr>
        <p:spPr>
          <a:xfrm>
            <a:off x="533400" y="6457950"/>
            <a:ext cx="11125200" cy="9525"/>
          </a:xfrm>
          <a:prstGeom prst="rect">
            <a:avLst/>
          </a:prstGeom>
          <a:solidFill>
            <a:srgbClr val="DCD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1481D9E-EB1E-4B90-9C06-B338C228F663}"/>
              </a:ext>
            </a:extLst>
          </p:cNvPr>
          <p:cNvSpPr>
            <a:spLocks noGrp="1"/>
          </p:cNvSpPr>
          <p:nvPr/>
        </p:nvSpPr>
        <p:spPr>
          <a:xfrm>
            <a:off x="533400" y="6572250"/>
            <a:ext cx="933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Data parser: phase1_baseline/src/data_parser.py:5 and phase2_extend/src/data_parser.py:5.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69ADDBE-6BFB-4532-BA5A-EF1A62CC8D58}"/>
              </a:ext>
            </a:extLst>
          </p:cNvPr>
          <p:cNvSpPr>
            <a:spLocks noGrp="1"/>
          </p:cNvSpPr>
          <p:nvPr/>
        </p:nvSpPr>
        <p:spPr>
          <a:xfrm>
            <a:off x="11296650" y="655320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1708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45187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CA7C3CD9-BD74-414C-8C25-8C14E9AA63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" name="kicker-3-marker">
            <a:extLst>
              <a:ext uri="{FF2B5EF4-FFF2-40B4-BE49-F238E27FC236}">
                <a16:creationId xmlns:a16="http://schemas.microsoft.com/office/drawing/2014/main" id="{AE7C6F52-5A8B-429A-93E9-128FBDE5E492}"/>
              </a:ext>
            </a:extLst>
          </p:cNvPr>
          <p:cNvSpPr>
            <a:spLocks noGrp="1"/>
          </p:cNvSpPr>
          <p:nvPr/>
        </p:nvSpPr>
        <p:spPr>
          <a:xfrm>
            <a:off x="533400" y="428625"/>
            <a:ext cx="47625" cy="228600"/>
          </a:xfrm>
          <a:prstGeom prst="rect">
            <a:avLst/>
          </a:prstGeom>
          <a:solidFill>
            <a:srgbClr val="1E5B8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kicker-3-label">
            <a:extLst>
              <a:ext uri="{FF2B5EF4-FFF2-40B4-BE49-F238E27FC236}">
                <a16:creationId xmlns:a16="http://schemas.microsoft.com/office/drawing/2014/main" id="{5D48B683-366C-49DE-9BEE-8185E3B2871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42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17083"/>
                </a:solidFill>
                <a:latin typeface="Aptos"/>
                <a:ea typeface="Aptos"/>
                <a:cs typeface="Aptos"/>
              </a:rPr>
              <a:t>MODEL MAP 03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DAB4E4-55A4-4B16-BBEA-620274CF3C8E}"/>
              </a:ext>
            </a:extLst>
          </p:cNvPr>
          <p:cNvSpPr>
            <a:spLocks noGrp="1"/>
          </p:cNvSpPr>
          <p:nvPr/>
        </p:nvSpPr>
        <p:spPr>
          <a:xfrm>
            <a:off x="533400" y="781050"/>
            <a:ext cx="8953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21A24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121A24"/>
                </a:solidFill>
                <a:latin typeface="Georgia"/>
                <a:ea typeface="Georgia"/>
                <a:cs typeface="Georgia"/>
              </a:rPr>
              <a:t>Route feasibility is the same path problem in two languages.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6CE25B-9F5A-4FB4-8F80-D4A9FC3DD4CA}"/>
              </a:ext>
            </a:extLst>
          </p:cNvPr>
          <p:cNvSpPr>
            <a:spLocks noGrp="1"/>
          </p:cNvSpPr>
          <p:nvPr/>
        </p:nvSpPr>
        <p:spPr>
          <a:xfrm>
            <a:off x="533400" y="1524000"/>
            <a:ext cx="6858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A train must select one path from entry operation to exit operation.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2D3F59-D819-425B-8D51-DBCBE6ABD1DB}"/>
              </a:ext>
            </a:extLst>
          </p:cNvPr>
          <p:cNvSpPr>
            <a:spLocks noGrp="1"/>
          </p:cNvSpPr>
          <p:nvPr/>
        </p:nvSpPr>
        <p:spPr>
          <a:xfrm>
            <a:off x="533400" y="1809750"/>
            <a:ext cx="47625" cy="228600"/>
          </a:xfrm>
          <a:prstGeom prst="rect">
            <a:avLst/>
          </a:prstGeom>
          <a:solidFill>
            <a:srgbClr val="A33A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2C3667-5076-463D-8E71-E7EFDF27C348}"/>
              </a:ext>
            </a:extLst>
          </p:cNvPr>
          <p:cNvSpPr>
            <a:spLocks noGrp="1"/>
          </p:cNvSpPr>
          <p:nvPr/>
        </p:nvSpPr>
        <p:spPr>
          <a:xfrm>
            <a:off x="666750" y="1771650"/>
            <a:ext cx="2667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A33A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33A2A"/>
                </a:solidFill>
                <a:latin typeface="Aptos"/>
                <a:ea typeface="Aptos"/>
                <a:cs typeface="Aptos"/>
              </a:rPr>
              <a:t>Mathematical expression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54CDAA-D3C6-48F1-8933-4A2F5DA76A78}"/>
              </a:ext>
            </a:extLst>
          </p:cNvPr>
          <p:cNvSpPr>
            <a:spLocks noGrp="1"/>
          </p:cNvSpPr>
          <p:nvPr/>
        </p:nvSpPr>
        <p:spPr>
          <a:xfrm>
            <a:off x="4419600" y="1809750"/>
            <a:ext cx="47625" cy="228600"/>
          </a:xfrm>
          <a:prstGeom prst="rect">
            <a:avLst/>
          </a:prstGeom>
          <a:solidFill>
            <a:srgbClr val="1E5B8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0667E5-ED95-42F3-A8C6-F8C2E944CB12}"/>
              </a:ext>
            </a:extLst>
          </p:cNvPr>
          <p:cNvSpPr>
            <a:spLocks noGrp="1"/>
          </p:cNvSpPr>
          <p:nvPr/>
        </p:nvSpPr>
        <p:spPr>
          <a:xfrm>
            <a:off x="4552950" y="1771650"/>
            <a:ext cx="2667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E5B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5B87"/>
                </a:solidFill>
                <a:latin typeface="Aptos"/>
                <a:ea typeface="Aptos"/>
                <a:cs typeface="Aptos"/>
              </a:rPr>
              <a:t>Baseline MIP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04E6A6-4D42-4A95-9F24-04F668F31EB2}"/>
              </a:ext>
            </a:extLst>
          </p:cNvPr>
          <p:cNvSpPr>
            <a:spLocks noGrp="1"/>
          </p:cNvSpPr>
          <p:nvPr/>
        </p:nvSpPr>
        <p:spPr>
          <a:xfrm>
            <a:off x="8153400" y="1809750"/>
            <a:ext cx="47625" cy="228600"/>
          </a:xfrm>
          <a:prstGeom prst="rect">
            <a:avLst/>
          </a:prstGeom>
          <a:solidFill>
            <a:srgbClr val="2D7A5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A957C3-B223-4671-89FF-B59E91CAEDF7}"/>
              </a:ext>
            </a:extLst>
          </p:cNvPr>
          <p:cNvSpPr>
            <a:spLocks noGrp="1"/>
          </p:cNvSpPr>
          <p:nvPr/>
        </p:nvSpPr>
        <p:spPr>
          <a:xfrm>
            <a:off x="8286750" y="1771650"/>
            <a:ext cx="2667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2D7A5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7A57"/>
                </a:solidFill>
                <a:latin typeface="Aptos"/>
                <a:ea typeface="Aptos"/>
                <a:cs typeface="Aptos"/>
              </a:rPr>
              <a:t>Extended CP-SAT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43201F-9205-449F-BCA4-3A3A69E019FE}"/>
              </a:ext>
            </a:extLst>
          </p:cNvPr>
          <p:cNvSpPr>
            <a:spLocks noGrp="1"/>
          </p:cNvSpPr>
          <p:nvPr/>
        </p:nvSpPr>
        <p:spPr>
          <a:xfrm>
            <a:off x="4114800" y="1809750"/>
            <a:ext cx="9525" cy="4191000"/>
          </a:xfrm>
          <a:prstGeom prst="rect">
            <a:avLst/>
          </a:prstGeom>
          <a:solidFill>
            <a:srgbClr val="DCD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D04168-70ED-4666-A7ED-427808DB687F}"/>
              </a:ext>
            </a:extLst>
          </p:cNvPr>
          <p:cNvSpPr>
            <a:spLocks noGrp="1"/>
          </p:cNvSpPr>
          <p:nvPr/>
        </p:nvSpPr>
        <p:spPr>
          <a:xfrm>
            <a:off x="7848600" y="1809750"/>
            <a:ext cx="9525" cy="4191000"/>
          </a:xfrm>
          <a:prstGeom prst="rect">
            <a:avLst/>
          </a:prstGeom>
          <a:solidFill>
            <a:srgbClr val="DCD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FF892D-7077-48EA-98E4-E0B306F64234}"/>
              </a:ext>
            </a:extLst>
          </p:cNvPr>
          <p:cNvSpPr>
            <a:spLocks noGrp="1"/>
          </p:cNvSpPr>
          <p:nvPr/>
        </p:nvSpPr>
        <p:spPr>
          <a:xfrm>
            <a:off x="533400" y="2152650"/>
            <a:ext cx="3333750" cy="2419350"/>
          </a:xfrm>
          <a:prstGeom prst="rect">
            <a:avLst/>
          </a:prstGeom>
          <a:solidFill>
            <a:srgbClr val="FFFDF8"/>
          </a:solidFill>
          <a:ln w="9525">
            <a:solidFill>
              <a:srgbClr val="DCD3C4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2698045"/>
            <a:ext cx="3067050" cy="129045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67B08097-7FD8-4E7C-A4D1-8FAA53314238}"/>
              </a:ext>
            </a:extLst>
          </p:cNvPr>
          <p:cNvSpPr>
            <a:spLocks noGrp="1"/>
          </p:cNvSpPr>
          <p:nvPr/>
        </p:nvSpPr>
        <p:spPr>
          <a:xfrm>
            <a:off x="666750" y="4381500"/>
            <a:ext cx="30670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Paper Eq. (1): routing and running-time constraints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0B76DE1-25E2-44EF-B597-81CB11078E97}"/>
              </a:ext>
            </a:extLst>
          </p:cNvPr>
          <p:cNvSpPr>
            <a:spLocks noGrp="1"/>
          </p:cNvSpPr>
          <p:nvPr/>
        </p:nvSpPr>
        <p:spPr>
          <a:xfrm>
            <a:off x="533400" y="4781550"/>
            <a:ext cx="333375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11430">
            <a:solidFill>
              <a:srgbClr val="A33A2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26CC8EA-6C5A-4A6C-89F6-735174A6FF27}"/>
              </a:ext>
            </a:extLst>
          </p:cNvPr>
          <p:cNvSpPr>
            <a:spLocks noGrp="1"/>
          </p:cNvSpPr>
          <p:nvPr/>
        </p:nvSpPr>
        <p:spPr>
          <a:xfrm>
            <a:off x="666750" y="4895850"/>
            <a:ext cx="3067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A33A2A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A33A2A"/>
                </a:solidFill>
                <a:latin typeface="Aptos"/>
                <a:ea typeface="Aptos"/>
                <a:cs typeface="Aptos"/>
              </a:rPr>
              <a:t>MATH MEANING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B31E1E9-C4E5-43CF-BD08-BAB9FC263479}"/>
              </a:ext>
            </a:extLst>
          </p:cNvPr>
          <p:cNvSpPr>
            <a:spLocks noGrp="1"/>
          </p:cNvSpPr>
          <p:nvPr/>
        </p:nvSpPr>
        <p:spPr>
          <a:xfrm>
            <a:off x="666750" y="5105400"/>
            <a:ext cx="30670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21A24"/>
                </a:solidFill>
                <a:latin typeface="Aptos"/>
                <a:ea typeface="Aptos"/>
                <a:cs typeface="Aptos"/>
              </a:rPr>
              <a:t>The first three lines choose a path. The next three link selected arcs y to selected operations x. The last line enforces the minimum duration.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D83A9A-4525-4766-BBB0-FAE3C16B95B5}"/>
              </a:ext>
            </a:extLst>
          </p:cNvPr>
          <p:cNvSpPr>
            <a:spLocks noGrp="1"/>
          </p:cNvSpPr>
          <p:nvPr/>
        </p:nvSpPr>
        <p:spPr>
          <a:xfrm>
            <a:off x="4419600" y="2152650"/>
            <a:ext cx="3028950" cy="327660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A114D89-FA06-46D1-9611-E44F413513FF}"/>
              </a:ext>
            </a:extLst>
          </p:cNvPr>
          <p:cNvSpPr>
            <a:spLocks noGrp="1"/>
          </p:cNvSpPr>
          <p:nvPr/>
        </p:nvSpPr>
        <p:spPr>
          <a:xfrm>
            <a:off x="4419600" y="2152650"/>
            <a:ext cx="3028950" cy="266700"/>
          </a:xfrm>
          <a:prstGeom prst="rect">
            <a:avLst/>
          </a:prstGeom>
          <a:solidFill>
            <a:srgbClr val="222A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C7F0527-D1B3-40AD-BB29-D5C5118DCA55}"/>
              </a:ext>
            </a:extLst>
          </p:cNvPr>
          <p:cNvSpPr>
            <a:spLocks noGrp="1"/>
          </p:cNvSpPr>
          <p:nvPr/>
        </p:nvSpPr>
        <p:spPr>
          <a:xfrm>
            <a:off x="4552950" y="2200275"/>
            <a:ext cx="2762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1E5B87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E5B87"/>
                </a:solidFill>
                <a:latin typeface="Aptos"/>
                <a:ea typeface="Aptos"/>
                <a:cs typeface="Aptos"/>
              </a:rPr>
              <a:t>mip_model.py:70-102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B0B6860-300A-43EE-A679-CD7983A0A0EB}"/>
              </a:ext>
            </a:extLst>
          </p:cNvPr>
          <p:cNvSpPr>
            <a:spLocks noGrp="1"/>
          </p:cNvSpPr>
          <p:nvPr/>
        </p:nvSpPr>
        <p:spPr>
          <a:xfrm>
            <a:off x="4552950" y="2514600"/>
            <a:ext cx="2762250" cy="2819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# Entry and exit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sum(y[entry, succ]) == 1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x[entry] == 1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sum(y[pred, exit]) == 1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x[exit] == 1</a:t>
            </a:r>
          </a:p>
          <a:p>
            <a:endParaRPr sz="788" b="0">
              <a:solidFill>
                <a:srgbClr val="F1ECE4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# Intermediate operations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sum_in = sum(y[pred, op])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sum_out = sum(y[op, succ])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sum_in == sum_out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sum_in == x[op]</a:t>
            </a:r>
          </a:p>
          <a:p>
            <a:endParaRPr sz="788" b="0">
              <a:solidFill>
                <a:srgbClr val="F1ECE4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# Link y to x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y[op, succ] &lt;= x[op]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y[op, succ] &lt;= x[succ]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x[op] + x[succ] - 1 &lt;= y[op, succ]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978DFE4-9E48-4320-9875-93F03D26BFB9}"/>
              </a:ext>
            </a:extLst>
          </p:cNvPr>
          <p:cNvSpPr>
            <a:spLocks noGrp="1"/>
          </p:cNvSpPr>
          <p:nvPr/>
        </p:nvSpPr>
        <p:spPr>
          <a:xfrm>
            <a:off x="8153400" y="2152650"/>
            <a:ext cx="3028950" cy="327660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30E7978-6BDF-4FA1-9672-568EE5A6679D}"/>
              </a:ext>
            </a:extLst>
          </p:cNvPr>
          <p:cNvSpPr>
            <a:spLocks noGrp="1"/>
          </p:cNvSpPr>
          <p:nvPr/>
        </p:nvSpPr>
        <p:spPr>
          <a:xfrm>
            <a:off x="8153400" y="2152650"/>
            <a:ext cx="3028950" cy="266700"/>
          </a:xfrm>
          <a:prstGeom prst="rect">
            <a:avLst/>
          </a:prstGeom>
          <a:solidFill>
            <a:srgbClr val="222A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8FF92AF-108F-450A-8797-E6AF46CE7DF9}"/>
              </a:ext>
            </a:extLst>
          </p:cNvPr>
          <p:cNvSpPr>
            <a:spLocks noGrp="1"/>
          </p:cNvSpPr>
          <p:nvPr/>
        </p:nvSpPr>
        <p:spPr>
          <a:xfrm>
            <a:off x="8286750" y="2200275"/>
            <a:ext cx="2762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2D7A57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D7A57"/>
                </a:solidFill>
                <a:latin typeface="Aptos"/>
                <a:ea typeface="Aptos"/>
                <a:cs typeface="Aptos"/>
              </a:rPr>
              <a:t>cp_model.py:156-188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4A007EA-941D-42B8-B30F-50F06B914E1B}"/>
              </a:ext>
            </a:extLst>
          </p:cNvPr>
          <p:cNvSpPr>
            <a:spLocks noGrp="1"/>
          </p:cNvSpPr>
          <p:nvPr/>
        </p:nvSpPr>
        <p:spPr>
          <a:xfrm>
            <a:off x="8286750" y="2514600"/>
            <a:ext cx="2762250" cy="2819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# Entry and exit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Add(x[start] == 1)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Add(x[end] == 1)</a:t>
            </a:r>
          </a:p>
          <a:p>
            <a:endParaRPr sz="788" b="0">
              <a:solidFill>
                <a:srgbClr val="F1ECE4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# Flow out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Add(sum(y[op, succ])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    == x[op])</a:t>
            </a:r>
          </a:p>
          <a:p>
            <a:endParaRPr sz="788" b="0">
              <a:solidFill>
                <a:srgbClr val="F1ECE4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# Flow in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Add(sum(y[pred, op])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    == x[op])</a:t>
            </a:r>
          </a:p>
          <a:p>
            <a:endParaRPr sz="788" b="0">
              <a:solidFill>
                <a:srgbClr val="F1ECE4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# Same route variable names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x = active operation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y = selected successor arc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46D42DB-F2F9-4695-BB95-E0F0DEC7616D}"/>
              </a:ext>
            </a:extLst>
          </p:cNvPr>
          <p:cNvSpPr>
            <a:spLocks noGrp="1"/>
          </p:cNvSpPr>
          <p:nvPr/>
        </p:nvSpPr>
        <p:spPr>
          <a:xfrm>
            <a:off x="533400" y="6457950"/>
            <a:ext cx="11125200" cy="9525"/>
          </a:xfrm>
          <a:prstGeom prst="rect">
            <a:avLst/>
          </a:prstGeom>
          <a:solidFill>
            <a:srgbClr val="DCD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F4FFB59-4CDC-4926-9538-6320F6CB6D1E}"/>
              </a:ext>
            </a:extLst>
          </p:cNvPr>
          <p:cNvSpPr>
            <a:spLocks noGrp="1"/>
          </p:cNvSpPr>
          <p:nvPr/>
        </p:nvSpPr>
        <p:spPr>
          <a:xfrm>
            <a:off x="533400" y="6572250"/>
            <a:ext cx="933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Baseline uses Gurobi linear constraints; extension uses CP-SAT Boolean constraints.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CB788C3-CAAC-4979-A011-21CC202A5132}"/>
              </a:ext>
            </a:extLst>
          </p:cNvPr>
          <p:cNvSpPr>
            <a:spLocks noGrp="1"/>
          </p:cNvSpPr>
          <p:nvPr/>
        </p:nvSpPr>
        <p:spPr>
          <a:xfrm>
            <a:off x="11296650" y="655320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1708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05101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90713107-5ABC-491D-B543-2AB7F5AF2DC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" name="kicker-4-marker">
            <a:extLst>
              <a:ext uri="{FF2B5EF4-FFF2-40B4-BE49-F238E27FC236}">
                <a16:creationId xmlns:a16="http://schemas.microsoft.com/office/drawing/2014/main" id="{4C7E34B8-E475-4F20-B5D9-E350689D11BD}"/>
              </a:ext>
            </a:extLst>
          </p:cNvPr>
          <p:cNvSpPr>
            <a:spLocks noGrp="1"/>
          </p:cNvSpPr>
          <p:nvPr/>
        </p:nvSpPr>
        <p:spPr>
          <a:xfrm>
            <a:off x="533400" y="428625"/>
            <a:ext cx="47625" cy="228600"/>
          </a:xfrm>
          <a:prstGeom prst="rect">
            <a:avLst/>
          </a:prstGeom>
          <a:solidFill>
            <a:srgbClr val="A33A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kicker-4-label">
            <a:extLst>
              <a:ext uri="{FF2B5EF4-FFF2-40B4-BE49-F238E27FC236}">
                <a16:creationId xmlns:a16="http://schemas.microsoft.com/office/drawing/2014/main" id="{57BFFFAC-E570-485F-8EDE-60092D8C4A82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42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17083"/>
                </a:solidFill>
                <a:latin typeface="Aptos"/>
                <a:ea typeface="Aptos"/>
                <a:cs typeface="Aptos"/>
              </a:rPr>
              <a:t>MODEL MAP 04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DE4620-5700-49CB-8A58-BDBA938E2491}"/>
              </a:ext>
            </a:extLst>
          </p:cNvPr>
          <p:cNvSpPr>
            <a:spLocks noGrp="1"/>
          </p:cNvSpPr>
          <p:nvPr/>
        </p:nvSpPr>
        <p:spPr>
          <a:xfrm>
            <a:off x="533400" y="781050"/>
            <a:ext cx="8953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21A24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121A24"/>
                </a:solidFill>
                <a:latin typeface="Georgia"/>
                <a:ea typeface="Georgia"/>
                <a:cs typeface="Georgia"/>
              </a:rPr>
              <a:t>Time feasibility becomes variable bounds and interval timing.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C0FB37-08BE-4F33-ADE6-D16EADADDF8E}"/>
              </a:ext>
            </a:extLst>
          </p:cNvPr>
          <p:cNvSpPr>
            <a:spLocks noGrp="1"/>
          </p:cNvSpPr>
          <p:nvPr/>
        </p:nvSpPr>
        <p:spPr>
          <a:xfrm>
            <a:off x="533400" y="1524000"/>
            <a:ext cx="6858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The CP-SAT version turns the same start-time logic into interval variables.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7BEF72-C169-4DF0-9158-CDD36435F7F1}"/>
              </a:ext>
            </a:extLst>
          </p:cNvPr>
          <p:cNvSpPr>
            <a:spLocks noGrp="1"/>
          </p:cNvSpPr>
          <p:nvPr/>
        </p:nvSpPr>
        <p:spPr>
          <a:xfrm>
            <a:off x="533400" y="1809750"/>
            <a:ext cx="47625" cy="228600"/>
          </a:xfrm>
          <a:prstGeom prst="rect">
            <a:avLst/>
          </a:prstGeom>
          <a:solidFill>
            <a:srgbClr val="A33A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260459-F499-4D83-9716-21C30491A4E8}"/>
              </a:ext>
            </a:extLst>
          </p:cNvPr>
          <p:cNvSpPr>
            <a:spLocks noGrp="1"/>
          </p:cNvSpPr>
          <p:nvPr/>
        </p:nvSpPr>
        <p:spPr>
          <a:xfrm>
            <a:off x="666750" y="1771650"/>
            <a:ext cx="2667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A33A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33A2A"/>
                </a:solidFill>
                <a:latin typeface="Aptos"/>
                <a:ea typeface="Aptos"/>
                <a:cs typeface="Aptos"/>
              </a:rPr>
              <a:t>Mathematical expression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28ECDA-2B08-4349-9D5C-08A1F1A61896}"/>
              </a:ext>
            </a:extLst>
          </p:cNvPr>
          <p:cNvSpPr>
            <a:spLocks noGrp="1"/>
          </p:cNvSpPr>
          <p:nvPr/>
        </p:nvSpPr>
        <p:spPr>
          <a:xfrm>
            <a:off x="4419600" y="1809750"/>
            <a:ext cx="47625" cy="228600"/>
          </a:xfrm>
          <a:prstGeom prst="rect">
            <a:avLst/>
          </a:prstGeom>
          <a:solidFill>
            <a:srgbClr val="1E5B8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5F9DEF-62B3-45D1-A8FA-C680F0508E7E}"/>
              </a:ext>
            </a:extLst>
          </p:cNvPr>
          <p:cNvSpPr>
            <a:spLocks noGrp="1"/>
          </p:cNvSpPr>
          <p:nvPr/>
        </p:nvSpPr>
        <p:spPr>
          <a:xfrm>
            <a:off x="4552950" y="1771650"/>
            <a:ext cx="2667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E5B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5B87"/>
                </a:solidFill>
                <a:latin typeface="Aptos"/>
                <a:ea typeface="Aptos"/>
                <a:cs typeface="Aptos"/>
              </a:rPr>
              <a:t>Baseline MIP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9B6C29-4FE8-4ACD-AFC7-D292697DF2DE}"/>
              </a:ext>
            </a:extLst>
          </p:cNvPr>
          <p:cNvSpPr>
            <a:spLocks noGrp="1"/>
          </p:cNvSpPr>
          <p:nvPr/>
        </p:nvSpPr>
        <p:spPr>
          <a:xfrm>
            <a:off x="8153400" y="1809750"/>
            <a:ext cx="47625" cy="228600"/>
          </a:xfrm>
          <a:prstGeom prst="rect">
            <a:avLst/>
          </a:prstGeom>
          <a:solidFill>
            <a:srgbClr val="2D7A5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8A95E3-9BFC-4644-BA51-7A70BF770AEC}"/>
              </a:ext>
            </a:extLst>
          </p:cNvPr>
          <p:cNvSpPr>
            <a:spLocks noGrp="1"/>
          </p:cNvSpPr>
          <p:nvPr/>
        </p:nvSpPr>
        <p:spPr>
          <a:xfrm>
            <a:off x="8286750" y="1771650"/>
            <a:ext cx="2667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2D7A5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7A57"/>
                </a:solidFill>
                <a:latin typeface="Aptos"/>
                <a:ea typeface="Aptos"/>
                <a:cs typeface="Aptos"/>
              </a:rPr>
              <a:t>Extended CP-SAT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BBFBFE-C432-432E-AEAE-C83DF38F4A99}"/>
              </a:ext>
            </a:extLst>
          </p:cNvPr>
          <p:cNvSpPr>
            <a:spLocks noGrp="1"/>
          </p:cNvSpPr>
          <p:nvPr/>
        </p:nvSpPr>
        <p:spPr>
          <a:xfrm>
            <a:off x="4114800" y="1809750"/>
            <a:ext cx="9525" cy="4191000"/>
          </a:xfrm>
          <a:prstGeom prst="rect">
            <a:avLst/>
          </a:prstGeom>
          <a:solidFill>
            <a:srgbClr val="DCD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DD38C0-CC79-4E3E-9897-0D1F9942E80A}"/>
              </a:ext>
            </a:extLst>
          </p:cNvPr>
          <p:cNvSpPr>
            <a:spLocks noGrp="1"/>
          </p:cNvSpPr>
          <p:nvPr/>
        </p:nvSpPr>
        <p:spPr>
          <a:xfrm>
            <a:off x="7848600" y="1809750"/>
            <a:ext cx="9525" cy="4191000"/>
          </a:xfrm>
          <a:prstGeom prst="rect">
            <a:avLst/>
          </a:prstGeom>
          <a:solidFill>
            <a:srgbClr val="DCD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502A7D-A094-41E5-B40F-3FD02CDC5B44}"/>
              </a:ext>
            </a:extLst>
          </p:cNvPr>
          <p:cNvSpPr>
            <a:spLocks noGrp="1"/>
          </p:cNvSpPr>
          <p:nvPr/>
        </p:nvSpPr>
        <p:spPr>
          <a:xfrm>
            <a:off x="533400" y="2152650"/>
            <a:ext cx="3333750" cy="1962150"/>
          </a:xfrm>
          <a:prstGeom prst="rect">
            <a:avLst/>
          </a:prstGeom>
          <a:solidFill>
            <a:srgbClr val="FFFDF8"/>
          </a:solidFill>
          <a:ln w="9525">
            <a:solidFill>
              <a:srgbClr val="DCD3C4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2709260"/>
            <a:ext cx="3067050" cy="81082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6FEF2DFC-40A7-4A83-80BB-1E6FBAE1659F}"/>
              </a:ext>
            </a:extLst>
          </p:cNvPr>
          <p:cNvSpPr>
            <a:spLocks noGrp="1"/>
          </p:cNvSpPr>
          <p:nvPr/>
        </p:nvSpPr>
        <p:spPr>
          <a:xfrm>
            <a:off x="666750" y="3924300"/>
            <a:ext cx="30670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Problem definition: time window and minimum duration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8EBDBE-2E73-4952-B1B8-AB43480FEF61}"/>
              </a:ext>
            </a:extLst>
          </p:cNvPr>
          <p:cNvSpPr>
            <a:spLocks noGrp="1"/>
          </p:cNvSpPr>
          <p:nvPr/>
        </p:nvSpPr>
        <p:spPr>
          <a:xfrm>
            <a:off x="533400" y="4381500"/>
            <a:ext cx="3333750" cy="1162050"/>
          </a:xfrm>
          <a:prstGeom prst="rect">
            <a:avLst/>
          </a:prstGeom>
          <a:solidFill>
            <a:srgbClr val="FFFFFF">
              <a:alpha val="0"/>
            </a:srgbClr>
          </a:solidFill>
          <a:ln w="11430">
            <a:solidFill>
              <a:srgbClr val="A33A2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F287EE6-5F76-49AA-8158-3CDF80A79E48}"/>
              </a:ext>
            </a:extLst>
          </p:cNvPr>
          <p:cNvSpPr>
            <a:spLocks noGrp="1"/>
          </p:cNvSpPr>
          <p:nvPr/>
        </p:nvSpPr>
        <p:spPr>
          <a:xfrm>
            <a:off x="666750" y="4495800"/>
            <a:ext cx="3067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A33A2A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A33A2A"/>
                </a:solidFill>
                <a:latin typeface="Aptos"/>
                <a:ea typeface="Aptos"/>
                <a:cs typeface="Aptos"/>
              </a:rPr>
              <a:t>MATH MEANING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3323480-BA95-4B5F-86D8-9C37B29EEB72}"/>
              </a:ext>
            </a:extLst>
          </p:cNvPr>
          <p:cNvSpPr>
            <a:spLocks noGrp="1"/>
          </p:cNvSpPr>
          <p:nvPr/>
        </p:nvSpPr>
        <p:spPr>
          <a:xfrm>
            <a:off x="666750" y="4705350"/>
            <a:ext cx="306705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21A24"/>
                </a:solidFill>
                <a:latin typeface="Aptos"/>
                <a:ea typeface="Aptos"/>
                <a:cs typeface="Aptos"/>
              </a:rPr>
              <a:t>Each selected operation starts within its lower and upper bound. The next operation may start only after the minimum duration has elapsed.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C3CBAD-4FEE-406B-A0F4-4CD094F34F70}"/>
              </a:ext>
            </a:extLst>
          </p:cNvPr>
          <p:cNvSpPr>
            <a:spLocks noGrp="1"/>
          </p:cNvSpPr>
          <p:nvPr/>
        </p:nvSpPr>
        <p:spPr>
          <a:xfrm>
            <a:off x="4419600" y="2152650"/>
            <a:ext cx="3028950" cy="325755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A05BE7-088A-4631-9886-C28AC27DF93B}"/>
              </a:ext>
            </a:extLst>
          </p:cNvPr>
          <p:cNvSpPr>
            <a:spLocks noGrp="1"/>
          </p:cNvSpPr>
          <p:nvPr/>
        </p:nvSpPr>
        <p:spPr>
          <a:xfrm>
            <a:off x="4419600" y="2152650"/>
            <a:ext cx="3028950" cy="266700"/>
          </a:xfrm>
          <a:prstGeom prst="rect">
            <a:avLst/>
          </a:prstGeom>
          <a:solidFill>
            <a:srgbClr val="222A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8783AF3-FEA2-48AA-8036-EB8E75F39EC8}"/>
              </a:ext>
            </a:extLst>
          </p:cNvPr>
          <p:cNvSpPr>
            <a:spLocks noGrp="1"/>
          </p:cNvSpPr>
          <p:nvPr/>
        </p:nvSpPr>
        <p:spPr>
          <a:xfrm>
            <a:off x="4552950" y="2200275"/>
            <a:ext cx="2762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1E5B87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E5B87"/>
                </a:solidFill>
                <a:latin typeface="Aptos"/>
                <a:ea typeface="Aptos"/>
                <a:cs typeface="Aptos"/>
              </a:rPr>
              <a:t>mip_model.py:32-34, 101-102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091DC8B-ECF4-439D-A2CE-959EE10E203E}"/>
              </a:ext>
            </a:extLst>
          </p:cNvPr>
          <p:cNvSpPr>
            <a:spLocks noGrp="1"/>
          </p:cNvSpPr>
          <p:nvPr/>
        </p:nvSpPr>
        <p:spPr>
          <a:xfrm>
            <a:off x="4552950" y="2514600"/>
            <a:ext cx="2762250" cy="2800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# Start-time variable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ub = op.start_ub if finite else GRB.INFINITY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t[train, op] = addVar(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    lb=op.start_lb,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    ub=ub,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    vtype=GRB.CONTINUOUS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endParaRPr sz="788" b="0">
              <a:solidFill>
                <a:srgbClr val="F1ECE4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# Minimum duration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addConstr(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    t[train, succ] - t[train, op]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    &gt;= op.min_duration * y[train, op, succ]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1048F51-6114-4B7D-B9BC-F1DA6D4B4FE0}"/>
              </a:ext>
            </a:extLst>
          </p:cNvPr>
          <p:cNvSpPr>
            <a:spLocks noGrp="1"/>
          </p:cNvSpPr>
          <p:nvPr/>
        </p:nvSpPr>
        <p:spPr>
          <a:xfrm>
            <a:off x="8153400" y="2152650"/>
            <a:ext cx="3028950" cy="325755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1394AA1-623D-407A-AD15-FFAAA2D810C4}"/>
              </a:ext>
            </a:extLst>
          </p:cNvPr>
          <p:cNvSpPr>
            <a:spLocks noGrp="1"/>
          </p:cNvSpPr>
          <p:nvPr/>
        </p:nvSpPr>
        <p:spPr>
          <a:xfrm>
            <a:off x="8153400" y="2152650"/>
            <a:ext cx="3028950" cy="266700"/>
          </a:xfrm>
          <a:prstGeom prst="rect">
            <a:avLst/>
          </a:prstGeom>
          <a:solidFill>
            <a:srgbClr val="222A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096078F-BF08-40D1-BF0F-E60F872DE954}"/>
              </a:ext>
            </a:extLst>
          </p:cNvPr>
          <p:cNvSpPr>
            <a:spLocks noGrp="1"/>
          </p:cNvSpPr>
          <p:nvPr/>
        </p:nvSpPr>
        <p:spPr>
          <a:xfrm>
            <a:off x="8286750" y="2200275"/>
            <a:ext cx="2762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2D7A57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D7A57"/>
                </a:solidFill>
                <a:latin typeface="Aptos"/>
                <a:ea typeface="Aptos"/>
                <a:cs typeface="Aptos"/>
              </a:rPr>
              <a:t>cp_model.py:50-67, 190-197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9C5CFA7-31B5-4EB9-9C4F-CB7407A197B1}"/>
              </a:ext>
            </a:extLst>
          </p:cNvPr>
          <p:cNvSpPr>
            <a:spLocks noGrp="1"/>
          </p:cNvSpPr>
          <p:nvPr/>
        </p:nvSpPr>
        <p:spPr>
          <a:xfrm>
            <a:off x="8286750" y="2514600"/>
            <a:ext cx="2762250" cy="2800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# Start, duration, end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starts = NewIntVar(lb, ub)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durations = NewIntVar(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    op.min_duration, horizon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ends = NewIntVar(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    lb + op.min_duration,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    horizon * 2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endParaRPr sz="788" b="0">
              <a:solidFill>
                <a:srgbClr val="F1ECE4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# Optional interval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NewOptionalIntervalVar(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    starts, durations, ends, x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endParaRPr sz="788" b="0">
              <a:solidFill>
                <a:srgbClr val="F1ECE4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# Successor timing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Add(starts[succ] == ends[op])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    .OnlyEnforceIf(y)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B056BEB-3286-41A8-9F39-597E10EB47A3}"/>
              </a:ext>
            </a:extLst>
          </p:cNvPr>
          <p:cNvSpPr>
            <a:spLocks noGrp="1"/>
          </p:cNvSpPr>
          <p:nvPr/>
        </p:nvSpPr>
        <p:spPr>
          <a:xfrm>
            <a:off x="533400" y="6457950"/>
            <a:ext cx="11125200" cy="9525"/>
          </a:xfrm>
          <a:prstGeom prst="rect">
            <a:avLst/>
          </a:prstGeom>
          <a:solidFill>
            <a:srgbClr val="DCD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064C8A3-5151-4C07-8E87-80E2D3CF382A}"/>
              </a:ext>
            </a:extLst>
          </p:cNvPr>
          <p:cNvSpPr>
            <a:spLocks noGrp="1"/>
          </p:cNvSpPr>
          <p:nvPr/>
        </p:nvSpPr>
        <p:spPr>
          <a:xfrm>
            <a:off x="533400" y="6572250"/>
            <a:ext cx="933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The CP-SAT model expresses scheduling through optional intervals rather than only start-time inequalities.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939FFBC-0A1B-4787-BCB8-BF24278137E7}"/>
              </a:ext>
            </a:extLst>
          </p:cNvPr>
          <p:cNvSpPr>
            <a:spLocks noGrp="1"/>
          </p:cNvSpPr>
          <p:nvPr/>
        </p:nvSpPr>
        <p:spPr>
          <a:xfrm>
            <a:off x="11296650" y="655320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1708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0593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F727C91A-C3DE-4FE6-85FA-B96AFDA232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" name="kicker-5-marker">
            <a:extLst>
              <a:ext uri="{FF2B5EF4-FFF2-40B4-BE49-F238E27FC236}">
                <a16:creationId xmlns:a16="http://schemas.microsoft.com/office/drawing/2014/main" id="{83D145FE-7B0E-4BE6-AB38-83800CBE5523}"/>
              </a:ext>
            </a:extLst>
          </p:cNvPr>
          <p:cNvSpPr>
            <a:spLocks noGrp="1"/>
          </p:cNvSpPr>
          <p:nvPr/>
        </p:nvSpPr>
        <p:spPr>
          <a:xfrm>
            <a:off x="533400" y="428625"/>
            <a:ext cx="47625" cy="228600"/>
          </a:xfrm>
          <a:prstGeom prst="rect">
            <a:avLst/>
          </a:prstGeom>
          <a:solidFill>
            <a:srgbClr val="1E5B8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kicker-5-label">
            <a:extLst>
              <a:ext uri="{FF2B5EF4-FFF2-40B4-BE49-F238E27FC236}">
                <a16:creationId xmlns:a16="http://schemas.microsoft.com/office/drawing/2014/main" id="{BEA3CEAF-5C66-4CCA-BD53-D4B2DBAC8CCA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42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17083"/>
                </a:solidFill>
                <a:latin typeface="Aptos"/>
                <a:ea typeface="Aptos"/>
                <a:cs typeface="Aptos"/>
              </a:rPr>
              <a:t>MODEL MAP 05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6DE529-18C9-4549-85F4-3869E31AFBE6}"/>
              </a:ext>
            </a:extLst>
          </p:cNvPr>
          <p:cNvSpPr>
            <a:spLocks noGrp="1"/>
          </p:cNvSpPr>
          <p:nvPr/>
        </p:nvSpPr>
        <p:spPr>
          <a:xfrm>
            <a:off x="533400" y="781050"/>
            <a:ext cx="8953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21A24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121A24"/>
                </a:solidFill>
                <a:latin typeface="Georgia"/>
                <a:ea typeface="Georgia"/>
                <a:cs typeface="Georgia"/>
              </a:rPr>
              <a:t>Resource safety is pairwise precedence in MIP and no-overlap in CP-SAT.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B70F58-CF74-4119-88EE-267C811EC387}"/>
              </a:ext>
            </a:extLst>
          </p:cNvPr>
          <p:cNvSpPr>
            <a:spLocks noGrp="1"/>
          </p:cNvSpPr>
          <p:nvPr/>
        </p:nvSpPr>
        <p:spPr>
          <a:xfrm>
            <a:off x="533400" y="1524000"/>
            <a:ext cx="6858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Both prevent two trains from occupying the same resource before release time has passed.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4F695A-DF15-4D86-9F10-E7F7A6DAD3CF}"/>
              </a:ext>
            </a:extLst>
          </p:cNvPr>
          <p:cNvSpPr>
            <a:spLocks noGrp="1"/>
          </p:cNvSpPr>
          <p:nvPr/>
        </p:nvSpPr>
        <p:spPr>
          <a:xfrm>
            <a:off x="533400" y="1809750"/>
            <a:ext cx="47625" cy="228600"/>
          </a:xfrm>
          <a:prstGeom prst="rect">
            <a:avLst/>
          </a:prstGeom>
          <a:solidFill>
            <a:srgbClr val="A33A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51BBA6-F693-4346-8240-9482CB5F757C}"/>
              </a:ext>
            </a:extLst>
          </p:cNvPr>
          <p:cNvSpPr>
            <a:spLocks noGrp="1"/>
          </p:cNvSpPr>
          <p:nvPr/>
        </p:nvSpPr>
        <p:spPr>
          <a:xfrm>
            <a:off x="666750" y="1771650"/>
            <a:ext cx="2667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A33A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33A2A"/>
                </a:solidFill>
                <a:latin typeface="Aptos"/>
                <a:ea typeface="Aptos"/>
                <a:cs typeface="Aptos"/>
              </a:rPr>
              <a:t>Mathematical expression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5CE193-0DCB-44B7-84DB-00922E259109}"/>
              </a:ext>
            </a:extLst>
          </p:cNvPr>
          <p:cNvSpPr>
            <a:spLocks noGrp="1"/>
          </p:cNvSpPr>
          <p:nvPr/>
        </p:nvSpPr>
        <p:spPr>
          <a:xfrm>
            <a:off x="4419600" y="1809750"/>
            <a:ext cx="47625" cy="228600"/>
          </a:xfrm>
          <a:prstGeom prst="rect">
            <a:avLst/>
          </a:prstGeom>
          <a:solidFill>
            <a:srgbClr val="1E5B8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F6CFA2-E8F7-4277-A898-EAA5D91EA758}"/>
              </a:ext>
            </a:extLst>
          </p:cNvPr>
          <p:cNvSpPr>
            <a:spLocks noGrp="1"/>
          </p:cNvSpPr>
          <p:nvPr/>
        </p:nvSpPr>
        <p:spPr>
          <a:xfrm>
            <a:off x="4552950" y="1771650"/>
            <a:ext cx="2667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E5B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5B87"/>
                </a:solidFill>
                <a:latin typeface="Aptos"/>
                <a:ea typeface="Aptos"/>
                <a:cs typeface="Aptos"/>
              </a:rPr>
              <a:t>Baseline MIP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931B3E-B861-4AD2-8B6E-7C23A6F48544}"/>
              </a:ext>
            </a:extLst>
          </p:cNvPr>
          <p:cNvSpPr>
            <a:spLocks noGrp="1"/>
          </p:cNvSpPr>
          <p:nvPr/>
        </p:nvSpPr>
        <p:spPr>
          <a:xfrm>
            <a:off x="8153400" y="1809750"/>
            <a:ext cx="47625" cy="228600"/>
          </a:xfrm>
          <a:prstGeom prst="rect">
            <a:avLst/>
          </a:prstGeom>
          <a:solidFill>
            <a:srgbClr val="2D7A5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650FAB-60F5-4B1D-94D3-CD99EEF0C75B}"/>
              </a:ext>
            </a:extLst>
          </p:cNvPr>
          <p:cNvSpPr>
            <a:spLocks noGrp="1"/>
          </p:cNvSpPr>
          <p:nvPr/>
        </p:nvSpPr>
        <p:spPr>
          <a:xfrm>
            <a:off x="8286750" y="1771650"/>
            <a:ext cx="2667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2D7A5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7A57"/>
                </a:solidFill>
                <a:latin typeface="Aptos"/>
                <a:ea typeface="Aptos"/>
                <a:cs typeface="Aptos"/>
              </a:rPr>
              <a:t>Extended CP-SAT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269288-E665-4B69-90E8-536364D9C93B}"/>
              </a:ext>
            </a:extLst>
          </p:cNvPr>
          <p:cNvSpPr>
            <a:spLocks noGrp="1"/>
          </p:cNvSpPr>
          <p:nvPr/>
        </p:nvSpPr>
        <p:spPr>
          <a:xfrm>
            <a:off x="4114800" y="1809750"/>
            <a:ext cx="9525" cy="4191000"/>
          </a:xfrm>
          <a:prstGeom prst="rect">
            <a:avLst/>
          </a:prstGeom>
          <a:solidFill>
            <a:srgbClr val="DCD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A33D3A-CAA4-4825-AB29-D27EFCDC9381}"/>
              </a:ext>
            </a:extLst>
          </p:cNvPr>
          <p:cNvSpPr>
            <a:spLocks noGrp="1"/>
          </p:cNvSpPr>
          <p:nvPr/>
        </p:nvSpPr>
        <p:spPr>
          <a:xfrm>
            <a:off x="7848600" y="1809750"/>
            <a:ext cx="9525" cy="4191000"/>
          </a:xfrm>
          <a:prstGeom prst="rect">
            <a:avLst/>
          </a:prstGeom>
          <a:solidFill>
            <a:srgbClr val="DCD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511969-DDE3-47A8-B516-941E750D9F15}"/>
              </a:ext>
            </a:extLst>
          </p:cNvPr>
          <p:cNvSpPr>
            <a:spLocks noGrp="1"/>
          </p:cNvSpPr>
          <p:nvPr/>
        </p:nvSpPr>
        <p:spPr>
          <a:xfrm>
            <a:off x="533400" y="2152650"/>
            <a:ext cx="3333750" cy="2076450"/>
          </a:xfrm>
          <a:prstGeom prst="rect">
            <a:avLst/>
          </a:prstGeom>
          <a:solidFill>
            <a:srgbClr val="FFFDF8"/>
          </a:solidFill>
          <a:ln w="9525">
            <a:solidFill>
              <a:srgbClr val="DCD3C4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2800396"/>
            <a:ext cx="3067050" cy="74285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83E1A9A-851F-4179-93C2-97B4F7FEC532}"/>
              </a:ext>
            </a:extLst>
          </p:cNvPr>
          <p:cNvSpPr>
            <a:spLocks noGrp="1"/>
          </p:cNvSpPr>
          <p:nvPr/>
        </p:nvSpPr>
        <p:spPr>
          <a:xfrm>
            <a:off x="666750" y="4038600"/>
            <a:ext cx="30670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Paper Eq. (2): pairwise resource constraints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0F25520-B614-401A-BEB6-3C8016D193A3}"/>
              </a:ext>
            </a:extLst>
          </p:cNvPr>
          <p:cNvSpPr>
            <a:spLocks noGrp="1"/>
          </p:cNvSpPr>
          <p:nvPr/>
        </p:nvSpPr>
        <p:spPr>
          <a:xfrm>
            <a:off x="533400" y="4438650"/>
            <a:ext cx="3333750" cy="742950"/>
          </a:xfrm>
          <a:prstGeom prst="rect">
            <a:avLst/>
          </a:prstGeom>
          <a:solidFill>
            <a:srgbClr val="FFFDF8"/>
          </a:solidFill>
          <a:ln w="9525">
            <a:solidFill>
              <a:srgbClr val="DCD3C4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66750" y="4659630"/>
            <a:ext cx="3067050" cy="2628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51078FA-0AF9-4D84-9FB5-3414012E7C54}"/>
              </a:ext>
            </a:extLst>
          </p:cNvPr>
          <p:cNvSpPr>
            <a:spLocks noGrp="1"/>
          </p:cNvSpPr>
          <p:nvPr/>
        </p:nvSpPr>
        <p:spPr>
          <a:xfrm>
            <a:off x="666750" y="4991100"/>
            <a:ext cx="30670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Conflict set 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6E7689-7C0E-474B-B2BE-E24D689F355B}"/>
              </a:ext>
            </a:extLst>
          </p:cNvPr>
          <p:cNvSpPr>
            <a:spLocks noGrp="1"/>
          </p:cNvSpPr>
          <p:nvPr/>
        </p:nvSpPr>
        <p:spPr>
          <a:xfrm>
            <a:off x="533400" y="5314950"/>
            <a:ext cx="3333750" cy="762000"/>
          </a:xfrm>
          <a:prstGeom prst="rect">
            <a:avLst/>
          </a:prstGeom>
          <a:solidFill>
            <a:srgbClr val="FFFFFF">
              <a:alpha val="0"/>
            </a:srgbClr>
          </a:solidFill>
          <a:ln w="11430">
            <a:solidFill>
              <a:srgbClr val="A33A2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59E5885-109A-40E4-A1FB-6C3F743AEBDB}"/>
              </a:ext>
            </a:extLst>
          </p:cNvPr>
          <p:cNvSpPr>
            <a:spLocks noGrp="1"/>
          </p:cNvSpPr>
          <p:nvPr/>
        </p:nvSpPr>
        <p:spPr>
          <a:xfrm>
            <a:off x="666750" y="5429250"/>
            <a:ext cx="3067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A33A2A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A33A2A"/>
                </a:solidFill>
                <a:latin typeface="Aptos"/>
                <a:ea typeface="Aptos"/>
                <a:cs typeface="Aptos"/>
              </a:rPr>
              <a:t>MATH MEANING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249A0E6-6D04-4A3E-AE05-2CC4C30AB9E2}"/>
              </a:ext>
            </a:extLst>
          </p:cNvPr>
          <p:cNvSpPr>
            <a:spLocks noGrp="1"/>
          </p:cNvSpPr>
          <p:nvPr/>
        </p:nvSpPr>
        <p:spPr>
          <a:xfrm>
            <a:off x="666750" y="5638800"/>
            <a:ext cx="30670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21A24"/>
                </a:solidFill>
                <a:latin typeface="Aptos"/>
                <a:ea typeface="Aptos"/>
                <a:cs typeface="Aptos"/>
              </a:rPr>
              <a:t>For every shared resource pair, decide which operation goes first and separate their times by the release headway.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1CE3B54-6A85-4D8A-82AF-B20A6A3444C1}"/>
              </a:ext>
            </a:extLst>
          </p:cNvPr>
          <p:cNvSpPr>
            <a:spLocks noGrp="1"/>
          </p:cNvSpPr>
          <p:nvPr/>
        </p:nvSpPr>
        <p:spPr>
          <a:xfrm>
            <a:off x="4419600" y="2152650"/>
            <a:ext cx="3028950" cy="348615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8D3AB38-CD7D-4D17-BEC7-8C79BFB9E913}"/>
              </a:ext>
            </a:extLst>
          </p:cNvPr>
          <p:cNvSpPr>
            <a:spLocks noGrp="1"/>
          </p:cNvSpPr>
          <p:nvPr/>
        </p:nvSpPr>
        <p:spPr>
          <a:xfrm>
            <a:off x="4419600" y="2152650"/>
            <a:ext cx="3028950" cy="266700"/>
          </a:xfrm>
          <a:prstGeom prst="rect">
            <a:avLst/>
          </a:prstGeom>
          <a:solidFill>
            <a:srgbClr val="222A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7A814E-2AC0-4E97-91C2-A199FBA518CB}"/>
              </a:ext>
            </a:extLst>
          </p:cNvPr>
          <p:cNvSpPr>
            <a:spLocks noGrp="1"/>
          </p:cNvSpPr>
          <p:nvPr/>
        </p:nvSpPr>
        <p:spPr>
          <a:xfrm>
            <a:off x="4552950" y="2200275"/>
            <a:ext cx="2762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1E5B87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E5B87"/>
                </a:solidFill>
                <a:latin typeface="Aptos"/>
                <a:ea typeface="Aptos"/>
                <a:cs typeface="Aptos"/>
              </a:rPr>
              <a:t>mip_model.py:43-53, 106-148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5FE4E28-71FD-423B-999D-FE0534770CED}"/>
              </a:ext>
            </a:extLst>
          </p:cNvPr>
          <p:cNvSpPr>
            <a:spLocks noGrp="1"/>
          </p:cNvSpPr>
          <p:nvPr/>
        </p:nvSpPr>
        <p:spPr>
          <a:xfrm>
            <a:off x="4552950" y="2514600"/>
            <a:ext cx="2762250" cy="3028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conflicts = find_conflict_pairs()</a:t>
            </a:r>
          </a:p>
          <a:p>
            <a:endParaRPr sz="788" b="0">
              <a:solidFill>
                <a:srgbClr val="F1ECE4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z_ab = addVar(BINARY)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z_ba = addVar(BINARY)</a:t>
            </a:r>
          </a:p>
          <a:p>
            <a:endParaRPr sz="788" b="0">
              <a:solidFill>
                <a:srgbClr val="F1ECE4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# If both ops selected, one order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x_a + x_b - 1 &lt;= z_ab + z_ba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x_a &gt;= z_ab + z_ba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x_b &gt;= z_ab + z_ba</a:t>
            </a:r>
          </a:p>
          <a:p>
            <a:endParaRPr sz="788" b="0">
              <a:solidFill>
                <a:srgbClr val="F1ECE4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# If a before b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(z_ab == 1) &gt;&gt;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    (t[succ_a] - t[o2] &lt;= -lambda_a)</a:t>
            </a:r>
          </a:p>
          <a:p>
            <a:endParaRPr sz="788" b="0">
              <a:solidFill>
                <a:srgbClr val="F1ECE4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# If b before a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(z_ba == 1) &gt;&gt;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    (t[succ_b] - t[o1] &lt;= -lambda_b)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E867C58-3690-4F5C-83B6-465A6094721B}"/>
              </a:ext>
            </a:extLst>
          </p:cNvPr>
          <p:cNvSpPr>
            <a:spLocks noGrp="1"/>
          </p:cNvSpPr>
          <p:nvPr/>
        </p:nvSpPr>
        <p:spPr>
          <a:xfrm>
            <a:off x="8153400" y="2152650"/>
            <a:ext cx="3028950" cy="348615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5443026-EB3A-4D4A-B28B-2BAB0013AD4B}"/>
              </a:ext>
            </a:extLst>
          </p:cNvPr>
          <p:cNvSpPr>
            <a:spLocks noGrp="1"/>
          </p:cNvSpPr>
          <p:nvPr/>
        </p:nvSpPr>
        <p:spPr>
          <a:xfrm>
            <a:off x="8153400" y="2152650"/>
            <a:ext cx="3028950" cy="266700"/>
          </a:xfrm>
          <a:prstGeom prst="rect">
            <a:avLst/>
          </a:prstGeom>
          <a:solidFill>
            <a:srgbClr val="222A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25D8F6B-5A38-4B38-84CE-9335A157CAF6}"/>
              </a:ext>
            </a:extLst>
          </p:cNvPr>
          <p:cNvSpPr>
            <a:spLocks noGrp="1"/>
          </p:cNvSpPr>
          <p:nvPr/>
        </p:nvSpPr>
        <p:spPr>
          <a:xfrm>
            <a:off x="8286750" y="2200275"/>
            <a:ext cx="2762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2D7A57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D7A57"/>
                </a:solidFill>
                <a:latin typeface="Aptos"/>
                <a:ea typeface="Aptos"/>
                <a:cs typeface="Aptos"/>
              </a:rPr>
              <a:t>cp_model.py:69-119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3350AD6-F7AB-4EC5-A54A-F31A5A3FB2EC}"/>
              </a:ext>
            </a:extLst>
          </p:cNvPr>
          <p:cNvSpPr>
            <a:spLocks noGrp="1"/>
          </p:cNvSpPr>
          <p:nvPr/>
        </p:nvSpPr>
        <p:spPr>
          <a:xfrm>
            <a:off x="8286750" y="2514600"/>
            <a:ext cx="2762250" cy="3028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# Build an optional interval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iv = NewOptionalIntervalVar(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    starts, durations, ends, x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endParaRPr sz="788" b="0">
              <a:solidFill>
                <a:srgbClr val="F1ECE4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# Include release time by extending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# the resource occupation interval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ext_dur = durations + release_time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ext_end = ends + release_time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ext_iv = NewOptionalIntervalVar(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    starts, ext_dur, ext_end, x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endParaRPr sz="788" b="0">
              <a:solidFill>
                <a:srgbClr val="F1ECE4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resource_intervals[res].append(ext_iv)</a:t>
            </a:r>
          </a:p>
          <a:p>
            <a:endParaRPr sz="788" b="0">
              <a:solidFill>
                <a:srgbClr val="F1ECE4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# Native scheduling constraint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AddNoOverlap(resource_intervals[res])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304FD75-0709-4E4A-8DED-EE1E80F2CC76}"/>
              </a:ext>
            </a:extLst>
          </p:cNvPr>
          <p:cNvSpPr>
            <a:spLocks noGrp="1"/>
          </p:cNvSpPr>
          <p:nvPr/>
        </p:nvSpPr>
        <p:spPr>
          <a:xfrm>
            <a:off x="533400" y="6457950"/>
            <a:ext cx="11125200" cy="9525"/>
          </a:xfrm>
          <a:prstGeom prst="rect">
            <a:avLst/>
          </a:prstGeom>
          <a:solidFill>
            <a:srgbClr val="DCD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3CA5011-76AB-4159-BA1D-68F25F387505}"/>
              </a:ext>
            </a:extLst>
          </p:cNvPr>
          <p:cNvSpPr>
            <a:spLocks noGrp="1"/>
          </p:cNvSpPr>
          <p:nvPr/>
        </p:nvSpPr>
        <p:spPr>
          <a:xfrm>
            <a:off x="533400" y="6572250"/>
            <a:ext cx="933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Baseline mirrors the paper's z variables; extension uses CP-SAT's interval scheduling primitive.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7B4EF37-CFBA-44FD-BEC8-A74DC8FABB2B}"/>
              </a:ext>
            </a:extLst>
          </p:cNvPr>
          <p:cNvSpPr>
            <a:spLocks noGrp="1"/>
          </p:cNvSpPr>
          <p:nvPr/>
        </p:nvSpPr>
        <p:spPr>
          <a:xfrm>
            <a:off x="11296650" y="655320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1708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93347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E0DF20D5-CD02-479F-8013-DCBA95C15B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" name="kicker-6-marker">
            <a:extLst>
              <a:ext uri="{FF2B5EF4-FFF2-40B4-BE49-F238E27FC236}">
                <a16:creationId xmlns:a16="http://schemas.microsoft.com/office/drawing/2014/main" id="{FA3B0408-FF40-410D-A025-28424738064A}"/>
              </a:ext>
            </a:extLst>
          </p:cNvPr>
          <p:cNvSpPr>
            <a:spLocks noGrp="1"/>
          </p:cNvSpPr>
          <p:nvPr/>
        </p:nvSpPr>
        <p:spPr>
          <a:xfrm>
            <a:off x="533400" y="428625"/>
            <a:ext cx="47625" cy="228600"/>
          </a:xfrm>
          <a:prstGeom prst="rect">
            <a:avLst/>
          </a:prstGeom>
          <a:solidFill>
            <a:srgbClr val="A33A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kicker-6-label">
            <a:extLst>
              <a:ext uri="{FF2B5EF4-FFF2-40B4-BE49-F238E27FC236}">
                <a16:creationId xmlns:a16="http://schemas.microsoft.com/office/drawing/2014/main" id="{444FFC5F-0191-4A3C-A342-1500814BED8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42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17083"/>
                </a:solidFill>
                <a:latin typeface="Aptos"/>
                <a:ea typeface="Aptos"/>
                <a:cs typeface="Aptos"/>
              </a:rPr>
              <a:t>MODEL MAP 06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3DB8B5-C96A-4970-9721-2521D605D41B}"/>
              </a:ext>
            </a:extLst>
          </p:cNvPr>
          <p:cNvSpPr>
            <a:spLocks noGrp="1"/>
          </p:cNvSpPr>
          <p:nvPr/>
        </p:nvSpPr>
        <p:spPr>
          <a:xfrm>
            <a:off x="533400" y="781050"/>
            <a:ext cx="8953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21A24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121A24"/>
                </a:solidFill>
                <a:latin typeface="Georgia"/>
                <a:ea typeface="Georgia"/>
                <a:cs typeface="Georgia"/>
              </a:rPr>
              <a:t>Global ordering prevents unrealistic same-time swapping.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74EA68-B870-4868-87F1-A039BF41E821}"/>
              </a:ext>
            </a:extLst>
          </p:cNvPr>
          <p:cNvSpPr>
            <a:spLocks noGrp="1"/>
          </p:cNvSpPr>
          <p:nvPr/>
        </p:nvSpPr>
        <p:spPr>
          <a:xfrm>
            <a:off x="533400" y="1524000"/>
            <a:ext cx="6858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The u variable gives simultaneous events a physically valid sequence.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520AB5-1CA0-4ADE-A933-C09E067452A7}"/>
              </a:ext>
            </a:extLst>
          </p:cNvPr>
          <p:cNvSpPr>
            <a:spLocks noGrp="1"/>
          </p:cNvSpPr>
          <p:nvPr/>
        </p:nvSpPr>
        <p:spPr>
          <a:xfrm>
            <a:off x="533400" y="1809750"/>
            <a:ext cx="47625" cy="228600"/>
          </a:xfrm>
          <a:prstGeom prst="rect">
            <a:avLst/>
          </a:prstGeom>
          <a:solidFill>
            <a:srgbClr val="A33A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351453-0923-48D7-A860-9CA80EFBA260}"/>
              </a:ext>
            </a:extLst>
          </p:cNvPr>
          <p:cNvSpPr>
            <a:spLocks noGrp="1"/>
          </p:cNvSpPr>
          <p:nvPr/>
        </p:nvSpPr>
        <p:spPr>
          <a:xfrm>
            <a:off x="666750" y="1771650"/>
            <a:ext cx="2667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A33A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33A2A"/>
                </a:solidFill>
                <a:latin typeface="Aptos"/>
                <a:ea typeface="Aptos"/>
                <a:cs typeface="Aptos"/>
              </a:rPr>
              <a:t>Mathematical expression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FBBFA0-2FFC-4F7D-9E0F-FAD8302FCCFA}"/>
              </a:ext>
            </a:extLst>
          </p:cNvPr>
          <p:cNvSpPr>
            <a:spLocks noGrp="1"/>
          </p:cNvSpPr>
          <p:nvPr/>
        </p:nvSpPr>
        <p:spPr>
          <a:xfrm>
            <a:off x="4419600" y="1809750"/>
            <a:ext cx="47625" cy="228600"/>
          </a:xfrm>
          <a:prstGeom prst="rect">
            <a:avLst/>
          </a:prstGeom>
          <a:solidFill>
            <a:srgbClr val="1E5B8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A7C059-AD87-4E11-89E4-0FF6F155FC4F}"/>
              </a:ext>
            </a:extLst>
          </p:cNvPr>
          <p:cNvSpPr>
            <a:spLocks noGrp="1"/>
          </p:cNvSpPr>
          <p:nvPr/>
        </p:nvSpPr>
        <p:spPr>
          <a:xfrm>
            <a:off x="4552950" y="1771650"/>
            <a:ext cx="2667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E5B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5B87"/>
                </a:solidFill>
                <a:latin typeface="Aptos"/>
                <a:ea typeface="Aptos"/>
                <a:cs typeface="Aptos"/>
              </a:rPr>
              <a:t>Baseline MIP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199F46-70D2-405C-8A4A-DC105A6210A2}"/>
              </a:ext>
            </a:extLst>
          </p:cNvPr>
          <p:cNvSpPr>
            <a:spLocks noGrp="1"/>
          </p:cNvSpPr>
          <p:nvPr/>
        </p:nvSpPr>
        <p:spPr>
          <a:xfrm>
            <a:off x="8153400" y="1809750"/>
            <a:ext cx="47625" cy="228600"/>
          </a:xfrm>
          <a:prstGeom prst="rect">
            <a:avLst/>
          </a:prstGeom>
          <a:solidFill>
            <a:srgbClr val="2D7A5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9ACD36-9871-4E88-9A99-D8036FEF94B5}"/>
              </a:ext>
            </a:extLst>
          </p:cNvPr>
          <p:cNvSpPr>
            <a:spLocks noGrp="1"/>
          </p:cNvSpPr>
          <p:nvPr/>
        </p:nvSpPr>
        <p:spPr>
          <a:xfrm>
            <a:off x="8286750" y="1771650"/>
            <a:ext cx="2667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2D7A5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7A57"/>
                </a:solidFill>
                <a:latin typeface="Aptos"/>
                <a:ea typeface="Aptos"/>
                <a:cs typeface="Aptos"/>
              </a:rPr>
              <a:t>Extended CP-SAT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FD8D26-B03F-4443-A796-CDF058BB2DDD}"/>
              </a:ext>
            </a:extLst>
          </p:cNvPr>
          <p:cNvSpPr>
            <a:spLocks noGrp="1"/>
          </p:cNvSpPr>
          <p:nvPr/>
        </p:nvSpPr>
        <p:spPr>
          <a:xfrm>
            <a:off x="4114800" y="1809750"/>
            <a:ext cx="9525" cy="4191000"/>
          </a:xfrm>
          <a:prstGeom prst="rect">
            <a:avLst/>
          </a:prstGeom>
          <a:solidFill>
            <a:srgbClr val="DCD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AFDC5C-C53C-465E-AF09-3A363782A2C6}"/>
              </a:ext>
            </a:extLst>
          </p:cNvPr>
          <p:cNvSpPr>
            <a:spLocks noGrp="1"/>
          </p:cNvSpPr>
          <p:nvPr/>
        </p:nvSpPr>
        <p:spPr>
          <a:xfrm>
            <a:off x="7848600" y="1809750"/>
            <a:ext cx="9525" cy="4191000"/>
          </a:xfrm>
          <a:prstGeom prst="rect">
            <a:avLst/>
          </a:prstGeom>
          <a:solidFill>
            <a:srgbClr val="DCD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AC2210F-27A1-4AB4-A7BD-BE6690AC2038}"/>
              </a:ext>
            </a:extLst>
          </p:cNvPr>
          <p:cNvSpPr>
            <a:spLocks noGrp="1"/>
          </p:cNvSpPr>
          <p:nvPr/>
        </p:nvSpPr>
        <p:spPr>
          <a:xfrm>
            <a:off x="533400" y="2152650"/>
            <a:ext cx="3333750" cy="1314450"/>
          </a:xfrm>
          <a:prstGeom prst="rect">
            <a:avLst/>
          </a:prstGeom>
          <a:solidFill>
            <a:srgbClr val="FFFDF8"/>
          </a:solidFill>
          <a:ln w="9525">
            <a:solidFill>
              <a:srgbClr val="DCD3C4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2547142"/>
            <a:ext cx="3067050" cy="48736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5F0EDB80-92EB-4599-BAC4-667971247925}"/>
              </a:ext>
            </a:extLst>
          </p:cNvPr>
          <p:cNvSpPr>
            <a:spLocks noGrp="1"/>
          </p:cNvSpPr>
          <p:nvPr/>
        </p:nvSpPr>
        <p:spPr>
          <a:xfrm>
            <a:off x="666750" y="3276600"/>
            <a:ext cx="30670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Paper Eq. (3): ordering constraints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BEFAE7-D640-4EA9-9FCA-8482D64728D9}"/>
              </a:ext>
            </a:extLst>
          </p:cNvPr>
          <p:cNvSpPr>
            <a:spLocks noGrp="1"/>
          </p:cNvSpPr>
          <p:nvPr/>
        </p:nvSpPr>
        <p:spPr>
          <a:xfrm>
            <a:off x="533400" y="3752850"/>
            <a:ext cx="3333750" cy="1257300"/>
          </a:xfrm>
          <a:prstGeom prst="rect">
            <a:avLst/>
          </a:prstGeom>
          <a:solidFill>
            <a:srgbClr val="FFFFFF">
              <a:alpha val="0"/>
            </a:srgbClr>
          </a:solidFill>
          <a:ln w="11430">
            <a:solidFill>
              <a:srgbClr val="A33A2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6CF594A-8EB7-46C8-979D-4F6F0A83FD88}"/>
              </a:ext>
            </a:extLst>
          </p:cNvPr>
          <p:cNvSpPr>
            <a:spLocks noGrp="1"/>
          </p:cNvSpPr>
          <p:nvPr/>
        </p:nvSpPr>
        <p:spPr>
          <a:xfrm>
            <a:off x="666750" y="3867150"/>
            <a:ext cx="3067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A33A2A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A33A2A"/>
                </a:solidFill>
                <a:latin typeface="Aptos"/>
                <a:ea typeface="Aptos"/>
                <a:cs typeface="Aptos"/>
              </a:rPr>
              <a:t>MATH MEANING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A7AEA68-7022-4924-844C-1C01AFBC9DBB}"/>
              </a:ext>
            </a:extLst>
          </p:cNvPr>
          <p:cNvSpPr>
            <a:spLocks noGrp="1"/>
          </p:cNvSpPr>
          <p:nvPr/>
        </p:nvSpPr>
        <p:spPr>
          <a:xfrm>
            <a:off x="666750" y="4076700"/>
            <a:ext cx="30670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21A24"/>
                </a:solidFill>
                <a:latin typeface="Aptos"/>
                <a:ea typeface="Aptos"/>
                <a:cs typeface="Aptos"/>
              </a:rPr>
              <a:t>The paper needs a global event order Pi, not just sorted times. This matters when operations or release times can be zero.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DC874F8-B061-4B83-BE6F-DC941D33E522}"/>
              </a:ext>
            </a:extLst>
          </p:cNvPr>
          <p:cNvSpPr>
            <a:spLocks noGrp="1"/>
          </p:cNvSpPr>
          <p:nvPr/>
        </p:nvSpPr>
        <p:spPr>
          <a:xfrm>
            <a:off x="533400" y="5181600"/>
            <a:ext cx="3333750" cy="819150"/>
          </a:xfrm>
          <a:prstGeom prst="rect">
            <a:avLst/>
          </a:prstGeom>
          <a:solidFill>
            <a:srgbClr val="FFFFFF">
              <a:alpha val="0"/>
            </a:srgbClr>
          </a:solidFill>
          <a:ln w="11430">
            <a:solidFill>
              <a:srgbClr val="A33A2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73B3E3F-00BB-4B91-BF2F-740479D12E45}"/>
              </a:ext>
            </a:extLst>
          </p:cNvPr>
          <p:cNvSpPr>
            <a:spLocks noGrp="1"/>
          </p:cNvSpPr>
          <p:nvPr/>
        </p:nvSpPr>
        <p:spPr>
          <a:xfrm>
            <a:off x="666750" y="5295900"/>
            <a:ext cx="3067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A33A2A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A33A2A"/>
                </a:solidFill>
                <a:latin typeface="Aptos"/>
                <a:ea typeface="Aptos"/>
                <a:cs typeface="Aptos"/>
              </a:rPr>
              <a:t>REPORT PHRASE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2E2C0A5-3EC7-4907-91DD-986A06FFB1FA}"/>
              </a:ext>
            </a:extLst>
          </p:cNvPr>
          <p:cNvSpPr>
            <a:spLocks noGrp="1"/>
          </p:cNvSpPr>
          <p:nvPr/>
        </p:nvSpPr>
        <p:spPr>
          <a:xfrm>
            <a:off x="666750" y="5505450"/>
            <a:ext cx="3067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21A24"/>
                </a:solidFill>
                <a:latin typeface="Aptos"/>
                <a:ea typeface="Aptos"/>
                <a:cs typeface="Aptos"/>
              </a:rPr>
              <a:t>We use u as a topological rank to make the exported event list verifier-compatible.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E0B5A5-B336-42AA-8CA5-F8EE1A100168}"/>
              </a:ext>
            </a:extLst>
          </p:cNvPr>
          <p:cNvSpPr>
            <a:spLocks noGrp="1"/>
          </p:cNvSpPr>
          <p:nvPr/>
        </p:nvSpPr>
        <p:spPr>
          <a:xfrm>
            <a:off x="4419600" y="2152650"/>
            <a:ext cx="3028950" cy="333375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F9BF3B0-305C-4BF5-8721-F603CFCF64D8}"/>
              </a:ext>
            </a:extLst>
          </p:cNvPr>
          <p:cNvSpPr>
            <a:spLocks noGrp="1"/>
          </p:cNvSpPr>
          <p:nvPr/>
        </p:nvSpPr>
        <p:spPr>
          <a:xfrm>
            <a:off x="4419600" y="2152650"/>
            <a:ext cx="3028950" cy="266700"/>
          </a:xfrm>
          <a:prstGeom prst="rect">
            <a:avLst/>
          </a:prstGeom>
          <a:solidFill>
            <a:srgbClr val="222A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0434A6-D567-478D-B409-23C14B11D80A}"/>
              </a:ext>
            </a:extLst>
          </p:cNvPr>
          <p:cNvSpPr>
            <a:spLocks noGrp="1"/>
          </p:cNvSpPr>
          <p:nvPr/>
        </p:nvSpPr>
        <p:spPr>
          <a:xfrm>
            <a:off x="4552950" y="2200275"/>
            <a:ext cx="2762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1E5B87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E5B87"/>
                </a:solidFill>
                <a:latin typeface="Aptos"/>
                <a:ea typeface="Aptos"/>
                <a:cs typeface="Aptos"/>
              </a:rPr>
              <a:t>mip_model.py:36-37, 132-164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2E50242-832A-442C-A37D-FAC8E54A9384}"/>
              </a:ext>
            </a:extLst>
          </p:cNvPr>
          <p:cNvSpPr>
            <a:spLocks noGrp="1"/>
          </p:cNvSpPr>
          <p:nvPr/>
        </p:nvSpPr>
        <p:spPr>
          <a:xfrm>
            <a:off x="4552950" y="2514600"/>
            <a:ext cx="2762250" cy="2876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u[train, op] = addVar(lb=0)</a:t>
            </a:r>
          </a:p>
          <a:p>
            <a:endParaRPr sz="788" b="0">
              <a:solidFill>
                <a:srgbClr val="F1ECE4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# Same-train order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(y[op, succ] == 1) &gt;&gt;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    (u[op] - u[succ] &lt;= -1)</a:t>
            </a:r>
          </a:p>
          <a:p>
            <a:endParaRPr sz="788" b="0">
              <a:solidFill>
                <a:srgbClr val="F1ECE4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# Cross-train conflict order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(z_ab == 1) &gt;&gt;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    (u[succ_a] - u[o2] &lt;= -1)</a:t>
            </a:r>
          </a:p>
          <a:p>
            <a:endParaRPr sz="788" b="0">
              <a:solidFill>
                <a:srgbClr val="F1ECE4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(z_ba == 1) &gt;&gt;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    (u[succ_b] - u[o1] &lt;= -1)</a:t>
            </a:r>
          </a:p>
          <a:p>
            <a:endParaRPr sz="788" b="0">
              <a:solidFill>
                <a:srgbClr val="F1ECE4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# Export order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events.sort(key=(time, u))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3A06C51-FBBD-48CE-BC65-6B0F891CA768}"/>
              </a:ext>
            </a:extLst>
          </p:cNvPr>
          <p:cNvSpPr>
            <a:spLocks noGrp="1"/>
          </p:cNvSpPr>
          <p:nvPr/>
        </p:nvSpPr>
        <p:spPr>
          <a:xfrm>
            <a:off x="8153400" y="2152650"/>
            <a:ext cx="3028950" cy="333375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987BADD-F6F0-40FF-B8C5-085663681090}"/>
              </a:ext>
            </a:extLst>
          </p:cNvPr>
          <p:cNvSpPr>
            <a:spLocks noGrp="1"/>
          </p:cNvSpPr>
          <p:nvPr/>
        </p:nvSpPr>
        <p:spPr>
          <a:xfrm>
            <a:off x="8153400" y="2152650"/>
            <a:ext cx="3028950" cy="266700"/>
          </a:xfrm>
          <a:prstGeom prst="rect">
            <a:avLst/>
          </a:prstGeom>
          <a:solidFill>
            <a:srgbClr val="222A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66F1778-A4F4-4391-8434-0D0E53B4A34C}"/>
              </a:ext>
            </a:extLst>
          </p:cNvPr>
          <p:cNvSpPr>
            <a:spLocks noGrp="1"/>
          </p:cNvSpPr>
          <p:nvPr/>
        </p:nvSpPr>
        <p:spPr>
          <a:xfrm>
            <a:off x="8286750" y="2200275"/>
            <a:ext cx="2762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2D7A57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D7A57"/>
                </a:solidFill>
                <a:latin typeface="Aptos"/>
                <a:ea typeface="Aptos"/>
                <a:cs typeface="Aptos"/>
              </a:rPr>
              <a:t>cp_model.py:47-49, 146-153, 268-273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A36A4B2-1F59-4972-A89F-E110F6923C9D}"/>
              </a:ext>
            </a:extLst>
          </p:cNvPr>
          <p:cNvSpPr>
            <a:spLocks noGrp="1"/>
          </p:cNvSpPr>
          <p:nvPr/>
        </p:nvSpPr>
        <p:spPr>
          <a:xfrm>
            <a:off x="8286750" y="2514600"/>
            <a:ext cx="2762250" cy="2876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u[train, op] = NewIntVar(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    0, number_of_operations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endParaRPr sz="788" b="0">
              <a:solidFill>
                <a:srgbClr val="F1ECE4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# Same-train order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Add(u[succ] &gt;= u[op] + 1)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    .OnlyEnforceIf(y)</a:t>
            </a:r>
          </a:p>
          <a:p>
            <a:endParaRPr sz="788" b="0">
              <a:solidFill>
                <a:srgbClr val="F1ECE4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# Cross-train conflict order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Add(u[o2] &gt;= u[succ_a] + 1)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    .OnlyEnforceIf([z_ab, y])</a:t>
            </a:r>
          </a:p>
          <a:p>
            <a:endParaRPr sz="788" b="0">
              <a:solidFill>
                <a:srgbClr val="F1ECE4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# Export order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events.sort(key=(time, Value(u)))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D312139-908C-4C4D-A28B-4B0F39714A2E}"/>
              </a:ext>
            </a:extLst>
          </p:cNvPr>
          <p:cNvSpPr>
            <a:spLocks noGrp="1"/>
          </p:cNvSpPr>
          <p:nvPr/>
        </p:nvSpPr>
        <p:spPr>
          <a:xfrm>
            <a:off x="533400" y="6457950"/>
            <a:ext cx="11125200" cy="9525"/>
          </a:xfrm>
          <a:prstGeom prst="rect">
            <a:avLst/>
          </a:prstGeom>
          <a:solidFill>
            <a:srgbClr val="DCD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DBF9E56-44C9-4619-98DE-7AB38BF6DB07}"/>
              </a:ext>
            </a:extLst>
          </p:cNvPr>
          <p:cNvSpPr>
            <a:spLocks noGrp="1"/>
          </p:cNvSpPr>
          <p:nvPr/>
        </p:nvSpPr>
        <p:spPr>
          <a:xfrm>
            <a:off x="533400" y="6572250"/>
            <a:ext cx="933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Implementation note: MIP u is continuous in the current code; CP-SAT u is integer.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203C9CC-7DF7-43D8-8241-9AADD6C74A15}"/>
              </a:ext>
            </a:extLst>
          </p:cNvPr>
          <p:cNvSpPr>
            <a:spLocks noGrp="1"/>
          </p:cNvSpPr>
          <p:nvPr/>
        </p:nvSpPr>
        <p:spPr>
          <a:xfrm>
            <a:off x="11296650" y="655320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1708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16286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8BDCC561-493B-48BC-8C7B-A14F05EF0FB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" name="kicker-7-marker">
            <a:extLst>
              <a:ext uri="{FF2B5EF4-FFF2-40B4-BE49-F238E27FC236}">
                <a16:creationId xmlns:a16="http://schemas.microsoft.com/office/drawing/2014/main" id="{A05F3F27-DDBD-4EB2-A66E-2A563FAEECA3}"/>
              </a:ext>
            </a:extLst>
          </p:cNvPr>
          <p:cNvSpPr>
            <a:spLocks noGrp="1"/>
          </p:cNvSpPr>
          <p:nvPr/>
        </p:nvSpPr>
        <p:spPr>
          <a:xfrm>
            <a:off x="533400" y="428625"/>
            <a:ext cx="47625" cy="228600"/>
          </a:xfrm>
          <a:prstGeom prst="rect">
            <a:avLst/>
          </a:prstGeom>
          <a:solidFill>
            <a:srgbClr val="1E5B8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kicker-7-label">
            <a:extLst>
              <a:ext uri="{FF2B5EF4-FFF2-40B4-BE49-F238E27FC236}">
                <a16:creationId xmlns:a16="http://schemas.microsoft.com/office/drawing/2014/main" id="{2E4872AA-67EB-4503-B4C0-47B16D872701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42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17083"/>
                </a:solidFill>
                <a:latin typeface="Aptos"/>
                <a:ea typeface="Aptos"/>
                <a:cs typeface="Aptos"/>
              </a:rPr>
              <a:t>MODEL MAP 07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EAE149-B2D5-4EC1-AD4B-EE3D5D846ACE}"/>
              </a:ext>
            </a:extLst>
          </p:cNvPr>
          <p:cNvSpPr>
            <a:spLocks noGrp="1"/>
          </p:cNvSpPr>
          <p:nvPr/>
        </p:nvSpPr>
        <p:spPr>
          <a:xfrm>
            <a:off x="533400" y="781050"/>
            <a:ext cx="8953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21A24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121A24"/>
                </a:solidFill>
                <a:latin typeface="Georgia"/>
                <a:ea typeface="Georgia"/>
                <a:cs typeface="Georgia"/>
              </a:rPr>
              <a:t>The objective minimizes weighted delay of selected operations.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E6BD59-98C6-41D7-B120-08594CE530AD}"/>
              </a:ext>
            </a:extLst>
          </p:cNvPr>
          <p:cNvSpPr>
            <a:spLocks noGrp="1"/>
          </p:cNvSpPr>
          <p:nvPr/>
        </p:nvSpPr>
        <p:spPr>
          <a:xfrm>
            <a:off x="533400" y="1524000"/>
            <a:ext cx="6858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Both implementations calculate the linear delay term; the fixed step term is a current limitation.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3C0129-E64A-437D-A50A-44F4F800B29B}"/>
              </a:ext>
            </a:extLst>
          </p:cNvPr>
          <p:cNvSpPr>
            <a:spLocks noGrp="1"/>
          </p:cNvSpPr>
          <p:nvPr/>
        </p:nvSpPr>
        <p:spPr>
          <a:xfrm>
            <a:off x="533400" y="1809750"/>
            <a:ext cx="47625" cy="228600"/>
          </a:xfrm>
          <a:prstGeom prst="rect">
            <a:avLst/>
          </a:prstGeom>
          <a:solidFill>
            <a:srgbClr val="A33A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79B0F0-8AB6-4832-81CB-782DCA6318EC}"/>
              </a:ext>
            </a:extLst>
          </p:cNvPr>
          <p:cNvSpPr>
            <a:spLocks noGrp="1"/>
          </p:cNvSpPr>
          <p:nvPr/>
        </p:nvSpPr>
        <p:spPr>
          <a:xfrm>
            <a:off x="666750" y="1771650"/>
            <a:ext cx="2667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A33A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33A2A"/>
                </a:solidFill>
                <a:latin typeface="Aptos"/>
                <a:ea typeface="Aptos"/>
                <a:cs typeface="Aptos"/>
              </a:rPr>
              <a:t>Mathematical expression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CC8E12-9FD4-4BA4-BF5D-02E24139E538}"/>
              </a:ext>
            </a:extLst>
          </p:cNvPr>
          <p:cNvSpPr>
            <a:spLocks noGrp="1"/>
          </p:cNvSpPr>
          <p:nvPr/>
        </p:nvSpPr>
        <p:spPr>
          <a:xfrm>
            <a:off x="4419600" y="1809750"/>
            <a:ext cx="47625" cy="228600"/>
          </a:xfrm>
          <a:prstGeom prst="rect">
            <a:avLst/>
          </a:prstGeom>
          <a:solidFill>
            <a:srgbClr val="1E5B8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A4F156-384A-46CC-AEAA-974A3677BA3E}"/>
              </a:ext>
            </a:extLst>
          </p:cNvPr>
          <p:cNvSpPr>
            <a:spLocks noGrp="1"/>
          </p:cNvSpPr>
          <p:nvPr/>
        </p:nvSpPr>
        <p:spPr>
          <a:xfrm>
            <a:off x="4552950" y="1771650"/>
            <a:ext cx="2667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E5B8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5B87"/>
                </a:solidFill>
                <a:latin typeface="Aptos"/>
                <a:ea typeface="Aptos"/>
                <a:cs typeface="Aptos"/>
              </a:rPr>
              <a:t>Baseline MIP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37950D-0712-473B-80C7-273EA757A850}"/>
              </a:ext>
            </a:extLst>
          </p:cNvPr>
          <p:cNvSpPr>
            <a:spLocks noGrp="1"/>
          </p:cNvSpPr>
          <p:nvPr/>
        </p:nvSpPr>
        <p:spPr>
          <a:xfrm>
            <a:off x="8153400" y="1809750"/>
            <a:ext cx="47625" cy="228600"/>
          </a:xfrm>
          <a:prstGeom prst="rect">
            <a:avLst/>
          </a:prstGeom>
          <a:solidFill>
            <a:srgbClr val="2D7A5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4203B3-E5C2-4FBA-B9EC-2D1F4B4E121D}"/>
              </a:ext>
            </a:extLst>
          </p:cNvPr>
          <p:cNvSpPr>
            <a:spLocks noGrp="1"/>
          </p:cNvSpPr>
          <p:nvPr/>
        </p:nvSpPr>
        <p:spPr>
          <a:xfrm>
            <a:off x="8286750" y="1771650"/>
            <a:ext cx="2667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2D7A5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7A57"/>
                </a:solidFill>
                <a:latin typeface="Aptos"/>
                <a:ea typeface="Aptos"/>
                <a:cs typeface="Aptos"/>
              </a:rPr>
              <a:t>Extended CP-SAT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C5698C-8459-42DA-977D-1B249CC4A81F}"/>
              </a:ext>
            </a:extLst>
          </p:cNvPr>
          <p:cNvSpPr>
            <a:spLocks noGrp="1"/>
          </p:cNvSpPr>
          <p:nvPr/>
        </p:nvSpPr>
        <p:spPr>
          <a:xfrm>
            <a:off x="4114800" y="1809750"/>
            <a:ext cx="9525" cy="4191000"/>
          </a:xfrm>
          <a:prstGeom prst="rect">
            <a:avLst/>
          </a:prstGeom>
          <a:solidFill>
            <a:srgbClr val="DCD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A47231-C496-4730-9BED-D818691ABBEE}"/>
              </a:ext>
            </a:extLst>
          </p:cNvPr>
          <p:cNvSpPr>
            <a:spLocks noGrp="1"/>
          </p:cNvSpPr>
          <p:nvPr/>
        </p:nvSpPr>
        <p:spPr>
          <a:xfrm>
            <a:off x="7848600" y="1809750"/>
            <a:ext cx="9525" cy="4191000"/>
          </a:xfrm>
          <a:prstGeom prst="rect">
            <a:avLst/>
          </a:prstGeom>
          <a:solidFill>
            <a:srgbClr val="DCD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DB42BF-AE1A-4CEA-BF90-30B70BD85874}"/>
              </a:ext>
            </a:extLst>
          </p:cNvPr>
          <p:cNvSpPr>
            <a:spLocks noGrp="1"/>
          </p:cNvSpPr>
          <p:nvPr/>
        </p:nvSpPr>
        <p:spPr>
          <a:xfrm>
            <a:off x="533400" y="2152650"/>
            <a:ext cx="3333750" cy="1238250"/>
          </a:xfrm>
          <a:prstGeom prst="rect">
            <a:avLst/>
          </a:prstGeom>
          <a:solidFill>
            <a:srgbClr val="FFFDF8"/>
          </a:solidFill>
          <a:ln w="9525">
            <a:solidFill>
              <a:srgbClr val="DCD3C4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88982" y="2305050"/>
            <a:ext cx="2422586" cy="89535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F0A7E0A-8573-4597-9B22-F21D084D4E40}"/>
              </a:ext>
            </a:extLst>
          </p:cNvPr>
          <p:cNvSpPr>
            <a:spLocks noGrp="1"/>
          </p:cNvSpPr>
          <p:nvPr/>
        </p:nvSpPr>
        <p:spPr>
          <a:xfrm>
            <a:off x="666750" y="3200400"/>
            <a:ext cx="30670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Problem definition: delay cost z(c, Pi)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0B9D46-A00F-4C1B-B1A3-A147D9622B7C}"/>
              </a:ext>
            </a:extLst>
          </p:cNvPr>
          <p:cNvSpPr>
            <a:spLocks noGrp="1"/>
          </p:cNvSpPr>
          <p:nvPr/>
        </p:nvSpPr>
        <p:spPr>
          <a:xfrm>
            <a:off x="533400" y="3600450"/>
            <a:ext cx="3333750" cy="876300"/>
          </a:xfrm>
          <a:prstGeom prst="rect">
            <a:avLst/>
          </a:prstGeom>
          <a:solidFill>
            <a:srgbClr val="FFFDF8"/>
          </a:solidFill>
          <a:ln w="9525">
            <a:solidFill>
              <a:srgbClr val="DCD3C4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66750" y="3836653"/>
            <a:ext cx="3067050" cy="365795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AAA42657-CD7C-4B0D-A431-3DD6245EF09D}"/>
              </a:ext>
            </a:extLst>
          </p:cNvPr>
          <p:cNvSpPr>
            <a:spLocks noGrp="1"/>
          </p:cNvSpPr>
          <p:nvPr/>
        </p:nvSpPr>
        <p:spPr>
          <a:xfrm>
            <a:off x="666750" y="4286250"/>
            <a:ext cx="30670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Paper Eq. (4): MILP objective constraints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D4D5E24-DFC2-4CD6-896D-7043301D5010}"/>
              </a:ext>
            </a:extLst>
          </p:cNvPr>
          <p:cNvSpPr>
            <a:spLocks noGrp="1"/>
          </p:cNvSpPr>
          <p:nvPr/>
        </p:nvSpPr>
        <p:spPr>
          <a:xfrm>
            <a:off x="533400" y="4781550"/>
            <a:ext cx="333375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11430">
            <a:solidFill>
              <a:srgbClr val="A33A2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4DEBD5D-262F-474D-8DF6-A12D14B7857F}"/>
              </a:ext>
            </a:extLst>
          </p:cNvPr>
          <p:cNvSpPr>
            <a:spLocks noGrp="1"/>
          </p:cNvSpPr>
          <p:nvPr/>
        </p:nvSpPr>
        <p:spPr>
          <a:xfrm>
            <a:off x="666750" y="4895850"/>
            <a:ext cx="3067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A33A2A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A33A2A"/>
                </a:solidFill>
                <a:latin typeface="Aptos"/>
                <a:ea typeface="Aptos"/>
                <a:cs typeface="Aptos"/>
              </a:rPr>
              <a:t>MATH MEANING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3A2305-57FF-473F-9A08-6215FCAC8483}"/>
              </a:ext>
            </a:extLst>
          </p:cNvPr>
          <p:cNvSpPr>
            <a:spLocks noGrp="1"/>
          </p:cNvSpPr>
          <p:nvPr/>
        </p:nvSpPr>
        <p:spPr>
          <a:xfrm>
            <a:off x="666750" y="5105400"/>
            <a:ext cx="30670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21A24"/>
                </a:solidFill>
                <a:latin typeface="Aptos"/>
                <a:ea typeface="Aptos"/>
                <a:cs typeface="Aptos"/>
              </a:rPr>
              <a:t>Cost activates when a selected objective operation starts after its threshold. The paper allows both linear delay and a fixed step penalty.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9756D4B-0929-429A-BE43-4099AA3E0C3C}"/>
              </a:ext>
            </a:extLst>
          </p:cNvPr>
          <p:cNvSpPr>
            <a:spLocks noGrp="1"/>
          </p:cNvSpPr>
          <p:nvPr/>
        </p:nvSpPr>
        <p:spPr>
          <a:xfrm>
            <a:off x="4419600" y="2152650"/>
            <a:ext cx="3028950" cy="327660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B71F4E3-E188-4390-BBBD-624965898087}"/>
              </a:ext>
            </a:extLst>
          </p:cNvPr>
          <p:cNvSpPr>
            <a:spLocks noGrp="1"/>
          </p:cNvSpPr>
          <p:nvPr/>
        </p:nvSpPr>
        <p:spPr>
          <a:xfrm>
            <a:off x="4419600" y="2152650"/>
            <a:ext cx="3028950" cy="266700"/>
          </a:xfrm>
          <a:prstGeom prst="rect">
            <a:avLst/>
          </a:prstGeom>
          <a:solidFill>
            <a:srgbClr val="222A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DF31DA6-FB5F-47FA-8902-AC09792F142C}"/>
              </a:ext>
            </a:extLst>
          </p:cNvPr>
          <p:cNvSpPr>
            <a:spLocks noGrp="1"/>
          </p:cNvSpPr>
          <p:nvPr/>
        </p:nvSpPr>
        <p:spPr>
          <a:xfrm>
            <a:off x="4552950" y="2200275"/>
            <a:ext cx="2762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1E5B87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E5B87"/>
                </a:solidFill>
                <a:latin typeface="Aptos"/>
                <a:ea typeface="Aptos"/>
                <a:cs typeface="Aptos"/>
              </a:rPr>
              <a:t>mip_model.py:55-58, 166-183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94D0E5E-BAA0-474E-8F4F-CB4183A0E1DA}"/>
              </a:ext>
            </a:extLst>
          </p:cNvPr>
          <p:cNvSpPr>
            <a:spLocks noGrp="1"/>
          </p:cNvSpPr>
          <p:nvPr/>
        </p:nvSpPr>
        <p:spPr>
          <a:xfrm>
            <a:off x="4552950" y="2514600"/>
            <a:ext cx="2762250" cy="2819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v[c] = addVar(BINARY)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w[c] = addVar(lb=0)</a:t>
            </a:r>
          </a:p>
          <a:p>
            <a:endParaRPr sz="788" b="0">
              <a:solidFill>
                <a:srgbClr val="F1ECE4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t_a = t[comp.train, comp.operation]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x_a = x[comp.train, comp.operation]</a:t>
            </a:r>
          </a:p>
          <a:p>
            <a:endParaRPr sz="788" b="0">
              <a:solidFill>
                <a:srgbClr val="F1ECE4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(x_a == 1) &gt;&gt;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    (t_a - threshold &lt;= M * v[c])</a:t>
            </a:r>
          </a:p>
          <a:p>
            <a:endParaRPr sz="788" b="0">
              <a:solidFill>
                <a:srgbClr val="F1ECE4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(x_a == 1) &gt;&gt;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    (w[c] &gt;= coeff * (t_a - threshold))</a:t>
            </a:r>
          </a:p>
          <a:p>
            <a:endParaRPr sz="788" b="0">
              <a:solidFill>
                <a:srgbClr val="F1ECE4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Minimize(sum(w))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887A62E-580D-4182-B8A6-60BCB8FB8006}"/>
              </a:ext>
            </a:extLst>
          </p:cNvPr>
          <p:cNvSpPr>
            <a:spLocks noGrp="1"/>
          </p:cNvSpPr>
          <p:nvPr/>
        </p:nvSpPr>
        <p:spPr>
          <a:xfrm>
            <a:off x="8153400" y="2152650"/>
            <a:ext cx="3028950" cy="3276600"/>
          </a:xfrm>
          <a:prstGeom prst="rect">
            <a:avLst/>
          </a:prstGeom>
          <a:solidFill>
            <a:srgbClr val="15192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E521E6C-D875-4D94-936F-5DF843F188A5}"/>
              </a:ext>
            </a:extLst>
          </p:cNvPr>
          <p:cNvSpPr>
            <a:spLocks noGrp="1"/>
          </p:cNvSpPr>
          <p:nvPr/>
        </p:nvSpPr>
        <p:spPr>
          <a:xfrm>
            <a:off x="8153400" y="2152650"/>
            <a:ext cx="3028950" cy="266700"/>
          </a:xfrm>
          <a:prstGeom prst="rect">
            <a:avLst/>
          </a:prstGeom>
          <a:solidFill>
            <a:srgbClr val="222A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2CEBCB2-B28A-4869-ACC4-BC4BB8A4F56C}"/>
              </a:ext>
            </a:extLst>
          </p:cNvPr>
          <p:cNvSpPr>
            <a:spLocks noGrp="1"/>
          </p:cNvSpPr>
          <p:nvPr/>
        </p:nvSpPr>
        <p:spPr>
          <a:xfrm>
            <a:off x="8286750" y="2200275"/>
            <a:ext cx="2762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2D7A57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D7A57"/>
                </a:solidFill>
                <a:latin typeface="Aptos"/>
                <a:ea typeface="Aptos"/>
                <a:cs typeface="Aptos"/>
              </a:rPr>
              <a:t>cp_model.py:200-229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991B4FE-ADE0-452F-8506-198080CB1C82}"/>
              </a:ext>
            </a:extLst>
          </p:cNvPr>
          <p:cNvSpPr>
            <a:spLocks noGrp="1"/>
          </p:cNvSpPr>
          <p:nvPr/>
        </p:nvSpPr>
        <p:spPr>
          <a:xfrm>
            <a:off x="8286750" y="2514600"/>
            <a:ext cx="2762250" cy="2819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over_time = NewIntVar(0, horizon * 2)</a:t>
            </a:r>
          </a:p>
          <a:p>
            <a:endParaRPr sz="788" b="0">
              <a:solidFill>
                <a:srgbClr val="F1ECE4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Add(over_time &gt;= starts[op] - threshold)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    .OnlyEnforceIf(x_a)</a:t>
            </a:r>
          </a:p>
          <a:p>
            <a:endParaRPr sz="788" b="0">
              <a:solidFill>
                <a:srgbClr val="F1ECE4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cost = NewIntVar(0, max_cost)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Add(cost == over_time * scaled_coeff)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    .OnlyEnforceIf(x_a)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Add(cost == 0)</a:t>
            </a: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    .OnlyEnforceIf(x_a.Not())</a:t>
            </a:r>
          </a:p>
          <a:p>
            <a:endParaRPr sz="788" b="0">
              <a:solidFill>
                <a:srgbClr val="F1ECE4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788" b="0">
                <a:solidFill>
                  <a:srgbClr val="F1ECE4"/>
                </a:solidFill>
                <a:latin typeface="Consolas"/>
                <a:ea typeface="Consolas"/>
                <a:cs typeface="Consolas"/>
              </a:defRPr>
            </a:pPr>
            <a:r>
              <a:rPr sz="788" b="0">
                <a:solidFill>
                  <a:srgbClr val="F1ECE4"/>
                </a:solidFill>
                <a:latin typeface="Consolas"/>
                <a:ea typeface="Consolas"/>
                <a:cs typeface="Consolas"/>
              </a:rPr>
              <a:t>Minimize(sum(costs))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D80E0E9-081A-46C3-8F0D-AA6D93307B07}"/>
              </a:ext>
            </a:extLst>
          </p:cNvPr>
          <p:cNvSpPr>
            <a:spLocks noGrp="1"/>
          </p:cNvSpPr>
          <p:nvPr/>
        </p:nvSpPr>
        <p:spPr>
          <a:xfrm>
            <a:off x="4419600" y="5562600"/>
            <a:ext cx="6762750" cy="666750"/>
          </a:xfrm>
          <a:prstGeom prst="rect">
            <a:avLst/>
          </a:prstGeom>
          <a:solidFill>
            <a:srgbClr val="FFFFFF">
              <a:alpha val="0"/>
            </a:srgbClr>
          </a:solidFill>
          <a:ln w="11430">
            <a:solidFill>
              <a:srgbClr val="A33A2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7686151-A746-468D-9624-BAD46068C5A0}"/>
              </a:ext>
            </a:extLst>
          </p:cNvPr>
          <p:cNvSpPr>
            <a:spLocks noGrp="1"/>
          </p:cNvSpPr>
          <p:nvPr/>
        </p:nvSpPr>
        <p:spPr>
          <a:xfrm>
            <a:off x="4552950" y="5676900"/>
            <a:ext cx="6496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A33A2A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A33A2A"/>
                </a:solidFill>
                <a:latin typeface="Aptos"/>
                <a:ea typeface="Aptos"/>
                <a:cs typeface="Aptos"/>
              </a:rPr>
              <a:t>LIMITATION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468F3CB-32B4-49EC-8182-69ED75D1ECF8}"/>
              </a:ext>
            </a:extLst>
          </p:cNvPr>
          <p:cNvSpPr>
            <a:spLocks noGrp="1"/>
          </p:cNvSpPr>
          <p:nvPr/>
        </p:nvSpPr>
        <p:spPr>
          <a:xfrm>
            <a:off x="4552950" y="5886450"/>
            <a:ext cx="64960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21A24"/>
                </a:solidFill>
                <a:latin typeface="Aptos"/>
                <a:ea typeface="Aptos"/>
                <a:cs typeface="Aptos"/>
              </a:rPr>
              <a:t>Current code implements coeff * max(0, delay). DISPLIB's fixed increment / zeta step penalty is not fully implemented.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F2EC258-C287-46BA-A0BD-11FC89363101}"/>
              </a:ext>
            </a:extLst>
          </p:cNvPr>
          <p:cNvSpPr>
            <a:spLocks noGrp="1"/>
          </p:cNvSpPr>
          <p:nvPr/>
        </p:nvSpPr>
        <p:spPr>
          <a:xfrm>
            <a:off x="533400" y="6457950"/>
            <a:ext cx="11125200" cy="9525"/>
          </a:xfrm>
          <a:prstGeom prst="rect">
            <a:avLst/>
          </a:prstGeom>
          <a:solidFill>
            <a:srgbClr val="DCD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1B19D79-7FDF-4CAE-801F-DBF466219BA0}"/>
              </a:ext>
            </a:extLst>
          </p:cNvPr>
          <p:cNvSpPr>
            <a:spLocks noGrp="1"/>
          </p:cNvSpPr>
          <p:nvPr/>
        </p:nvSpPr>
        <p:spPr>
          <a:xfrm>
            <a:off x="533400" y="6572250"/>
            <a:ext cx="933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Objective exports as objective_value in the DISPLIB solution JSON.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0BF30FB-7533-4AD0-B9E0-58EA445F375F}"/>
              </a:ext>
            </a:extLst>
          </p:cNvPr>
          <p:cNvSpPr>
            <a:spLocks noGrp="1"/>
          </p:cNvSpPr>
          <p:nvPr/>
        </p:nvSpPr>
        <p:spPr>
          <a:xfrm>
            <a:off x="11296650" y="655320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1708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04889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9413B748-081B-41B9-87B3-8996E1022C3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" name="kicker-8-marker">
            <a:extLst>
              <a:ext uri="{FF2B5EF4-FFF2-40B4-BE49-F238E27FC236}">
                <a16:creationId xmlns:a16="http://schemas.microsoft.com/office/drawing/2014/main" id="{B5B4F9FA-C4BF-48A3-A01C-0161702249B8}"/>
              </a:ext>
            </a:extLst>
          </p:cNvPr>
          <p:cNvSpPr>
            <a:spLocks noGrp="1"/>
          </p:cNvSpPr>
          <p:nvPr/>
        </p:nvSpPr>
        <p:spPr>
          <a:xfrm>
            <a:off x="533400" y="428625"/>
            <a:ext cx="47625" cy="228600"/>
          </a:xfrm>
          <a:prstGeom prst="rect">
            <a:avLst/>
          </a:prstGeom>
          <a:solidFill>
            <a:srgbClr val="A33A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kicker-8-label">
            <a:extLst>
              <a:ext uri="{FF2B5EF4-FFF2-40B4-BE49-F238E27FC236}">
                <a16:creationId xmlns:a16="http://schemas.microsoft.com/office/drawing/2014/main" id="{70EF7F7F-3AA1-4F9F-B3EE-4C3C7343F541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42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17083"/>
                </a:solidFill>
                <a:latin typeface="Aptos"/>
                <a:ea typeface="Aptos"/>
                <a:cs typeface="Aptos"/>
              </a:rPr>
              <a:t>MODEL MAP 08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FBCC2E-8F5E-4652-A8FE-0043C23F426E}"/>
              </a:ext>
            </a:extLst>
          </p:cNvPr>
          <p:cNvSpPr>
            <a:spLocks noGrp="1"/>
          </p:cNvSpPr>
          <p:nvPr/>
        </p:nvSpPr>
        <p:spPr>
          <a:xfrm>
            <a:off x="533400" y="781050"/>
            <a:ext cx="8953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21A24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121A24"/>
                </a:solidFill>
                <a:latin typeface="Georgia"/>
                <a:ea typeface="Georgia"/>
                <a:cs typeface="Georgia"/>
              </a:rPr>
              <a:t>The extension preserves the problem definition, but changes the scheduling engine.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8EC00A-C95F-45C7-AD0D-642BF2FAF0AB}"/>
              </a:ext>
            </a:extLst>
          </p:cNvPr>
          <p:cNvSpPr>
            <a:spLocks noGrp="1"/>
          </p:cNvSpPr>
          <p:nvPr/>
        </p:nvSpPr>
        <p:spPr>
          <a:xfrm>
            <a:off x="533400" y="1524000"/>
            <a:ext cx="6858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Use this slide as the closing comparison in the report.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D47294-A3E9-4409-A8CC-93DDB502EDFB}"/>
              </a:ext>
            </a:extLst>
          </p:cNvPr>
          <p:cNvSpPr>
            <a:spLocks noGrp="1"/>
          </p:cNvSpPr>
          <p:nvPr/>
        </p:nvSpPr>
        <p:spPr>
          <a:xfrm>
            <a:off x="914400" y="1962150"/>
            <a:ext cx="2476500" cy="323850"/>
          </a:xfrm>
          <a:prstGeom prst="rect">
            <a:avLst/>
          </a:prstGeom>
          <a:solidFill>
            <a:srgbClr val="121A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81E1BF-5A88-4699-83F0-F683B31EC4BB}"/>
              </a:ext>
            </a:extLst>
          </p:cNvPr>
          <p:cNvSpPr>
            <a:spLocks noGrp="1"/>
          </p:cNvSpPr>
          <p:nvPr/>
        </p:nvSpPr>
        <p:spPr>
          <a:xfrm>
            <a:off x="1028700" y="2038350"/>
            <a:ext cx="2247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Concept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110280-40C5-4886-BEA9-82DA289898DA}"/>
              </a:ext>
            </a:extLst>
          </p:cNvPr>
          <p:cNvSpPr>
            <a:spLocks noGrp="1"/>
          </p:cNvSpPr>
          <p:nvPr/>
        </p:nvSpPr>
        <p:spPr>
          <a:xfrm>
            <a:off x="3390900" y="1962150"/>
            <a:ext cx="3524250" cy="323850"/>
          </a:xfrm>
          <a:prstGeom prst="rect">
            <a:avLst/>
          </a:prstGeom>
          <a:solidFill>
            <a:srgbClr val="1E5B8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5309A54-7A80-4DA2-A83A-FFDFC71E4594}"/>
              </a:ext>
            </a:extLst>
          </p:cNvPr>
          <p:cNvSpPr>
            <a:spLocks noGrp="1"/>
          </p:cNvSpPr>
          <p:nvPr/>
        </p:nvSpPr>
        <p:spPr>
          <a:xfrm>
            <a:off x="3505200" y="2038350"/>
            <a:ext cx="3295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Baseline MIP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9830E0-6B37-41B5-A3FE-902492D5DD9C}"/>
              </a:ext>
            </a:extLst>
          </p:cNvPr>
          <p:cNvSpPr>
            <a:spLocks noGrp="1"/>
          </p:cNvSpPr>
          <p:nvPr/>
        </p:nvSpPr>
        <p:spPr>
          <a:xfrm>
            <a:off x="6915150" y="1962150"/>
            <a:ext cx="3524250" cy="323850"/>
          </a:xfrm>
          <a:prstGeom prst="rect">
            <a:avLst/>
          </a:prstGeom>
          <a:solidFill>
            <a:srgbClr val="2D7A5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9666FB-9D98-42F8-A4C3-06CB7F979043}"/>
              </a:ext>
            </a:extLst>
          </p:cNvPr>
          <p:cNvSpPr>
            <a:spLocks noGrp="1"/>
          </p:cNvSpPr>
          <p:nvPr/>
        </p:nvSpPr>
        <p:spPr>
          <a:xfrm>
            <a:off x="7029450" y="2038350"/>
            <a:ext cx="3295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Extended CP-SAT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A71335-25D0-42BB-8680-D4D3FB2EFAD5}"/>
              </a:ext>
            </a:extLst>
          </p:cNvPr>
          <p:cNvSpPr>
            <a:spLocks noGrp="1"/>
          </p:cNvSpPr>
          <p:nvPr/>
        </p:nvSpPr>
        <p:spPr>
          <a:xfrm>
            <a:off x="914400" y="2286000"/>
            <a:ext cx="2476500" cy="476250"/>
          </a:xfrm>
          <a:prstGeom prst="rect">
            <a:avLst/>
          </a:prstGeom>
          <a:solidFill>
            <a:srgbClr val="FFFDF8"/>
          </a:solidFill>
          <a:ln w="5715">
            <a:solidFill>
              <a:srgbClr val="DCD3C4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D8040F-2118-4C9A-B6E4-17945A696E6A}"/>
              </a:ext>
            </a:extLst>
          </p:cNvPr>
          <p:cNvSpPr>
            <a:spLocks noGrp="1"/>
          </p:cNvSpPr>
          <p:nvPr/>
        </p:nvSpPr>
        <p:spPr>
          <a:xfrm>
            <a:off x="1028700" y="2362200"/>
            <a:ext cx="2247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1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21A24"/>
                </a:solidFill>
                <a:latin typeface="Aptos"/>
                <a:ea typeface="Aptos"/>
                <a:cs typeface="Aptos"/>
              </a:rPr>
              <a:t>Route choice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C79C02-52C4-4CCC-88F1-FE09713F1361}"/>
              </a:ext>
            </a:extLst>
          </p:cNvPr>
          <p:cNvSpPr>
            <a:spLocks noGrp="1"/>
          </p:cNvSpPr>
          <p:nvPr/>
        </p:nvSpPr>
        <p:spPr>
          <a:xfrm>
            <a:off x="3390900" y="2286000"/>
            <a:ext cx="3524250" cy="476250"/>
          </a:xfrm>
          <a:prstGeom prst="rect">
            <a:avLst/>
          </a:prstGeom>
          <a:solidFill>
            <a:srgbClr val="FFFDF8"/>
          </a:solidFill>
          <a:ln w="5715">
            <a:solidFill>
              <a:srgbClr val="DCD3C4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E822CC-0D8D-45BA-96ED-BDADB69936FB}"/>
              </a:ext>
            </a:extLst>
          </p:cNvPr>
          <p:cNvSpPr>
            <a:spLocks noGrp="1"/>
          </p:cNvSpPr>
          <p:nvPr/>
        </p:nvSpPr>
        <p:spPr>
          <a:xfrm>
            <a:off x="3505200" y="2362200"/>
            <a:ext cx="32956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Binary x and y variables with linear flow constraints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9992AC-18F5-4197-A43B-01836957A9FA}"/>
              </a:ext>
            </a:extLst>
          </p:cNvPr>
          <p:cNvSpPr>
            <a:spLocks noGrp="1"/>
          </p:cNvSpPr>
          <p:nvPr/>
        </p:nvSpPr>
        <p:spPr>
          <a:xfrm>
            <a:off x="6915150" y="2286000"/>
            <a:ext cx="3524250" cy="476250"/>
          </a:xfrm>
          <a:prstGeom prst="rect">
            <a:avLst/>
          </a:prstGeom>
          <a:solidFill>
            <a:srgbClr val="FFFDF8"/>
          </a:solidFill>
          <a:ln w="5715">
            <a:solidFill>
              <a:srgbClr val="DCD3C4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C47334-5D99-47A7-B352-E9B027972816}"/>
              </a:ext>
            </a:extLst>
          </p:cNvPr>
          <p:cNvSpPr>
            <a:spLocks noGrp="1"/>
          </p:cNvSpPr>
          <p:nvPr/>
        </p:nvSpPr>
        <p:spPr>
          <a:xfrm>
            <a:off x="7029450" y="2362200"/>
            <a:ext cx="32956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Same Boolean x and y route logic in CP-SAT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F9CB75-4096-4272-9FD5-76F453A18009}"/>
              </a:ext>
            </a:extLst>
          </p:cNvPr>
          <p:cNvSpPr>
            <a:spLocks noGrp="1"/>
          </p:cNvSpPr>
          <p:nvPr/>
        </p:nvSpPr>
        <p:spPr>
          <a:xfrm>
            <a:off x="914400" y="2762250"/>
            <a:ext cx="2476500" cy="476250"/>
          </a:xfrm>
          <a:prstGeom prst="rect">
            <a:avLst/>
          </a:prstGeom>
          <a:solidFill>
            <a:srgbClr val="F1EAE0"/>
          </a:solidFill>
          <a:ln w="5715">
            <a:solidFill>
              <a:srgbClr val="DCD3C4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9C7ABE0-E664-41FC-9074-8C546BC2D947}"/>
              </a:ext>
            </a:extLst>
          </p:cNvPr>
          <p:cNvSpPr>
            <a:spLocks noGrp="1"/>
          </p:cNvSpPr>
          <p:nvPr/>
        </p:nvSpPr>
        <p:spPr>
          <a:xfrm>
            <a:off x="1028700" y="2838450"/>
            <a:ext cx="2247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1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21A24"/>
                </a:solidFill>
                <a:latin typeface="Aptos"/>
                <a:ea typeface="Aptos"/>
                <a:cs typeface="Aptos"/>
              </a:rPr>
              <a:t>Timing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9E3C392-031A-4BA2-82CD-ED718F3F027D}"/>
              </a:ext>
            </a:extLst>
          </p:cNvPr>
          <p:cNvSpPr>
            <a:spLocks noGrp="1"/>
          </p:cNvSpPr>
          <p:nvPr/>
        </p:nvSpPr>
        <p:spPr>
          <a:xfrm>
            <a:off x="3390900" y="2762250"/>
            <a:ext cx="3524250" cy="476250"/>
          </a:xfrm>
          <a:prstGeom prst="rect">
            <a:avLst/>
          </a:prstGeom>
          <a:solidFill>
            <a:srgbClr val="F1EAE0"/>
          </a:solidFill>
          <a:ln w="5715">
            <a:solidFill>
              <a:srgbClr val="DCD3C4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C258675-5342-40A7-AAB3-09CF4DCDBC9E}"/>
              </a:ext>
            </a:extLst>
          </p:cNvPr>
          <p:cNvSpPr>
            <a:spLocks noGrp="1"/>
          </p:cNvSpPr>
          <p:nvPr/>
        </p:nvSpPr>
        <p:spPr>
          <a:xfrm>
            <a:off x="3505200" y="2838450"/>
            <a:ext cx="32956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Continuous start-time variables and duration inequalities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A1FA972-90CC-4C9A-9E99-F4862726EDB1}"/>
              </a:ext>
            </a:extLst>
          </p:cNvPr>
          <p:cNvSpPr>
            <a:spLocks noGrp="1"/>
          </p:cNvSpPr>
          <p:nvPr/>
        </p:nvSpPr>
        <p:spPr>
          <a:xfrm>
            <a:off x="6915150" y="2762250"/>
            <a:ext cx="3524250" cy="476250"/>
          </a:xfrm>
          <a:prstGeom prst="rect">
            <a:avLst/>
          </a:prstGeom>
          <a:solidFill>
            <a:srgbClr val="F1EAE0"/>
          </a:solidFill>
          <a:ln w="5715">
            <a:solidFill>
              <a:srgbClr val="DCD3C4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4E543EB-C9B9-45A8-A2FF-0D888F33923B}"/>
              </a:ext>
            </a:extLst>
          </p:cNvPr>
          <p:cNvSpPr>
            <a:spLocks noGrp="1"/>
          </p:cNvSpPr>
          <p:nvPr/>
        </p:nvSpPr>
        <p:spPr>
          <a:xfrm>
            <a:off x="7029450" y="2838450"/>
            <a:ext cx="32956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Integer starts, durations, ends, and optional intervals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0DABFA2-B5CF-4ECE-8460-B365A016E037}"/>
              </a:ext>
            </a:extLst>
          </p:cNvPr>
          <p:cNvSpPr>
            <a:spLocks noGrp="1"/>
          </p:cNvSpPr>
          <p:nvPr/>
        </p:nvSpPr>
        <p:spPr>
          <a:xfrm>
            <a:off x="914400" y="3238500"/>
            <a:ext cx="2476500" cy="476250"/>
          </a:xfrm>
          <a:prstGeom prst="rect">
            <a:avLst/>
          </a:prstGeom>
          <a:solidFill>
            <a:srgbClr val="FFFDF8"/>
          </a:solidFill>
          <a:ln w="5715">
            <a:solidFill>
              <a:srgbClr val="DCD3C4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E488F43-76C5-4644-AA8C-F4078B640CF6}"/>
              </a:ext>
            </a:extLst>
          </p:cNvPr>
          <p:cNvSpPr>
            <a:spLocks noGrp="1"/>
          </p:cNvSpPr>
          <p:nvPr/>
        </p:nvSpPr>
        <p:spPr>
          <a:xfrm>
            <a:off x="1028700" y="3314700"/>
            <a:ext cx="2247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1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21A24"/>
                </a:solidFill>
                <a:latin typeface="Aptos"/>
                <a:ea typeface="Aptos"/>
                <a:cs typeface="Aptos"/>
              </a:rPr>
              <a:t>Resource safety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58FD364-BE25-48D2-B9F6-E9023F89D13E}"/>
              </a:ext>
            </a:extLst>
          </p:cNvPr>
          <p:cNvSpPr>
            <a:spLocks noGrp="1"/>
          </p:cNvSpPr>
          <p:nvPr/>
        </p:nvSpPr>
        <p:spPr>
          <a:xfrm>
            <a:off x="3390900" y="3238500"/>
            <a:ext cx="3524250" cy="476250"/>
          </a:xfrm>
          <a:prstGeom prst="rect">
            <a:avLst/>
          </a:prstGeom>
          <a:solidFill>
            <a:srgbClr val="FFFDF8"/>
          </a:solidFill>
          <a:ln w="5715">
            <a:solidFill>
              <a:srgbClr val="DCD3C4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7FE7FC1-87C7-4787-9D73-345A2A98FC20}"/>
              </a:ext>
            </a:extLst>
          </p:cNvPr>
          <p:cNvSpPr>
            <a:spLocks noGrp="1"/>
          </p:cNvSpPr>
          <p:nvPr/>
        </p:nvSpPr>
        <p:spPr>
          <a:xfrm>
            <a:off x="3505200" y="3314700"/>
            <a:ext cx="32956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Pairwise z precedence variables for every shared resource conflict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652B921-86F5-41E4-9AEC-1D771283043C}"/>
              </a:ext>
            </a:extLst>
          </p:cNvPr>
          <p:cNvSpPr>
            <a:spLocks noGrp="1"/>
          </p:cNvSpPr>
          <p:nvPr/>
        </p:nvSpPr>
        <p:spPr>
          <a:xfrm>
            <a:off x="6915150" y="3238500"/>
            <a:ext cx="3524250" cy="476250"/>
          </a:xfrm>
          <a:prstGeom prst="rect">
            <a:avLst/>
          </a:prstGeom>
          <a:solidFill>
            <a:srgbClr val="FFFDF8"/>
          </a:solidFill>
          <a:ln w="5715">
            <a:solidFill>
              <a:srgbClr val="DCD3C4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D4FBE2C-4487-49FF-A69A-00DE1408DBA1}"/>
              </a:ext>
            </a:extLst>
          </p:cNvPr>
          <p:cNvSpPr>
            <a:spLocks noGrp="1"/>
          </p:cNvSpPr>
          <p:nvPr/>
        </p:nvSpPr>
        <p:spPr>
          <a:xfrm>
            <a:off x="7029450" y="3314700"/>
            <a:ext cx="32956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Resource occupation intervals with AddNoOverlap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E285D1D-FB5E-42D8-B0CA-E5E548B85B76}"/>
              </a:ext>
            </a:extLst>
          </p:cNvPr>
          <p:cNvSpPr>
            <a:spLocks noGrp="1"/>
          </p:cNvSpPr>
          <p:nvPr/>
        </p:nvSpPr>
        <p:spPr>
          <a:xfrm>
            <a:off x="914400" y="3714750"/>
            <a:ext cx="2476500" cy="476250"/>
          </a:xfrm>
          <a:prstGeom prst="rect">
            <a:avLst/>
          </a:prstGeom>
          <a:solidFill>
            <a:srgbClr val="F1EAE0"/>
          </a:solidFill>
          <a:ln w="5715">
            <a:solidFill>
              <a:srgbClr val="DCD3C4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B7710D9-7F8B-42C8-A1A4-54CF53760490}"/>
              </a:ext>
            </a:extLst>
          </p:cNvPr>
          <p:cNvSpPr>
            <a:spLocks noGrp="1"/>
          </p:cNvSpPr>
          <p:nvPr/>
        </p:nvSpPr>
        <p:spPr>
          <a:xfrm>
            <a:off x="1028700" y="3790950"/>
            <a:ext cx="2247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1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21A24"/>
                </a:solidFill>
                <a:latin typeface="Aptos"/>
                <a:ea typeface="Aptos"/>
                <a:cs typeface="Aptos"/>
              </a:rPr>
              <a:t>Anti-swapping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6562E33-A4C1-4293-992A-97A78ACFE1C9}"/>
              </a:ext>
            </a:extLst>
          </p:cNvPr>
          <p:cNvSpPr>
            <a:spLocks noGrp="1"/>
          </p:cNvSpPr>
          <p:nvPr/>
        </p:nvSpPr>
        <p:spPr>
          <a:xfrm>
            <a:off x="3390900" y="3714750"/>
            <a:ext cx="3524250" cy="476250"/>
          </a:xfrm>
          <a:prstGeom prst="rect">
            <a:avLst/>
          </a:prstGeom>
          <a:solidFill>
            <a:srgbClr val="F1EAE0"/>
          </a:solidFill>
          <a:ln w="5715">
            <a:solidFill>
              <a:srgbClr val="DCD3C4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1F6CC0A-993B-4D09-99C9-1A9E2AB2309D}"/>
              </a:ext>
            </a:extLst>
          </p:cNvPr>
          <p:cNvSpPr>
            <a:spLocks noGrp="1"/>
          </p:cNvSpPr>
          <p:nvPr/>
        </p:nvSpPr>
        <p:spPr>
          <a:xfrm>
            <a:off x="3505200" y="3790950"/>
            <a:ext cx="32956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Topological u rank and indicator constraints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7071DAC-EB86-446E-B220-46B9D523996C}"/>
              </a:ext>
            </a:extLst>
          </p:cNvPr>
          <p:cNvSpPr>
            <a:spLocks noGrp="1"/>
          </p:cNvSpPr>
          <p:nvPr/>
        </p:nvSpPr>
        <p:spPr>
          <a:xfrm>
            <a:off x="6915150" y="3714750"/>
            <a:ext cx="3524250" cy="476250"/>
          </a:xfrm>
          <a:prstGeom prst="rect">
            <a:avLst/>
          </a:prstGeom>
          <a:solidFill>
            <a:srgbClr val="F1EAE0"/>
          </a:solidFill>
          <a:ln w="5715">
            <a:solidFill>
              <a:srgbClr val="DCD3C4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3460BE3-6515-4136-97A1-A170A1C30441}"/>
              </a:ext>
            </a:extLst>
          </p:cNvPr>
          <p:cNvSpPr>
            <a:spLocks noGrp="1"/>
          </p:cNvSpPr>
          <p:nvPr/>
        </p:nvSpPr>
        <p:spPr>
          <a:xfrm>
            <a:off x="7029450" y="3790950"/>
            <a:ext cx="32956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Integer u rank enforced with OnlyEnforceIf conditions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DA71047-E379-46E7-8781-0E000237B8D0}"/>
              </a:ext>
            </a:extLst>
          </p:cNvPr>
          <p:cNvSpPr>
            <a:spLocks noGrp="1"/>
          </p:cNvSpPr>
          <p:nvPr/>
        </p:nvSpPr>
        <p:spPr>
          <a:xfrm>
            <a:off x="914400" y="4191000"/>
            <a:ext cx="2476500" cy="476250"/>
          </a:xfrm>
          <a:prstGeom prst="rect">
            <a:avLst/>
          </a:prstGeom>
          <a:solidFill>
            <a:srgbClr val="FFFDF8"/>
          </a:solidFill>
          <a:ln w="5715">
            <a:solidFill>
              <a:srgbClr val="DCD3C4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15E9B05-0E3D-438A-8C50-F50C4BA89F08}"/>
              </a:ext>
            </a:extLst>
          </p:cNvPr>
          <p:cNvSpPr>
            <a:spLocks noGrp="1"/>
          </p:cNvSpPr>
          <p:nvPr/>
        </p:nvSpPr>
        <p:spPr>
          <a:xfrm>
            <a:off x="1028700" y="4267200"/>
            <a:ext cx="2247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1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21A24"/>
                </a:solidFill>
                <a:latin typeface="Aptos"/>
                <a:ea typeface="Aptos"/>
                <a:cs typeface="Aptos"/>
              </a:rPr>
              <a:t>Objective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2D22DBF-7F1A-4485-B456-A643B7B8837D}"/>
              </a:ext>
            </a:extLst>
          </p:cNvPr>
          <p:cNvSpPr>
            <a:spLocks noGrp="1"/>
          </p:cNvSpPr>
          <p:nvPr/>
        </p:nvSpPr>
        <p:spPr>
          <a:xfrm>
            <a:off x="3390900" y="4191000"/>
            <a:ext cx="3524250" cy="476250"/>
          </a:xfrm>
          <a:prstGeom prst="rect">
            <a:avLst/>
          </a:prstGeom>
          <a:solidFill>
            <a:srgbClr val="FFFDF8"/>
          </a:solidFill>
          <a:ln w="5715">
            <a:solidFill>
              <a:srgbClr val="DCD3C4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9B620E1-84BA-436D-A63A-88E82E5FCCED}"/>
              </a:ext>
            </a:extLst>
          </p:cNvPr>
          <p:cNvSpPr>
            <a:spLocks noGrp="1"/>
          </p:cNvSpPr>
          <p:nvPr/>
        </p:nvSpPr>
        <p:spPr>
          <a:xfrm>
            <a:off x="3505200" y="4267200"/>
            <a:ext cx="32956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Auxiliary v and w variables minimize weighted delay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DE34500-55AE-4CCC-A971-F84FD2EEA75C}"/>
              </a:ext>
            </a:extLst>
          </p:cNvPr>
          <p:cNvSpPr>
            <a:spLocks noGrp="1"/>
          </p:cNvSpPr>
          <p:nvPr/>
        </p:nvSpPr>
        <p:spPr>
          <a:xfrm>
            <a:off x="6915150" y="4191000"/>
            <a:ext cx="3524250" cy="476250"/>
          </a:xfrm>
          <a:prstGeom prst="rect">
            <a:avLst/>
          </a:prstGeom>
          <a:solidFill>
            <a:srgbClr val="FFFDF8"/>
          </a:solidFill>
          <a:ln w="5715">
            <a:solidFill>
              <a:srgbClr val="DCD3C4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71934B9-36A5-48DB-8388-E1CC0BB08EC2}"/>
              </a:ext>
            </a:extLst>
          </p:cNvPr>
          <p:cNvSpPr>
            <a:spLocks noGrp="1"/>
          </p:cNvSpPr>
          <p:nvPr/>
        </p:nvSpPr>
        <p:spPr>
          <a:xfrm>
            <a:off x="7029450" y="4267200"/>
            <a:ext cx="32956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Scaled integer cost variables minimize weighted delay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06E7778-D985-42F0-8579-AA137308DD2E}"/>
              </a:ext>
            </a:extLst>
          </p:cNvPr>
          <p:cNvSpPr>
            <a:spLocks noGrp="1"/>
          </p:cNvSpPr>
          <p:nvPr/>
        </p:nvSpPr>
        <p:spPr>
          <a:xfrm>
            <a:off x="914400" y="5334000"/>
            <a:ext cx="4476750" cy="819150"/>
          </a:xfrm>
          <a:prstGeom prst="rect">
            <a:avLst/>
          </a:prstGeom>
          <a:solidFill>
            <a:srgbClr val="FFFFFF">
              <a:alpha val="0"/>
            </a:srgbClr>
          </a:solidFill>
          <a:ln w="11430">
            <a:solidFill>
              <a:srgbClr val="1E5B87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74C40EC-662B-4D39-B39D-E131B15FD8F3}"/>
              </a:ext>
            </a:extLst>
          </p:cNvPr>
          <p:cNvSpPr>
            <a:spLocks noGrp="1"/>
          </p:cNvSpPr>
          <p:nvPr/>
        </p:nvSpPr>
        <p:spPr>
          <a:xfrm>
            <a:off x="1047750" y="5448300"/>
            <a:ext cx="421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1E5B87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1E5B87"/>
                </a:solidFill>
                <a:latin typeface="Aptos"/>
                <a:ea typeface="Aptos"/>
                <a:cs typeface="Aptos"/>
              </a:rPr>
              <a:t>PRESENTATION SENTENCE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8E1B619-0BC1-4014-9D07-B64D82A05A1F}"/>
              </a:ext>
            </a:extLst>
          </p:cNvPr>
          <p:cNvSpPr>
            <a:spLocks noGrp="1"/>
          </p:cNvSpPr>
          <p:nvPr/>
        </p:nvSpPr>
        <p:spPr>
          <a:xfrm>
            <a:off x="1047750" y="5657850"/>
            <a:ext cx="4210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21A24"/>
                </a:solidFill>
                <a:latin typeface="Aptos"/>
                <a:ea typeface="Aptos"/>
                <a:cs typeface="Aptos"/>
              </a:rPr>
              <a:t>Baseline = close implementation of the reference MILP. Extended = same DISPLIB feasibility logic, but resource conflicts are handled through CP-SAT scheduling primitives.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AAEFDF6-9114-4D34-9DCE-70BBAA43B24C}"/>
              </a:ext>
            </a:extLst>
          </p:cNvPr>
          <p:cNvSpPr>
            <a:spLocks noGrp="1"/>
          </p:cNvSpPr>
          <p:nvPr/>
        </p:nvSpPr>
        <p:spPr>
          <a:xfrm>
            <a:off x="5676900" y="5334000"/>
            <a:ext cx="4476750" cy="819150"/>
          </a:xfrm>
          <a:prstGeom prst="rect">
            <a:avLst/>
          </a:prstGeom>
          <a:solidFill>
            <a:srgbClr val="FFFFFF">
              <a:alpha val="0"/>
            </a:srgbClr>
          </a:solidFill>
          <a:ln w="11430">
            <a:solidFill>
              <a:srgbClr val="A33A2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F1109DA-A30A-4224-AA51-3ACCF7E47495}"/>
              </a:ext>
            </a:extLst>
          </p:cNvPr>
          <p:cNvSpPr>
            <a:spLocks noGrp="1"/>
          </p:cNvSpPr>
          <p:nvPr/>
        </p:nvSpPr>
        <p:spPr>
          <a:xfrm>
            <a:off x="5810250" y="5448300"/>
            <a:ext cx="421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A33A2A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A33A2A"/>
                </a:solidFill>
                <a:latin typeface="Aptos"/>
                <a:ea typeface="Aptos"/>
                <a:cs typeface="Aptos"/>
              </a:rPr>
              <a:t>HONEST CAVEAT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CCBE96C-3F3A-43C3-BCA4-E8DFB6278235}"/>
              </a:ext>
            </a:extLst>
          </p:cNvPr>
          <p:cNvSpPr>
            <a:spLocks noGrp="1"/>
          </p:cNvSpPr>
          <p:nvPr/>
        </p:nvSpPr>
        <p:spPr>
          <a:xfrm>
            <a:off x="5810250" y="5657850"/>
            <a:ext cx="4210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121A2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21A24"/>
                </a:solidFill>
                <a:latin typeface="Aptos"/>
                <a:ea typeface="Aptos"/>
                <a:cs typeface="Aptos"/>
              </a:rPr>
              <a:t>Mention two implementation details: fixed step penalty is missing, and MIP u is continuous while the paper defines it as integer.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1E00558-F531-4F5A-9EE1-C42E51F5CE96}"/>
              </a:ext>
            </a:extLst>
          </p:cNvPr>
          <p:cNvSpPr>
            <a:spLocks noGrp="1"/>
          </p:cNvSpPr>
          <p:nvPr/>
        </p:nvSpPr>
        <p:spPr>
          <a:xfrm>
            <a:off x="533400" y="6457950"/>
            <a:ext cx="11125200" cy="9525"/>
          </a:xfrm>
          <a:prstGeom prst="rect">
            <a:avLst/>
          </a:prstGeom>
          <a:solidFill>
            <a:srgbClr val="DCD3C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9465D3B-161E-4446-8F35-3AB78E6B9288}"/>
              </a:ext>
            </a:extLst>
          </p:cNvPr>
          <p:cNvSpPr>
            <a:spLocks noGrp="1"/>
          </p:cNvSpPr>
          <p:nvPr/>
        </p:nvSpPr>
        <p:spPr>
          <a:xfrm>
            <a:off x="533400" y="6572250"/>
            <a:ext cx="933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3"/>
                </a:solidFill>
                <a:latin typeface="Aptos"/>
                <a:ea typeface="Aptos"/>
                <a:cs typeface="Aptos"/>
              </a:rPr>
              <a:t>Deck source: formula screenshots plus repository code in phase1_baseline/src and phase2_extend/src.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B8BD2AA-ECF3-4CC2-B86C-5D85B850EE6F}"/>
              </a:ext>
            </a:extLst>
          </p:cNvPr>
          <p:cNvSpPr>
            <a:spLocks noGrp="1"/>
          </p:cNvSpPr>
          <p:nvPr/>
        </p:nvSpPr>
        <p:spPr>
          <a:xfrm>
            <a:off x="11296650" y="6553200"/>
            <a:ext cx="361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825" b="1">
                <a:solidFill>
                  <a:srgbClr val="61708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17083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84689430"/>
      </p:ext>
    </p:extLst>
  </p:cSld>
  <p:clrMapOvr>
    <a:masterClrMapping/>
  </p:clrMapOvr>
</p:sld>
</file>

<file path=ppt/theme/theme1.xml><?xml version="1.0" encoding="utf-8"?>
<a:theme xmlns:a="http://schemas.openxmlformats.org/drawingml/2006/main" name="Präsentation_Master_RWTH_Institute_16zu9">
  <a:themeElements>
    <a:clrScheme name="RWTH Farben">
      <a:dk1>
        <a:sysClr val="windowText" lastClr="000000"/>
      </a:dk1>
      <a:lt1>
        <a:sysClr val="window" lastClr="FFFFFF"/>
      </a:lt1>
      <a:dk2>
        <a:srgbClr val="00549F"/>
      </a:dk2>
      <a:lt2>
        <a:srgbClr val="8EBAE5"/>
      </a:lt2>
      <a:accent1>
        <a:srgbClr val="006165"/>
      </a:accent1>
      <a:accent2>
        <a:srgbClr val="0098A1"/>
      </a:accent2>
      <a:accent3>
        <a:srgbClr val="57AB27"/>
      </a:accent3>
      <a:accent4>
        <a:srgbClr val="BDCD00"/>
      </a:accent4>
      <a:accent5>
        <a:srgbClr val="F6A800"/>
      </a:accent5>
      <a:accent6>
        <a:srgbClr val="CC071E"/>
      </a:accent6>
      <a:hlink>
        <a:srgbClr val="612158"/>
      </a:hlink>
      <a:folHlink>
        <a:srgbClr val="7A6FA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2" id="{825358FF-48E6-4ECE-8C04-78B1C1D59C9F}" vid="{DDEF5410-6062-43C4-A715-B78640DDFF8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Präsentation_Master_RWTH_OM_16zu9</Template>
  <TotalTime>0</TotalTime>
  <Words>2100</Words>
  <Application>Microsoft Office PowerPoint</Application>
  <DocSecurity>0</DocSecurity>
  <PresentationFormat>Widescreen</PresentationFormat>
  <Paragraphs>319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Arial</vt:lpstr>
      <vt:lpstr>Consolas</vt:lpstr>
      <vt:lpstr>Georgia</vt:lpstr>
      <vt:lpstr>Symbol</vt:lpstr>
      <vt:lpstr>Wingdings</vt:lpstr>
      <vt:lpstr>Präsentation_Master_RWTH_Institute_16zu9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Tianyang Bai</cp:lastModifiedBy>
  <cp:revision>1</cp:revision>
  <dcterms:created xsi:type="dcterms:W3CDTF">2026-05-17T17:56:29Z</dcterms:created>
  <dcterms:modified xsi:type="dcterms:W3CDTF">2026-05-17T18:14:00Z</dcterms:modified>
</cp:coreProperties>
</file>