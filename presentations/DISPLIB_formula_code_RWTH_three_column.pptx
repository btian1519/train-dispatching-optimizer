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50" d="100"/>
          <a:sy n="150" d="100"/>
        </p:scale>
        <p:origin x="72" y="-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Ich zeige das DISPLIB-Modell nicht abstrakt, sondern immer direkt neben dem echten Code. Links steht die mathematische Sprache aus dem Paper, in der Mitte die Baseline mit Gurobi/MIP, und rechts die Extended-Version mit CP-SAT. Dadurch kann man sehen: Es ist dieselbe Dispatching-Logik, aber sie wird in zwei Solver-Sprachen unterschiedlich formuliert.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Zuerst erkläre ich, was hier überhaupt entschieden wird. Ein Zug hat in DISPLIB nicht einfach nur eine feste Liste, sondern einen Graphen möglicher Operationen. x sagt: Wird diese Operation benutzt oder nicht? y sagt: Welche direkte Kante wird genommen? Direkt heißt: Wenn Operation 1 die successors 2 und 3 hat, dann bedeutet y[1,2] = 1, dass nach 1 unmittelbar 2 kommt. t ist die Startzeit. u ist zusätzlich eine logische Reihenfolge. In Gurobi entstehen diese Größen mit addVar. In CP-SAT gibt es Bool- und Integer-Variablen, aber zusätzlich ein OptionalIntervalVar: Start, Dauer, Ende und Aktivierung gehören als Scheduling-Objekt zusammen.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Auf dieser Folie ergänze ich die Variablen, die in der ersten Variablenseite leicht untergehen. z_ab und z_ba sind für Ressourcenkonflikte: Wenn zwei Züge denselben Gleisabschnitt brauchen, muss eine Reihenfolge entschieden werden. z_ab bedeutet A vor B, z_ba bedeutet B vor A. In der Baseline werden diese Variablen als Gurobi-Binärvariablen gespeichert. v und w sind Hilfsvariablen für die Kostenrechnung: v zeigt eine Schwellenlogik an, w ist der Strafkostenbetrag. In CP-SAT gibt es zusätzlich resource_intervals und obj_costs; der Solver arbeitet stärker mit Intervallen und ganzzahligen Kostenvariablen.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Hier erkläre ich die Routing-Gleichungen. Der Zug soll nicht beliebig einzelne Operationen auswählen, sondern einen zusammenhängenden Weg. Am Anfang muss genau eine Kante herausgehen, am Ende genau eine Kante hineingehen. Für eine Zwischenoperation gilt: Wenn ich hineinkomme, muss ich auch wieder hinausgehen. Das ist wie Flusserhaltung. Die y-Variable ist die gewählte Kante, die x-Variable ist der gewählte Knoten. In CP-SAT ist die Logik inhaltlich ähnlich, aber sie wird mit model.Add formuliert. Zusätzlich koppelt CP-SAT die Zeit direkter: Wenn y aktiv ist, dann startet der Nachfolger genau am Ende der aktuellen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Diese Folie ist die strikte Code-Entsprechung zur mathematischen Konfliktmenge A. A ist noch keine Optimierungsbedingung, sondern eine vorbereitete Menge von Konfliktpaaren. Ein Konfliktpaar bedeutet: zwei Operationen verschiedener Züge benutzen dieselbe Ressource. In beiden Implementierungen passiert das im </a:t>
            </a:r>
            <a:r>
              <a:rPr lang="de-DE" dirty="0" err="1"/>
              <a:t>data_parser</a:t>
            </a:r>
            <a:r>
              <a:rPr lang="de-DE" dirty="0"/>
              <a:t> über </a:t>
            </a:r>
            <a:r>
              <a:rPr lang="de-DE" dirty="0" err="1"/>
              <a:t>find_conflict_pairs</a:t>
            </a:r>
            <a:r>
              <a:rPr lang="de-DE" dirty="0"/>
              <a:t>. Erst auf der nächsten Folie sieht man dann, wie MIP und CP-SAT diese Konfliktpaare unterschiedlich als Constraints verwenden.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Hier kann man den Unterschied zwischen Gurobi und CP-SAT am besten erklären. Im MIP muss ich für jedes Konfliktpaar explizit entscheiden: A vor B oder B vor A. Dafür stehen z_ab und z_ba im Code. Danach kommen Indicator Constraints: Wenn z_ab gleich 1 ist, dann muss der Nachfolger von A zeitlich vor B liegen, inklusive release time. CP-SAT kann denselben Sachverhalt scheduling-näher formulieren. Jede Ressourcenbelegung wird als Intervall modelliert. Wenn eine release time existiert, wird das Intervall künstlich verlängert. Danach genügt AddNoOverlap: Alle Intervalle auf derselben Ressource dürfen sich nicht überschneiden.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Diese Folie erkläre ich so: Startzeiten allein reichen nicht immer, weil zwei Events sehr nahe oder gleich liegen können. u ist deshalb ein zusätzlicher topologischer Rang. Wenn der Zug von Operation a nach Operation b geht, dann muss u von b größer sein als u von a. Das verhindert auch zyklische oder unklare Reihenfolgen. In der Baseline steht das als Indicator Constraint mit y. In CP-SAT wird dieselbe Logik mit OnlyEnforceIf geschrieben. Wichtig für die Diskussion: Im Paper ist u ganzzahlig. In der Baseline ist u als kontinuierliche Variable angelegt, funktioniert hier aber als Ordnungsgröße; CP-SAT legt u direkt als Integer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Bei der Zielfunktion muss ich vorsichtig formulieren: Die Implementierung minimiert die gewichtete Verspätung. Für jedes Objective-Element gibt es einen threshold und einen coeff. Wenn die Operation später als der threshold startet, entstehen Kosten. In Gurobi wird dafür w_c als kontinuierliche Kostenvariable in eine lineare Objective summiert. CP-SAT arbeitet ganzzahliger; deshalb wird der Koeffizient mit COEFF_SCALE skaliert, und cost_var wird als Integer-Variable gebaut. Wichtig als Caveat: Die volle Step-Penalty aus DISPLIB ist in unserem Code nicht komplett identisch umgesetzt; der Code bildet eine vereinfachte gewichtete Delay-Logik 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Zum Schluss geht es nicht mehr um das Modell selbst, sondern um die Lösungsausgabe. DISPLIB erwartet eine Liste von Events: welcher Zug, welche Operation, welche Zeit. Beide Modelle machen hier fast dasselbe. Sie gehen durch alle Operationen, prüfen ob x aktiv ist, lesen die Startzeit und schreiben ein Event. Danach wird nach time und zusätzlich nach u sortiert. Das ist wichtig, weil die Verifikation nicht nur den Objective-Wert braucht, sondern auch eine kausal saubere Reihenfolge der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75A8441-D9F7-42EF-9C9D-2D746E9EA1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14450"/>
          </a:xfrm>
          <a:prstGeom prst="rect">
            <a:avLst/>
          </a:prstGeom>
          <a:solidFill>
            <a:srgbClr val="00549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BBBD56-B86B-4C91-915A-731393C3DC18}"/>
              </a:ext>
            </a:extLst>
          </p:cNvPr>
          <p:cNvSpPr>
            <a:spLocks noGrp="1"/>
          </p:cNvSpPr>
          <p:nvPr/>
        </p:nvSpPr>
        <p:spPr>
          <a:xfrm>
            <a:off x="762000" y="1885950"/>
            <a:ext cx="666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DISPLIB Train Dispatching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5B6D2-5997-45BF-BBE4-5F1EF2E240D8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8191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0B1220"/>
                </a:solidFill>
                <a:latin typeface="Aptos Display"/>
                <a:ea typeface="Aptos Display"/>
                <a:cs typeface="Aptos Display"/>
              </a:rPr>
              <a:t>Mathematisches Modell im echten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847A32-DBBF-4437-8062-5877E46A6BD4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85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Dreispaltiger Vergleich: Paper-Formel | Baseline MIP | Extended CP-SAT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F62831-66FB-4373-8A8F-6595415880CF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3000375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80BA0F-ED62-4C72-B786-1D562FD9245C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27336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Kein Pseudocode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D531B9-18AF-42CB-802E-A2B2E3EB501C}"/>
              </a:ext>
            </a:extLst>
          </p:cNvPr>
          <p:cNvSpPr>
            <a:spLocks noGrp="1"/>
          </p:cNvSpPr>
          <p:nvPr/>
        </p:nvSpPr>
        <p:spPr>
          <a:xfrm>
            <a:off x="895350" y="4105275"/>
            <a:ext cx="27336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Die Codeboxen zeigen echte Ausschnitte aus den Python-Dateien.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3B6E2C-A8C1-4ACD-9ADD-D3CB1E6CB561}"/>
              </a:ext>
            </a:extLst>
          </p:cNvPr>
          <p:cNvSpPr>
            <a:spLocks noGrp="1"/>
          </p:cNvSpPr>
          <p:nvPr/>
        </p:nvSpPr>
        <p:spPr>
          <a:xfrm>
            <a:off x="4095750" y="3810000"/>
            <a:ext cx="3000375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56649-5EC2-40E8-B7F1-E075E2C505C8}"/>
              </a:ext>
            </a:extLst>
          </p:cNvPr>
          <p:cNvSpPr>
            <a:spLocks noGrp="1"/>
          </p:cNvSpPr>
          <p:nvPr/>
        </p:nvSpPr>
        <p:spPr>
          <a:xfrm>
            <a:off x="4229100" y="3905250"/>
            <a:ext cx="27336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Eine Seite pro Modellpunkt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7E5F70-8BB9-4C9E-8820-EE26F4C8CEA7}"/>
              </a:ext>
            </a:extLst>
          </p:cNvPr>
          <p:cNvSpPr>
            <a:spLocks noGrp="1"/>
          </p:cNvSpPr>
          <p:nvPr/>
        </p:nvSpPr>
        <p:spPr>
          <a:xfrm>
            <a:off x="4229100" y="4105275"/>
            <a:ext cx="27336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Formel, Gurobi-Code und CP-SAT-Code stehen direkt nebeneinander.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042562-FBEF-4AB0-844E-DCCFA48886C7}"/>
              </a:ext>
            </a:extLst>
          </p:cNvPr>
          <p:cNvSpPr>
            <a:spLocks noGrp="1"/>
          </p:cNvSpPr>
          <p:nvPr/>
        </p:nvSpPr>
        <p:spPr>
          <a:xfrm>
            <a:off x="7429500" y="3810000"/>
            <a:ext cx="3000375" cy="781050"/>
          </a:xfrm>
          <a:prstGeom prst="rect">
            <a:avLst/>
          </a:prstGeom>
          <a:solidFill>
            <a:srgbClr val="FFFFFF"/>
          </a:solidFill>
          <a:ln w="11430">
            <a:solidFill>
              <a:srgbClr val="F6A80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5A13A5-64FC-42AF-952A-D7159FEF5971}"/>
              </a:ext>
            </a:extLst>
          </p:cNvPr>
          <p:cNvSpPr>
            <a:spLocks noGrp="1"/>
          </p:cNvSpPr>
          <p:nvPr/>
        </p:nvSpPr>
        <p:spPr>
          <a:xfrm>
            <a:off x="7562850" y="3905250"/>
            <a:ext cx="273367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1">
                <a:solidFill>
                  <a:srgbClr val="F6A800"/>
                </a:solidFill>
                <a:latin typeface="Aptos"/>
                <a:ea typeface="Aptos"/>
                <a:cs typeface="Aptos"/>
              </a:defRPr>
            </a:pPr>
            <a:r>
              <a:rPr sz="563" b="1">
                <a:solidFill>
                  <a:srgbClr val="F6A800"/>
                </a:solidFill>
                <a:latin typeface="Aptos"/>
                <a:ea typeface="Aptos"/>
                <a:cs typeface="Aptos"/>
              </a:rPr>
              <a:t>Größer gesetzt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11D168-CFB5-4F9A-9FD8-07165A5FC468}"/>
              </a:ext>
            </a:extLst>
          </p:cNvPr>
          <p:cNvSpPr>
            <a:spLocks noGrp="1"/>
          </p:cNvSpPr>
          <p:nvPr/>
        </p:nvSpPr>
        <p:spPr>
          <a:xfrm>
            <a:off x="7562850" y="4105275"/>
            <a:ext cx="2733675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Lange Themen sind auf mehrere Vergleichsfolien aufgeteilt.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FD382B-BFD6-4904-8898-B65D3919B5B0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6111BC-D191-45A0-8B51-FEBC1B5C31D0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878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D8ED8C1-3618-400F-9DC8-65401BA7DE2B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Variablen: dieselbe Bedeutung, andere Solver-Bausteine.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01FC78-FA2E-4D7B-AB95-BB76BC43E49D}"/>
              </a:ext>
            </a:extLst>
          </p:cNvPr>
          <p:cNvSpPr>
            <a:spLocks noGrp="1"/>
          </p:cNvSpPr>
          <p:nvPr/>
        </p:nvSpPr>
        <p:spPr>
          <a:xfrm>
            <a:off x="533400" y="714375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Hier wird aus der mathematischen Notation echte Solver-Variable.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B2FA93-10A4-4B3A-A01B-5989E378BEE0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3335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A36274-9FDE-4C43-9182-374655B69CAA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6CFE22-91E0-4D8B-98D4-B91366AC5DC8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58C264-1763-441D-9368-260C11107619}"/>
              </a:ext>
            </a:extLst>
          </p:cNvPr>
          <p:cNvSpPr>
            <a:spLocks noGrp="1"/>
          </p:cNvSpPr>
          <p:nvPr/>
        </p:nvSpPr>
        <p:spPr>
          <a:xfrm>
            <a:off x="1295400" y="6296025"/>
            <a:ext cx="533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Train Dispatching | DISPLIB mathematical model to code | Baseline MIP and Extended CP-SAT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39B7DE0-4293-498E-870F-9BB7CAAE75FE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462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758B04-C20D-4AA0-87F6-4D554CC8FBC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3C6537-23AE-4C37-BF7E-62CBCCE81FFD}"/>
              </a:ext>
            </a:extLst>
          </p:cNvPr>
          <p:cNvSpPr>
            <a:spLocks noGrp="1"/>
          </p:cNvSpPr>
          <p:nvPr/>
        </p:nvSpPr>
        <p:spPr>
          <a:xfrm>
            <a:off x="6286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Paper: Definition von t, x und 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2940767"/>
            <a:ext cx="3314700" cy="103361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1017A72-C02C-4897-BAF4-68514399A255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x: Operation gewählt | y: direkte Nachfolge | t: Startzeit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2B0284-7114-4CA0-988A-35EF4FF0C749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45623A-3517-438A-B0E2-ADD57ED02860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333926-62FB-4EEE-9206-CB28A118DF6F}"/>
              </a:ext>
            </a:extLst>
          </p:cNvPr>
          <p:cNvSpPr>
            <a:spLocks noGrp="1"/>
          </p:cNvSpPr>
          <p:nvPr/>
        </p:nvSpPr>
        <p:spPr>
          <a:xfrm>
            <a:off x="43243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Baseline / Gurobi: mip_model.py:13-41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B0A365-A5E1-47C2-BB39-BC8526FB58E8}"/>
              </a:ext>
            </a:extLst>
          </p:cNvPr>
          <p:cNvSpPr>
            <a:spLocks noGrp="1"/>
          </p:cNvSpPr>
          <p:nvPr/>
        </p:nvSpPr>
        <p:spPr>
          <a:xfrm>
            <a:off x="43434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 = {} # x[train.id, op.id]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 = {} # y[train.id, op_a.id, op_b.id]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 = {} # t[train.id, op.id]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 = {} # u[train.id, op.id]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train in self.instance.trains: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for op in train.operations: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self.x[train.id, op.id] = self.model.addVar(vtype=GRB.BINARY, name=f"x_{train.id}_{op.id}")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ub = op.start_ub if op.start_ub is not None and op.start_ub &lt; float('inf') else GRB.INFINITY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self.t[train.id, op.id] = self.model.addVar(lb=op.start_lb, ub=ub, vtype=GRB.CONTINUOUS, name=f"t_{train.id}_{op.id}")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self.u[train.id, op.id] = self.model.addVar(lb=0, vtype=GRB.CONTINUOUS, name=f"u_{train.id}_{op.id}")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for succ in op.successors: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self.y[train.id, op.id, succ] = self.model.addVar(vtype=GRB.BINARY, name=f"y_{train.id}_{op.id}_{succ}")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BC7DCE-52CB-4153-9417-EEC91C689F97}"/>
              </a:ext>
            </a:extLst>
          </p:cNvPr>
          <p:cNvSpPr>
            <a:spLocks noGrp="1"/>
          </p:cNvSpPr>
          <p:nvPr/>
        </p:nvSpPr>
        <p:spPr>
          <a:xfrm>
            <a:off x="43434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addVar erzeugt echte Gurobi-Variablen.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A16376-F857-48F8-B905-46DCF8F36643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09A9CA-6546-4C8C-AB8A-E64B12E7D94B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219075"/>
          </a:xfrm>
          <a:prstGeom prst="rect">
            <a:avLst/>
          </a:prstGeom>
          <a:solidFill>
            <a:srgbClr val="E5FA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120C28-B043-42EC-9443-1596B57B6340}"/>
              </a:ext>
            </a:extLst>
          </p:cNvPr>
          <p:cNvSpPr>
            <a:spLocks noGrp="1"/>
          </p:cNvSpPr>
          <p:nvPr/>
        </p:nvSpPr>
        <p:spPr>
          <a:xfrm>
            <a:off x="80200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Extended / CP-SAT: cp_model.py:16-94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1B715B-6D38-415C-8E44-177D5F534F01}"/>
              </a:ext>
            </a:extLst>
          </p:cNvPr>
          <p:cNvSpPr>
            <a:spLocks noGrp="1"/>
          </p:cNvSpPr>
          <p:nvPr/>
        </p:nvSpPr>
        <p:spPr>
          <a:xfrm>
            <a:off x="80391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 = {}  # x[train_id, op_id]: Boolean, 1 if operation is selected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self.y = {}  # y[train_id, op_a, op_b]: Boolean, 1 if sequence A -&gt; B is taken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 = {}  # u[train_id, op_id]: Integer, topological sequence rank</a:t>
            </a:r>
          </a:p>
          <a:p>
            <a:endParaRPr sz="443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 = {}   # starts[train_id, op_id]: Integer, start time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self.durations = {} # durations[train_id, op_id]: Integer, duration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self.ends = {}     # ends[train_id, op_id]: Integer, end time</a:t>
            </a:r>
          </a:p>
          <a:p>
            <a:endParaRPr sz="443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self.x[t_id, o_id] = self.model.NewBoolVar(f"x_{t_id}_{o_id}")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self.u[t_id, o_id] = self.model.NewIntVar(0, sum(len(tr.operations) for tr in self.instance.trains), f"u_{t_id}_{o_id}")</a:t>
            </a:r>
          </a:p>
          <a:p>
            <a:endParaRPr sz="443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self.starts[t_id, o_id] = self.model.NewIntVar(lb, ub, f"st_{t_id}_{o_id}")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self.durations[t_id, o_id] = self.model.NewIntVar(int(op.min_duration), self.horizon, f"dur_{t_id}_{o_id}")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self.ends[t_id, o_id] = self.model.NewIntVar(lb + int(op.min_duration), self.horizon + self.horizon, f"end_{t_id}_{o_id}")</a:t>
            </a:r>
          </a:p>
          <a:p>
            <a:endParaRPr sz="443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self.model.NewOptionalIntervalVar(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self.starts[t_id, o_id],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self.durations[t_id, o_id],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self.ends[t_id, o_id],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self.x[t_id, o_id],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f"iv_{t_id}_{o_id}"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sz="443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succ in op.successors:</a:t>
            </a:r>
          </a:p>
          <a:p>
            <a:pPr algn="l">
              <a:def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3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self.y[t_id, o_id, succ] = self.model.NewBoolVar(f"y_{t_id}_{o_id}_{succ}")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054022-E297-40FE-B3B1-C15B4F96231D}"/>
              </a:ext>
            </a:extLst>
          </p:cNvPr>
          <p:cNvSpPr>
            <a:spLocks noGrp="1"/>
          </p:cNvSpPr>
          <p:nvPr/>
        </p:nvSpPr>
        <p:spPr>
          <a:xfrm>
            <a:off x="80391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CP-SAT bündelt Start, Dauer, Ende als optionales Intervall.</a:t>
            </a:r>
          </a:p>
        </p:txBody>
      </p:sp>
    </p:spTree>
    <p:extLst>
      <p:ext uri="{BB962C8B-B14F-4D97-AF65-F5344CB8AC3E}">
        <p14:creationId xmlns:p14="http://schemas.microsoft.com/office/powerpoint/2010/main" val="98014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45BDFAC-4345-4F5A-BCC2-8265FAA5B84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Hilfsvariablen: Konfliktreihenfolge und Verspätungskosten.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E9DFEF-7EFC-4A00-B990-A5311468820F}"/>
              </a:ext>
            </a:extLst>
          </p:cNvPr>
          <p:cNvSpPr>
            <a:spLocks noGrp="1"/>
          </p:cNvSpPr>
          <p:nvPr/>
        </p:nvSpPr>
        <p:spPr>
          <a:xfrm>
            <a:off x="533400" y="714375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Diese Variablen sieht man im Paper nur indirekt, im Code aber sehr konkret.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015DB6-4750-448C-957A-003A0583D8B0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3335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23C67E-267E-4D37-BAEE-0AA382E7D54A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6C87B-AD07-4A0E-BDDE-1ABC797EFFAA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B7A02C-D5AB-4D25-A338-C516B84E1687}"/>
              </a:ext>
            </a:extLst>
          </p:cNvPr>
          <p:cNvSpPr>
            <a:spLocks noGrp="1"/>
          </p:cNvSpPr>
          <p:nvPr/>
        </p:nvSpPr>
        <p:spPr>
          <a:xfrm>
            <a:off x="1295400" y="6296025"/>
            <a:ext cx="533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Train Dispatching | DISPLIB mathematical model to code | Baseline MIP and Extended CP-SAT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903A856-63D9-47A1-9213-92FEBA8CBCC1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462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7F330-B972-4DC6-B19E-1B81F53343DA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DCF635-2367-4C0E-91B0-BD93649EC1A1}"/>
              </a:ext>
            </a:extLst>
          </p:cNvPr>
          <p:cNvSpPr>
            <a:spLocks noGrp="1"/>
          </p:cNvSpPr>
          <p:nvPr/>
        </p:nvSpPr>
        <p:spPr>
          <a:xfrm>
            <a:off x="6286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Paper: z für Reihenfolge auf Ressourcen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3056154"/>
            <a:ext cx="3314700" cy="8028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0DE25A1-5F3A-44D6-A057-61A1AC552307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z_ab oder z_ba entscheidet, wer zuerst über dieselbe Ressource fährt.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6C98D-C6F6-4AC3-896E-C1A2C3469A8C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55E350-9A83-4D69-BB65-076780CB13E1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7A25C9-CF00-4984-BF6D-9E5169A8F040}"/>
              </a:ext>
            </a:extLst>
          </p:cNvPr>
          <p:cNvSpPr>
            <a:spLocks noGrp="1"/>
          </p:cNvSpPr>
          <p:nvPr/>
        </p:nvSpPr>
        <p:spPr>
          <a:xfrm>
            <a:off x="43243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Baseline / Gurobi: mip_model.py:43-58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4A078-E1EF-44F6-BAB4-B8FAE88622DD}"/>
              </a:ext>
            </a:extLst>
          </p:cNvPr>
          <p:cNvSpPr>
            <a:spLocks noGrp="1"/>
          </p:cNvSpPr>
          <p:nvPr/>
        </p:nvSpPr>
        <p:spPr>
          <a:xfrm>
            <a:off x="43434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 = self.instance.find_conflict_pairs()</a:t>
            </a: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c in conflicts:</a:t>
            </a: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t1, o1, t2, o2, res, l1, l2 = c</a:t>
            </a: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z_ab = self.model.addVar(vtype=GRB.BINARY, name=f"z_{t1}_{o1}_{t2}_{o2}_r_{res}")</a:t>
            </a: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z_ba = self.model.addVar(vtype=GRB.BINARY, name=f"z_{t2}_{o2}_{t1}_{o1}_r_{res}")</a:t>
            </a:r>
          </a:p>
          <a:p>
            <a:endParaRPr sz="484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self.z[t1, o1, t2, o2, res] = z_ab</a:t>
            </a: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self.z_ba[t1, o1, t2, o2, res] = z_ba</a:t>
            </a:r>
          </a:p>
          <a:p>
            <a:endParaRPr sz="484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c_idx, comp in enumerate(self.instance.objective):</a:t>
            </a: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self.v[c_idx] = self.model.addVar(vtype=GRB.BINARY, name=f"v_{c_idx}")</a:t>
            </a:r>
          </a:p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self.w[c_idx] = self.model.addVar(lb=0, vtype=GRB.CONTINUOUS, name=f"w_{c_idx}")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15EC90-DF3F-4646-B506-05514696B2BC}"/>
              </a:ext>
            </a:extLst>
          </p:cNvPr>
          <p:cNvSpPr>
            <a:spLocks noGrp="1"/>
          </p:cNvSpPr>
          <p:nvPr/>
        </p:nvSpPr>
        <p:spPr>
          <a:xfrm>
            <a:off x="43434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z/z_ba für Konflikte; v/w für Zielfunktion.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43E1E8-1E4D-4B06-8256-A5E5E4266AF6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78DDA7-47D9-4E08-A3D7-EE2A992DD5E8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219075"/>
          </a:xfrm>
          <a:prstGeom prst="rect">
            <a:avLst/>
          </a:prstGeom>
          <a:solidFill>
            <a:srgbClr val="E5FA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1AB2B8-BF2E-40D7-B84D-CE536CAA7B88}"/>
              </a:ext>
            </a:extLst>
          </p:cNvPr>
          <p:cNvSpPr>
            <a:spLocks noGrp="1"/>
          </p:cNvSpPr>
          <p:nvPr/>
        </p:nvSpPr>
        <p:spPr>
          <a:xfrm>
            <a:off x="80200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Extended / CP-SAT: cp_model.py:34-36, 124-130, 216-223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AC0895-673B-4654-9005-9E2A04311672}"/>
              </a:ext>
            </a:extLst>
          </p:cNvPr>
          <p:cNvSpPr>
            <a:spLocks noGrp="1"/>
          </p:cNvSpPr>
          <p:nvPr/>
        </p:nvSpPr>
        <p:spPr>
          <a:xfrm>
            <a:off x="80391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 = {} # {resource_name: [list of extended IntervalVars]}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obj_costs = [] # List of integer cost variables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 = self.instance.find_conflict_pairs()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c in conflicts: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t1, o1, t2, o2, res, l1, l2 = c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z_ab = self.model.NewBoolVar(f"z_{t1}_{o1}_{t2}_{o2}_{res}")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z_ba = self.model.NewBoolVar(f"z_{t2}_{o2}_{t1}_{o1}_{res}")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over_time = self.model.NewIntVar(0, self.horizon * 2, f"ov_{c_idx}")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self.model.Add(over_time &gt;= self.starts[t_id, o_id] - th).OnlyEnforceIf(x_a)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cost_var = self.model.NewIntVar(0, int(self.horizon * 2 * max(1, scaled_cf)), f"cost_{c_idx}")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self.model.Add(cost_var == over_time * scaled_cf).OnlyEnforceIf(x_a)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self.model.Add(cost_var == 0).OnlyEnforceIf(x_a.Not())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obj_costs.append(cost_var)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08F832-A8CC-48B3-A02B-6B1EAD4CE4B4}"/>
              </a:ext>
            </a:extLst>
          </p:cNvPr>
          <p:cNvSpPr>
            <a:spLocks noGrp="1"/>
          </p:cNvSpPr>
          <p:nvPr/>
        </p:nvSpPr>
        <p:spPr>
          <a:xfrm>
            <a:off x="80391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CP-SAT nutzt Intervalle und integer cost variables.</a:t>
            </a:r>
          </a:p>
        </p:txBody>
      </p:sp>
    </p:spTree>
    <p:extLst>
      <p:ext uri="{BB962C8B-B14F-4D97-AF65-F5344CB8AC3E}">
        <p14:creationId xmlns:p14="http://schemas.microsoft.com/office/powerpoint/2010/main" val="130594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B446468-1D7D-4DC9-AFB7-1CB51FC0DA29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Routing: Gleichung (1) wird in beiden Codes als Flusslogik gebaut.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D41413-BE6C-4B12-ACCD-903B20292453}"/>
              </a:ext>
            </a:extLst>
          </p:cNvPr>
          <p:cNvSpPr>
            <a:spLocks noGrp="1"/>
          </p:cNvSpPr>
          <p:nvPr/>
        </p:nvSpPr>
        <p:spPr>
          <a:xfrm>
            <a:off x="533400" y="714375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Ein Zug wählt genau einen zusammenhängenden Pfad durch seinen Operation-Graphen.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83B386-7ADF-4EB2-8428-B196B5F12AB2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3335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C9FE7A-0CB1-4726-BDEE-BF428A46099B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F3FEFE-DE75-440D-87D0-E08F8B8F3068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9E7B6E-D795-47EF-BA85-929DEBCB19C0}"/>
              </a:ext>
            </a:extLst>
          </p:cNvPr>
          <p:cNvSpPr>
            <a:spLocks noGrp="1"/>
          </p:cNvSpPr>
          <p:nvPr/>
        </p:nvSpPr>
        <p:spPr>
          <a:xfrm>
            <a:off x="1295400" y="6296025"/>
            <a:ext cx="533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Train Dispatching | DISPLIB mathematical model to code | Baseline MIP and Extended CP-SAT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2A1C5EE-4C89-40E3-976C-D939CDF1832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462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9E9C29-F90F-4AB8-81F8-73C3F3CD0DF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087C02-9765-40F9-B598-8FBC1A6CC2A1}"/>
              </a:ext>
            </a:extLst>
          </p:cNvPr>
          <p:cNvSpPr>
            <a:spLocks noGrp="1"/>
          </p:cNvSpPr>
          <p:nvPr/>
        </p:nvSpPr>
        <p:spPr>
          <a:xfrm>
            <a:off x="6286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Paper: Routing und Mindestdauer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2760246"/>
            <a:ext cx="3314700" cy="13946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60FE01-1A32-4EA1-93EA-8396084AFEEA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Start: ein Weg raus | Ende: ein Weg rein | Zwischenknoten: rein = raus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3DBB51-B74B-4221-BBDC-91638AED10BE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6EF5CB-A0BC-4286-BDCC-854C9B6091E1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C0B3F6-0DE3-4BDA-99A0-65508981AD0F}"/>
              </a:ext>
            </a:extLst>
          </p:cNvPr>
          <p:cNvSpPr>
            <a:spLocks noGrp="1"/>
          </p:cNvSpPr>
          <p:nvPr/>
        </p:nvSpPr>
        <p:spPr>
          <a:xfrm>
            <a:off x="43243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Baseline / Gurobi: mip_model.py:75-102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02F596-49A8-43B9-925B-EF7DEB5A87CE}"/>
              </a:ext>
            </a:extLst>
          </p:cNvPr>
          <p:cNvSpPr>
            <a:spLocks noGrp="1"/>
          </p:cNvSpPr>
          <p:nvPr/>
        </p:nvSpPr>
        <p:spPr>
          <a:xfrm>
            <a:off x="43434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entry in entries: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op = train.get_operation(entry)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self.model.addConstr(gp.quicksum(self.y[train.id, entry, succ] for succ in op.successors) == 1)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self.model.addConstr(self.x[train.id, entry] == 1)</a:t>
            </a:r>
          </a:p>
          <a:p>
            <a:endParaRPr sz="461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exit in exits: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self.model.addConstr(gp.quicksum(self.y[train.id, pred, exit] for pred in predecessors[train.id][exit]) == 1)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self.model.addConstr(self.x[train.id, exit] == 1)</a:t>
            </a:r>
          </a:p>
          <a:p>
            <a:endParaRPr sz="461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sum_in = gp.quicksum(self.y[train.id, pred, op.id] for pred in predecessors[train.id][op.id])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sum_out = gp.quicksum(self.y[train.id, op.id, succ] for succ in op.successors)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self.model.addConstr(sum_in == sum_out)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self.model.addConstr(sum_in == self.x[train.id, op.id])</a:t>
            </a:r>
          </a:p>
          <a:p>
            <a:endParaRPr sz="461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op in train.operations: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for succ in op.successors: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self.model.addConstr(self.y[train.id, op.id, succ] &lt;= self.x[train.id, op.id])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self.model.addConstr(self.y[train.id, op.id, succ] &lt;= self.x[train.id, succ])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self.model.addConstr(self.x[train.id, op.id] + self.x[train.id, succ] - 1 &lt;= self.y[train.id, op.id, succ])</a:t>
            </a:r>
          </a:p>
          <a:p>
            <a:pPr algn="l">
              <a:def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1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self.model.addConstr(self.t[train.id, succ] - self.t[train.id, op.id] &gt;= op.min_duration * self.y[train.id, op.id, succ])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A9E336-3227-480B-850C-D588998258CF}"/>
              </a:ext>
            </a:extLst>
          </p:cNvPr>
          <p:cNvSpPr>
            <a:spLocks noGrp="1"/>
          </p:cNvSpPr>
          <p:nvPr/>
        </p:nvSpPr>
        <p:spPr>
          <a:xfrm>
            <a:off x="43434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Lineare Constraints über quicksum und y/x.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A02E37-9C4F-4BE1-B959-309E349B28BD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EF4542-AED6-4495-8E82-B7B76563615C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219075"/>
          </a:xfrm>
          <a:prstGeom prst="rect">
            <a:avLst/>
          </a:prstGeom>
          <a:solidFill>
            <a:srgbClr val="E5FA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01DBA3-994C-40FF-9254-2D302486E948}"/>
              </a:ext>
            </a:extLst>
          </p:cNvPr>
          <p:cNvSpPr>
            <a:spLocks noGrp="1"/>
          </p:cNvSpPr>
          <p:nvPr/>
        </p:nvSpPr>
        <p:spPr>
          <a:xfrm>
            <a:off x="80200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Extended / CP-SAT: cp_model.py:170-197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6BDE57-B11B-431B-944A-628FAC0FAEC5}"/>
              </a:ext>
            </a:extLst>
          </p:cNvPr>
          <p:cNvSpPr>
            <a:spLocks noGrp="1"/>
          </p:cNvSpPr>
          <p:nvPr/>
        </p:nvSpPr>
        <p:spPr>
          <a:xfrm>
            <a:off x="80391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o_idx in starts_idx:</a:t>
            </a: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self.model.Add(self.x[t_id, o_idx] == 1)</a:t>
            </a:r>
          </a:p>
          <a:p>
            <a:endParaRPr sz="472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o_idx in ends_idx:</a:t>
            </a: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self.model.Add(self.x[t_id, o_idx] == 1)</a:t>
            </a:r>
          </a:p>
          <a:p>
            <a:endParaRPr sz="472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 o_id not in ends_idx:</a:t>
            </a: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self.model.Add(sum(self.y[t_id, o_id, succ] for succ in op.successors) == self.x[t_id, o_id])</a:t>
            </a:r>
          </a:p>
          <a:p>
            <a:endParaRPr sz="472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 o_id not in starts_idx:</a:t>
            </a: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preds = predecessors[t_id][o_id]</a:t>
            </a: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self.model.Add(sum(self.y[t_id, p, o_id] for p in preds) == self.x[t_id, o_id])</a:t>
            </a:r>
          </a:p>
          <a:p>
            <a:endParaRPr sz="472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succ in op.successors:</a:t>
            </a: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self.model.Add(self.starts[t_id, succ] == self.ends[t_id, o_id]).OnlyEnforceIf(self.y[t_id, o_id, succ])</a:t>
            </a:r>
          </a:p>
          <a:p>
            <a:pPr algn="l">
              <a:def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2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self.model.Add(self.u[t_id, succ] &gt;= self.u[t_id, o_id] + 1).OnlyEnforceIf(self.y[t_id, o_id, succ])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5713B2-6898-4E37-849E-1BC256175465}"/>
              </a:ext>
            </a:extLst>
          </p:cNvPr>
          <p:cNvSpPr>
            <a:spLocks noGrp="1"/>
          </p:cNvSpPr>
          <p:nvPr/>
        </p:nvSpPr>
        <p:spPr>
          <a:xfrm>
            <a:off x="80391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Add-Constraints plus start(successor) = end(current).</a:t>
            </a:r>
          </a:p>
        </p:txBody>
      </p:sp>
    </p:spTree>
    <p:extLst>
      <p:ext uri="{BB962C8B-B14F-4D97-AF65-F5344CB8AC3E}">
        <p14:creationId xmlns:p14="http://schemas.microsoft.com/office/powerpoint/2010/main" val="907180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69A9436-F00F-448A-9136-9F60180034BA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Konfliktmenge A: vor dem Solver werden gemeinsame Ressourcen gefunden.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5C1299-2207-4CF3-86BA-9FD272AD15A3}"/>
              </a:ext>
            </a:extLst>
          </p:cNvPr>
          <p:cNvSpPr>
            <a:spLocks noGrp="1"/>
          </p:cNvSpPr>
          <p:nvPr/>
        </p:nvSpPr>
        <p:spPr>
          <a:xfrm>
            <a:off x="533400" y="714375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A enthält Paare von Operationen verschiedener Züge, die dieselbe Ressource benutzen.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407985-EFA3-4647-B5C8-A42102853E1D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3335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FE916F-7A0D-4B68-9D07-5DCB466937D6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703C2B-5CE1-4015-9D8B-0D7F880D27D0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8A2B5-E3FE-4313-871B-9F6919F5D3F2}"/>
              </a:ext>
            </a:extLst>
          </p:cNvPr>
          <p:cNvSpPr>
            <a:spLocks noGrp="1"/>
          </p:cNvSpPr>
          <p:nvPr/>
        </p:nvSpPr>
        <p:spPr>
          <a:xfrm>
            <a:off x="1295400" y="6296025"/>
            <a:ext cx="533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Train Dispatching | DISPLIB mathematical model to code | Baseline MIP and Extended CP-SAT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BD74312-1F22-4CD6-BD45-DE994C9EB427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4964430" cy="65913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FBD00D-CECC-446F-A50C-B138B53A3FF5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4964430" cy="218440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D4507D-6625-493C-8938-A35C5E582EA0}"/>
              </a:ext>
            </a:extLst>
          </p:cNvPr>
          <p:cNvSpPr>
            <a:spLocks noGrp="1"/>
          </p:cNvSpPr>
          <p:nvPr/>
        </p:nvSpPr>
        <p:spPr>
          <a:xfrm>
            <a:off x="628650" y="1247139"/>
            <a:ext cx="3314700" cy="1244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Paper: Definition der Konfliktmenge 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1502409"/>
            <a:ext cx="3318935" cy="284480"/>
          </a:xfrm>
          <a:prstGeom prst="rect">
            <a:avLst/>
          </a:prstGeom>
        </p:spPr>
      </p:pic>
      <p:sp>
        <p:nvSpPr>
          <p:cNvPr id="12" name="Rectangle 11" hidden="1">
            <a:extLst>
              <a:ext uri="{FF2B5EF4-FFF2-40B4-BE49-F238E27FC236}">
                <a16:creationId xmlns:a16="http://schemas.microsoft.com/office/drawing/2014/main" id="{ABA227A3-1C14-433B-88E6-D88466A46982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Konflikt = verschiedene Züge + gleiche Ressource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07E35E-0AEE-40E0-BAD8-56B6C2A2E875}"/>
              </a:ext>
            </a:extLst>
          </p:cNvPr>
          <p:cNvSpPr>
            <a:spLocks noGrp="1"/>
          </p:cNvSpPr>
          <p:nvPr/>
        </p:nvSpPr>
        <p:spPr>
          <a:xfrm>
            <a:off x="533400" y="1912620"/>
            <a:ext cx="4964430" cy="4075430"/>
          </a:xfrm>
          <a:prstGeom prst="rect">
            <a:avLst/>
          </a:prstGeom>
          <a:solidFill>
            <a:srgbClr val="F6F8FA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A12058-8124-4973-8C28-A81E2E64080B}"/>
              </a:ext>
            </a:extLst>
          </p:cNvPr>
          <p:cNvSpPr>
            <a:spLocks noGrp="1"/>
          </p:cNvSpPr>
          <p:nvPr/>
        </p:nvSpPr>
        <p:spPr>
          <a:xfrm>
            <a:off x="533400" y="1912619"/>
            <a:ext cx="4964430" cy="231140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6E8DDF-11CF-4BE0-953E-4060820CDFFD}"/>
              </a:ext>
            </a:extLst>
          </p:cNvPr>
          <p:cNvSpPr>
            <a:spLocks noGrp="1"/>
          </p:cNvSpPr>
          <p:nvPr/>
        </p:nvSpPr>
        <p:spPr>
          <a:xfrm>
            <a:off x="628650" y="1960879"/>
            <a:ext cx="3314700" cy="1244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Baseline Parser: phase1_baseline/src/data_parser.py:85-113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411CE7-CA21-4CC9-B64A-EF6C2A02CEB2}"/>
              </a:ext>
            </a:extLst>
          </p:cNvPr>
          <p:cNvSpPr>
            <a:spLocks noGrp="1"/>
          </p:cNvSpPr>
          <p:nvPr/>
        </p:nvSpPr>
        <p:spPr>
          <a:xfrm>
            <a:off x="647700" y="2246630"/>
            <a:ext cx="477393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def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find_conflict_pairs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(self) -&gt; List[Tuple[int, int, int, int, str, int, int]]: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{}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for t in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self.trains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for op in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t.operations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for req in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op.resources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if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req.resource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not in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req.resource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[]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req.resource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].append((t.id, op.id,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req.release_time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</a:t>
            </a:r>
          </a:p>
          <a:p>
            <a:endParaRPr sz="454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conflicts = []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for res,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res_map.items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():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for idx1 in range(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len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for idx2 in range(idx1 + 1,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len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)):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t1, op1, l1 =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[idx1]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t2, op2, l2 =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usage_list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[idx2]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if t1 != t2: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if t1 &gt; t2: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   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conflicts.append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((t2, op2, t1, op1, res, l2, l1))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else:</a:t>
            </a: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        </a:t>
            </a:r>
            <a:r>
              <a:rPr sz="454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conflicts.append</a:t>
            </a: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((t1, op1, t2, op2, res, l1, l2))</a:t>
            </a:r>
          </a:p>
          <a:p>
            <a:endParaRPr sz="454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5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4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return list(set(conflicts))</a:t>
            </a:r>
          </a:p>
        </p:txBody>
      </p:sp>
      <p:sp>
        <p:nvSpPr>
          <p:cNvPr id="17" name="Rectangle 16" hidden="1">
            <a:extLst>
              <a:ext uri="{FF2B5EF4-FFF2-40B4-BE49-F238E27FC236}">
                <a16:creationId xmlns:a16="http://schemas.microsoft.com/office/drawing/2014/main" id="{A2DEF561-67FE-47B9-8D87-EECAF66E2A2F}"/>
              </a:ext>
            </a:extLst>
          </p:cNvPr>
          <p:cNvSpPr>
            <a:spLocks noGrp="1"/>
          </p:cNvSpPr>
          <p:nvPr/>
        </p:nvSpPr>
        <p:spPr>
          <a:xfrm>
            <a:off x="43434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Parser baut alle Paar-Konflikte nach Ressource.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881574-05A9-484F-859C-C902F95315C2}"/>
              </a:ext>
            </a:extLst>
          </p:cNvPr>
          <p:cNvSpPr>
            <a:spLocks noGrp="1"/>
          </p:cNvSpPr>
          <p:nvPr/>
        </p:nvSpPr>
        <p:spPr>
          <a:xfrm>
            <a:off x="5535930" y="1200150"/>
            <a:ext cx="5894070" cy="4799330"/>
          </a:xfrm>
          <a:prstGeom prst="rect">
            <a:avLst/>
          </a:prstGeom>
          <a:solidFill>
            <a:srgbClr val="F6F8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 sz="650" b="1">
              <a:solidFill>
                <a:srgbClr val="00A0AA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43E9EB-B3CF-49AF-A5FE-26E09322EA18}"/>
              </a:ext>
            </a:extLst>
          </p:cNvPr>
          <p:cNvSpPr>
            <a:spLocks noGrp="1"/>
          </p:cNvSpPr>
          <p:nvPr/>
        </p:nvSpPr>
        <p:spPr>
          <a:xfrm>
            <a:off x="5535930" y="1200150"/>
            <a:ext cx="5894070" cy="218440"/>
          </a:xfrm>
          <a:prstGeom prst="rect">
            <a:avLst/>
          </a:prstGeom>
          <a:solidFill>
            <a:srgbClr val="E5FA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 sz="455">
              <a:latin typeface="Aptos Mono" panose="020B000902020202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FD797D-6714-4E13-8BCD-F7665D3944F4}"/>
              </a:ext>
            </a:extLst>
          </p:cNvPr>
          <p:cNvSpPr>
            <a:spLocks noGrp="1"/>
          </p:cNvSpPr>
          <p:nvPr/>
        </p:nvSpPr>
        <p:spPr>
          <a:xfrm>
            <a:off x="5593080" y="1247139"/>
            <a:ext cx="574167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lang="en-US" sz="650" b="1">
                <a:solidFill>
                  <a:srgbClr val="00A6A6"/>
                </a:solidFill>
                <a:latin typeface="Aptos" panose="020B0004020202020204" pitchFamily="34" charset="0"/>
                <a:ea typeface="Aptos"/>
                <a:cs typeface="Aptos"/>
              </a:rPr>
              <a:t>Extended Parser: phase2_extend/src/data_parser.py:85-113</a:t>
            </a:r>
            <a:endParaRPr sz="650" b="1">
              <a:solidFill>
                <a:srgbClr val="00A6A6"/>
              </a:solidFill>
              <a:latin typeface="Aptos" panose="020B0004020202020204" pitchFamily="34" charset="0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9DD619-99ED-41AC-8F2E-E8D732481E70}"/>
              </a:ext>
            </a:extLst>
          </p:cNvPr>
          <p:cNvSpPr>
            <a:spLocks noGrp="1"/>
          </p:cNvSpPr>
          <p:nvPr/>
        </p:nvSpPr>
        <p:spPr>
          <a:xfrm>
            <a:off x="5806440" y="1532890"/>
            <a:ext cx="5509260" cy="4180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4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lang="de-DE" sz="470">
                <a:solidFill>
                  <a:srgbClr val="0B1220"/>
                </a:solidFill>
                <a:latin typeface="Aptos Mono" panose="020B0009020202020204" pitchFamily="49" charset="0"/>
                <a:ea typeface="Aptos Mono"/>
                <a:cs typeface="Aptos Mono"/>
              </a:rPr>
              <a:t>def find_conflict_pairs(self) -&gt; List[Tuple[int, int, int, int, str, int, int]]:
    res_map = {}
    for t in self.trains:
        for op in t.operations:
            for req in op.resources:
                if req.resource not in res_map:
                    res_map[req.resource] = []
                res_map[req.resource].append((t.id, op.id, req.release_time))
    conflicts = []
    for res, usage_list in res_map.items():
        for idx1 in range(len(usage_list)):
            for idx2 in range(idx1 + 1, len(usage_list)):
                t1, op1, l1 = usage_list[idx1]
                t2, op2, l2 = usage_list[idx2]
                if t1 != t2:
                    if t1 &gt; t2:
                        conflicts.append((t2, op2, t1, op1, res, l2, l1))
                    else:
                        conflicts.append((t1, op1, t2, op2, res, l1, l2))
    return list(set(conflicts))</a:t>
            </a:r>
            <a:endParaRPr sz="470">
              <a:solidFill>
                <a:srgbClr val="0B1220"/>
              </a:solidFill>
              <a:latin typeface="Aptos Mono" panose="020B0009020202020204" pitchFamily="49" charset="0"/>
              <a:ea typeface="Aptos Mono"/>
              <a:cs typeface="Aptos Mono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EBEEA8-55C8-458C-A064-D97C8279EB41}"/>
              </a:ext>
            </a:extLst>
          </p:cNvPr>
          <p:cNvSpPr>
            <a:spLocks noGrp="1"/>
          </p:cNvSpPr>
          <p:nvPr/>
        </p:nvSpPr>
        <p:spPr>
          <a:xfrm>
            <a:off x="8039100" y="5382260"/>
            <a:ext cx="3276600" cy="3327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lang="de-DE" sz="650" b="1">
                <a:solidFill>
                  <a:srgbClr val="00A6A6"/>
                </a:solidFill>
                <a:latin typeface="Aptos" panose="020B0004020202020204" pitchFamily="34" charset="0"/>
                <a:ea typeface="Aptos"/>
                <a:cs typeface="Aptos"/>
              </a:rPr>
              <a:t>CP-SAT baut dieselbe Konfliktmenge A im Parser auf.</a:t>
            </a:r>
            <a:endParaRPr sz="650" b="1">
              <a:solidFill>
                <a:srgbClr val="00A6A6"/>
              </a:solidFill>
              <a:latin typeface="Aptos" panose="020B0004020202020204" pitchFamily="34" charset="0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11094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6BAEA64-F0F0-412B-B7DE-FCF79E515996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Ressourcenkonflikte: MIP entscheidet paarweise, CP-SAT nutzt Intervalle.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FDCC01-0A12-43DB-B247-A5C98BC4D5A9}"/>
              </a:ext>
            </a:extLst>
          </p:cNvPr>
          <p:cNvSpPr>
            <a:spLocks noGrp="1"/>
          </p:cNvSpPr>
          <p:nvPr/>
        </p:nvSpPr>
        <p:spPr>
          <a:xfrm>
            <a:off x="533400" y="714375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Hier sieht man den stärksten Unterschied zwischen algebraischer und scheduling-naher Modellierung.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534CD-BF0B-4FC5-8325-D2CF8C02C383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3335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047324-0251-474B-97DF-910C61DD07CC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8E896-838F-479F-96DC-BC464108B531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C1410E-A049-450B-ABD1-66D2E16A56DF}"/>
              </a:ext>
            </a:extLst>
          </p:cNvPr>
          <p:cNvSpPr>
            <a:spLocks noGrp="1"/>
          </p:cNvSpPr>
          <p:nvPr/>
        </p:nvSpPr>
        <p:spPr>
          <a:xfrm>
            <a:off x="1295400" y="6296025"/>
            <a:ext cx="533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Train Dispatching | DISPLIB mathematical model to code | Baseline MIP and Extended CP-SAT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4647D9E-5F7E-419B-9789-0D6E1D420558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462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DA487-A428-45DC-BEED-4F40E766D949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C023A-7B4B-4D23-A529-0B64DE5F0420}"/>
              </a:ext>
            </a:extLst>
          </p:cNvPr>
          <p:cNvSpPr>
            <a:spLocks noGrp="1"/>
          </p:cNvSpPr>
          <p:nvPr/>
        </p:nvSpPr>
        <p:spPr>
          <a:xfrm>
            <a:off x="6286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Paper: gleiche Ressource, eine Reihenfolge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3056154"/>
            <a:ext cx="3314700" cy="80284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3F081E-6975-4F4C-AB5E-40DC04EB1C4D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Mit release time λ muss ein Sicherheitsabstand zwischen zwei Zügen bleiben.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B617EB-16A2-4978-960E-97F0F468ABF6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CA4D9C-E302-4182-8D83-2F3AAD21C9DF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A3A22-71D0-4706-A3EE-2E4D3E312013}"/>
              </a:ext>
            </a:extLst>
          </p:cNvPr>
          <p:cNvSpPr>
            <a:spLocks noGrp="1"/>
          </p:cNvSpPr>
          <p:nvPr/>
        </p:nvSpPr>
        <p:spPr>
          <a:xfrm>
            <a:off x="43243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Baseline / Gurobi: mip_model.py:113-148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750EE2-F61E-41E1-83DE-67C0A30884F1}"/>
              </a:ext>
            </a:extLst>
          </p:cNvPr>
          <p:cNvSpPr>
            <a:spLocks noGrp="1"/>
          </p:cNvSpPr>
          <p:nvPr/>
        </p:nvSpPr>
        <p:spPr>
          <a:xfrm>
            <a:off x="43434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t1, o1, t2, o2, res, l1, l2 = c</a:t>
            </a:r>
          </a:p>
          <a:p>
            <a:endParaRPr sz="458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self.z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o1, t2, o2, res]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self.z_ba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o1, t2, o2, res]</a:t>
            </a:r>
          </a:p>
          <a:p>
            <a:endParaRPr sz="458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o1]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o2]</a:t>
            </a:r>
          </a:p>
          <a:p>
            <a:endParaRPr sz="458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&gt;=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&gt;=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x_b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- 1 &lt;=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sz="458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[t1].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get_operation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(o1)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self.instance.trains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[t2].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get_operation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(o2)</a:t>
            </a:r>
          </a:p>
          <a:p>
            <a:endParaRPr sz="458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op_a.successors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(self.t[t1,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self.t[t2, o2] &lt;= -l1))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z_ab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o2] &lt;= -1))</a:t>
            </a:r>
          </a:p>
          <a:p>
            <a:endParaRPr sz="458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op_b.successors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(self.t[t2,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self.t[t1, o1] &lt;= -l2))</a:t>
            </a:r>
          </a:p>
          <a:p>
            <a:pPr algn="l">
              <a:defRPr sz="458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self.model.addConstr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z_ba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1) &gt;&gt; (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[t2,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succ_b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- </a:t>
            </a:r>
            <a:r>
              <a:rPr sz="458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self.u</a:t>
            </a:r>
            <a:r>
              <a:rPr sz="458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[t1, o1] &lt;= -1))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F0B99E-1C73-4F96-8DB0-2B0AF88979C2}"/>
              </a:ext>
            </a:extLst>
          </p:cNvPr>
          <p:cNvSpPr>
            <a:spLocks noGrp="1"/>
          </p:cNvSpPr>
          <p:nvPr/>
        </p:nvSpPr>
        <p:spPr>
          <a:xfrm>
            <a:off x="43434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z_ab/z_ba + Indicator Constraints erzwingen die Reihenfolge.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2F9483-C88A-4A3A-905F-B8F1F090479B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90DF30-9B2D-43F1-ACFE-7A1DE81B290F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219075"/>
          </a:xfrm>
          <a:prstGeom prst="rect">
            <a:avLst/>
          </a:prstGeom>
          <a:solidFill>
            <a:srgbClr val="E5FA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1D9557-3262-415B-91FA-EA18B0BA0822}"/>
              </a:ext>
            </a:extLst>
          </p:cNvPr>
          <p:cNvSpPr>
            <a:spLocks noGrp="1"/>
          </p:cNvSpPr>
          <p:nvPr/>
        </p:nvSpPr>
        <p:spPr>
          <a:xfrm>
            <a:off x="80200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Extended / CP-SAT: cp_model.py:69-90, 117-119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39480C-6617-49AE-ACE5-F1A0467836F9}"/>
              </a:ext>
            </a:extLst>
          </p:cNvPr>
          <p:cNvSpPr>
            <a:spLocks noGrp="1"/>
          </p:cNvSpPr>
          <p:nvPr/>
        </p:nvSpPr>
        <p:spPr>
          <a:xfrm>
            <a:off x="80391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r_data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in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op.resources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r_data.resource</a:t>
            </a:r>
            <a:endParaRPr sz="435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int(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r_data.release_time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sz="435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if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not in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: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= []</a:t>
            </a:r>
          </a:p>
          <a:p>
            <a:endParaRPr sz="435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if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&gt; 0: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ext_dur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(int(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op.min_duration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+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f"ext_dur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ext_dur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self.durations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sz="435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ext_end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self.model.NewIntVar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lb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+ int(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op.min_duration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 +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self.horizon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* 2 +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f"ext_end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}")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ext_end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==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self.ends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 +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rel_time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endParaRPr sz="435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ext_iv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=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self.model.NewOptionalIntervalVar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self.starts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ext_dur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ext_end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self.x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],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f"ext_iv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t_id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o_id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}_{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}"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)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].append(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ext_iv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)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else: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[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].append(iv)</a:t>
            </a:r>
          </a:p>
          <a:p>
            <a:endParaRPr sz="435" b="0" dirty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res_name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, intervals in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resource_intervals.items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():</a:t>
            </a:r>
          </a:p>
          <a:p>
            <a:pPr algn="l">
              <a:defRPr sz="43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</a:t>
            </a:r>
            <a:r>
              <a:rPr sz="435" b="0" dirty="0" err="1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self.model.AddNoOverlap</a:t>
            </a:r>
            <a:r>
              <a:rPr sz="435" b="0" dirty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(intervals)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2ED43-3CEA-409A-9105-3B3DA24CE757}"/>
              </a:ext>
            </a:extLst>
          </p:cNvPr>
          <p:cNvSpPr>
            <a:spLocks noGrp="1"/>
          </p:cNvSpPr>
          <p:nvPr/>
        </p:nvSpPr>
        <p:spPr>
          <a:xfrm>
            <a:off x="80391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AddNoOverlap verbietet Überlappung auf derselben Ressource.</a:t>
            </a:r>
          </a:p>
        </p:txBody>
      </p:sp>
    </p:spTree>
    <p:extLst>
      <p:ext uri="{BB962C8B-B14F-4D97-AF65-F5344CB8AC3E}">
        <p14:creationId xmlns:p14="http://schemas.microsoft.com/office/powerpoint/2010/main" val="18913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1E13237-9E10-4F73-9BAE-5AA965DB2DA3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Ordnungsvariable u: sie verhindert unklare oder zyklische Reihenfolgen.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7B44F9-5534-42A2-8FD6-FCEC66079625}"/>
              </a:ext>
            </a:extLst>
          </p:cNvPr>
          <p:cNvSpPr>
            <a:spLocks noGrp="1"/>
          </p:cNvSpPr>
          <p:nvPr/>
        </p:nvSpPr>
        <p:spPr>
          <a:xfrm>
            <a:off x="533400" y="714375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u ist keine Uhrzeit, sondern ein logischer Rang innerhalb der Event-Reihenfolge.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58506F-28DB-4179-95C6-7A9A0E37271D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3335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69FE8-05F8-4C2D-B12B-AA6441FA753D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2119B1-A87C-4E8A-89C5-1D616975BC55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6FF211-A54D-42A9-8699-5B7A6F2259CE}"/>
              </a:ext>
            </a:extLst>
          </p:cNvPr>
          <p:cNvSpPr>
            <a:spLocks noGrp="1"/>
          </p:cNvSpPr>
          <p:nvPr/>
        </p:nvSpPr>
        <p:spPr>
          <a:xfrm>
            <a:off x="1295400" y="6296025"/>
            <a:ext cx="533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Train Dispatching | DISPLIB mathematical model to code | Baseline MIP and Extended CP-SAT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160DD1F-335B-4089-BE0D-89DC2AB969D0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462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2E4D37-64ED-4046-B15E-6EEEBD60F7E0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D6111-EFE5-40E7-B31F-6F3AA852993A}"/>
              </a:ext>
            </a:extLst>
          </p:cNvPr>
          <p:cNvSpPr>
            <a:spLocks noGrp="1"/>
          </p:cNvSpPr>
          <p:nvPr/>
        </p:nvSpPr>
        <p:spPr>
          <a:xfrm>
            <a:off x="6286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Paper: Gleichung (3), Ordnungslogik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3194215"/>
            <a:ext cx="3314700" cy="52671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45B72F5-42E0-405D-BF30-3E0B3D7C71CC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Wenn A vor B liegt, muss u(A) kleiner als u(B) sein.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7B3517-A3D8-45C3-9EF1-9A74AE9F2ED5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4DAA78-47A0-42D8-9F9B-3EC3C5764557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9F8467-2F09-4665-8675-F79A3B6F68FD}"/>
              </a:ext>
            </a:extLst>
          </p:cNvPr>
          <p:cNvSpPr>
            <a:spLocks noGrp="1"/>
          </p:cNvSpPr>
          <p:nvPr/>
        </p:nvSpPr>
        <p:spPr>
          <a:xfrm>
            <a:off x="43243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Baseline / Gurobi: mip_model.py:150-164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FE5688-14C5-435E-BE70-0BD948F64F06}"/>
              </a:ext>
            </a:extLst>
          </p:cNvPr>
          <p:cNvSpPr>
            <a:spLocks noGrp="1"/>
          </p:cNvSpPr>
          <p:nvPr/>
        </p:nvSpPr>
        <p:spPr>
          <a:xfrm>
            <a:off x="43434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train in self.instance.trains:</a:t>
            </a:r>
          </a:p>
          <a:p>
            <a:pPr algn="l"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for op in train.operations:</a:t>
            </a:r>
          </a:p>
          <a:p>
            <a:pPr algn="l"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for succ in op.successors:</a:t>
            </a:r>
          </a:p>
          <a:p>
            <a:pPr algn="l">
              <a:def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555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self.model.addConstr((self.y[train.id, op.id, succ] == 1) &gt;&gt; (self.u[train.id, op.id] - self.u[train.id, succ] &lt;= -1))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50CFF3-4346-4B2B-AA01-A861147715F2}"/>
              </a:ext>
            </a:extLst>
          </p:cNvPr>
          <p:cNvSpPr>
            <a:spLocks noGrp="1"/>
          </p:cNvSpPr>
          <p:nvPr/>
        </p:nvSpPr>
        <p:spPr>
          <a:xfrm>
            <a:off x="43434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Indicator Constraint: y aktiv =&gt; u steigt streng.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D9A152-D8F0-4C2D-A824-BADD20C6176D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5CB719-EC9B-4112-B3B3-7B9C37880D12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219075"/>
          </a:xfrm>
          <a:prstGeom prst="rect">
            <a:avLst/>
          </a:prstGeom>
          <a:solidFill>
            <a:srgbClr val="E5FA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54CB86-4A79-4650-8540-CA4325FB9432}"/>
              </a:ext>
            </a:extLst>
          </p:cNvPr>
          <p:cNvSpPr>
            <a:spLocks noGrp="1"/>
          </p:cNvSpPr>
          <p:nvPr/>
        </p:nvSpPr>
        <p:spPr>
          <a:xfrm>
            <a:off x="80200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Extended / CP-SAT: cp_model.py:146-153, 190-197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DA1A9E-69EA-43BC-BFEF-217F16BC4D88}"/>
              </a:ext>
            </a:extLst>
          </p:cNvPr>
          <p:cNvSpPr>
            <a:spLocks noGrp="1"/>
          </p:cNvSpPr>
          <p:nvPr/>
        </p:nvSpPr>
        <p:spPr>
          <a:xfrm>
            <a:off x="80391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succ_a in op_a.successors: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self.model.Add(self.starts[t2, o2] &gt;= self.starts[t1, succ_a] + l1).OnlyEnforceIf([z_ab, self.y[t1, o1, succ_a]])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self.model.Add(self.u[t2, o2] &gt;= self.u[t1, succ_a] + 1).OnlyEnforceIf([z_ab, self.y[t1, o1, succ_a]])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succ_b in op_b.successors: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self.model.Add(self.starts[t1, o1] &gt;= self.starts[t2, succ_b] + l2).OnlyEnforceIf([z_ba, self.y[t2, o2, succ_b]])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self.model.Add(self.u[t1, o1] &gt;= self.u[t2, succ_b] + 1).OnlyEnforceIf([z_ba, self.y[t2, o2, succ_b]])</a:t>
            </a:r>
          </a:p>
          <a:p>
            <a:endParaRPr sz="469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succ in op.successors: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self.model.Add(self.starts[t_id, succ] == self.ends[t_id, o_id]).OnlyEnforceIf(self.y[t_id, o_id, succ])</a:t>
            </a:r>
          </a:p>
          <a:p>
            <a:pPr algn="l">
              <a:def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69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self.model.Add(self.u[t_id, succ] &gt;= self.u[t_id, o_id] + 1).OnlyEnforceIf(self.y[t_id, o_id, succ])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8AA828-61CE-4203-A5AF-3724B39D9A3F}"/>
              </a:ext>
            </a:extLst>
          </p:cNvPr>
          <p:cNvSpPr>
            <a:spLocks noGrp="1"/>
          </p:cNvSpPr>
          <p:nvPr/>
        </p:nvSpPr>
        <p:spPr>
          <a:xfrm>
            <a:off x="80391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OnlyEnforceIf koppelt Zeit- und Ranglogik an y/z.</a:t>
            </a:r>
          </a:p>
        </p:txBody>
      </p:sp>
    </p:spTree>
    <p:extLst>
      <p:ext uri="{BB962C8B-B14F-4D97-AF65-F5344CB8AC3E}">
        <p14:creationId xmlns:p14="http://schemas.microsoft.com/office/powerpoint/2010/main" val="1755211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41A7445-E6FA-42A7-B02B-24A0160F63A0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Zielfunktion: im Code wird gewichtete Verspätung minimiert.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7E40EA-92DD-48C5-8453-62CD013B5119}"/>
              </a:ext>
            </a:extLst>
          </p:cNvPr>
          <p:cNvSpPr>
            <a:spLocks noGrp="1"/>
          </p:cNvSpPr>
          <p:nvPr/>
        </p:nvSpPr>
        <p:spPr>
          <a:xfrm>
            <a:off x="533400" y="714375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Die Implementierung berechnet Kosten aus threshold, coeff und Startzeit.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A9374-BEED-45B7-9DBB-07F08DFE2CCB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3335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3185F9-22BB-4BF2-B7A8-FF1A86F05086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974B0C-E5B6-4847-AA32-CED3DD327CE8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248D1-D477-4A16-AF7C-61B77D0DD8CB}"/>
              </a:ext>
            </a:extLst>
          </p:cNvPr>
          <p:cNvSpPr>
            <a:spLocks noGrp="1"/>
          </p:cNvSpPr>
          <p:nvPr/>
        </p:nvSpPr>
        <p:spPr>
          <a:xfrm>
            <a:off x="1295400" y="6296025"/>
            <a:ext cx="533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Train Dispatching | DISPLIB mathematical model to code | Baseline MIP and Extended CP-SAT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507330-7A75-47D7-AEF0-1A2698C57BA5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462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7AA18A-4242-488F-9388-1DACEE5D9C77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819DDA-6A8B-4EA3-90E4-B41E5232E105}"/>
              </a:ext>
            </a:extLst>
          </p:cNvPr>
          <p:cNvSpPr>
            <a:spLocks noGrp="1"/>
          </p:cNvSpPr>
          <p:nvPr/>
        </p:nvSpPr>
        <p:spPr>
          <a:xfrm>
            <a:off x="6286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Paper: Objective / Delay Penalty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3259909"/>
            <a:ext cx="3314700" cy="3953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8C63245-C59B-403D-A6B9-403058286222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Kosten entstehen, wenn eine Operation später als ihr Threshold startet.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9FE980-70B0-41F6-9FF2-8546D253D5BA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B5FB4-1E50-4289-B87C-AE68C731BDB9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52DAB9-05F9-4F29-AB0E-D5F5D9140A5E}"/>
              </a:ext>
            </a:extLst>
          </p:cNvPr>
          <p:cNvSpPr>
            <a:spLocks noGrp="1"/>
          </p:cNvSpPr>
          <p:nvPr/>
        </p:nvSpPr>
        <p:spPr>
          <a:xfrm>
            <a:off x="43243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Baseline / Gurobi: mip_model.py:166-183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E543AC-1D6E-4693-AFA9-42B13CBD5337}"/>
              </a:ext>
            </a:extLst>
          </p:cNvPr>
          <p:cNvSpPr>
            <a:spLocks noGrp="1"/>
          </p:cNvSpPr>
          <p:nvPr/>
        </p:nvSpPr>
        <p:spPr>
          <a:xfrm>
            <a:off x="43434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obj_expr = gp.LinExpr()</a:t>
            </a: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c_idx, comp in enumerate(self.instance.objective):</a:t>
            </a: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if comp.train == -1 or comp.operation == -1:</a:t>
            </a: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continue</a:t>
            </a:r>
          </a:p>
          <a:p>
            <a:endParaRPr sz="480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w_c = self.w[c_idx]</a:t>
            </a: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v_c = self.v[c_idx]</a:t>
            </a: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t_a = self.t[comp.train, comp.operation]</a:t>
            </a: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x_a = self.x[comp.train, comp.operation]</a:t>
            </a:r>
          </a:p>
          <a:p>
            <a:endParaRPr sz="480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self.model.addConstr((x_a == 1) &gt;&gt; (t_a - comp.threshold &lt;= self.M * v_c))</a:t>
            </a: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self.model.addConstr((x_a == 1) &gt;&gt; (w_c &gt;= comp.coeff * (t_a - comp.threshold)))</a:t>
            </a:r>
          </a:p>
          <a:p>
            <a:endParaRPr sz="480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obj_expr += w_c</a:t>
            </a:r>
          </a:p>
          <a:p>
            <a:endParaRPr sz="480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80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self.model.setObjective(obj_expr, GRB.MINIMIZE)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C5D7EF-6549-477C-9B40-AA32ACF9FAA4}"/>
              </a:ext>
            </a:extLst>
          </p:cNvPr>
          <p:cNvSpPr>
            <a:spLocks noGrp="1"/>
          </p:cNvSpPr>
          <p:nvPr/>
        </p:nvSpPr>
        <p:spPr>
          <a:xfrm>
            <a:off x="43434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w_c fließt direkt in die lineare Objective ein.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B41CFA-728B-46F7-B546-339F697EB501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A450FB-B45E-45EF-887C-0666E18438D5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219075"/>
          </a:xfrm>
          <a:prstGeom prst="rect">
            <a:avLst/>
          </a:prstGeom>
          <a:solidFill>
            <a:srgbClr val="E5FA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789743-170A-4C2E-9D49-ACA08415D4C8}"/>
              </a:ext>
            </a:extLst>
          </p:cNvPr>
          <p:cNvSpPr>
            <a:spLocks noGrp="1"/>
          </p:cNvSpPr>
          <p:nvPr/>
        </p:nvSpPr>
        <p:spPr>
          <a:xfrm>
            <a:off x="80200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Extended / CP-SAT: cp_model.py:200-229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43AA33-C847-4417-87F8-574F9BCE74FC}"/>
              </a:ext>
            </a:extLst>
          </p:cNvPr>
          <p:cNvSpPr>
            <a:spLocks noGrp="1"/>
          </p:cNvSpPr>
          <p:nvPr/>
        </p:nvSpPr>
        <p:spPr>
          <a:xfrm>
            <a:off x="80391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c_idx, comp in enumerate(self.instance.objective):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if comp.train == -1 or comp.operation == -1: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continue</a:t>
            </a:r>
          </a:p>
          <a:p>
            <a:endParaRPr sz="44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t_id = comp.train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o_id = comp.operation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th = int(comp.threshold)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cf = comp.coeff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scaled_cf = int(cf * self.COEFF_SCALE)</a:t>
            </a:r>
          </a:p>
          <a:p>
            <a:endParaRPr sz="44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x_a = self.x.get((t_id, o_id))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if x_a is None: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continue</a:t>
            </a:r>
          </a:p>
          <a:p>
            <a:endParaRPr sz="44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over_time = self.model.NewIntVar(0, self.horizon * 2, f"ov_{c_idx}")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self.model.Add(over_time &gt;= self.starts[t_id, o_id] - th).OnlyEnforceIf(x_a)</a:t>
            </a:r>
          </a:p>
          <a:p>
            <a:endParaRPr sz="44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cost_var = self.model.NewIntVar(0, int(self.horizon * 2 * max(1, scaled_cf)), f"cost_{c_idx}")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self.model.Add(cost_var == over_time * scaled_cf).OnlyEnforceIf(x_a)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self.model.Add(cost_var == 0).OnlyEnforceIf(x_a.Not())</a:t>
            </a:r>
          </a:p>
          <a:p>
            <a:endParaRPr sz="44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obj_costs.append(cost_var)</a:t>
            </a:r>
          </a:p>
          <a:p>
            <a:endParaRPr sz="44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if len(obj_costs) &gt; 0:</a:t>
            </a:r>
          </a:p>
          <a:p>
            <a:pPr algn="l">
              <a:def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4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self.model.Minimize(sum(obj_costs))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AE447D-73D3-45C8-B5BA-5EB8A46FCD2B}"/>
              </a:ext>
            </a:extLst>
          </p:cNvPr>
          <p:cNvSpPr>
            <a:spLocks noGrp="1"/>
          </p:cNvSpPr>
          <p:nvPr/>
        </p:nvSpPr>
        <p:spPr>
          <a:xfrm>
            <a:off x="80391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CP-SAT skaliert Koeffizienten, weil es Integer bevorzugt.</a:t>
            </a:r>
          </a:p>
        </p:txBody>
      </p:sp>
    </p:spTree>
    <p:extLst>
      <p:ext uri="{BB962C8B-B14F-4D97-AF65-F5344CB8AC3E}">
        <p14:creationId xmlns:p14="http://schemas.microsoft.com/office/powerpoint/2010/main" val="170632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133AA03-B3DE-4161-ABE8-CC7D398D59FA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549F"/>
                </a:solidFill>
                <a:latin typeface="Aptos Display"/>
                <a:ea typeface="Aptos Display"/>
                <a:cs typeface="Aptos Display"/>
              </a:rPr>
              <a:t>Output: beide Modelle schreiben am Ende dieselbe DISPLIB-Event-Liste.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C7D53F-B887-450C-9FA7-6B7D27A7E078}"/>
              </a:ext>
            </a:extLst>
          </p:cNvPr>
          <p:cNvSpPr>
            <a:spLocks noGrp="1"/>
          </p:cNvSpPr>
          <p:nvPr/>
        </p:nvSpPr>
        <p:spPr>
          <a:xfrm>
            <a:off x="533400" y="714375"/>
            <a:ext cx="9906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Nach dem Solver werden gewählte Operationen gesammelt und nach Zeit plus u sortiert.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DA9500-BA9E-4CAD-BA9E-EF5CB9E27695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1125200" cy="13335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9C2E35-2FC7-461B-B1EF-091708959BAA}"/>
              </a:ext>
            </a:extLst>
          </p:cNvPr>
          <p:cNvSpPr>
            <a:spLocks noGrp="1"/>
          </p:cNvSpPr>
          <p:nvPr/>
        </p:nvSpPr>
        <p:spPr>
          <a:xfrm>
            <a:off x="533400" y="6076950"/>
            <a:ext cx="11125200" cy="12383"/>
          </a:xfrm>
          <a:prstGeom prst="rect">
            <a:avLst/>
          </a:prstGeom>
          <a:solidFill>
            <a:srgbClr val="1F29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585510-65AD-4F10-B452-34CF2D976F32}"/>
              </a:ext>
            </a:extLst>
          </p:cNvPr>
          <p:cNvSpPr>
            <a:spLocks noGrp="1"/>
          </p:cNvSpPr>
          <p:nvPr/>
        </p:nvSpPr>
        <p:spPr>
          <a:xfrm>
            <a:off x="533400" y="6296025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026540-CA1C-4067-AD55-EAAFCBA0F78F}"/>
              </a:ext>
            </a:extLst>
          </p:cNvPr>
          <p:cNvSpPr>
            <a:spLocks noGrp="1"/>
          </p:cNvSpPr>
          <p:nvPr/>
        </p:nvSpPr>
        <p:spPr>
          <a:xfrm>
            <a:off x="1295400" y="6296025"/>
            <a:ext cx="5334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00549F"/>
                </a:solidFill>
                <a:latin typeface="Aptos"/>
                <a:ea typeface="Aptos"/>
                <a:cs typeface="Aptos"/>
              </a:rPr>
              <a:t>Train Dispatching | DISPLIB mathematical model to code | Baseline MIP and Extended CP-SAT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02612" y="6191250"/>
            <a:ext cx="1635276" cy="4572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F040B6F-68EF-4F62-A101-835EBE5B0DE6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462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FE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C1CCA5-C674-458E-BDEA-D8587BABA59F}"/>
              </a:ext>
            </a:extLst>
          </p:cNvPr>
          <p:cNvSpPr>
            <a:spLocks noGrp="1"/>
          </p:cNvSpPr>
          <p:nvPr/>
        </p:nvSpPr>
        <p:spPr>
          <a:xfrm>
            <a:off x="5334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6414C5-B013-4629-9976-77EBB974F787}"/>
              </a:ext>
            </a:extLst>
          </p:cNvPr>
          <p:cNvSpPr>
            <a:spLocks noGrp="1"/>
          </p:cNvSpPr>
          <p:nvPr/>
        </p:nvSpPr>
        <p:spPr>
          <a:xfrm>
            <a:off x="6286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DISPLIB Lösung: Events in zeitlicher Reihenfolge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" y="3019425"/>
            <a:ext cx="3314700" cy="8763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7A24BF7-9415-4EF9-84F7-21BE211C83F7}"/>
              </a:ext>
            </a:extLst>
          </p:cNvPr>
          <p:cNvSpPr>
            <a:spLocks noGrp="1"/>
          </p:cNvSpPr>
          <p:nvPr/>
        </p:nvSpPr>
        <p:spPr>
          <a:xfrm>
            <a:off x="666750" y="5419725"/>
            <a:ext cx="3238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Nicht nur Objective-Wert: die Reihenfolge der Events muss verifizierbar sein.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B90B3A-8930-4150-85AB-ADDBAF175340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97E8A9-B8EA-4184-8BAC-A42DBB364C65}"/>
              </a:ext>
            </a:extLst>
          </p:cNvPr>
          <p:cNvSpPr>
            <a:spLocks noGrp="1"/>
          </p:cNvSpPr>
          <p:nvPr/>
        </p:nvSpPr>
        <p:spPr>
          <a:xfrm>
            <a:off x="4229100" y="1200150"/>
            <a:ext cx="3505200" cy="219075"/>
          </a:xfrm>
          <a:prstGeom prst="rect">
            <a:avLst/>
          </a:prstGeom>
          <a:solidFill>
            <a:srgbClr val="E8F2FC"/>
          </a:solidFill>
          <a:ln w="9525">
            <a:solidFill>
              <a:srgbClr val="00549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91BE28-8CD0-4E54-B3B1-B70E9FBEAAD9}"/>
              </a:ext>
            </a:extLst>
          </p:cNvPr>
          <p:cNvSpPr>
            <a:spLocks noGrp="1"/>
          </p:cNvSpPr>
          <p:nvPr/>
        </p:nvSpPr>
        <p:spPr>
          <a:xfrm>
            <a:off x="43243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Baseline / Gurobi: mip_model.py:194-218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6A0DE6-81DA-4A91-9A79-E907AAF7EA69}"/>
              </a:ext>
            </a:extLst>
          </p:cNvPr>
          <p:cNvSpPr>
            <a:spLocks noGrp="1"/>
          </p:cNvSpPr>
          <p:nvPr/>
        </p:nvSpPr>
        <p:spPr>
          <a:xfrm>
            <a:off x="43434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 = []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train in self.instance.trains: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for op in train.operations: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val_x = self.x[train.id, op.id].X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if val_x &gt; 0.5: # Operation is selected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val_t = self.t[train.id, op.id].X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events.append({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"operation": op.id,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"time": int(round(val_t)),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"train": train.id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})</a:t>
            </a:r>
          </a:p>
          <a:p>
            <a:endParaRPr sz="47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events.sort(key=lambda x: (x["time"], self.u[x["train"], x["operation"]].X))</a:t>
            </a:r>
          </a:p>
          <a:p>
            <a:endParaRPr sz="47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output = {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"events": events,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"objective_value": int(round(self.model.ObjVal))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54EB2F-38AB-4692-A2FA-10EDE70555C9}"/>
              </a:ext>
            </a:extLst>
          </p:cNvPr>
          <p:cNvSpPr>
            <a:spLocks noGrp="1"/>
          </p:cNvSpPr>
          <p:nvPr/>
        </p:nvSpPr>
        <p:spPr>
          <a:xfrm>
            <a:off x="43434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549F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549F"/>
                </a:solidFill>
                <a:latin typeface="Aptos"/>
                <a:ea typeface="Aptos"/>
                <a:cs typeface="Aptos"/>
              </a:rPr>
              <a:t>Gurobi-Werte werden über .X gelesen.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72FDD-2913-4DC5-BCBB-B7EE94431D23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4629150"/>
          </a:xfrm>
          <a:prstGeom prst="rect">
            <a:avLst/>
          </a:prstGeom>
          <a:solidFill>
            <a:srgbClr val="F6F8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834C74-B376-4682-AA6A-A44717CED9FE}"/>
              </a:ext>
            </a:extLst>
          </p:cNvPr>
          <p:cNvSpPr>
            <a:spLocks noGrp="1"/>
          </p:cNvSpPr>
          <p:nvPr/>
        </p:nvSpPr>
        <p:spPr>
          <a:xfrm>
            <a:off x="7924800" y="1200150"/>
            <a:ext cx="3505200" cy="219075"/>
          </a:xfrm>
          <a:prstGeom prst="rect">
            <a:avLst/>
          </a:prstGeom>
          <a:solidFill>
            <a:srgbClr val="E5FAFA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68D401-22CD-480B-B893-A242C40AAB4B}"/>
              </a:ext>
            </a:extLst>
          </p:cNvPr>
          <p:cNvSpPr>
            <a:spLocks noGrp="1"/>
          </p:cNvSpPr>
          <p:nvPr/>
        </p:nvSpPr>
        <p:spPr>
          <a:xfrm>
            <a:off x="8020050" y="1247775"/>
            <a:ext cx="33147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Extended / CP-SAT: cp_model.py:255-282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42710C6-3FED-4BB9-A7B2-1C3823D87DBC}"/>
              </a:ext>
            </a:extLst>
          </p:cNvPr>
          <p:cNvSpPr>
            <a:spLocks noGrp="1"/>
          </p:cNvSpPr>
          <p:nvPr/>
        </p:nvSpPr>
        <p:spPr>
          <a:xfrm>
            <a:off x="8039100" y="1533525"/>
            <a:ext cx="3276600" cy="3752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 = []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for train in self.instance.trains: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t_id = train.id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for op in train.operations: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o_id = op.id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if self.solver.BooleanValue(self.x[t_id, o_id]):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st = self.solver.Value(self.starts[t_id, o_id])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events.append({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"operation": o_id,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"time": int(st),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    "train": t_id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        })</a:t>
            </a:r>
          </a:p>
          <a:p>
            <a:endParaRPr sz="47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events.sort(key=lambda x: (x["time"], self.solver.Value(self.u[x["train"], x["operation"]])))</a:t>
            </a:r>
          </a:p>
          <a:p>
            <a:endParaRPr sz="476" b="0">
              <a:solidFill>
                <a:srgbClr val="0B1220"/>
              </a:solidFill>
              <a:latin typeface="Aptos Mono"/>
              <a:ea typeface="Aptos Mono"/>
              <a:cs typeface="Aptos Mono"/>
            </a:endParaRP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output = {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"events": events,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    "objective_value": int(round(self.obj_val))</a:t>
            </a:r>
          </a:p>
          <a:p>
            <a:pPr algn="l">
              <a:def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defRPr>
            </a:pPr>
            <a:r>
              <a:rPr sz="476" b="0">
                <a:solidFill>
                  <a:srgbClr val="0B1220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B4F156-8ADE-4107-A064-68DB7600BEE5}"/>
              </a:ext>
            </a:extLst>
          </p:cNvPr>
          <p:cNvSpPr>
            <a:spLocks noGrp="1"/>
          </p:cNvSpPr>
          <p:nvPr/>
        </p:nvSpPr>
        <p:spPr>
          <a:xfrm>
            <a:off x="8039100" y="5381625"/>
            <a:ext cx="32766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00A6A6"/>
                </a:solidFill>
                <a:latin typeface="Aptos"/>
                <a:ea typeface="Aptos"/>
                <a:cs typeface="Aptos"/>
              </a:defRPr>
            </a:pPr>
            <a:r>
              <a:rPr sz="615" b="1">
                <a:solidFill>
                  <a:srgbClr val="00A6A6"/>
                </a:solidFill>
                <a:latin typeface="Aptos"/>
                <a:ea typeface="Aptos"/>
                <a:cs typeface="Aptos"/>
              </a:rPr>
              <a:t>CP-SAT-Werte werden über solver.Value / BooleanValue gelesen.</a:t>
            </a:r>
          </a:p>
        </p:txBody>
      </p:sp>
    </p:spTree>
    <p:extLst>
      <p:ext uri="{BB962C8B-B14F-4D97-AF65-F5344CB8AC3E}">
        <p14:creationId xmlns:p14="http://schemas.microsoft.com/office/powerpoint/2010/main" val="12127563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6056</Words>
  <Application>Microsoft Office PowerPoint</Application>
  <DocSecurity>0</DocSecurity>
  <PresentationFormat>Widescreen</PresentationFormat>
  <Paragraphs>366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Tianyang Bai</cp:lastModifiedBy>
  <cp:revision>3</cp:revision>
  <dcterms:created xsi:type="dcterms:W3CDTF">2026-05-18T19:43:14Z</dcterms:created>
  <dcterms:modified xsi:type="dcterms:W3CDTF">2026-05-19T08:10:54Z</dcterms:modified>
</cp:coreProperties>
</file>