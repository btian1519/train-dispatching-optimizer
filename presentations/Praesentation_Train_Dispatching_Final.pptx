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F0A73D3-FBC1-4D47-8543-A11BA3B4DC28}"/>
              </a:ext>
            </a:extLst>
          </p:cNvPr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F4CBBA1-954F-4A35-A14D-1D851EF8E326}"/>
              </a:ext>
            </a:extLst>
          </p:cNvPr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fik 7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19A859E0-99BD-4462-A66E-7FFF62E40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965939E9-23E5-4822-9F20-1E5729CD1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54D22BF-B1FC-40F1-832A-3AB19A24FBCE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CCAD97C0-27D9-4A7C-82D4-A17FE9DE9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1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90C6E24-94B2-4220-99A9-3818B4A91586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E3EF9CEB-A41E-45D4-A833-3E2B3393F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75A3AB05-F813-4AC6-9044-5F0DA7A3C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2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CEC0078-E1D4-4A54-B33E-F7A0F4720198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D05B0B5C-83F5-4414-B2AA-037B41B9C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1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>
            <a:extLst>
              <a:ext uri="{FF2B5EF4-FFF2-40B4-BE49-F238E27FC236}">
                <a16:creationId xmlns:a16="http://schemas.microsoft.com/office/drawing/2014/main" id="{D5D0E2FC-3DC5-4EA0-A175-0B1CC51FC78A}"/>
              </a:ext>
            </a:extLst>
          </p:cNvPr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813E6BA0-BACC-4066-A4A7-81433711D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7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>
            <a:extLst>
              <a:ext uri="{FF2B5EF4-FFF2-40B4-BE49-F238E27FC236}">
                <a16:creationId xmlns:a16="http://schemas.microsoft.com/office/drawing/2014/main" id="{25821BAF-A998-441B-8191-CE326EE1E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5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668FF3C9-89D1-4793-A0F8-160C43D2C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87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46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C3FBA6D-D185-4E65-BA58-F6D60A8CDCD2}"/>
              </a:ext>
            </a:extLst>
          </p:cNvPr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>
            <a:extLst>
              <a:ext uri="{FF2B5EF4-FFF2-40B4-BE49-F238E27FC236}">
                <a16:creationId xmlns:a16="http://schemas.microsoft.com/office/drawing/2014/main" id="{7EAD0A55-458C-461C-8A98-FB757E9F4A7E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BF6B2EA4-A7DF-477E-A555-153DA86B2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68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26CE-F9EE-BF3D-2A2E-1911B5493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DAD42-091A-D2B5-BD4F-7F527F7EB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306EB-FB49-CB5A-8484-EA061946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5A80C-4252-4477-8AC9-3985050A38FC}" type="datetimeFigureOut">
              <a:rPr lang="en-DE" smtClean="0"/>
              <a:t>14/05/2026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B4696-78C0-B4B7-5964-9B824CCA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F26C3-C462-BC2E-D9FC-F48B796A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D59F-9EAF-44A0-9EC7-CCBBDCCFF1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8421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CBF0E6-97C3-473E-A6E8-CB800563BB33}"/>
              </a:ext>
            </a:extLst>
          </p:cNvPr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>
                <a:solidFill>
                  <a:schemeClr val="tx2"/>
                </a:solidFill>
              </a:rPr>
              <a:t>Titel der Präsentation  |  Name des Vortragenden  |  Organisationseinheit  |  00.00.2000  |  Die Fußzeile bietet Platz für einen Text über 3 Zeilen  |  Die Fußzeile bietet Platz für einen Text über 3 Zeilen  |  Die Fußzeile bietet Platz für 3 Zeilen  |  Die Fußzeile bietet Platz für 3 Zeilen  |  Die Fußzeile bietet Platz für 3 Zeilen  |  Die Fußzeile bietet Platz für 3 Zeilen</a:t>
            </a:r>
          </a:p>
          <a:p>
            <a:pPr eaLnBrk="1" hangingPunct="1">
              <a:defRPr/>
            </a:pPr>
            <a:endParaRPr lang="de-DE" altLang="de-DE" sz="900">
              <a:solidFill>
                <a:schemeClr val="tx2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3F14107-F8A8-4432-ADBA-17617EB7E0D5}"/>
              </a:ext>
            </a:extLst>
          </p:cNvPr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4433757-720D-4347-908D-4390B2080B31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>
            <a:extLst>
              <a:ext uri="{FF2B5EF4-FFF2-40B4-BE49-F238E27FC236}">
                <a16:creationId xmlns:a16="http://schemas.microsoft.com/office/drawing/2014/main" id="{1EFD7C95-1B86-405C-AB6F-F43FD0AF2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>
            <a:extLst>
              <a:ext uri="{FF2B5EF4-FFF2-40B4-BE49-F238E27FC236}">
                <a16:creationId xmlns:a16="http://schemas.microsoft.com/office/drawing/2014/main" id="{6F5E163A-F32F-4307-A238-CBCE094AF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96AFAB6-A7B6-45C5-B5AC-8B3CADFAAA85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3" name="Grafik 2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9A65EF06-F076-4140-B064-D92FFD5FE32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1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6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Optimierung des Train Dispatching Problems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Von MIP-Baseline zu Constraint Programming (CP-SAT)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Optimierung des Train Dispatching Problems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Von MIP-Baseline zu Constraint Programming (CP-SAT)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1. Problemstellung &amp; Einführung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2. Mathematische Modellierung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3. Variablen-Mapping: Modell vs. Code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4. Constraints &amp; Zielfunktion: Gurobi vs. CP-SAT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5. Architektonische Vorteile von CP-SAT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6. Fazit &amp;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1. Problemstellung &amp; Einführung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2. Mathematische Modellierung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3. Variablen-Mapping: Modell vs. Code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4. Constraints &amp; Zielfunktion: Gurobi vs. CP-SAT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5. Architektonische Vorteile von CP-SAT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6. Fazit &amp;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Train Dispatching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Zielsetzung:</a:t>
            </a:r>
          </a:p>
          <a:p>
            <a:pPr>
              <a:defRPr sz="1600"/>
            </a:pPr>
            <a:r>
              <a:t>Zuweisung von Streckenressourcen (z. B. Gleise) an Züge unter strikter Einhaltung von Sicherheitsabständen.</a:t>
            </a:r>
          </a:p>
          <a:p>
            <a:br/>
            <a:pPr>
              <a:defRPr b="1" sz="2000">
                <a:solidFill>
                  <a:srgbClr val="003366"/>
                </a:solidFill>
              </a:defRPr>
            </a:pPr>
            <a:r>
              <a:t>Herausforderung (Flow &amp; Time Routing):</a:t>
            </a:r>
          </a:p>
          <a:p>
            <a:pPr>
              <a:defRPr sz="1600"/>
            </a:pPr>
            <a:r>
              <a:t>Simultane Optimierung der Zugpfade (Routing) und der exakten Belegungszeiten (Scheduling).</a:t>
            </a:r>
          </a:p>
        </p:txBody>
      </p:sp>
      <p:pic>
        <p:nvPicPr>
          <p:cNvPr id="6" name="Picture 5" descr="intro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Variablen-Mapping: Math vs.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Logik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Math. Modell (Paper)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Baseline (Gurobi)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Extend (CP-SAT)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Ausführung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x_a ∈ {0, 1}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x[train_id, op_id]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x[t_id, o_id]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Pfad / Fluss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y_ab ∈ {0, 1}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y[train_id, op_a, op_b]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y[t_id, o_id, succ]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Zeit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t_a ≥ 0 (Startzeit)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t[train_id, op_id] (Kontinuierlich)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IntervalVar (Start, Dauer, Ende)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Kollision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z_ab ∈ {0, 1}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Keine extra Variable (Big-M Logik)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Keine Variable (Globale Constraint)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Topologie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u_a ≥ 0 (Rang)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u[train_id, op_id] (Kontinuierlich)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ourier New"/>
                        </a:rPr>
                        <a:t>u[t_id, o_id] (Integer)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Vergleich: Zielfunktion (Makespan)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pic>
        <p:nvPicPr>
          <p:cNvPr id="5" name="Picture 4" descr="math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0415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2743200"/>
            <a:ext cx="3931920" cy="365760"/>
          </a:xfrm>
          <a:prstGeom prst="roundRect">
            <a:avLst/>
          </a:prstGeom>
          <a:solidFill>
            <a:srgbClr val="DC381F"/>
          </a:solidFill>
          <a:ln>
            <a:solidFill>
              <a:srgbClr val="DC3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Baseline (Gurobi)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393192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makespan = model.addVar(vtype=GRB.CONTINUOUS, name='makespan')</a:t>
            </a:r>
            <a:br/>
            <a:r>
              <a:t>for t_id, o_id in ...:</a:t>
            </a:r>
            <a:br/>
            <a:r>
              <a:t>    model.addConstr(makespan &gt;= self.t[t_id, o_id] + duration)</a:t>
            </a:r>
            <a:br/>
            <a:r>
              <a:t>model.setObjective(makespan, GRB.MINIMIZE)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743200"/>
            <a:ext cx="3931920" cy="36576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Extend (CP-SAT)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108960"/>
            <a:ext cx="393192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makespan = model.NewIntVar(0, horizon, 'makespan')</a:t>
            </a:r>
            <a:br/>
            <a:r>
              <a:t>for t_id in trains:</a:t>
            </a:r>
            <a:br/>
            <a:r>
              <a:t>    end_vars = [self.ends[t_id, o_id] for o_id in ...]</a:t>
            </a:r>
            <a:br/>
            <a:r>
              <a:t>    model.AddMaxEquality(makespan, end_vars)</a:t>
            </a:r>
            <a:br/>
            <a:r>
              <a:t>model.Minimize(makespan)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Vergleich: Flow &amp; Precedence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pic>
        <p:nvPicPr>
          <p:cNvPr id="5" name="Picture 4" descr="math_prece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1756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2377440"/>
            <a:ext cx="3931920" cy="365760"/>
          </a:xfrm>
          <a:prstGeom prst="roundRect">
            <a:avLst/>
          </a:prstGeom>
          <a:solidFill>
            <a:srgbClr val="DC381F"/>
          </a:solidFill>
          <a:ln>
            <a:solidFill>
              <a:srgbClr val="DC3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Baseline (Gurobi)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# Flow Conservation</a:t>
            </a:r>
            <a:br/>
            <a:r>
              <a:t>model.addConstr(quicksum(y[t, a, b]) == x[t, a])</a:t>
            </a:r>
            <a:br/>
            <a:br/>
            <a:r>
              <a:t># Precedence (Indicator Constraint)</a:t>
            </a:r>
            <a:br/>
            <a:r>
              <a:t>model.addConstr((y[t, a, b] == 1) &gt;&gt; </a:t>
            </a:r>
            <a:br/>
            <a:r>
              <a:t>                (t[t, b] &gt;= t[t, a] + d_a))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377440"/>
            <a:ext cx="3931920" cy="36576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Extend (CP-SAT)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# Flow Conservation</a:t>
            </a:r>
            <a:br/>
            <a:r>
              <a:t>model.AddExactlyOne([y[t, a, b] for b in ...])</a:t>
            </a:r>
            <a:br/>
            <a:br/>
            <a:r>
              <a:t># Precedence (OnlyEnforceIf)</a:t>
            </a:r>
            <a:br/>
            <a:r>
              <a:t>model.Add(starts[t, b] &gt;= ends[t, a]).OnlyEnforceIf(y[t, a, b])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Vergleich: Kollision &amp; Deadlock-Prävention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pic>
        <p:nvPicPr>
          <p:cNvPr id="5" name="Picture 4" descr="math_coll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8015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2560320"/>
            <a:ext cx="3931920" cy="365760"/>
          </a:xfrm>
          <a:prstGeom prst="roundRect">
            <a:avLst/>
          </a:prstGeom>
          <a:solidFill>
            <a:srgbClr val="DC381F"/>
          </a:solidFill>
          <a:ln>
            <a:solidFill>
              <a:srgbClr val="DC3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Baseline (Gurobi)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3931920" cy="192024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# N² Kollisions-Check (Big-M)</a:t>
            </a:r>
            <a:br/>
            <a:r>
              <a:t>model.addConstr((z_ab == 1) &gt;&gt; (t_b &gt;= t_a + d_a + H))</a:t>
            </a:r>
            <a:br/>
            <a:r>
              <a:t>model.addConstr((z_ba == 1) &gt;&gt; (t_a &gt;= t_b + d_b + H))</a:t>
            </a:r>
            <a:br/>
            <a:r>
              <a:t>model.addConstr(z_ab + z_ba == 1)</a:t>
            </a:r>
            <a:br/>
            <a:br/>
            <a:r>
              <a:t># Deadlock Prävention (Topologische Rank)</a:t>
            </a:r>
            <a:br/>
            <a:r>
              <a:t>model.addConstr(u_b &gt;= u_a + 1 - M*(1-y_ab))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560320"/>
            <a:ext cx="3931920" cy="36576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Extend (CP-SAT)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926080"/>
            <a:ext cx="3931920" cy="192024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t># Globale Constraint (O(N) vs O(N²))</a:t>
            </a:r>
            <a:br/>
            <a:r>
              <a:t># IntervalVars: start, duration, end</a:t>
            </a:r>
            <a:br/>
            <a:r>
              <a:t>intervals_on_resource_r = [...]</a:t>
            </a:r>
            <a:br/>
            <a:r>
              <a:t>model.AddNoOverlap(intervals_on_resource_r)</a:t>
            </a:r>
            <a:br/>
            <a:br/>
            <a:r>
              <a:t># Deadlock Prävention (Manuell synchronisiert)</a:t>
            </a:r>
            <a:br/>
            <a:r>
              <a:t>model.Add(u[t, b] &gt;= u[t, a] + 1).OnlyEnforceIf(y_ab)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OR-Tools (CP-SAT)?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b="1" sz="1800">
                <a:solidFill>
                  <a:srgbClr val="0066CC"/>
                </a:solidFill>
              </a:rPr>
              <a:t>Natives Zeitblock-Denken (Interval Variables): </a:t>
            </a:r>
            <a:r>
              <a:rPr b="0" sz="1600"/>
              <a:t>MIP modelliert Zeit als isolierten Punkt t. CP-SAT bündelt [Start, Dauer, Ende] in einer untrennbaren IntervalVar. Perfekt für Scheduling.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066CC"/>
                </a:solidFill>
              </a:rPr>
              <a:t>Keine Big-M Constraint-Explosion: </a:t>
            </a:r>
            <a:r>
              <a:rPr b="0" sz="1600"/>
              <a:t>MIP benötigt N² Variablen (z_ab) für Konflikte. CP-SAT nutzt AddNoOverlap, welches hochoptimierte Edge-finding Algorithmen verwendet und den Suchraum massiv verkleinert.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066CC"/>
                </a:solidFill>
              </a:rPr>
              <a:t>Exakte Lösung vs. Heuristik: </a:t>
            </a:r>
            <a:r>
              <a:rPr b="0" sz="1600"/>
              <a:t>Im Gegensatz zu Heuristiken (z.B. Hexaly / Local Search) ist CP-SAT ein exakter Löser (kombiniert SAT-Techniken mit Large Neighborhood Search). Garantiert das globale Optimum!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066CC"/>
                </a:solidFill>
              </a:rPr>
              <a:t>Deadlock-Freiheit bewahrt: </a:t>
            </a:r>
            <a:r>
              <a:rPr b="0" sz="1600"/>
              <a:t>Durch die Integration der topologischen Ränge (u) aus dem mathematischen Modell verhindern wir Deadlocks vollständig (hybrider Ansatz).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200">
                <a:solidFill>
                  <a:srgbClr val="003366"/>
                </a:solidFill>
              </a:defRPr>
            </a:pPr>
            <a:r>
              <a:t>Ergebnis der Architektur-Erweiterung:</a:t>
            </a:r>
          </a:p>
          <a:p>
            <a:pPr>
              <a:defRPr sz="1800"/>
            </a:pPr>
            <a:r>
              <a:t>Die Umstellung auf CP-SAT ermöglicht die Verarbeitung großer Datensätze in Bruchteilen einer Sekunde, ohne Kompromisse bei der Exaktheit einzugehen.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200400"/>
            <a:ext cx="5486400" cy="13716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DC3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2000">
                <a:solidFill>
                  <a:srgbClr val="DC381F"/>
                </a:solidFill>
              </a:defRPr>
            </a:pPr>
            <a:r>
              <a:t>Beispiel: Testinstanz smi_close_4</a:t>
            </a:r>
          </a:p>
          <a:p>
            <a:pPr algn="ctr">
              <a:defRPr b="1" sz="2400">
                <a:solidFill>
                  <a:srgbClr val="003366"/>
                </a:solidFill>
              </a:defRPr>
            </a:pPr>
            <a:r>
              <a:t>Lösungszeit mit CP-SAT: &lt; 0.05 Sekunden!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825358FF-48E6-4ECE-8C04-78B1C1D59C9F}" vid="{DDEF5410-6062-43C4-A715-B78640DDFF8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Präsentation_Master_RWTH_OM_16zu9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Symbol</vt:lpstr>
      <vt:lpstr>Wingdings</vt:lpstr>
      <vt:lpstr>Präsentation_Master_RWTH_Institute_16zu9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Tianyang Bai</dc:creator>
  <cp:lastModifiedBy>Tianyang Bai</cp:lastModifiedBy>
  <cp:revision>1</cp:revision>
  <dcterms:created xsi:type="dcterms:W3CDTF">2026-05-14T08:40:29Z</dcterms:created>
  <dcterms:modified xsi:type="dcterms:W3CDTF">2026-05-14T08:45:03Z</dcterms:modified>
</cp:coreProperties>
</file>