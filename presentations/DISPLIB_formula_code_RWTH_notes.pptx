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Ich zeige hier nicht nur das mathematische Modell, sondern auch die genaue Stelle im echten Code. Die Folien sind im RWTH-Format neu aufgebaut, damit Formel und Code besser lesbar sind. Wichtig ist: Die Codeboxen sind keine Pseudocode-Zusammenfassungen, sondern echte Ausschnitte aus unserem Repository.</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Der zentrale Unterschied ist nicht die Problemidee, sondern die Solver-Sprache. Gurobi formuliert das Problem als MIP mit linearen Constraints und binären Variablen. CP-SAT arbeitet stärker mit diskreten Entscheidungen, logischen Implikationen und Scheduling-Constraints. Deshalb sehen die beiden Codes unterschiedlich aus, obwohl sie dieselbe Dispatching-Logik abbilden.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Hier sieht man zuerst die Baseline-Variablen. x entscheidet, ob eine Operation gewählt wird, y beschreibt direkte Nachfolge, t ist die Startzeit und u ist ein Ordnungsrang. Im Code werden diese Größen mit Gurobi addVar als echte Solver-Variablen angelegt.</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Im CP-SAT Modell gibt es dieselbe Grundinformation, aber die Modellierung ist anders. Neben Bool- und Integer-Variablen werden optionale Intervalle erstellt. Ein Intervall verbindet Start, Dauer, Ende und Aktivierungsvariable. Dadurch kann CP-SAT Scheduling-Konflikte später direkter behandeln.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Diese Folie zeigt die Routing-Constraints im MIP. Ein Startknoten muss genau einen ausgehenden Weg haben, ein Endknoten genau einen eingehenden Weg. Für Zwischenoperationen gilt Flusserhaltung: was hineinkommt, muss auch wieder herausgehen. Die y-Variablen werden zusätzlich mit den x-Variablen verknüpft.</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Die CP-SAT Version bildet dieselbe Routing-Logik ab, aber mit model.Add. Start- und Endoperationen werden aktiv gesetzt, und für jede Operation wird Summe rein beziehungsweise Summe raus mit x gekoppelt. Zusätzlich wird bei gewählter Nachfolge die Zeitbeziehung start(successor) gleich end(current) erzwungen.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Hier geht es um Zeitfenster und Mindestdauer. Im MIP bekommt t direkt eine untere und obere Schranke. Die Mindestdauer erscheint später als Constraint zwischen zwei Operationen. In CP-SAT sind Start, Dauer und Ende getrennte Integer-Variablen; das passt besser zur Intervalldarstellung.</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Bevor der Solver arbeitet, baut der Parser die Konfliktmenge A. Dafür wird geschaut, welche Operationen verschiedener Züge dieselbe Ressource benutzen. Diese Paare werden als Konflikte gespeichert. Erst danach formulieren MIP oder CP-SAT die eigentlichen Ressourcenbedingungen.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Im MIP müssen Ressourcenkonflikte paarweise modelliert werden. Für jedes Konfliktpaar gibt es z_ab und z_ba. Diese Variablen entscheiden, ob Operation A vor B kommt oder umgekehrt. Deshalb ist der Code hier relativ algebraisch und benutzt viele explizite Nebenbedingungen.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In CP-SAT wird derselbe Ressourcenkonflikt als Scheduling-Problem formuliert. Für jede Ressourcenbelegung wird ein Intervall gebaut, bei Bedarf mit zusätzlicher Release-Time. Danach sagt AddNoOverlap, dass Intervalle auf derselben Ressource nicht gleichzeitig liegen dürfen. Das ist der wichtigste Modellierungsunterschied.</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u gibt der Lösung eine robuste Reihenfolge. Startzeiten allein können in Grenzfällen nicht eindeutig genug sein, deshalb wird ein topologischer Rang verwendet. Wenn eine Operation vor einer anderen liegt, muss ihr u-Wert kleiner sein. Ein Caveat ist: Im Paper ist u ganzzahlig, in der Baseline aber kontinuierlich angelegt.</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Die Zielfunktion minimiert in unserer Implementierung die gewichtete Verspätung. Der Code berechnet, wie stark eine Operation über einem Threshold liegt, und multipliziert das mit einem Koeffizienten. Wichtig für die Diskussion: Die volle Step-Penalty aus DISPLIB ist hier nicht vollständig umgesetzt.</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Am Ende braucht DISPLIB nicht nur einen Zielfunktionswert, sondern eine geordnete Event-Liste. Beide Modelle sammeln die gewählten Operationen und sortieren sie nach Zeit und zusätzlich nach u. Danach wird die Lösung als JSON mit events und objective_value exportiert.</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Zusammenfassend: Beide Modelle lösen dieselbe Dispatching-Logik. Die Baseline ist näher an der algebraischen MILP-Formulierung, während CP-SAT Scheduling-Konflikte direkter mit Intervallen und NoOverlap ausdrückt. Der Unterschied ist also nicht das Problem, sondern die Sprache und Suchlogik des Solvers.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E3980A44-C887-4CEC-AF9A-801DB5E90BAF}"/>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en-DE"/>
          </a:p>
        </p:txBody>
      </p:sp>
      <p:sp>
        <p:nvSpPr>
          <p:cNvPr id="2" name="Rectangle 1">
            <a:extLst>
              <a:ext uri="{FF2B5EF4-FFF2-40B4-BE49-F238E27FC236}">
                <a16:creationId xmlns:a16="http://schemas.microsoft.com/office/drawing/2014/main" id="{FC20AEE0-FDAD-4ABD-83E3-BA10B55E2D3D}"/>
              </a:ext>
            </a:extLst>
          </p:cNvPr>
          <p:cNvSpPr>
            <a:spLocks noGrp="1"/>
          </p:cNvSpPr>
          <p:nvPr/>
        </p:nvSpPr>
        <p:spPr>
          <a:xfrm>
            <a:off x="0" y="0"/>
            <a:ext cx="12192000" cy="1571625"/>
          </a:xfrm>
          <a:prstGeom prst="rect">
            <a:avLst/>
          </a:prstGeom>
          <a:solidFill>
            <a:srgbClr val="00549F"/>
          </a:solidFill>
          <a:ln w="0">
            <a:solidFill>
              <a:srgbClr val="000000">
                <a:alpha val="0"/>
              </a:srgbClr>
            </a:solidFill>
            <a:prstDash val="solid"/>
          </a:ln>
        </p:spPr>
        <p:txBody>
          <a:bodyPr/>
          <a:lstStyle/>
          <a:p>
            <a:endParaRPr lang="en-DE"/>
          </a:p>
        </p:txBody>
      </p:sp>
      <p:sp>
        <p:nvSpPr>
          <p:cNvPr id="3" name="Rectangle 2">
            <a:extLst>
              <a:ext uri="{FF2B5EF4-FFF2-40B4-BE49-F238E27FC236}">
                <a16:creationId xmlns:a16="http://schemas.microsoft.com/office/drawing/2014/main" id="{7FB2203B-8E2B-404E-A04B-90614F3ADC43}"/>
              </a:ext>
            </a:extLst>
          </p:cNvPr>
          <p:cNvSpPr>
            <a:spLocks noGrp="1"/>
          </p:cNvSpPr>
          <p:nvPr/>
        </p:nvSpPr>
        <p:spPr>
          <a:xfrm>
            <a:off x="590550" y="2133600"/>
            <a:ext cx="85725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00549F"/>
                </a:solidFill>
                <a:latin typeface="Arial"/>
                <a:ea typeface="Arial"/>
                <a:cs typeface="Arial"/>
              </a:defRPr>
            </a:pPr>
            <a:r>
              <a:rPr sz="1800" b="1">
                <a:solidFill>
                  <a:srgbClr val="00549F"/>
                </a:solidFill>
                <a:latin typeface="Arial"/>
                <a:ea typeface="Arial"/>
                <a:cs typeface="Arial"/>
              </a:rPr>
              <a:t>DISPLIB Train Dispatching</a:t>
            </a:r>
          </a:p>
        </p:txBody>
      </p:sp>
      <p:sp>
        <p:nvSpPr>
          <p:cNvPr id="4" name="Rectangle 3">
            <a:extLst>
              <a:ext uri="{FF2B5EF4-FFF2-40B4-BE49-F238E27FC236}">
                <a16:creationId xmlns:a16="http://schemas.microsoft.com/office/drawing/2014/main" id="{7A062287-E047-4F77-87F7-AB1A329FBE68}"/>
              </a:ext>
            </a:extLst>
          </p:cNvPr>
          <p:cNvSpPr>
            <a:spLocks noGrp="1"/>
          </p:cNvSpPr>
          <p:nvPr/>
        </p:nvSpPr>
        <p:spPr>
          <a:xfrm>
            <a:off x="590550" y="2628900"/>
            <a:ext cx="885825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11111"/>
                </a:solidFill>
                <a:latin typeface="Arial"/>
                <a:ea typeface="Arial"/>
                <a:cs typeface="Arial"/>
              </a:defRPr>
            </a:pPr>
            <a:r>
              <a:rPr sz="2550" b="1">
                <a:solidFill>
                  <a:srgbClr val="111111"/>
                </a:solidFill>
                <a:latin typeface="Arial"/>
                <a:ea typeface="Arial"/>
                <a:cs typeface="Arial"/>
              </a:rPr>
              <a:t>Mathematisches Modell im echten Code</a:t>
            </a:r>
          </a:p>
        </p:txBody>
      </p:sp>
      <p:sp>
        <p:nvSpPr>
          <p:cNvPr id="5" name="Rectangle 4">
            <a:extLst>
              <a:ext uri="{FF2B5EF4-FFF2-40B4-BE49-F238E27FC236}">
                <a16:creationId xmlns:a16="http://schemas.microsoft.com/office/drawing/2014/main" id="{C59146B6-4627-4CC3-AA0A-C743C74E579F}"/>
              </a:ext>
            </a:extLst>
          </p:cNvPr>
          <p:cNvSpPr>
            <a:spLocks noGrp="1"/>
          </p:cNvSpPr>
          <p:nvPr/>
        </p:nvSpPr>
        <p:spPr>
          <a:xfrm>
            <a:off x="590550" y="3390900"/>
            <a:ext cx="9144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65656"/>
                </a:solidFill>
                <a:latin typeface="Arial"/>
                <a:ea typeface="Arial"/>
                <a:cs typeface="Arial"/>
              </a:defRPr>
            </a:pPr>
            <a:r>
              <a:rPr sz="1125" b="0">
                <a:solidFill>
                  <a:srgbClr val="565656"/>
                </a:solidFill>
                <a:latin typeface="Arial"/>
                <a:ea typeface="Arial"/>
                <a:cs typeface="Arial"/>
              </a:rPr>
              <a:t>RWTH-Format | größere Formel- und Code-Ausschnitte | Sprecher-Notizen pro Folie</a:t>
            </a:r>
          </a:p>
        </p:txBody>
      </p:sp>
      <p:sp>
        <p:nvSpPr>
          <p:cNvPr id="6" name="Rectangle 5">
            <a:extLst>
              <a:ext uri="{FF2B5EF4-FFF2-40B4-BE49-F238E27FC236}">
                <a16:creationId xmlns:a16="http://schemas.microsoft.com/office/drawing/2014/main" id="{C8578934-B295-4008-A2C1-0FE3A5E3C35D}"/>
              </a:ext>
            </a:extLst>
          </p:cNvPr>
          <p:cNvSpPr>
            <a:spLocks noGrp="1"/>
          </p:cNvSpPr>
          <p:nvPr/>
        </p:nvSpPr>
        <p:spPr>
          <a:xfrm>
            <a:off x="590550" y="4095750"/>
            <a:ext cx="3286125" cy="876300"/>
          </a:xfrm>
          <a:prstGeom prst="rect">
            <a:avLst/>
          </a:prstGeom>
          <a:solidFill>
            <a:srgbClr val="FFFFFF"/>
          </a:solidFill>
          <a:ln w="11430">
            <a:solidFill>
              <a:srgbClr val="00549F"/>
            </a:solidFill>
            <a:prstDash val="solid"/>
          </a:ln>
        </p:spPr>
        <p:txBody>
          <a:bodyPr/>
          <a:lstStyle/>
          <a:p>
            <a:endParaRPr lang="en-DE"/>
          </a:p>
        </p:txBody>
      </p:sp>
      <p:sp>
        <p:nvSpPr>
          <p:cNvPr id="7" name="Rectangle 6">
            <a:extLst>
              <a:ext uri="{FF2B5EF4-FFF2-40B4-BE49-F238E27FC236}">
                <a16:creationId xmlns:a16="http://schemas.microsoft.com/office/drawing/2014/main" id="{B3C8908D-302D-4A04-9EE7-CBAB50C4F757}"/>
              </a:ext>
            </a:extLst>
          </p:cNvPr>
          <p:cNvSpPr>
            <a:spLocks noGrp="1"/>
          </p:cNvSpPr>
          <p:nvPr/>
        </p:nvSpPr>
        <p:spPr>
          <a:xfrm>
            <a:off x="590550" y="4095750"/>
            <a:ext cx="57150" cy="876300"/>
          </a:xfrm>
          <a:prstGeom prst="rect">
            <a:avLst/>
          </a:prstGeom>
          <a:solidFill>
            <a:srgbClr val="00549F"/>
          </a:solidFill>
          <a:ln w="0">
            <a:solidFill>
              <a:srgbClr val="000000">
                <a:alpha val="0"/>
              </a:srgbClr>
            </a:solidFill>
            <a:prstDash val="solid"/>
          </a:ln>
        </p:spPr>
        <p:txBody>
          <a:bodyPr/>
          <a:lstStyle/>
          <a:p>
            <a:endParaRPr lang="en-DE"/>
          </a:p>
        </p:txBody>
      </p:sp>
      <p:sp>
        <p:nvSpPr>
          <p:cNvPr id="8" name="Rectangle 7">
            <a:extLst>
              <a:ext uri="{FF2B5EF4-FFF2-40B4-BE49-F238E27FC236}">
                <a16:creationId xmlns:a16="http://schemas.microsoft.com/office/drawing/2014/main" id="{756AA0A0-BF70-4C22-803B-AD2E259AABB5}"/>
              </a:ext>
            </a:extLst>
          </p:cNvPr>
          <p:cNvSpPr>
            <a:spLocks noGrp="1"/>
          </p:cNvSpPr>
          <p:nvPr/>
        </p:nvSpPr>
        <p:spPr>
          <a:xfrm>
            <a:off x="762000" y="4219575"/>
            <a:ext cx="3019425"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00549F"/>
                </a:solidFill>
                <a:latin typeface="Arial"/>
                <a:ea typeface="Arial"/>
                <a:cs typeface="Arial"/>
              </a:defRPr>
            </a:pPr>
            <a:r>
              <a:rPr sz="1125" b="1">
                <a:solidFill>
                  <a:srgbClr val="00549F"/>
                </a:solidFill>
                <a:latin typeface="Arial"/>
                <a:ea typeface="Arial"/>
                <a:cs typeface="Arial"/>
              </a:rPr>
              <a:t>Kein Pseudocode</a:t>
            </a:r>
          </a:p>
        </p:txBody>
      </p:sp>
      <p:sp>
        <p:nvSpPr>
          <p:cNvPr id="9" name="Rectangle 8">
            <a:extLst>
              <a:ext uri="{FF2B5EF4-FFF2-40B4-BE49-F238E27FC236}">
                <a16:creationId xmlns:a16="http://schemas.microsoft.com/office/drawing/2014/main" id="{6585887A-8CD9-4AB9-A078-7FE3982D0C88}"/>
              </a:ext>
            </a:extLst>
          </p:cNvPr>
          <p:cNvSpPr>
            <a:spLocks noGrp="1"/>
          </p:cNvSpPr>
          <p:nvPr/>
        </p:nvSpPr>
        <p:spPr>
          <a:xfrm>
            <a:off x="762000" y="4476750"/>
            <a:ext cx="301942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32" b="0">
                <a:solidFill>
                  <a:srgbClr val="111111"/>
                </a:solidFill>
                <a:latin typeface="Arial"/>
                <a:ea typeface="Arial"/>
                <a:cs typeface="Arial"/>
              </a:defRPr>
            </a:pPr>
            <a:r>
              <a:rPr sz="832" b="0">
                <a:solidFill>
                  <a:srgbClr val="111111"/>
                </a:solidFill>
                <a:latin typeface="Arial"/>
                <a:ea typeface="Arial"/>
                <a:cs typeface="Arial"/>
              </a:rPr>
              <a:t>Die Code-Boxen sind echte Auszüge aus den Python-Dateien.</a:t>
            </a:r>
          </a:p>
        </p:txBody>
      </p:sp>
      <p:sp>
        <p:nvSpPr>
          <p:cNvPr id="10" name="Rectangle 9">
            <a:extLst>
              <a:ext uri="{FF2B5EF4-FFF2-40B4-BE49-F238E27FC236}">
                <a16:creationId xmlns:a16="http://schemas.microsoft.com/office/drawing/2014/main" id="{FFAE147B-C309-44E3-A7B0-82C7EACB537A}"/>
              </a:ext>
            </a:extLst>
          </p:cNvPr>
          <p:cNvSpPr>
            <a:spLocks noGrp="1"/>
          </p:cNvSpPr>
          <p:nvPr/>
        </p:nvSpPr>
        <p:spPr>
          <a:xfrm>
            <a:off x="4095750" y="4095750"/>
            <a:ext cx="3286125" cy="876300"/>
          </a:xfrm>
          <a:prstGeom prst="rect">
            <a:avLst/>
          </a:prstGeom>
          <a:solidFill>
            <a:srgbClr val="FFFFFF"/>
          </a:solidFill>
          <a:ln w="11430">
            <a:solidFill>
              <a:srgbClr val="00A6B2"/>
            </a:solidFill>
            <a:prstDash val="solid"/>
          </a:ln>
        </p:spPr>
        <p:txBody>
          <a:bodyPr/>
          <a:lstStyle/>
          <a:p>
            <a:endParaRPr lang="en-DE"/>
          </a:p>
        </p:txBody>
      </p:sp>
      <p:sp>
        <p:nvSpPr>
          <p:cNvPr id="11" name="Rectangle 10">
            <a:extLst>
              <a:ext uri="{FF2B5EF4-FFF2-40B4-BE49-F238E27FC236}">
                <a16:creationId xmlns:a16="http://schemas.microsoft.com/office/drawing/2014/main" id="{D8963F37-0357-4DBC-BCBB-C3A0ED8BD806}"/>
              </a:ext>
            </a:extLst>
          </p:cNvPr>
          <p:cNvSpPr>
            <a:spLocks noGrp="1"/>
          </p:cNvSpPr>
          <p:nvPr/>
        </p:nvSpPr>
        <p:spPr>
          <a:xfrm>
            <a:off x="4095750" y="4095750"/>
            <a:ext cx="57150" cy="876300"/>
          </a:xfrm>
          <a:prstGeom prst="rect">
            <a:avLst/>
          </a:prstGeom>
          <a:solidFill>
            <a:srgbClr val="00A6B2"/>
          </a:solidFill>
          <a:ln w="0">
            <a:solidFill>
              <a:srgbClr val="000000">
                <a:alpha val="0"/>
              </a:srgbClr>
            </a:solidFill>
            <a:prstDash val="solid"/>
          </a:ln>
        </p:spPr>
        <p:txBody>
          <a:bodyPr/>
          <a:lstStyle/>
          <a:p>
            <a:endParaRPr lang="en-DE"/>
          </a:p>
        </p:txBody>
      </p:sp>
      <p:sp>
        <p:nvSpPr>
          <p:cNvPr id="12" name="Rectangle 11">
            <a:extLst>
              <a:ext uri="{FF2B5EF4-FFF2-40B4-BE49-F238E27FC236}">
                <a16:creationId xmlns:a16="http://schemas.microsoft.com/office/drawing/2014/main" id="{8D30FF5E-85B8-4FF4-A192-35AE47C9783D}"/>
              </a:ext>
            </a:extLst>
          </p:cNvPr>
          <p:cNvSpPr>
            <a:spLocks noGrp="1"/>
          </p:cNvSpPr>
          <p:nvPr/>
        </p:nvSpPr>
        <p:spPr>
          <a:xfrm>
            <a:off x="4267200" y="4219575"/>
            <a:ext cx="3019425"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00A6B2"/>
                </a:solidFill>
                <a:latin typeface="Arial"/>
                <a:ea typeface="Arial"/>
                <a:cs typeface="Arial"/>
              </a:defRPr>
            </a:pPr>
            <a:r>
              <a:rPr sz="1125" b="1">
                <a:solidFill>
                  <a:srgbClr val="00A6B2"/>
                </a:solidFill>
                <a:latin typeface="Arial"/>
                <a:ea typeface="Arial"/>
                <a:cs typeface="Arial"/>
              </a:rPr>
              <a:t>Solver-Sprache</a:t>
            </a:r>
          </a:p>
        </p:txBody>
      </p:sp>
      <p:sp>
        <p:nvSpPr>
          <p:cNvPr id="13" name="Rectangle 12">
            <a:extLst>
              <a:ext uri="{FF2B5EF4-FFF2-40B4-BE49-F238E27FC236}">
                <a16:creationId xmlns:a16="http://schemas.microsoft.com/office/drawing/2014/main" id="{D261F39A-E053-44ED-8593-CC104926E6A7}"/>
              </a:ext>
            </a:extLst>
          </p:cNvPr>
          <p:cNvSpPr>
            <a:spLocks noGrp="1"/>
          </p:cNvSpPr>
          <p:nvPr/>
        </p:nvSpPr>
        <p:spPr>
          <a:xfrm>
            <a:off x="4267200" y="4476750"/>
            <a:ext cx="301942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32" b="0">
                <a:solidFill>
                  <a:srgbClr val="111111"/>
                </a:solidFill>
                <a:latin typeface="Arial"/>
                <a:ea typeface="Arial"/>
                <a:cs typeface="Arial"/>
              </a:defRPr>
            </a:pPr>
            <a:r>
              <a:rPr sz="832" b="0">
                <a:solidFill>
                  <a:srgbClr val="111111"/>
                </a:solidFill>
                <a:latin typeface="Arial"/>
                <a:ea typeface="Arial"/>
                <a:cs typeface="Arial"/>
              </a:rPr>
              <a:t>Gurobi und CP-SAT lösen dieselbe Logik, aber sie modellieren sie anders.</a:t>
            </a:r>
          </a:p>
        </p:txBody>
      </p:sp>
      <p:sp>
        <p:nvSpPr>
          <p:cNvPr id="14" name="Rectangle 13">
            <a:extLst>
              <a:ext uri="{FF2B5EF4-FFF2-40B4-BE49-F238E27FC236}">
                <a16:creationId xmlns:a16="http://schemas.microsoft.com/office/drawing/2014/main" id="{8CE235CD-D7F5-4D13-9AA1-BA95E39FCFA3}"/>
              </a:ext>
            </a:extLst>
          </p:cNvPr>
          <p:cNvSpPr>
            <a:spLocks noGrp="1"/>
          </p:cNvSpPr>
          <p:nvPr/>
        </p:nvSpPr>
        <p:spPr>
          <a:xfrm>
            <a:off x="7600950" y="4095750"/>
            <a:ext cx="3286125" cy="876300"/>
          </a:xfrm>
          <a:prstGeom prst="rect">
            <a:avLst/>
          </a:prstGeom>
          <a:solidFill>
            <a:srgbClr val="FFFFFF"/>
          </a:solidFill>
          <a:ln w="11430">
            <a:solidFill>
              <a:srgbClr val="FDB515"/>
            </a:solidFill>
            <a:prstDash val="solid"/>
          </a:ln>
        </p:spPr>
        <p:txBody>
          <a:bodyPr/>
          <a:lstStyle/>
          <a:p>
            <a:endParaRPr lang="en-DE"/>
          </a:p>
        </p:txBody>
      </p:sp>
      <p:sp>
        <p:nvSpPr>
          <p:cNvPr id="15" name="Rectangle 14">
            <a:extLst>
              <a:ext uri="{FF2B5EF4-FFF2-40B4-BE49-F238E27FC236}">
                <a16:creationId xmlns:a16="http://schemas.microsoft.com/office/drawing/2014/main" id="{842C3067-B9E0-4AA7-88C5-5641135BFCD2}"/>
              </a:ext>
            </a:extLst>
          </p:cNvPr>
          <p:cNvSpPr>
            <a:spLocks noGrp="1"/>
          </p:cNvSpPr>
          <p:nvPr/>
        </p:nvSpPr>
        <p:spPr>
          <a:xfrm>
            <a:off x="7600950" y="4095750"/>
            <a:ext cx="57150" cy="876300"/>
          </a:xfrm>
          <a:prstGeom prst="rect">
            <a:avLst/>
          </a:prstGeom>
          <a:solidFill>
            <a:srgbClr val="FDB515"/>
          </a:solidFill>
          <a:ln w="0">
            <a:solidFill>
              <a:srgbClr val="000000">
                <a:alpha val="0"/>
              </a:srgbClr>
            </a:solidFill>
            <a:prstDash val="solid"/>
          </a:ln>
        </p:spPr>
        <p:txBody>
          <a:bodyPr/>
          <a:lstStyle/>
          <a:p>
            <a:endParaRPr lang="en-DE"/>
          </a:p>
        </p:txBody>
      </p:sp>
      <p:sp>
        <p:nvSpPr>
          <p:cNvPr id="16" name="Rectangle 15">
            <a:extLst>
              <a:ext uri="{FF2B5EF4-FFF2-40B4-BE49-F238E27FC236}">
                <a16:creationId xmlns:a16="http://schemas.microsoft.com/office/drawing/2014/main" id="{539336D3-201C-41EF-B503-6B990FD86B3E}"/>
              </a:ext>
            </a:extLst>
          </p:cNvPr>
          <p:cNvSpPr>
            <a:spLocks noGrp="1"/>
          </p:cNvSpPr>
          <p:nvPr/>
        </p:nvSpPr>
        <p:spPr>
          <a:xfrm>
            <a:off x="7772400" y="4219575"/>
            <a:ext cx="3019425"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DB515"/>
                </a:solidFill>
                <a:latin typeface="Arial"/>
                <a:ea typeface="Arial"/>
                <a:cs typeface="Arial"/>
              </a:defRPr>
            </a:pPr>
            <a:r>
              <a:rPr sz="1125" b="1">
                <a:solidFill>
                  <a:srgbClr val="FDB515"/>
                </a:solidFill>
                <a:latin typeface="Arial"/>
                <a:ea typeface="Arial"/>
                <a:cs typeface="Arial"/>
              </a:rPr>
              <a:t>Vortragsnotizen</a:t>
            </a:r>
          </a:p>
        </p:txBody>
      </p:sp>
      <p:sp>
        <p:nvSpPr>
          <p:cNvPr id="17" name="Rectangle 16">
            <a:extLst>
              <a:ext uri="{FF2B5EF4-FFF2-40B4-BE49-F238E27FC236}">
                <a16:creationId xmlns:a16="http://schemas.microsoft.com/office/drawing/2014/main" id="{2FA06A5C-17DC-4F42-BE08-257B31816C71}"/>
              </a:ext>
            </a:extLst>
          </p:cNvPr>
          <p:cNvSpPr>
            <a:spLocks noGrp="1"/>
          </p:cNvSpPr>
          <p:nvPr/>
        </p:nvSpPr>
        <p:spPr>
          <a:xfrm>
            <a:off x="7772400" y="4476750"/>
            <a:ext cx="301942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32" b="0">
                <a:solidFill>
                  <a:srgbClr val="111111"/>
                </a:solidFill>
                <a:latin typeface="Arial"/>
                <a:ea typeface="Arial"/>
                <a:cs typeface="Arial"/>
              </a:defRPr>
            </a:pPr>
            <a:r>
              <a:rPr sz="832" b="0">
                <a:solidFill>
                  <a:srgbClr val="111111"/>
                </a:solidFill>
                <a:latin typeface="Arial"/>
                <a:ea typeface="Arial"/>
                <a:cs typeface="Arial"/>
              </a:rPr>
              <a:t>In den Notizen steht jeweils ein kurzer deutscher Sprechtext.</a:t>
            </a:r>
          </a:p>
        </p:txBody>
      </p:sp>
      <p:sp>
        <p:nvSpPr>
          <p:cNvPr id="18" name="Rectangle 17">
            <a:extLst>
              <a:ext uri="{FF2B5EF4-FFF2-40B4-BE49-F238E27FC236}">
                <a16:creationId xmlns:a16="http://schemas.microsoft.com/office/drawing/2014/main" id="{4F052EE0-2E11-44E4-9441-C957F11E45F2}"/>
              </a:ext>
            </a:extLst>
          </p:cNvPr>
          <p:cNvSpPr>
            <a:spLocks noGrp="1"/>
          </p:cNvSpPr>
          <p:nvPr/>
        </p:nvSpPr>
        <p:spPr>
          <a:xfrm>
            <a:off x="381000" y="5753100"/>
            <a:ext cx="11430000" cy="11430"/>
          </a:xfrm>
          <a:prstGeom prst="rect">
            <a:avLst/>
          </a:prstGeom>
          <a:solidFill>
            <a:srgbClr val="222222"/>
          </a:solidFill>
          <a:ln w="0">
            <a:solidFill>
              <a:srgbClr val="000000">
                <a:alpha val="0"/>
              </a:srgbClr>
            </a:solidFill>
            <a:prstDash val="solid"/>
          </a:ln>
        </p:spPr>
        <p:txBody>
          <a:bodyPr/>
          <a:lstStyle/>
          <a:p>
            <a:endParaRPr lang="en-DE"/>
          </a:p>
        </p:txBody>
      </p:sp>
      <p:sp>
        <p:nvSpPr>
          <p:cNvPr id="19" name="Rectangle 18">
            <a:extLst>
              <a:ext uri="{FF2B5EF4-FFF2-40B4-BE49-F238E27FC236}">
                <a16:creationId xmlns:a16="http://schemas.microsoft.com/office/drawing/2014/main" id="{94D2CFF2-5C5B-426F-B22B-B06A54C30ACC}"/>
              </a:ext>
            </a:extLst>
          </p:cNvPr>
          <p:cNvSpPr>
            <a:spLocks noGrp="1"/>
          </p:cNvSpPr>
          <p:nvPr/>
        </p:nvSpPr>
        <p:spPr>
          <a:xfrm>
            <a:off x="381000" y="592455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00549F"/>
                </a:solidFill>
                <a:latin typeface="Arial"/>
                <a:ea typeface="Arial"/>
                <a:cs typeface="Arial"/>
              </a:defRPr>
            </a:pPr>
            <a:r>
              <a:rPr sz="675" b="0">
                <a:solidFill>
                  <a:srgbClr val="00549F"/>
                </a:solidFill>
                <a:latin typeface="Arial"/>
                <a:ea typeface="Arial"/>
                <a:cs typeface="Arial"/>
              </a:rPr>
              <a:t>1</a:t>
            </a:r>
          </a:p>
        </p:txBody>
      </p:sp>
      <p:sp>
        <p:nvSpPr>
          <p:cNvPr id="20" name="Rectangle 19">
            <a:extLst>
              <a:ext uri="{FF2B5EF4-FFF2-40B4-BE49-F238E27FC236}">
                <a16:creationId xmlns:a16="http://schemas.microsoft.com/office/drawing/2014/main" id="{B9CCA7AB-2F2D-4346-8EB2-2208160C61B2}"/>
              </a:ext>
            </a:extLst>
          </p:cNvPr>
          <p:cNvSpPr>
            <a:spLocks noGrp="1"/>
          </p:cNvSpPr>
          <p:nvPr/>
        </p:nvSpPr>
        <p:spPr>
          <a:xfrm>
            <a:off x="1123950" y="5924550"/>
            <a:ext cx="6572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0" b="0">
                <a:solidFill>
                  <a:srgbClr val="00549F"/>
                </a:solidFill>
                <a:latin typeface="Arial"/>
                <a:ea typeface="Arial"/>
                <a:cs typeface="Arial"/>
              </a:defRPr>
            </a:pPr>
            <a:r>
              <a:rPr sz="630" b="0">
                <a:solidFill>
                  <a:srgbClr val="00549F"/>
                </a:solidFill>
                <a:latin typeface="Arial"/>
                <a:ea typeface="Arial"/>
                <a:cs typeface="Arial"/>
              </a:rPr>
              <a:t>Train Dispatching | DISPLIB mathematical model to code | Baseline MIP and Extended CP-SAT</a:t>
            </a:r>
          </a:p>
        </p:txBody>
      </p:sp>
      <p:pic>
        <p:nvPicPr>
          <p:cNvPr id="21" name="Picture 20"/>
          <p:cNvPicPr>
            <a:picLocks noChangeAspect="1"/>
          </p:cNvPicPr>
          <p:nvPr/>
        </p:nvPicPr>
        <p:blipFill>
          <a:blip r:embed="rId3"/>
          <a:stretch/>
        </p:blipFill>
        <p:spPr>
          <a:xfrm>
            <a:off x="8107690" y="5829300"/>
            <a:ext cx="2929870" cy="819150"/>
          </a:xfrm>
          <a:prstGeom prst="rect">
            <a:avLst/>
          </a:prstGeom>
        </p:spPr>
      </p:pic>
    </p:spTree>
    <p:extLst>
      <p:ext uri="{BB962C8B-B14F-4D97-AF65-F5344CB8AC3E}">
        <p14:creationId xmlns:p14="http://schemas.microsoft.com/office/powerpoint/2010/main" val="631475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1A2157FE-6612-4867-9EC8-F1B0FB80DFA5}"/>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en-DE"/>
          </a:p>
        </p:txBody>
      </p:sp>
      <p:sp>
        <p:nvSpPr>
          <p:cNvPr id="2" name="Rectangle 1">
            <a:extLst>
              <a:ext uri="{FF2B5EF4-FFF2-40B4-BE49-F238E27FC236}">
                <a16:creationId xmlns:a16="http://schemas.microsoft.com/office/drawing/2014/main" id="{2B714F5F-B839-4D45-B44A-48952F235296}"/>
              </a:ext>
            </a:extLst>
          </p:cNvPr>
          <p:cNvSpPr>
            <a:spLocks noGrp="1"/>
          </p:cNvSpPr>
          <p:nvPr/>
        </p:nvSpPr>
        <p:spPr>
          <a:xfrm>
            <a:off x="514350" y="285750"/>
            <a:ext cx="106680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00549F"/>
                </a:solidFill>
                <a:latin typeface="Arial"/>
                <a:ea typeface="Arial"/>
                <a:cs typeface="Arial"/>
              </a:defRPr>
            </a:pPr>
            <a:r>
              <a:rPr sz="1800" b="1">
                <a:solidFill>
                  <a:srgbClr val="00549F"/>
                </a:solidFill>
                <a:latin typeface="Arial"/>
                <a:ea typeface="Arial"/>
                <a:cs typeface="Arial"/>
              </a:rPr>
              <a:t>Eine Kernidee: gleiche Dispatching-Logik, andere Solver-Sprache.</a:t>
            </a:r>
          </a:p>
        </p:txBody>
      </p:sp>
      <p:sp>
        <p:nvSpPr>
          <p:cNvPr id="3" name="Rectangle 2">
            <a:extLst>
              <a:ext uri="{FF2B5EF4-FFF2-40B4-BE49-F238E27FC236}">
                <a16:creationId xmlns:a16="http://schemas.microsoft.com/office/drawing/2014/main" id="{20F0A485-4AFD-439F-B89B-FE3108E9487A}"/>
              </a:ext>
            </a:extLst>
          </p:cNvPr>
          <p:cNvSpPr>
            <a:spLocks noGrp="1"/>
          </p:cNvSpPr>
          <p:nvPr/>
        </p:nvSpPr>
        <p:spPr>
          <a:xfrm>
            <a:off x="514350" y="704850"/>
            <a:ext cx="9715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10" b="0">
                <a:solidFill>
                  <a:srgbClr val="565656"/>
                </a:solidFill>
                <a:latin typeface="Arial"/>
                <a:ea typeface="Arial"/>
                <a:cs typeface="Arial"/>
              </a:defRPr>
            </a:pPr>
            <a:r>
              <a:rPr sz="810" b="0">
                <a:solidFill>
                  <a:srgbClr val="565656"/>
                </a:solidFill>
                <a:latin typeface="Arial"/>
                <a:ea typeface="Arial"/>
                <a:cs typeface="Arial"/>
              </a:rPr>
              <a:t>Das ist der rote Faden für den Vergleich zwischen Baseline und Extension.</a:t>
            </a:r>
          </a:p>
        </p:txBody>
      </p:sp>
      <p:sp>
        <p:nvSpPr>
          <p:cNvPr id="4" name="Rectangle 3">
            <a:extLst>
              <a:ext uri="{FF2B5EF4-FFF2-40B4-BE49-F238E27FC236}">
                <a16:creationId xmlns:a16="http://schemas.microsoft.com/office/drawing/2014/main" id="{29C2612A-9110-4D28-B21C-0FDEEB05226B}"/>
              </a:ext>
            </a:extLst>
          </p:cNvPr>
          <p:cNvSpPr>
            <a:spLocks noGrp="1"/>
          </p:cNvSpPr>
          <p:nvPr/>
        </p:nvSpPr>
        <p:spPr>
          <a:xfrm>
            <a:off x="514350" y="971550"/>
            <a:ext cx="10763250" cy="11430"/>
          </a:xfrm>
          <a:prstGeom prst="rect">
            <a:avLst/>
          </a:prstGeom>
          <a:solidFill>
            <a:srgbClr val="222222"/>
          </a:solidFill>
          <a:ln w="0">
            <a:solidFill>
              <a:srgbClr val="000000">
                <a:alpha val="0"/>
              </a:srgbClr>
            </a:solidFill>
            <a:prstDash val="solid"/>
          </a:ln>
        </p:spPr>
        <p:txBody>
          <a:bodyPr/>
          <a:lstStyle/>
          <a:p>
            <a:endParaRPr lang="en-DE"/>
          </a:p>
        </p:txBody>
      </p:sp>
      <p:sp>
        <p:nvSpPr>
          <p:cNvPr id="5" name="Rectangle 4">
            <a:extLst>
              <a:ext uri="{FF2B5EF4-FFF2-40B4-BE49-F238E27FC236}">
                <a16:creationId xmlns:a16="http://schemas.microsoft.com/office/drawing/2014/main" id="{EEA90467-E361-4A13-B868-09D79CCFE6D3}"/>
              </a:ext>
            </a:extLst>
          </p:cNvPr>
          <p:cNvSpPr>
            <a:spLocks noGrp="1"/>
          </p:cNvSpPr>
          <p:nvPr/>
        </p:nvSpPr>
        <p:spPr>
          <a:xfrm>
            <a:off x="666750" y="1428750"/>
            <a:ext cx="3143250" cy="876300"/>
          </a:xfrm>
          <a:prstGeom prst="rect">
            <a:avLst/>
          </a:prstGeom>
          <a:solidFill>
            <a:srgbClr val="FFFFFF"/>
          </a:solidFill>
          <a:ln w="11430">
            <a:solidFill>
              <a:srgbClr val="00549F"/>
            </a:solidFill>
            <a:prstDash val="solid"/>
          </a:ln>
        </p:spPr>
        <p:txBody>
          <a:bodyPr/>
          <a:lstStyle/>
          <a:p>
            <a:endParaRPr lang="en-DE"/>
          </a:p>
        </p:txBody>
      </p:sp>
      <p:sp>
        <p:nvSpPr>
          <p:cNvPr id="6" name="Rectangle 5">
            <a:extLst>
              <a:ext uri="{FF2B5EF4-FFF2-40B4-BE49-F238E27FC236}">
                <a16:creationId xmlns:a16="http://schemas.microsoft.com/office/drawing/2014/main" id="{8F701C02-8987-4AEA-B6B4-602B4E2B76A0}"/>
              </a:ext>
            </a:extLst>
          </p:cNvPr>
          <p:cNvSpPr>
            <a:spLocks noGrp="1"/>
          </p:cNvSpPr>
          <p:nvPr/>
        </p:nvSpPr>
        <p:spPr>
          <a:xfrm>
            <a:off x="666750" y="1428750"/>
            <a:ext cx="57150" cy="876300"/>
          </a:xfrm>
          <a:prstGeom prst="rect">
            <a:avLst/>
          </a:prstGeom>
          <a:solidFill>
            <a:srgbClr val="00549F"/>
          </a:solidFill>
          <a:ln w="0">
            <a:solidFill>
              <a:srgbClr val="000000">
                <a:alpha val="0"/>
              </a:srgbClr>
            </a:solidFill>
            <a:prstDash val="solid"/>
          </a:ln>
        </p:spPr>
        <p:txBody>
          <a:bodyPr/>
          <a:lstStyle/>
          <a:p>
            <a:endParaRPr lang="en-DE"/>
          </a:p>
        </p:txBody>
      </p:sp>
      <p:sp>
        <p:nvSpPr>
          <p:cNvPr id="7" name="Rectangle 6">
            <a:extLst>
              <a:ext uri="{FF2B5EF4-FFF2-40B4-BE49-F238E27FC236}">
                <a16:creationId xmlns:a16="http://schemas.microsoft.com/office/drawing/2014/main" id="{05025BC0-DB6D-4DF9-9984-3CAA4ACF183C}"/>
              </a:ext>
            </a:extLst>
          </p:cNvPr>
          <p:cNvSpPr>
            <a:spLocks noGrp="1"/>
          </p:cNvSpPr>
          <p:nvPr/>
        </p:nvSpPr>
        <p:spPr>
          <a:xfrm>
            <a:off x="838200" y="1552575"/>
            <a:ext cx="28765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00549F"/>
                </a:solidFill>
                <a:latin typeface="Arial"/>
                <a:ea typeface="Arial"/>
                <a:cs typeface="Arial"/>
              </a:defRPr>
            </a:pPr>
            <a:r>
              <a:rPr sz="1125" b="1">
                <a:solidFill>
                  <a:srgbClr val="00549F"/>
                </a:solidFill>
                <a:latin typeface="Arial"/>
                <a:ea typeface="Arial"/>
                <a:cs typeface="Arial"/>
              </a:rPr>
              <a:t>Gurobi / MIP</a:t>
            </a:r>
          </a:p>
        </p:txBody>
      </p:sp>
      <p:sp>
        <p:nvSpPr>
          <p:cNvPr id="8" name="Rectangle 7">
            <a:extLst>
              <a:ext uri="{FF2B5EF4-FFF2-40B4-BE49-F238E27FC236}">
                <a16:creationId xmlns:a16="http://schemas.microsoft.com/office/drawing/2014/main" id="{5C2556E3-B00D-49F2-9238-1269753B7071}"/>
              </a:ext>
            </a:extLst>
          </p:cNvPr>
          <p:cNvSpPr>
            <a:spLocks noGrp="1"/>
          </p:cNvSpPr>
          <p:nvPr/>
        </p:nvSpPr>
        <p:spPr>
          <a:xfrm>
            <a:off x="838200" y="1809750"/>
            <a:ext cx="28765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32" b="0">
                <a:solidFill>
                  <a:srgbClr val="111111"/>
                </a:solidFill>
                <a:latin typeface="Arial"/>
                <a:ea typeface="Arial"/>
                <a:cs typeface="Arial"/>
              </a:defRPr>
            </a:pPr>
            <a:r>
              <a:rPr sz="832" b="0">
                <a:solidFill>
                  <a:srgbClr val="111111"/>
                </a:solidFill>
                <a:latin typeface="Arial"/>
                <a:ea typeface="Arial"/>
                <a:cs typeface="Arial"/>
              </a:rPr>
              <a:t>Das Problem wird als lineare Gleichungen und Ungleichungen mit binären Variablen formuliert.</a:t>
            </a:r>
          </a:p>
        </p:txBody>
      </p:sp>
      <p:sp>
        <p:nvSpPr>
          <p:cNvPr id="9" name="Rectangle 8">
            <a:extLst>
              <a:ext uri="{FF2B5EF4-FFF2-40B4-BE49-F238E27FC236}">
                <a16:creationId xmlns:a16="http://schemas.microsoft.com/office/drawing/2014/main" id="{C5BF402D-D524-4D34-8382-892CC0044B82}"/>
              </a:ext>
            </a:extLst>
          </p:cNvPr>
          <p:cNvSpPr>
            <a:spLocks noGrp="1"/>
          </p:cNvSpPr>
          <p:nvPr/>
        </p:nvSpPr>
        <p:spPr>
          <a:xfrm>
            <a:off x="4524375" y="1428750"/>
            <a:ext cx="3143250" cy="876300"/>
          </a:xfrm>
          <a:prstGeom prst="rect">
            <a:avLst/>
          </a:prstGeom>
          <a:solidFill>
            <a:srgbClr val="FFFFFF"/>
          </a:solidFill>
          <a:ln w="11430">
            <a:solidFill>
              <a:srgbClr val="00A6B2"/>
            </a:solidFill>
            <a:prstDash val="solid"/>
          </a:ln>
        </p:spPr>
        <p:txBody>
          <a:bodyPr/>
          <a:lstStyle/>
          <a:p>
            <a:endParaRPr lang="en-DE"/>
          </a:p>
        </p:txBody>
      </p:sp>
      <p:sp>
        <p:nvSpPr>
          <p:cNvPr id="10" name="Rectangle 9">
            <a:extLst>
              <a:ext uri="{FF2B5EF4-FFF2-40B4-BE49-F238E27FC236}">
                <a16:creationId xmlns:a16="http://schemas.microsoft.com/office/drawing/2014/main" id="{0CC04FC9-2C0B-4E33-B62E-645C61E83A5E}"/>
              </a:ext>
            </a:extLst>
          </p:cNvPr>
          <p:cNvSpPr>
            <a:spLocks noGrp="1"/>
          </p:cNvSpPr>
          <p:nvPr/>
        </p:nvSpPr>
        <p:spPr>
          <a:xfrm>
            <a:off x="4524375" y="1428750"/>
            <a:ext cx="57150" cy="876300"/>
          </a:xfrm>
          <a:prstGeom prst="rect">
            <a:avLst/>
          </a:prstGeom>
          <a:solidFill>
            <a:srgbClr val="00A6B2"/>
          </a:solidFill>
          <a:ln w="0">
            <a:solidFill>
              <a:srgbClr val="000000">
                <a:alpha val="0"/>
              </a:srgbClr>
            </a:solidFill>
            <a:prstDash val="solid"/>
          </a:ln>
        </p:spPr>
        <p:txBody>
          <a:bodyPr/>
          <a:lstStyle/>
          <a:p>
            <a:endParaRPr lang="en-DE"/>
          </a:p>
        </p:txBody>
      </p:sp>
      <p:sp>
        <p:nvSpPr>
          <p:cNvPr id="11" name="Rectangle 10">
            <a:extLst>
              <a:ext uri="{FF2B5EF4-FFF2-40B4-BE49-F238E27FC236}">
                <a16:creationId xmlns:a16="http://schemas.microsoft.com/office/drawing/2014/main" id="{CC84FB43-EA76-44FE-A642-8595882FB3DA}"/>
              </a:ext>
            </a:extLst>
          </p:cNvPr>
          <p:cNvSpPr>
            <a:spLocks noGrp="1"/>
          </p:cNvSpPr>
          <p:nvPr/>
        </p:nvSpPr>
        <p:spPr>
          <a:xfrm>
            <a:off x="4695825" y="1552575"/>
            <a:ext cx="28765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00A6B2"/>
                </a:solidFill>
                <a:latin typeface="Arial"/>
                <a:ea typeface="Arial"/>
                <a:cs typeface="Arial"/>
              </a:defRPr>
            </a:pPr>
            <a:r>
              <a:rPr sz="1125" b="1">
                <a:solidFill>
                  <a:srgbClr val="00A6B2"/>
                </a:solidFill>
                <a:latin typeface="Arial"/>
                <a:ea typeface="Arial"/>
                <a:cs typeface="Arial"/>
              </a:rPr>
              <a:t>CP-SAT</a:t>
            </a:r>
          </a:p>
        </p:txBody>
      </p:sp>
      <p:sp>
        <p:nvSpPr>
          <p:cNvPr id="12" name="Rectangle 11">
            <a:extLst>
              <a:ext uri="{FF2B5EF4-FFF2-40B4-BE49-F238E27FC236}">
                <a16:creationId xmlns:a16="http://schemas.microsoft.com/office/drawing/2014/main" id="{DFF63D43-17FC-4D99-8CD1-EB2A69A45FEF}"/>
              </a:ext>
            </a:extLst>
          </p:cNvPr>
          <p:cNvSpPr>
            <a:spLocks noGrp="1"/>
          </p:cNvSpPr>
          <p:nvPr/>
        </p:nvSpPr>
        <p:spPr>
          <a:xfrm>
            <a:off x="4695825" y="1809750"/>
            <a:ext cx="28765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32" b="0">
                <a:solidFill>
                  <a:srgbClr val="111111"/>
                </a:solidFill>
                <a:latin typeface="Arial"/>
                <a:ea typeface="Arial"/>
                <a:cs typeface="Arial"/>
              </a:defRPr>
            </a:pPr>
            <a:r>
              <a:rPr sz="832" b="0">
                <a:solidFill>
                  <a:srgbClr val="111111"/>
                </a:solidFill>
                <a:latin typeface="Arial"/>
                <a:ea typeface="Arial"/>
                <a:cs typeface="Arial"/>
              </a:rPr>
              <a:t>Das Problem wird als diskrete Entscheidungen, logische Implikationen und Scheduling-Intervalle formuliert.</a:t>
            </a:r>
          </a:p>
        </p:txBody>
      </p:sp>
      <p:sp>
        <p:nvSpPr>
          <p:cNvPr id="13" name="Rectangle 12">
            <a:extLst>
              <a:ext uri="{FF2B5EF4-FFF2-40B4-BE49-F238E27FC236}">
                <a16:creationId xmlns:a16="http://schemas.microsoft.com/office/drawing/2014/main" id="{2FF81814-D522-4B55-B4C9-35A45319B143}"/>
              </a:ext>
            </a:extLst>
          </p:cNvPr>
          <p:cNvSpPr>
            <a:spLocks noGrp="1"/>
          </p:cNvSpPr>
          <p:nvPr/>
        </p:nvSpPr>
        <p:spPr>
          <a:xfrm>
            <a:off x="8382000" y="1428750"/>
            <a:ext cx="3143250" cy="876300"/>
          </a:xfrm>
          <a:prstGeom prst="rect">
            <a:avLst/>
          </a:prstGeom>
          <a:solidFill>
            <a:srgbClr val="FFFFFF"/>
          </a:solidFill>
          <a:ln w="11430">
            <a:solidFill>
              <a:srgbClr val="FDB515"/>
            </a:solidFill>
            <a:prstDash val="solid"/>
          </a:ln>
        </p:spPr>
        <p:txBody>
          <a:bodyPr/>
          <a:lstStyle/>
          <a:p>
            <a:endParaRPr lang="en-DE"/>
          </a:p>
        </p:txBody>
      </p:sp>
      <p:sp>
        <p:nvSpPr>
          <p:cNvPr id="14" name="Rectangle 13">
            <a:extLst>
              <a:ext uri="{FF2B5EF4-FFF2-40B4-BE49-F238E27FC236}">
                <a16:creationId xmlns:a16="http://schemas.microsoft.com/office/drawing/2014/main" id="{180760E9-653C-4DF3-B8CF-07EDE56C46E9}"/>
              </a:ext>
            </a:extLst>
          </p:cNvPr>
          <p:cNvSpPr>
            <a:spLocks noGrp="1"/>
          </p:cNvSpPr>
          <p:nvPr/>
        </p:nvSpPr>
        <p:spPr>
          <a:xfrm>
            <a:off x="8382000" y="1428750"/>
            <a:ext cx="57150" cy="876300"/>
          </a:xfrm>
          <a:prstGeom prst="rect">
            <a:avLst/>
          </a:prstGeom>
          <a:solidFill>
            <a:srgbClr val="FDB515"/>
          </a:solidFill>
          <a:ln w="0">
            <a:solidFill>
              <a:srgbClr val="000000">
                <a:alpha val="0"/>
              </a:srgbClr>
            </a:solidFill>
            <a:prstDash val="solid"/>
          </a:ln>
        </p:spPr>
        <p:txBody>
          <a:bodyPr/>
          <a:lstStyle/>
          <a:p>
            <a:endParaRPr lang="en-DE"/>
          </a:p>
        </p:txBody>
      </p:sp>
      <p:sp>
        <p:nvSpPr>
          <p:cNvPr id="15" name="Rectangle 14">
            <a:extLst>
              <a:ext uri="{FF2B5EF4-FFF2-40B4-BE49-F238E27FC236}">
                <a16:creationId xmlns:a16="http://schemas.microsoft.com/office/drawing/2014/main" id="{1F1C6313-6944-4E04-B281-6F8BD834F6BA}"/>
              </a:ext>
            </a:extLst>
          </p:cNvPr>
          <p:cNvSpPr>
            <a:spLocks noGrp="1"/>
          </p:cNvSpPr>
          <p:nvPr/>
        </p:nvSpPr>
        <p:spPr>
          <a:xfrm>
            <a:off x="8553450" y="1552575"/>
            <a:ext cx="28765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DB515"/>
                </a:solidFill>
                <a:latin typeface="Arial"/>
                <a:ea typeface="Arial"/>
                <a:cs typeface="Arial"/>
              </a:defRPr>
            </a:pPr>
            <a:r>
              <a:rPr sz="1125" b="1">
                <a:solidFill>
                  <a:srgbClr val="FDB515"/>
                </a:solidFill>
                <a:latin typeface="Arial"/>
                <a:ea typeface="Arial"/>
                <a:cs typeface="Arial"/>
              </a:rPr>
              <a:t>Warum Code anders aussieht</a:t>
            </a:r>
          </a:p>
        </p:txBody>
      </p:sp>
      <p:sp>
        <p:nvSpPr>
          <p:cNvPr id="16" name="Rectangle 15">
            <a:extLst>
              <a:ext uri="{FF2B5EF4-FFF2-40B4-BE49-F238E27FC236}">
                <a16:creationId xmlns:a16="http://schemas.microsoft.com/office/drawing/2014/main" id="{9AAA5C5F-1AE3-4150-A5C7-6BA7BEC3D5A1}"/>
              </a:ext>
            </a:extLst>
          </p:cNvPr>
          <p:cNvSpPr>
            <a:spLocks noGrp="1"/>
          </p:cNvSpPr>
          <p:nvPr/>
        </p:nvSpPr>
        <p:spPr>
          <a:xfrm>
            <a:off x="8553450" y="1809750"/>
            <a:ext cx="28765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32" b="0">
                <a:solidFill>
                  <a:srgbClr val="111111"/>
                </a:solidFill>
                <a:latin typeface="Arial"/>
                <a:ea typeface="Arial"/>
                <a:cs typeface="Arial"/>
              </a:defRPr>
            </a:pPr>
            <a:r>
              <a:rPr sz="832" b="0">
                <a:solidFill>
                  <a:srgbClr val="111111"/>
                </a:solidFill>
                <a:latin typeface="Arial"/>
                <a:ea typeface="Arial"/>
                <a:cs typeface="Arial"/>
              </a:rPr>
              <a:t>Im MIP muss man Reihenfolgen oft explizit mit Hilfsvariablen schreiben; CP-SAT hat dafür globale Constraints wie NoOverlap.</a:t>
            </a:r>
          </a:p>
        </p:txBody>
      </p:sp>
      <p:sp>
        <p:nvSpPr>
          <p:cNvPr id="17" name="Rectangle 16">
            <a:extLst>
              <a:ext uri="{FF2B5EF4-FFF2-40B4-BE49-F238E27FC236}">
                <a16:creationId xmlns:a16="http://schemas.microsoft.com/office/drawing/2014/main" id="{519D0071-EB7A-453A-B9DD-4BFDCD77910A}"/>
              </a:ext>
            </a:extLst>
          </p:cNvPr>
          <p:cNvSpPr>
            <a:spLocks noGrp="1"/>
          </p:cNvSpPr>
          <p:nvPr/>
        </p:nvSpPr>
        <p:spPr>
          <a:xfrm>
            <a:off x="971550" y="3048000"/>
            <a:ext cx="10248900" cy="1657350"/>
          </a:xfrm>
          <a:prstGeom prst="rect">
            <a:avLst/>
          </a:prstGeom>
          <a:solidFill>
            <a:srgbClr val="F6F8FA"/>
          </a:solidFill>
          <a:ln w="9525">
            <a:solidFill>
              <a:srgbClr val="D7DDE4"/>
            </a:solidFill>
            <a:prstDash val="solid"/>
          </a:ln>
        </p:spPr>
        <p:txBody>
          <a:bodyPr/>
          <a:lstStyle/>
          <a:p>
            <a:endParaRPr lang="en-DE"/>
          </a:p>
        </p:txBody>
      </p:sp>
      <p:sp>
        <p:nvSpPr>
          <p:cNvPr id="18" name="Rectangle 17">
            <a:extLst>
              <a:ext uri="{FF2B5EF4-FFF2-40B4-BE49-F238E27FC236}">
                <a16:creationId xmlns:a16="http://schemas.microsoft.com/office/drawing/2014/main" id="{6B7F2F87-E2DA-491A-99D9-597D42D41AA7}"/>
              </a:ext>
            </a:extLst>
          </p:cNvPr>
          <p:cNvSpPr>
            <a:spLocks noGrp="1"/>
          </p:cNvSpPr>
          <p:nvPr/>
        </p:nvSpPr>
        <p:spPr>
          <a:xfrm>
            <a:off x="1238250" y="3314700"/>
            <a:ext cx="1714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00549F"/>
                </a:solidFill>
                <a:latin typeface="Arial"/>
                <a:ea typeface="Arial"/>
                <a:cs typeface="Arial"/>
              </a:defRPr>
            </a:pPr>
            <a:r>
              <a:rPr sz="1125" b="1">
                <a:solidFill>
                  <a:srgbClr val="00549F"/>
                </a:solidFill>
                <a:latin typeface="Arial"/>
                <a:ea typeface="Arial"/>
                <a:cs typeface="Arial"/>
              </a:rPr>
              <a:t>Bottom line</a:t>
            </a:r>
          </a:p>
        </p:txBody>
      </p:sp>
      <p:sp>
        <p:nvSpPr>
          <p:cNvPr id="19" name="Rectangle 18">
            <a:extLst>
              <a:ext uri="{FF2B5EF4-FFF2-40B4-BE49-F238E27FC236}">
                <a16:creationId xmlns:a16="http://schemas.microsoft.com/office/drawing/2014/main" id="{54EE1970-7666-4138-A6AE-CCA6AC1E7997}"/>
              </a:ext>
            </a:extLst>
          </p:cNvPr>
          <p:cNvSpPr>
            <a:spLocks noGrp="1"/>
          </p:cNvSpPr>
          <p:nvPr/>
        </p:nvSpPr>
        <p:spPr>
          <a:xfrm>
            <a:off x="1238250" y="3695700"/>
            <a:ext cx="97155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11111"/>
                </a:solidFill>
                <a:latin typeface="Arial"/>
                <a:ea typeface="Arial"/>
                <a:cs typeface="Arial"/>
              </a:defRPr>
            </a:pPr>
            <a:r>
              <a:rPr sz="1425" b="0">
                <a:solidFill>
                  <a:srgbClr val="111111"/>
                </a:solidFill>
                <a:latin typeface="Arial"/>
                <a:ea typeface="Arial"/>
                <a:cs typeface="Arial"/>
              </a:rPr>
              <a:t>Gurobi sucht über LP-Relaxationen, Branch-and-Bound und Cuts. CP-SAT reduziert die Suche durch Constraint Propagation, SAT-Lernen und kombinatorische Entscheidungen.</a:t>
            </a:r>
          </a:p>
        </p:txBody>
      </p:sp>
      <p:sp>
        <p:nvSpPr>
          <p:cNvPr id="20" name="Rectangle 19">
            <a:extLst>
              <a:ext uri="{FF2B5EF4-FFF2-40B4-BE49-F238E27FC236}">
                <a16:creationId xmlns:a16="http://schemas.microsoft.com/office/drawing/2014/main" id="{E7EBFF70-1B2F-448E-BFF6-001DBE225F5F}"/>
              </a:ext>
            </a:extLst>
          </p:cNvPr>
          <p:cNvSpPr>
            <a:spLocks noGrp="1"/>
          </p:cNvSpPr>
          <p:nvPr/>
        </p:nvSpPr>
        <p:spPr>
          <a:xfrm>
            <a:off x="1238250" y="4343400"/>
            <a:ext cx="95250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65656"/>
                </a:solidFill>
                <a:latin typeface="Arial"/>
                <a:ea typeface="Arial"/>
                <a:cs typeface="Arial"/>
              </a:defRPr>
            </a:pPr>
            <a:r>
              <a:rPr sz="1125" b="0">
                <a:solidFill>
                  <a:srgbClr val="565656"/>
                </a:solidFill>
                <a:latin typeface="Arial"/>
                <a:ea typeface="Arial"/>
                <a:cs typeface="Arial"/>
              </a:rPr>
              <a:t>Deshalb ist der MIP-Code stärker algebraisch, während der CP-SAT-Code stärker wie ein Scheduling-Modell aussieht.</a:t>
            </a:r>
          </a:p>
        </p:txBody>
      </p:sp>
      <p:sp>
        <p:nvSpPr>
          <p:cNvPr id="21" name="Rectangle 20">
            <a:extLst>
              <a:ext uri="{FF2B5EF4-FFF2-40B4-BE49-F238E27FC236}">
                <a16:creationId xmlns:a16="http://schemas.microsoft.com/office/drawing/2014/main" id="{F35BC112-4F15-4C31-8671-7A29D064F0A7}"/>
              </a:ext>
            </a:extLst>
          </p:cNvPr>
          <p:cNvSpPr>
            <a:spLocks noGrp="1"/>
          </p:cNvSpPr>
          <p:nvPr/>
        </p:nvSpPr>
        <p:spPr>
          <a:xfrm>
            <a:off x="381000" y="5753100"/>
            <a:ext cx="11430000" cy="11430"/>
          </a:xfrm>
          <a:prstGeom prst="rect">
            <a:avLst/>
          </a:prstGeom>
          <a:solidFill>
            <a:srgbClr val="222222"/>
          </a:solidFill>
          <a:ln w="0">
            <a:solidFill>
              <a:srgbClr val="000000">
                <a:alpha val="0"/>
              </a:srgbClr>
            </a:solidFill>
            <a:prstDash val="solid"/>
          </a:ln>
        </p:spPr>
        <p:txBody>
          <a:bodyPr/>
          <a:lstStyle/>
          <a:p>
            <a:endParaRPr lang="en-DE"/>
          </a:p>
        </p:txBody>
      </p:sp>
      <p:sp>
        <p:nvSpPr>
          <p:cNvPr id="22" name="Rectangle 21">
            <a:extLst>
              <a:ext uri="{FF2B5EF4-FFF2-40B4-BE49-F238E27FC236}">
                <a16:creationId xmlns:a16="http://schemas.microsoft.com/office/drawing/2014/main" id="{FC8C437E-C412-4D18-A3D9-F23F96C247A6}"/>
              </a:ext>
            </a:extLst>
          </p:cNvPr>
          <p:cNvSpPr>
            <a:spLocks noGrp="1"/>
          </p:cNvSpPr>
          <p:nvPr/>
        </p:nvSpPr>
        <p:spPr>
          <a:xfrm>
            <a:off x="381000" y="592455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00549F"/>
                </a:solidFill>
                <a:latin typeface="Arial"/>
                <a:ea typeface="Arial"/>
                <a:cs typeface="Arial"/>
              </a:defRPr>
            </a:pPr>
            <a:r>
              <a:rPr sz="675" b="0">
                <a:solidFill>
                  <a:srgbClr val="00549F"/>
                </a:solidFill>
                <a:latin typeface="Arial"/>
                <a:ea typeface="Arial"/>
                <a:cs typeface="Arial"/>
              </a:rPr>
              <a:t>2</a:t>
            </a:r>
          </a:p>
        </p:txBody>
      </p:sp>
      <p:sp>
        <p:nvSpPr>
          <p:cNvPr id="23" name="Rectangle 22">
            <a:extLst>
              <a:ext uri="{FF2B5EF4-FFF2-40B4-BE49-F238E27FC236}">
                <a16:creationId xmlns:a16="http://schemas.microsoft.com/office/drawing/2014/main" id="{E746986B-C5B9-446B-A997-2C14A9F55E1B}"/>
              </a:ext>
            </a:extLst>
          </p:cNvPr>
          <p:cNvSpPr>
            <a:spLocks noGrp="1"/>
          </p:cNvSpPr>
          <p:nvPr/>
        </p:nvSpPr>
        <p:spPr>
          <a:xfrm>
            <a:off x="1123950" y="5924550"/>
            <a:ext cx="6572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0" b="0">
                <a:solidFill>
                  <a:srgbClr val="00549F"/>
                </a:solidFill>
                <a:latin typeface="Arial"/>
                <a:ea typeface="Arial"/>
                <a:cs typeface="Arial"/>
              </a:defRPr>
            </a:pPr>
            <a:r>
              <a:rPr sz="630" b="0">
                <a:solidFill>
                  <a:srgbClr val="00549F"/>
                </a:solidFill>
                <a:latin typeface="Arial"/>
                <a:ea typeface="Arial"/>
                <a:cs typeface="Arial"/>
              </a:rPr>
              <a:t>Train Dispatching | DISPLIB mathematical model to code | Baseline MIP and Extended CP-SAT</a:t>
            </a:r>
          </a:p>
        </p:txBody>
      </p:sp>
      <p:pic>
        <p:nvPicPr>
          <p:cNvPr id="24" name="Picture 23"/>
          <p:cNvPicPr>
            <a:picLocks noChangeAspect="1"/>
          </p:cNvPicPr>
          <p:nvPr/>
        </p:nvPicPr>
        <p:blipFill>
          <a:blip r:embed="rId3"/>
          <a:stretch/>
        </p:blipFill>
        <p:spPr>
          <a:xfrm>
            <a:off x="8107690" y="5829300"/>
            <a:ext cx="2929870" cy="819150"/>
          </a:xfrm>
          <a:prstGeom prst="rect">
            <a:avLst/>
          </a:prstGeom>
        </p:spPr>
      </p:pic>
    </p:spTree>
    <p:extLst>
      <p:ext uri="{BB962C8B-B14F-4D97-AF65-F5344CB8AC3E}">
        <p14:creationId xmlns:p14="http://schemas.microsoft.com/office/powerpoint/2010/main" val="1692809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F6C8075-2DF4-4D4B-987E-0B3535085A9C}"/>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en-DE"/>
          </a:p>
        </p:txBody>
      </p:sp>
      <p:sp>
        <p:nvSpPr>
          <p:cNvPr id="2" name="Rectangle 1">
            <a:extLst>
              <a:ext uri="{FF2B5EF4-FFF2-40B4-BE49-F238E27FC236}">
                <a16:creationId xmlns:a16="http://schemas.microsoft.com/office/drawing/2014/main" id="{E6E232F2-DA36-415F-BA0A-024ACA957F5B}"/>
              </a:ext>
            </a:extLst>
          </p:cNvPr>
          <p:cNvSpPr>
            <a:spLocks noGrp="1"/>
          </p:cNvSpPr>
          <p:nvPr/>
        </p:nvSpPr>
        <p:spPr>
          <a:xfrm>
            <a:off x="514350" y="285750"/>
            <a:ext cx="106680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00549F"/>
                </a:solidFill>
                <a:latin typeface="Arial"/>
                <a:ea typeface="Arial"/>
                <a:cs typeface="Arial"/>
              </a:defRPr>
            </a:pPr>
            <a:r>
              <a:rPr sz="1800" b="1">
                <a:solidFill>
                  <a:srgbClr val="00549F"/>
                </a:solidFill>
                <a:latin typeface="Arial"/>
                <a:ea typeface="Arial"/>
                <a:cs typeface="Arial"/>
              </a:rPr>
              <a:t>Decision variables: die Baseline legt echte Gurobi-Variablen an.</a:t>
            </a:r>
          </a:p>
        </p:txBody>
      </p:sp>
      <p:sp>
        <p:nvSpPr>
          <p:cNvPr id="3" name="Rectangle 2">
            <a:extLst>
              <a:ext uri="{FF2B5EF4-FFF2-40B4-BE49-F238E27FC236}">
                <a16:creationId xmlns:a16="http://schemas.microsoft.com/office/drawing/2014/main" id="{37AF76B7-AF58-4B6C-AFAB-BF4AAA907F11}"/>
              </a:ext>
            </a:extLst>
          </p:cNvPr>
          <p:cNvSpPr>
            <a:spLocks noGrp="1"/>
          </p:cNvSpPr>
          <p:nvPr/>
        </p:nvSpPr>
        <p:spPr>
          <a:xfrm>
            <a:off x="514350" y="704850"/>
            <a:ext cx="9715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10" b="0">
                <a:solidFill>
                  <a:srgbClr val="565656"/>
                </a:solidFill>
                <a:latin typeface="Arial"/>
                <a:ea typeface="Arial"/>
                <a:cs typeface="Arial"/>
              </a:defRPr>
            </a:pPr>
            <a:r>
              <a:rPr sz="810" b="0">
                <a:solidFill>
                  <a:srgbClr val="565656"/>
                </a:solidFill>
                <a:latin typeface="Arial"/>
                <a:ea typeface="Arial"/>
                <a:cs typeface="Arial"/>
              </a:rPr>
              <a:t>`addVar` ist hier die direkte Umsetzung der mathematischen Variablen.</a:t>
            </a:r>
          </a:p>
        </p:txBody>
      </p:sp>
      <p:sp>
        <p:nvSpPr>
          <p:cNvPr id="4" name="Rectangle 3">
            <a:extLst>
              <a:ext uri="{FF2B5EF4-FFF2-40B4-BE49-F238E27FC236}">
                <a16:creationId xmlns:a16="http://schemas.microsoft.com/office/drawing/2014/main" id="{0F4DC6F6-F4F8-401E-B463-C7945D2A2262}"/>
              </a:ext>
            </a:extLst>
          </p:cNvPr>
          <p:cNvSpPr>
            <a:spLocks noGrp="1"/>
          </p:cNvSpPr>
          <p:nvPr/>
        </p:nvSpPr>
        <p:spPr>
          <a:xfrm>
            <a:off x="514350" y="971550"/>
            <a:ext cx="10763250" cy="11430"/>
          </a:xfrm>
          <a:prstGeom prst="rect">
            <a:avLst/>
          </a:prstGeom>
          <a:solidFill>
            <a:srgbClr val="222222"/>
          </a:solidFill>
          <a:ln w="0">
            <a:solidFill>
              <a:srgbClr val="000000">
                <a:alpha val="0"/>
              </a:srgbClr>
            </a:solidFill>
            <a:prstDash val="solid"/>
          </a:ln>
        </p:spPr>
        <p:txBody>
          <a:bodyPr/>
          <a:lstStyle/>
          <a:p>
            <a:endParaRPr lang="en-DE"/>
          </a:p>
        </p:txBody>
      </p:sp>
      <p:sp>
        <p:nvSpPr>
          <p:cNvPr id="5" name="Rectangle 4">
            <a:extLst>
              <a:ext uri="{FF2B5EF4-FFF2-40B4-BE49-F238E27FC236}">
                <a16:creationId xmlns:a16="http://schemas.microsoft.com/office/drawing/2014/main" id="{8C4947D7-11E7-4FA9-8BA5-B521F067BB20}"/>
              </a:ext>
            </a:extLst>
          </p:cNvPr>
          <p:cNvSpPr>
            <a:spLocks noGrp="1"/>
          </p:cNvSpPr>
          <p:nvPr/>
        </p:nvSpPr>
        <p:spPr>
          <a:xfrm>
            <a:off x="552450" y="1276350"/>
            <a:ext cx="3857625" cy="3000375"/>
          </a:xfrm>
          <a:prstGeom prst="rect">
            <a:avLst/>
          </a:prstGeom>
          <a:solidFill>
            <a:srgbClr val="FFFFFF"/>
          </a:solidFill>
          <a:ln w="9525">
            <a:solidFill>
              <a:srgbClr val="D7DDE4"/>
            </a:solidFill>
            <a:prstDash val="solid"/>
          </a:ln>
        </p:spPr>
        <p:txBody>
          <a:bodyPr/>
          <a:lstStyle/>
          <a:p>
            <a:endParaRPr lang="en-DE"/>
          </a:p>
        </p:txBody>
      </p:sp>
      <p:pic>
        <p:nvPicPr>
          <p:cNvPr id="6" name="Picture 5"/>
          <p:cNvPicPr>
            <a:picLocks noChangeAspect="1"/>
          </p:cNvPicPr>
          <p:nvPr/>
        </p:nvPicPr>
        <p:blipFill>
          <a:blip r:embed="rId3"/>
          <a:stretch/>
        </p:blipFill>
        <p:spPr>
          <a:xfrm>
            <a:off x="647700" y="2157156"/>
            <a:ext cx="3667125" cy="1143512"/>
          </a:xfrm>
          <a:prstGeom prst="rect">
            <a:avLst/>
          </a:prstGeom>
        </p:spPr>
      </p:pic>
      <p:sp>
        <p:nvSpPr>
          <p:cNvPr id="7" name="Rectangle 6">
            <a:extLst>
              <a:ext uri="{FF2B5EF4-FFF2-40B4-BE49-F238E27FC236}">
                <a16:creationId xmlns:a16="http://schemas.microsoft.com/office/drawing/2014/main" id="{A8C5DBC0-E531-43F3-B434-76A34F94C039}"/>
              </a:ext>
            </a:extLst>
          </p:cNvPr>
          <p:cNvSpPr>
            <a:spLocks noGrp="1"/>
          </p:cNvSpPr>
          <p:nvPr/>
        </p:nvSpPr>
        <p:spPr>
          <a:xfrm>
            <a:off x="647700" y="4105275"/>
            <a:ext cx="3667125" cy="104775"/>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533" b="0">
                <a:solidFill>
                  <a:srgbClr val="565656"/>
                </a:solidFill>
                <a:latin typeface="Arial"/>
                <a:ea typeface="Arial"/>
                <a:cs typeface="Arial"/>
              </a:defRPr>
            </a:pPr>
            <a:r>
              <a:rPr sz="533" b="0">
                <a:solidFill>
                  <a:srgbClr val="565656"/>
                </a:solidFill>
                <a:latin typeface="Arial"/>
                <a:ea typeface="Arial"/>
                <a:cs typeface="Arial"/>
              </a:rPr>
              <a:t>Paper: Variablendefinitionen</a:t>
            </a:r>
          </a:p>
        </p:txBody>
      </p:sp>
      <p:sp>
        <p:nvSpPr>
          <p:cNvPr id="8" name="Rectangle 7">
            <a:extLst>
              <a:ext uri="{FF2B5EF4-FFF2-40B4-BE49-F238E27FC236}">
                <a16:creationId xmlns:a16="http://schemas.microsoft.com/office/drawing/2014/main" id="{86497C32-F5F7-4FBA-B476-8477546F32C2}"/>
              </a:ext>
            </a:extLst>
          </p:cNvPr>
          <p:cNvSpPr>
            <a:spLocks noGrp="1"/>
          </p:cNvSpPr>
          <p:nvPr/>
        </p:nvSpPr>
        <p:spPr>
          <a:xfrm>
            <a:off x="4762500" y="1276350"/>
            <a:ext cx="6477000" cy="3619500"/>
          </a:xfrm>
          <a:prstGeom prst="rect">
            <a:avLst/>
          </a:prstGeom>
          <a:solidFill>
            <a:srgbClr val="F6F8FA"/>
          </a:solidFill>
          <a:ln w="9525">
            <a:solidFill>
              <a:srgbClr val="7FAAD3"/>
            </a:solidFill>
            <a:prstDash val="solid"/>
          </a:ln>
        </p:spPr>
        <p:txBody>
          <a:bodyPr/>
          <a:lstStyle/>
          <a:p>
            <a:endParaRPr lang="en-DE"/>
          </a:p>
        </p:txBody>
      </p:sp>
      <p:sp>
        <p:nvSpPr>
          <p:cNvPr id="9" name="Rectangle 8">
            <a:extLst>
              <a:ext uri="{FF2B5EF4-FFF2-40B4-BE49-F238E27FC236}">
                <a16:creationId xmlns:a16="http://schemas.microsoft.com/office/drawing/2014/main" id="{5AD689A4-46FB-43B2-AD26-9944945C9918}"/>
              </a:ext>
            </a:extLst>
          </p:cNvPr>
          <p:cNvSpPr>
            <a:spLocks noGrp="1"/>
          </p:cNvSpPr>
          <p:nvPr/>
        </p:nvSpPr>
        <p:spPr>
          <a:xfrm>
            <a:off x="4762500" y="1276350"/>
            <a:ext cx="6477000" cy="228600"/>
          </a:xfrm>
          <a:prstGeom prst="rect">
            <a:avLst/>
          </a:prstGeom>
          <a:solidFill>
            <a:srgbClr val="E7F0FA"/>
          </a:solidFill>
          <a:ln w="9525">
            <a:solidFill>
              <a:srgbClr val="7FAAD3"/>
            </a:solidFill>
            <a:prstDash val="solid"/>
          </a:ln>
        </p:spPr>
        <p:txBody>
          <a:bodyPr/>
          <a:lstStyle/>
          <a:p>
            <a:endParaRPr lang="en-DE"/>
          </a:p>
        </p:txBody>
      </p:sp>
      <p:sp>
        <p:nvSpPr>
          <p:cNvPr id="10" name="Rectangle 9">
            <a:extLst>
              <a:ext uri="{FF2B5EF4-FFF2-40B4-BE49-F238E27FC236}">
                <a16:creationId xmlns:a16="http://schemas.microsoft.com/office/drawing/2014/main" id="{81E655B4-621A-44F8-BF86-2B7E2546F8C3}"/>
              </a:ext>
            </a:extLst>
          </p:cNvPr>
          <p:cNvSpPr>
            <a:spLocks noGrp="1"/>
          </p:cNvSpPr>
          <p:nvPr/>
        </p:nvSpPr>
        <p:spPr>
          <a:xfrm>
            <a:off x="4857750" y="1333500"/>
            <a:ext cx="62865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70" b="1">
                <a:solidFill>
                  <a:srgbClr val="00549F"/>
                </a:solidFill>
                <a:latin typeface="Arial"/>
                <a:ea typeface="Arial"/>
                <a:cs typeface="Arial"/>
              </a:defRPr>
            </a:pPr>
            <a:r>
              <a:rPr sz="570" b="1">
                <a:solidFill>
                  <a:srgbClr val="00549F"/>
                </a:solidFill>
                <a:latin typeface="Arial"/>
                <a:ea typeface="Arial"/>
                <a:cs typeface="Arial"/>
              </a:rPr>
              <a:t>phase1_baseline/src/mip_model.py:13-41</a:t>
            </a:r>
          </a:p>
        </p:txBody>
      </p:sp>
      <p:sp>
        <p:nvSpPr>
          <p:cNvPr id="11" name="Rectangle 10">
            <a:extLst>
              <a:ext uri="{FF2B5EF4-FFF2-40B4-BE49-F238E27FC236}">
                <a16:creationId xmlns:a16="http://schemas.microsoft.com/office/drawing/2014/main" id="{399D705A-34B7-4FB4-970C-4E9A25155454}"/>
              </a:ext>
            </a:extLst>
          </p:cNvPr>
          <p:cNvSpPr>
            <a:spLocks noGrp="1"/>
          </p:cNvSpPr>
          <p:nvPr/>
        </p:nvSpPr>
        <p:spPr>
          <a:xfrm>
            <a:off x="4876800" y="1600200"/>
            <a:ext cx="6248400" cy="3219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00" b="0">
                <a:solidFill>
                  <a:srgbClr val="111827"/>
                </a:solidFill>
                <a:latin typeface="Consolas"/>
                <a:ea typeface="Consolas"/>
                <a:cs typeface="Consolas"/>
              </a:defRPr>
            </a:pPr>
            <a:r>
              <a:rPr sz="600" b="0">
                <a:solidFill>
                  <a:srgbClr val="111827"/>
                </a:solidFill>
                <a:latin typeface="Consolas"/>
                <a:ea typeface="Consolas"/>
                <a:cs typeface="Consolas"/>
              </a:rPr>
              <a:t>        # Variables</a:t>
            </a:r>
          </a:p>
          <a:p>
            <a:pPr algn="l">
              <a:defRPr sz="600" b="0">
                <a:solidFill>
                  <a:srgbClr val="111827"/>
                </a:solidFill>
                <a:latin typeface="Consolas"/>
                <a:ea typeface="Consolas"/>
                <a:cs typeface="Consolas"/>
              </a:defRPr>
            </a:pPr>
            <a:r>
              <a:rPr sz="600" b="0">
                <a:solidFill>
                  <a:srgbClr val="111827"/>
                </a:solidFill>
                <a:latin typeface="Consolas"/>
                <a:ea typeface="Consolas"/>
                <a:cs typeface="Consolas"/>
              </a:rPr>
              <a:t>        self.x = {} # x[train.id, op.id]</a:t>
            </a:r>
          </a:p>
          <a:p>
            <a:pPr algn="l">
              <a:defRPr sz="600" b="0">
                <a:solidFill>
                  <a:srgbClr val="111827"/>
                </a:solidFill>
                <a:latin typeface="Consolas"/>
                <a:ea typeface="Consolas"/>
                <a:cs typeface="Consolas"/>
              </a:defRPr>
            </a:pPr>
            <a:r>
              <a:rPr sz="600" b="0">
                <a:solidFill>
                  <a:srgbClr val="111827"/>
                </a:solidFill>
                <a:latin typeface="Consolas"/>
                <a:ea typeface="Consolas"/>
                <a:cs typeface="Consolas"/>
              </a:rPr>
              <a:t>        self.y = {} # y[train.id, op_a.id, op_b.id]</a:t>
            </a:r>
          </a:p>
          <a:p>
            <a:pPr algn="l">
              <a:defRPr sz="600" b="0">
                <a:solidFill>
                  <a:srgbClr val="111827"/>
                </a:solidFill>
                <a:latin typeface="Consolas"/>
                <a:ea typeface="Consolas"/>
                <a:cs typeface="Consolas"/>
              </a:defRPr>
            </a:pPr>
            <a:r>
              <a:rPr sz="600" b="0">
                <a:solidFill>
                  <a:srgbClr val="111827"/>
                </a:solidFill>
                <a:latin typeface="Consolas"/>
                <a:ea typeface="Consolas"/>
                <a:cs typeface="Consolas"/>
              </a:rPr>
              <a:t>        self.t = {} # t[train.id, op.id]</a:t>
            </a:r>
          </a:p>
          <a:p>
            <a:pPr algn="l">
              <a:defRPr sz="600" b="0">
                <a:solidFill>
                  <a:srgbClr val="111827"/>
                </a:solidFill>
                <a:latin typeface="Consolas"/>
                <a:ea typeface="Consolas"/>
                <a:cs typeface="Consolas"/>
              </a:defRPr>
            </a:pPr>
            <a:r>
              <a:rPr sz="600" b="0">
                <a:solidFill>
                  <a:srgbClr val="111827"/>
                </a:solidFill>
                <a:latin typeface="Consolas"/>
                <a:ea typeface="Consolas"/>
                <a:cs typeface="Consolas"/>
              </a:rPr>
              <a:t>        self.u = {} # u[train.id, op.id]</a:t>
            </a:r>
          </a:p>
          <a:p>
            <a:pPr algn="l">
              <a:defRPr sz="600" b="0">
                <a:solidFill>
                  <a:srgbClr val="111827"/>
                </a:solidFill>
                <a:latin typeface="Consolas"/>
                <a:ea typeface="Consolas"/>
                <a:cs typeface="Consolas"/>
              </a:defRPr>
            </a:pPr>
            <a:r>
              <a:rPr sz="600" b="0">
                <a:solidFill>
                  <a:srgbClr val="111827"/>
                </a:solidFill>
                <a:latin typeface="Consolas"/>
                <a:ea typeface="Consolas"/>
                <a:cs typeface="Consolas"/>
              </a:rPr>
              <a:t>        self.z = {} # z[t1, o1, t2, o2]</a:t>
            </a:r>
          </a:p>
          <a:p>
            <a:pPr algn="l">
              <a:defRPr sz="600" b="0">
                <a:solidFill>
                  <a:srgbClr val="111827"/>
                </a:solidFill>
                <a:latin typeface="Consolas"/>
                <a:ea typeface="Consolas"/>
                <a:cs typeface="Consolas"/>
              </a:defRPr>
            </a:pPr>
            <a:r>
              <a:rPr sz="600" b="0">
                <a:solidFill>
                  <a:srgbClr val="111827"/>
                </a:solidFill>
                <a:latin typeface="Consolas"/>
                <a:ea typeface="Consolas"/>
                <a:cs typeface="Consolas"/>
              </a:rPr>
              <a:t>        self.z_ba = {} # z_ba tracking</a:t>
            </a:r>
          </a:p>
          <a:p>
            <a:pPr algn="l">
              <a:defRPr sz="600" b="0">
                <a:solidFill>
                  <a:srgbClr val="111827"/>
                </a:solidFill>
                <a:latin typeface="Consolas"/>
                <a:ea typeface="Consolas"/>
                <a:cs typeface="Consolas"/>
              </a:defRPr>
            </a:pPr>
            <a:r>
              <a:rPr sz="600" b="0">
                <a:solidFill>
                  <a:srgbClr val="111827"/>
                </a:solidFill>
                <a:latin typeface="Consolas"/>
                <a:ea typeface="Consolas"/>
                <a:cs typeface="Consolas"/>
              </a:rPr>
              <a:t>        self.v = {} # v[c_idx]</a:t>
            </a:r>
          </a:p>
          <a:p>
            <a:pPr algn="l">
              <a:defRPr sz="600" b="0">
                <a:solidFill>
                  <a:srgbClr val="111827"/>
                </a:solidFill>
                <a:latin typeface="Consolas"/>
                <a:ea typeface="Consolas"/>
                <a:cs typeface="Consolas"/>
              </a:defRPr>
            </a:pPr>
            <a:r>
              <a:rPr sz="600" b="0">
                <a:solidFill>
                  <a:srgbClr val="111827"/>
                </a:solidFill>
                <a:latin typeface="Consolas"/>
                <a:ea typeface="Consolas"/>
                <a:cs typeface="Consolas"/>
              </a:rPr>
              <a:t>        self.w = {} # w[c_idx]</a:t>
            </a:r>
          </a:p>
          <a:p>
            <a:endParaRPr sz="600" b="0">
              <a:solidFill>
                <a:srgbClr val="111827"/>
              </a:solidFill>
              <a:latin typeface="Consolas"/>
              <a:ea typeface="Consolas"/>
              <a:cs typeface="Consolas"/>
            </a:endParaRPr>
          </a:p>
          <a:p>
            <a:pPr algn="l">
              <a:defRPr sz="600" b="0">
                <a:solidFill>
                  <a:srgbClr val="111827"/>
                </a:solidFill>
                <a:latin typeface="Consolas"/>
                <a:ea typeface="Consolas"/>
                <a:cs typeface="Consolas"/>
              </a:defRPr>
            </a:pPr>
            <a:r>
              <a:rPr sz="600" b="0">
                <a:solidFill>
                  <a:srgbClr val="111827"/>
                </a:solidFill>
                <a:latin typeface="Consolas"/>
                <a:ea typeface="Consolas"/>
                <a:cs typeface="Consolas"/>
              </a:rPr>
              <a:t>        self._build_model()</a:t>
            </a:r>
          </a:p>
          <a:p>
            <a:endParaRPr sz="600" b="0">
              <a:solidFill>
                <a:srgbClr val="111827"/>
              </a:solidFill>
              <a:latin typeface="Consolas"/>
              <a:ea typeface="Consolas"/>
              <a:cs typeface="Consolas"/>
            </a:endParaRPr>
          </a:p>
          <a:p>
            <a:pPr algn="l">
              <a:defRPr sz="600" b="0">
                <a:solidFill>
                  <a:srgbClr val="111827"/>
                </a:solidFill>
                <a:latin typeface="Consolas"/>
                <a:ea typeface="Consolas"/>
                <a:cs typeface="Consolas"/>
              </a:defRPr>
            </a:pPr>
            <a:r>
              <a:rPr sz="600" b="0">
                <a:solidFill>
                  <a:srgbClr val="111827"/>
                </a:solidFill>
                <a:latin typeface="Consolas"/>
                <a:ea typeface="Consolas"/>
                <a:cs typeface="Consolas"/>
              </a:rPr>
              <a:t>    def _build_model(self):</a:t>
            </a:r>
          </a:p>
          <a:p>
            <a:pPr algn="l">
              <a:defRPr sz="600" b="0">
                <a:solidFill>
                  <a:srgbClr val="111827"/>
                </a:solidFill>
                <a:latin typeface="Consolas"/>
                <a:ea typeface="Consolas"/>
                <a:cs typeface="Consolas"/>
              </a:defRPr>
            </a:pPr>
            <a:r>
              <a:rPr sz="600" b="0">
                <a:solidFill>
                  <a:srgbClr val="111827"/>
                </a:solidFill>
                <a:latin typeface="Consolas"/>
                <a:ea typeface="Consolas"/>
                <a:cs typeface="Consolas"/>
              </a:rPr>
              <a:t>        # 1. Variables</a:t>
            </a:r>
          </a:p>
          <a:p>
            <a:pPr algn="l">
              <a:defRPr sz="600" b="0">
                <a:solidFill>
                  <a:srgbClr val="111827"/>
                </a:solidFill>
                <a:latin typeface="Consolas"/>
                <a:ea typeface="Consolas"/>
                <a:cs typeface="Consolas"/>
              </a:defRPr>
            </a:pPr>
            <a:r>
              <a:rPr sz="600" b="0">
                <a:solidFill>
                  <a:srgbClr val="111827"/>
                </a:solidFill>
                <a:latin typeface="Consolas"/>
                <a:ea typeface="Consolas"/>
                <a:cs typeface="Consolas"/>
              </a:rPr>
              <a:t>        for train in self.instance.trains:</a:t>
            </a:r>
          </a:p>
          <a:p>
            <a:pPr algn="l">
              <a:defRPr sz="600" b="0">
                <a:solidFill>
                  <a:srgbClr val="111827"/>
                </a:solidFill>
                <a:latin typeface="Consolas"/>
                <a:ea typeface="Consolas"/>
                <a:cs typeface="Consolas"/>
              </a:defRPr>
            </a:pPr>
            <a:r>
              <a:rPr sz="600" b="0">
                <a:solidFill>
                  <a:srgbClr val="111827"/>
                </a:solidFill>
                <a:latin typeface="Consolas"/>
                <a:ea typeface="Consolas"/>
                <a:cs typeface="Consolas"/>
              </a:rPr>
              <a:t>            for op in train.operations:</a:t>
            </a:r>
          </a:p>
          <a:p>
            <a:pPr algn="l">
              <a:defRPr sz="600" b="0">
                <a:solidFill>
                  <a:srgbClr val="111827"/>
                </a:solidFill>
                <a:latin typeface="Consolas"/>
                <a:ea typeface="Consolas"/>
                <a:cs typeface="Consolas"/>
              </a:defRPr>
            </a:pPr>
            <a:r>
              <a:rPr sz="600" b="0">
                <a:solidFill>
                  <a:srgbClr val="111827"/>
                </a:solidFill>
                <a:latin typeface="Consolas"/>
                <a:ea typeface="Consolas"/>
                <a:cs typeface="Consolas"/>
              </a:rPr>
              <a:t>                # Variable x_i,a (1 if operation is selected)</a:t>
            </a:r>
          </a:p>
          <a:p>
            <a:pPr algn="l">
              <a:defRPr sz="600" b="0">
                <a:solidFill>
                  <a:srgbClr val="111827"/>
                </a:solidFill>
                <a:latin typeface="Consolas"/>
                <a:ea typeface="Consolas"/>
                <a:cs typeface="Consolas"/>
              </a:defRPr>
            </a:pPr>
            <a:r>
              <a:rPr sz="600" b="0">
                <a:solidFill>
                  <a:srgbClr val="111827"/>
                </a:solidFill>
                <a:latin typeface="Consolas"/>
                <a:ea typeface="Consolas"/>
                <a:cs typeface="Consolas"/>
              </a:rPr>
              <a:t>                self.x[train.id, op.id] = self.model.addVar(vtype=GRB.BINARY, name=f"x_{train.id}_{op.id}")</a:t>
            </a:r>
          </a:p>
          <a:p>
            <a:pPr algn="l">
              <a:defRPr sz="600" b="0">
                <a:solidFill>
                  <a:srgbClr val="111827"/>
                </a:solidFill>
                <a:latin typeface="Consolas"/>
                <a:ea typeface="Consolas"/>
                <a:cs typeface="Consolas"/>
              </a:defRPr>
            </a:pPr>
            <a:r>
              <a:rPr sz="600" b="0">
                <a:solidFill>
                  <a:srgbClr val="111827"/>
                </a:solidFill>
                <a:latin typeface="Consolas"/>
                <a:ea typeface="Consolas"/>
                <a:cs typeface="Consolas"/>
              </a:rPr>
              <a:t>                </a:t>
            </a:r>
          </a:p>
          <a:p>
            <a:pPr algn="l">
              <a:defRPr sz="600" b="0">
                <a:solidFill>
                  <a:srgbClr val="111827"/>
                </a:solidFill>
                <a:latin typeface="Consolas"/>
                <a:ea typeface="Consolas"/>
                <a:cs typeface="Consolas"/>
              </a:defRPr>
            </a:pPr>
            <a:r>
              <a:rPr sz="600" b="0">
                <a:solidFill>
                  <a:srgbClr val="111827"/>
                </a:solidFill>
                <a:latin typeface="Consolas"/>
                <a:ea typeface="Consolas"/>
                <a:cs typeface="Consolas"/>
              </a:rPr>
              <a:t>                # Variable t_i,a (start time)</a:t>
            </a:r>
          </a:p>
          <a:p>
            <a:pPr algn="l">
              <a:defRPr sz="600" b="0">
                <a:solidFill>
                  <a:srgbClr val="111827"/>
                </a:solidFill>
                <a:latin typeface="Consolas"/>
                <a:ea typeface="Consolas"/>
                <a:cs typeface="Consolas"/>
              </a:defRPr>
            </a:pPr>
            <a:r>
              <a:rPr sz="600" b="0">
                <a:solidFill>
                  <a:srgbClr val="111827"/>
                </a:solidFill>
                <a:latin typeface="Consolas"/>
                <a:ea typeface="Consolas"/>
                <a:cs typeface="Consolas"/>
              </a:rPr>
              <a:t>                ub = op.start_ub if op.start_ub is not None and op.start_ub &lt; float('inf') else GRB.INFINITY</a:t>
            </a:r>
          </a:p>
          <a:p>
            <a:pPr algn="l">
              <a:defRPr sz="600" b="0">
                <a:solidFill>
                  <a:srgbClr val="111827"/>
                </a:solidFill>
                <a:latin typeface="Consolas"/>
                <a:ea typeface="Consolas"/>
                <a:cs typeface="Consolas"/>
              </a:defRPr>
            </a:pPr>
            <a:r>
              <a:rPr sz="600" b="0">
                <a:solidFill>
                  <a:srgbClr val="111827"/>
                </a:solidFill>
                <a:latin typeface="Consolas"/>
                <a:ea typeface="Consolas"/>
                <a:cs typeface="Consolas"/>
              </a:rPr>
              <a:t>                self.t[train.id, op.id] = self.model.addVar(lb=op.start_lb, ub=ub, vtype=GRB.CONTINUOUS, name=f"t_{train.id}_{op.id}")</a:t>
            </a:r>
          </a:p>
          <a:p>
            <a:pPr algn="l">
              <a:defRPr sz="600" b="0">
                <a:solidFill>
                  <a:srgbClr val="111827"/>
                </a:solidFill>
                <a:latin typeface="Consolas"/>
                <a:ea typeface="Consolas"/>
                <a:cs typeface="Consolas"/>
              </a:defRPr>
            </a:pPr>
            <a:r>
              <a:rPr sz="600" b="0">
                <a:solidFill>
                  <a:srgbClr val="111827"/>
                </a:solidFill>
                <a:latin typeface="Consolas"/>
                <a:ea typeface="Consolas"/>
                <a:cs typeface="Consolas"/>
              </a:rPr>
              <a:t>                </a:t>
            </a:r>
          </a:p>
          <a:p>
            <a:pPr algn="l">
              <a:defRPr sz="600" b="0">
                <a:solidFill>
                  <a:srgbClr val="111827"/>
                </a:solidFill>
                <a:latin typeface="Consolas"/>
                <a:ea typeface="Consolas"/>
                <a:cs typeface="Consolas"/>
              </a:defRPr>
            </a:pPr>
            <a:r>
              <a:rPr sz="600" b="0">
                <a:solidFill>
                  <a:srgbClr val="111827"/>
                </a:solidFill>
                <a:latin typeface="Consolas"/>
                <a:ea typeface="Consolas"/>
                <a:cs typeface="Consolas"/>
              </a:rPr>
              <a:t>                # Variable u_i,a (ordering logic)</a:t>
            </a:r>
          </a:p>
          <a:p>
            <a:pPr algn="l">
              <a:defRPr sz="600" b="0">
                <a:solidFill>
                  <a:srgbClr val="111827"/>
                </a:solidFill>
                <a:latin typeface="Consolas"/>
                <a:ea typeface="Consolas"/>
                <a:cs typeface="Consolas"/>
              </a:defRPr>
            </a:pPr>
            <a:r>
              <a:rPr sz="600" b="0">
                <a:solidFill>
                  <a:srgbClr val="111827"/>
                </a:solidFill>
                <a:latin typeface="Consolas"/>
                <a:ea typeface="Consolas"/>
                <a:cs typeface="Consolas"/>
              </a:rPr>
              <a:t>                self.u[train.id, op.id] = self.model.addVar(lb=0, vtype=GRB.CONTINUOUS, name=f"u_{train.id}_{op.id}")</a:t>
            </a:r>
          </a:p>
          <a:p>
            <a:pPr algn="l">
              <a:defRPr sz="600" b="0">
                <a:solidFill>
                  <a:srgbClr val="111827"/>
                </a:solidFill>
                <a:latin typeface="Consolas"/>
                <a:ea typeface="Consolas"/>
                <a:cs typeface="Consolas"/>
              </a:defRPr>
            </a:pPr>
            <a:r>
              <a:rPr sz="600" b="0">
                <a:solidFill>
                  <a:srgbClr val="111827"/>
                </a:solidFill>
                <a:latin typeface="Consolas"/>
                <a:ea typeface="Consolas"/>
                <a:cs typeface="Consolas"/>
              </a:rPr>
              <a:t>                </a:t>
            </a:r>
          </a:p>
          <a:p>
            <a:pPr algn="l">
              <a:defRPr sz="600" b="0">
                <a:solidFill>
                  <a:srgbClr val="111827"/>
                </a:solidFill>
                <a:latin typeface="Consolas"/>
                <a:ea typeface="Consolas"/>
                <a:cs typeface="Consolas"/>
              </a:defRPr>
            </a:pPr>
            <a:r>
              <a:rPr sz="600" b="0">
                <a:solidFill>
                  <a:srgbClr val="111827"/>
                </a:solidFill>
                <a:latin typeface="Consolas"/>
                <a:ea typeface="Consolas"/>
                <a:cs typeface="Consolas"/>
              </a:rPr>
              <a:t>                # Variable y_i,a,b (1 if operation b immediately follows a)</a:t>
            </a:r>
          </a:p>
          <a:p>
            <a:pPr algn="l">
              <a:defRPr sz="600" b="0">
                <a:solidFill>
                  <a:srgbClr val="111827"/>
                </a:solidFill>
                <a:latin typeface="Consolas"/>
                <a:ea typeface="Consolas"/>
                <a:cs typeface="Consolas"/>
              </a:defRPr>
            </a:pPr>
            <a:r>
              <a:rPr sz="600" b="0">
                <a:solidFill>
                  <a:srgbClr val="111827"/>
                </a:solidFill>
                <a:latin typeface="Consolas"/>
                <a:ea typeface="Consolas"/>
                <a:cs typeface="Consolas"/>
              </a:rPr>
              <a:t>                for succ in op.successors:</a:t>
            </a:r>
          </a:p>
          <a:p>
            <a:pPr algn="l">
              <a:defRPr sz="600" b="0">
                <a:solidFill>
                  <a:srgbClr val="111827"/>
                </a:solidFill>
                <a:latin typeface="Consolas"/>
                <a:ea typeface="Consolas"/>
                <a:cs typeface="Consolas"/>
              </a:defRPr>
            </a:pPr>
            <a:r>
              <a:rPr sz="600" b="0">
                <a:solidFill>
                  <a:srgbClr val="111827"/>
                </a:solidFill>
                <a:latin typeface="Consolas"/>
                <a:ea typeface="Consolas"/>
                <a:cs typeface="Consolas"/>
              </a:rPr>
              <a:t>                    self.y[train.id, op.id, succ] = self.model.addVar(vtype=GRB.BINARY, name=f"y_{train.id}_{op.id}_{succ}")</a:t>
            </a:r>
          </a:p>
        </p:txBody>
      </p:sp>
      <p:sp>
        <p:nvSpPr>
          <p:cNvPr id="12" name="Rectangle 11">
            <a:extLst>
              <a:ext uri="{FF2B5EF4-FFF2-40B4-BE49-F238E27FC236}">
                <a16:creationId xmlns:a16="http://schemas.microsoft.com/office/drawing/2014/main" id="{60B57C7E-3A73-4E3A-B37D-11A266220C4C}"/>
              </a:ext>
            </a:extLst>
          </p:cNvPr>
          <p:cNvSpPr>
            <a:spLocks noGrp="1"/>
          </p:cNvSpPr>
          <p:nvPr/>
        </p:nvSpPr>
        <p:spPr>
          <a:xfrm>
            <a:off x="552450" y="4476750"/>
            <a:ext cx="3857625" cy="781050"/>
          </a:xfrm>
          <a:prstGeom prst="rect">
            <a:avLst/>
          </a:prstGeom>
          <a:solidFill>
            <a:srgbClr val="FFFFFF"/>
          </a:solidFill>
          <a:ln w="10478">
            <a:solidFill>
              <a:srgbClr val="00549F"/>
            </a:solidFill>
            <a:prstDash val="solid"/>
          </a:ln>
        </p:spPr>
        <p:txBody>
          <a:bodyPr/>
          <a:lstStyle/>
          <a:p>
            <a:endParaRPr lang="en-DE"/>
          </a:p>
        </p:txBody>
      </p:sp>
      <p:sp>
        <p:nvSpPr>
          <p:cNvPr id="13" name="Rectangle 12">
            <a:extLst>
              <a:ext uri="{FF2B5EF4-FFF2-40B4-BE49-F238E27FC236}">
                <a16:creationId xmlns:a16="http://schemas.microsoft.com/office/drawing/2014/main" id="{7C2B63F6-70B7-4573-8B72-2E2F59740B1E}"/>
              </a:ext>
            </a:extLst>
          </p:cNvPr>
          <p:cNvSpPr>
            <a:spLocks noGrp="1"/>
          </p:cNvSpPr>
          <p:nvPr/>
        </p:nvSpPr>
        <p:spPr>
          <a:xfrm>
            <a:off x="666750" y="4572000"/>
            <a:ext cx="3629025"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1">
                <a:solidFill>
                  <a:srgbClr val="00549F"/>
                </a:solidFill>
                <a:latin typeface="Arial"/>
                <a:ea typeface="Arial"/>
                <a:cs typeface="Arial"/>
              </a:defRPr>
            </a:pPr>
            <a:r>
              <a:rPr sz="563" b="1">
                <a:solidFill>
                  <a:srgbClr val="00549F"/>
                </a:solidFill>
                <a:latin typeface="Arial"/>
                <a:ea typeface="Arial"/>
                <a:cs typeface="Arial"/>
              </a:rPr>
              <a:t>SPRECHPUNKT</a:t>
            </a:r>
          </a:p>
        </p:txBody>
      </p:sp>
      <p:sp>
        <p:nvSpPr>
          <p:cNvPr id="14" name="Rectangle 13">
            <a:extLst>
              <a:ext uri="{FF2B5EF4-FFF2-40B4-BE49-F238E27FC236}">
                <a16:creationId xmlns:a16="http://schemas.microsoft.com/office/drawing/2014/main" id="{AD6F960A-D7CC-4D42-BFFB-553CDC35EAF0}"/>
              </a:ext>
            </a:extLst>
          </p:cNvPr>
          <p:cNvSpPr>
            <a:spLocks noGrp="1"/>
          </p:cNvSpPr>
          <p:nvPr/>
        </p:nvSpPr>
        <p:spPr>
          <a:xfrm>
            <a:off x="666750" y="4762500"/>
            <a:ext cx="3629025"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73" b="0">
                <a:solidFill>
                  <a:srgbClr val="111111"/>
                </a:solidFill>
                <a:latin typeface="Arial"/>
                <a:ea typeface="Arial"/>
                <a:cs typeface="Arial"/>
              </a:defRPr>
            </a:pPr>
            <a:r>
              <a:rPr sz="773" b="0">
                <a:solidFill>
                  <a:srgbClr val="111111"/>
                </a:solidFill>
                <a:latin typeface="Arial"/>
                <a:ea typeface="Arial"/>
                <a:cs typeface="Arial"/>
              </a:rPr>
              <a:t>`x` ist Auswahl, `y` ist direkte Nachfolge, `t` ist Startzeit, `u` ist Reihenfolge. Das ist genau der Variablenblock in `DisplibMipModel`.</a:t>
            </a:r>
          </a:p>
        </p:txBody>
      </p:sp>
      <p:sp>
        <p:nvSpPr>
          <p:cNvPr id="15" name="Rectangle 14">
            <a:extLst>
              <a:ext uri="{FF2B5EF4-FFF2-40B4-BE49-F238E27FC236}">
                <a16:creationId xmlns:a16="http://schemas.microsoft.com/office/drawing/2014/main" id="{1B9F631B-3AD5-4CF9-A096-6721ADFF4EC1}"/>
              </a:ext>
            </a:extLst>
          </p:cNvPr>
          <p:cNvSpPr>
            <a:spLocks noGrp="1"/>
          </p:cNvSpPr>
          <p:nvPr/>
        </p:nvSpPr>
        <p:spPr>
          <a:xfrm>
            <a:off x="381000" y="5753100"/>
            <a:ext cx="11430000" cy="11430"/>
          </a:xfrm>
          <a:prstGeom prst="rect">
            <a:avLst/>
          </a:prstGeom>
          <a:solidFill>
            <a:srgbClr val="222222"/>
          </a:solidFill>
          <a:ln w="0">
            <a:solidFill>
              <a:srgbClr val="000000">
                <a:alpha val="0"/>
              </a:srgbClr>
            </a:solidFill>
            <a:prstDash val="solid"/>
          </a:ln>
        </p:spPr>
        <p:txBody>
          <a:bodyPr/>
          <a:lstStyle/>
          <a:p>
            <a:endParaRPr lang="en-DE"/>
          </a:p>
        </p:txBody>
      </p:sp>
      <p:sp>
        <p:nvSpPr>
          <p:cNvPr id="16" name="Rectangle 15">
            <a:extLst>
              <a:ext uri="{FF2B5EF4-FFF2-40B4-BE49-F238E27FC236}">
                <a16:creationId xmlns:a16="http://schemas.microsoft.com/office/drawing/2014/main" id="{81D0EE93-D786-42B1-9553-DB20D7A5953F}"/>
              </a:ext>
            </a:extLst>
          </p:cNvPr>
          <p:cNvSpPr>
            <a:spLocks noGrp="1"/>
          </p:cNvSpPr>
          <p:nvPr/>
        </p:nvSpPr>
        <p:spPr>
          <a:xfrm>
            <a:off x="381000" y="592455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00549F"/>
                </a:solidFill>
                <a:latin typeface="Arial"/>
                <a:ea typeface="Arial"/>
                <a:cs typeface="Arial"/>
              </a:defRPr>
            </a:pPr>
            <a:r>
              <a:rPr sz="675" b="0">
                <a:solidFill>
                  <a:srgbClr val="00549F"/>
                </a:solidFill>
                <a:latin typeface="Arial"/>
                <a:ea typeface="Arial"/>
                <a:cs typeface="Arial"/>
              </a:rPr>
              <a:t>3</a:t>
            </a:r>
          </a:p>
        </p:txBody>
      </p:sp>
      <p:sp>
        <p:nvSpPr>
          <p:cNvPr id="17" name="Rectangle 16">
            <a:extLst>
              <a:ext uri="{FF2B5EF4-FFF2-40B4-BE49-F238E27FC236}">
                <a16:creationId xmlns:a16="http://schemas.microsoft.com/office/drawing/2014/main" id="{CFA5B9A4-3F3D-4BFF-A11C-31954AA5C790}"/>
              </a:ext>
            </a:extLst>
          </p:cNvPr>
          <p:cNvSpPr>
            <a:spLocks noGrp="1"/>
          </p:cNvSpPr>
          <p:nvPr/>
        </p:nvSpPr>
        <p:spPr>
          <a:xfrm>
            <a:off x="1123950" y="5924550"/>
            <a:ext cx="6572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0" b="0">
                <a:solidFill>
                  <a:srgbClr val="00549F"/>
                </a:solidFill>
                <a:latin typeface="Arial"/>
                <a:ea typeface="Arial"/>
                <a:cs typeface="Arial"/>
              </a:defRPr>
            </a:pPr>
            <a:r>
              <a:rPr sz="630" b="0">
                <a:solidFill>
                  <a:srgbClr val="00549F"/>
                </a:solidFill>
                <a:latin typeface="Arial"/>
                <a:ea typeface="Arial"/>
                <a:cs typeface="Arial"/>
              </a:rPr>
              <a:t>Train Dispatching | DISPLIB mathematical model to code | Baseline MIP and Extended CP-SAT</a:t>
            </a:r>
          </a:p>
        </p:txBody>
      </p:sp>
      <p:pic>
        <p:nvPicPr>
          <p:cNvPr id="18" name="Picture 17"/>
          <p:cNvPicPr>
            <a:picLocks noChangeAspect="1"/>
          </p:cNvPicPr>
          <p:nvPr/>
        </p:nvPicPr>
        <p:blipFill>
          <a:blip r:embed="rId4"/>
          <a:stretch/>
        </p:blipFill>
        <p:spPr>
          <a:xfrm>
            <a:off x="8107690" y="5829300"/>
            <a:ext cx="2929870" cy="819150"/>
          </a:xfrm>
          <a:prstGeom prst="rect">
            <a:avLst/>
          </a:prstGeom>
        </p:spPr>
      </p:pic>
    </p:spTree>
    <p:extLst>
      <p:ext uri="{BB962C8B-B14F-4D97-AF65-F5344CB8AC3E}">
        <p14:creationId xmlns:p14="http://schemas.microsoft.com/office/powerpoint/2010/main" val="225895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33F69EF-7CE9-4AB2-8C25-300FBF57A3B2}"/>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en-DE"/>
          </a:p>
        </p:txBody>
      </p:sp>
      <p:sp>
        <p:nvSpPr>
          <p:cNvPr id="2" name="Rectangle 1">
            <a:extLst>
              <a:ext uri="{FF2B5EF4-FFF2-40B4-BE49-F238E27FC236}">
                <a16:creationId xmlns:a16="http://schemas.microsoft.com/office/drawing/2014/main" id="{AC1F2FCB-E73A-4E0F-985F-195FDE18CC9F}"/>
              </a:ext>
            </a:extLst>
          </p:cNvPr>
          <p:cNvSpPr>
            <a:spLocks noGrp="1"/>
          </p:cNvSpPr>
          <p:nvPr/>
        </p:nvSpPr>
        <p:spPr>
          <a:xfrm>
            <a:off x="514350" y="285750"/>
            <a:ext cx="106680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00549F"/>
                </a:solidFill>
                <a:latin typeface="Arial"/>
                <a:ea typeface="Arial"/>
                <a:cs typeface="Arial"/>
              </a:defRPr>
            </a:pPr>
            <a:r>
              <a:rPr sz="1800" b="1">
                <a:solidFill>
                  <a:srgbClr val="00549F"/>
                </a:solidFill>
                <a:latin typeface="Arial"/>
                <a:ea typeface="Arial"/>
                <a:cs typeface="Arial"/>
              </a:rPr>
              <a:t>Decision variables: CP-SAT ergänzt Bool-, Integer- und Interval-Variablen.</a:t>
            </a:r>
          </a:p>
        </p:txBody>
      </p:sp>
      <p:sp>
        <p:nvSpPr>
          <p:cNvPr id="3" name="Rectangle 2">
            <a:extLst>
              <a:ext uri="{FF2B5EF4-FFF2-40B4-BE49-F238E27FC236}">
                <a16:creationId xmlns:a16="http://schemas.microsoft.com/office/drawing/2014/main" id="{AAFA1E0A-A060-4C57-8058-39EE95C80C0C}"/>
              </a:ext>
            </a:extLst>
          </p:cNvPr>
          <p:cNvSpPr>
            <a:spLocks noGrp="1"/>
          </p:cNvSpPr>
          <p:nvPr/>
        </p:nvSpPr>
        <p:spPr>
          <a:xfrm>
            <a:off x="514350" y="704850"/>
            <a:ext cx="9715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10" b="0">
                <a:solidFill>
                  <a:srgbClr val="565656"/>
                </a:solidFill>
                <a:latin typeface="Arial"/>
                <a:ea typeface="Arial"/>
                <a:cs typeface="Arial"/>
              </a:defRPr>
            </a:pPr>
            <a:r>
              <a:rPr sz="810" b="0">
                <a:solidFill>
                  <a:srgbClr val="565656"/>
                </a:solidFill>
                <a:latin typeface="Arial"/>
                <a:ea typeface="Arial"/>
                <a:cs typeface="Arial"/>
              </a:rPr>
              <a:t>Das wirkt anders, weil CP-SAT Scheduling-Objekte direkt modellieren kann.</a:t>
            </a:r>
          </a:p>
        </p:txBody>
      </p:sp>
      <p:sp>
        <p:nvSpPr>
          <p:cNvPr id="4" name="Rectangle 3">
            <a:extLst>
              <a:ext uri="{FF2B5EF4-FFF2-40B4-BE49-F238E27FC236}">
                <a16:creationId xmlns:a16="http://schemas.microsoft.com/office/drawing/2014/main" id="{6D922E32-5031-44B3-A842-4FA9A01052A3}"/>
              </a:ext>
            </a:extLst>
          </p:cNvPr>
          <p:cNvSpPr>
            <a:spLocks noGrp="1"/>
          </p:cNvSpPr>
          <p:nvPr/>
        </p:nvSpPr>
        <p:spPr>
          <a:xfrm>
            <a:off x="514350" y="971550"/>
            <a:ext cx="10763250" cy="11430"/>
          </a:xfrm>
          <a:prstGeom prst="rect">
            <a:avLst/>
          </a:prstGeom>
          <a:solidFill>
            <a:srgbClr val="222222"/>
          </a:solidFill>
          <a:ln w="0">
            <a:solidFill>
              <a:srgbClr val="000000">
                <a:alpha val="0"/>
              </a:srgbClr>
            </a:solidFill>
            <a:prstDash val="solid"/>
          </a:ln>
        </p:spPr>
        <p:txBody>
          <a:bodyPr/>
          <a:lstStyle/>
          <a:p>
            <a:endParaRPr lang="en-DE"/>
          </a:p>
        </p:txBody>
      </p:sp>
      <p:sp>
        <p:nvSpPr>
          <p:cNvPr id="5" name="Rectangle 4">
            <a:extLst>
              <a:ext uri="{FF2B5EF4-FFF2-40B4-BE49-F238E27FC236}">
                <a16:creationId xmlns:a16="http://schemas.microsoft.com/office/drawing/2014/main" id="{069D3E2A-B4F3-40AE-9BE0-BFD962CA8653}"/>
              </a:ext>
            </a:extLst>
          </p:cNvPr>
          <p:cNvSpPr>
            <a:spLocks noGrp="1"/>
          </p:cNvSpPr>
          <p:nvPr/>
        </p:nvSpPr>
        <p:spPr>
          <a:xfrm>
            <a:off x="552450" y="1276350"/>
            <a:ext cx="3619500" cy="2809875"/>
          </a:xfrm>
          <a:prstGeom prst="rect">
            <a:avLst/>
          </a:prstGeom>
          <a:solidFill>
            <a:srgbClr val="FFFFFF"/>
          </a:solidFill>
          <a:ln w="9525">
            <a:solidFill>
              <a:srgbClr val="D7DDE4"/>
            </a:solidFill>
            <a:prstDash val="solid"/>
          </a:ln>
        </p:spPr>
        <p:txBody>
          <a:bodyPr/>
          <a:lstStyle/>
          <a:p>
            <a:endParaRPr lang="en-DE"/>
          </a:p>
        </p:txBody>
      </p:sp>
      <p:pic>
        <p:nvPicPr>
          <p:cNvPr id="6" name="Picture 5"/>
          <p:cNvPicPr>
            <a:picLocks noChangeAspect="1"/>
          </p:cNvPicPr>
          <p:nvPr/>
        </p:nvPicPr>
        <p:blipFill>
          <a:blip r:embed="rId3"/>
          <a:stretch/>
        </p:blipFill>
        <p:spPr>
          <a:xfrm>
            <a:off x="647700" y="2099033"/>
            <a:ext cx="3429000" cy="1069258"/>
          </a:xfrm>
          <a:prstGeom prst="rect">
            <a:avLst/>
          </a:prstGeom>
        </p:spPr>
      </p:pic>
      <p:sp>
        <p:nvSpPr>
          <p:cNvPr id="7" name="Rectangle 6">
            <a:extLst>
              <a:ext uri="{FF2B5EF4-FFF2-40B4-BE49-F238E27FC236}">
                <a16:creationId xmlns:a16="http://schemas.microsoft.com/office/drawing/2014/main" id="{3088EDFD-D9D4-4F82-911D-DA1B0C96A61E}"/>
              </a:ext>
            </a:extLst>
          </p:cNvPr>
          <p:cNvSpPr>
            <a:spLocks noGrp="1"/>
          </p:cNvSpPr>
          <p:nvPr/>
        </p:nvSpPr>
        <p:spPr>
          <a:xfrm>
            <a:off x="647700" y="3914775"/>
            <a:ext cx="3429000" cy="104775"/>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533" b="0">
                <a:solidFill>
                  <a:srgbClr val="565656"/>
                </a:solidFill>
                <a:latin typeface="Arial"/>
                <a:ea typeface="Arial"/>
                <a:cs typeface="Arial"/>
              </a:defRPr>
            </a:pPr>
            <a:r>
              <a:rPr sz="533" b="0">
                <a:solidFill>
                  <a:srgbClr val="565656"/>
                </a:solidFill>
                <a:latin typeface="Arial"/>
                <a:ea typeface="Arial"/>
                <a:cs typeface="Arial"/>
              </a:rPr>
              <a:t>Paper: dieselbe Variablenidee</a:t>
            </a:r>
          </a:p>
        </p:txBody>
      </p:sp>
      <p:sp>
        <p:nvSpPr>
          <p:cNvPr id="8" name="Rectangle 7">
            <a:extLst>
              <a:ext uri="{FF2B5EF4-FFF2-40B4-BE49-F238E27FC236}">
                <a16:creationId xmlns:a16="http://schemas.microsoft.com/office/drawing/2014/main" id="{3F18F628-66F0-4AFE-9034-F37B36568313}"/>
              </a:ext>
            </a:extLst>
          </p:cNvPr>
          <p:cNvSpPr>
            <a:spLocks noGrp="1"/>
          </p:cNvSpPr>
          <p:nvPr/>
        </p:nvSpPr>
        <p:spPr>
          <a:xfrm>
            <a:off x="4476750" y="1276350"/>
            <a:ext cx="6762750" cy="1809750"/>
          </a:xfrm>
          <a:prstGeom prst="rect">
            <a:avLst/>
          </a:prstGeom>
          <a:solidFill>
            <a:srgbClr val="F6F8FA"/>
          </a:solidFill>
          <a:ln w="9525">
            <a:solidFill>
              <a:srgbClr val="7FAAD3"/>
            </a:solidFill>
            <a:prstDash val="solid"/>
          </a:ln>
        </p:spPr>
        <p:txBody>
          <a:bodyPr/>
          <a:lstStyle/>
          <a:p>
            <a:endParaRPr lang="en-DE"/>
          </a:p>
        </p:txBody>
      </p:sp>
      <p:sp>
        <p:nvSpPr>
          <p:cNvPr id="9" name="Rectangle 8">
            <a:extLst>
              <a:ext uri="{FF2B5EF4-FFF2-40B4-BE49-F238E27FC236}">
                <a16:creationId xmlns:a16="http://schemas.microsoft.com/office/drawing/2014/main" id="{F5267D4E-5D8A-428D-8471-E9E2D2C0DD74}"/>
              </a:ext>
            </a:extLst>
          </p:cNvPr>
          <p:cNvSpPr>
            <a:spLocks noGrp="1"/>
          </p:cNvSpPr>
          <p:nvPr/>
        </p:nvSpPr>
        <p:spPr>
          <a:xfrm>
            <a:off x="4476750" y="1276350"/>
            <a:ext cx="6762750" cy="228600"/>
          </a:xfrm>
          <a:prstGeom prst="rect">
            <a:avLst/>
          </a:prstGeom>
          <a:solidFill>
            <a:srgbClr val="E7F0FA"/>
          </a:solidFill>
          <a:ln w="9525">
            <a:solidFill>
              <a:srgbClr val="7FAAD3"/>
            </a:solidFill>
            <a:prstDash val="solid"/>
          </a:ln>
        </p:spPr>
        <p:txBody>
          <a:bodyPr/>
          <a:lstStyle/>
          <a:p>
            <a:endParaRPr lang="en-DE"/>
          </a:p>
        </p:txBody>
      </p:sp>
      <p:sp>
        <p:nvSpPr>
          <p:cNvPr id="10" name="Rectangle 9">
            <a:extLst>
              <a:ext uri="{FF2B5EF4-FFF2-40B4-BE49-F238E27FC236}">
                <a16:creationId xmlns:a16="http://schemas.microsoft.com/office/drawing/2014/main" id="{9DC351BC-0D17-4462-BFF8-9D06EB1CD050}"/>
              </a:ext>
            </a:extLst>
          </p:cNvPr>
          <p:cNvSpPr>
            <a:spLocks noGrp="1"/>
          </p:cNvSpPr>
          <p:nvPr/>
        </p:nvSpPr>
        <p:spPr>
          <a:xfrm>
            <a:off x="4572000" y="1333500"/>
            <a:ext cx="657225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70" b="1">
                <a:solidFill>
                  <a:srgbClr val="00549F"/>
                </a:solidFill>
                <a:latin typeface="Arial"/>
                <a:ea typeface="Arial"/>
                <a:cs typeface="Arial"/>
              </a:defRPr>
            </a:pPr>
            <a:r>
              <a:rPr sz="570" b="1">
                <a:solidFill>
                  <a:srgbClr val="00549F"/>
                </a:solidFill>
                <a:latin typeface="Arial"/>
                <a:ea typeface="Arial"/>
                <a:cs typeface="Arial"/>
              </a:rPr>
              <a:t>phase2_extend/src/cp_model.py:16-31</a:t>
            </a:r>
          </a:p>
        </p:txBody>
      </p:sp>
      <p:sp>
        <p:nvSpPr>
          <p:cNvPr id="11" name="Rectangle 10">
            <a:extLst>
              <a:ext uri="{FF2B5EF4-FFF2-40B4-BE49-F238E27FC236}">
                <a16:creationId xmlns:a16="http://schemas.microsoft.com/office/drawing/2014/main" id="{487131D9-E78D-49D6-BE97-D420EF424E47}"/>
              </a:ext>
            </a:extLst>
          </p:cNvPr>
          <p:cNvSpPr>
            <a:spLocks noGrp="1"/>
          </p:cNvSpPr>
          <p:nvPr/>
        </p:nvSpPr>
        <p:spPr>
          <a:xfrm>
            <a:off x="4591050" y="1600200"/>
            <a:ext cx="6534150" cy="1409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93" b="0">
                <a:solidFill>
                  <a:srgbClr val="111827"/>
                </a:solidFill>
                <a:latin typeface="Consolas"/>
                <a:ea typeface="Consolas"/>
                <a:cs typeface="Consolas"/>
              </a:defRPr>
            </a:pPr>
            <a:r>
              <a:rPr sz="593" b="0">
                <a:solidFill>
                  <a:srgbClr val="111827"/>
                </a:solidFill>
                <a:latin typeface="Consolas"/>
                <a:ea typeface="Consolas"/>
                <a:cs typeface="Consolas"/>
              </a:rPr>
              <a:t>        # Core CP Variables</a:t>
            </a:r>
          </a:p>
          <a:p>
            <a:pPr algn="l">
              <a:defRPr sz="593" b="0">
                <a:solidFill>
                  <a:srgbClr val="111827"/>
                </a:solidFill>
                <a:latin typeface="Consolas"/>
                <a:ea typeface="Consolas"/>
                <a:cs typeface="Consolas"/>
              </a:defRPr>
            </a:pPr>
            <a:r>
              <a:rPr sz="593" b="0">
                <a:solidFill>
                  <a:srgbClr val="111827"/>
                </a:solidFill>
                <a:latin typeface="Consolas"/>
                <a:ea typeface="Consolas"/>
                <a:cs typeface="Consolas"/>
              </a:rPr>
              <a:t>        self.x = {}  # x[train_id, op_id]: Boolean, 1 if operation is selected</a:t>
            </a:r>
          </a:p>
          <a:p>
            <a:pPr algn="l">
              <a:defRPr sz="593" b="0">
                <a:solidFill>
                  <a:srgbClr val="111827"/>
                </a:solidFill>
                <a:latin typeface="Consolas"/>
                <a:ea typeface="Consolas"/>
                <a:cs typeface="Consolas"/>
              </a:defRPr>
            </a:pPr>
            <a:r>
              <a:rPr sz="593" b="0">
                <a:solidFill>
                  <a:srgbClr val="111827"/>
                </a:solidFill>
                <a:latin typeface="Consolas"/>
                <a:ea typeface="Consolas"/>
                <a:cs typeface="Consolas"/>
              </a:rPr>
              <a:t>        self.y = {}  # y[train_id, op_a, op_b]: Boolean, 1 if sequence A -&gt; B is taken</a:t>
            </a:r>
          </a:p>
          <a:p>
            <a:pPr algn="l">
              <a:defRPr sz="593" b="0">
                <a:solidFill>
                  <a:srgbClr val="111827"/>
                </a:solidFill>
                <a:latin typeface="Consolas"/>
                <a:ea typeface="Consolas"/>
                <a:cs typeface="Consolas"/>
              </a:defRPr>
            </a:pPr>
            <a:r>
              <a:rPr sz="593" b="0">
                <a:solidFill>
                  <a:srgbClr val="111827"/>
                </a:solidFill>
                <a:latin typeface="Consolas"/>
                <a:ea typeface="Consolas"/>
                <a:cs typeface="Consolas"/>
              </a:rPr>
              <a:t>        self.u = {}  # u[train_id, op_id]: Integer, topological sequence rank</a:t>
            </a:r>
          </a:p>
          <a:p>
            <a:pPr algn="l">
              <a:defRPr sz="593" b="0">
                <a:solidFill>
                  <a:srgbClr val="111827"/>
                </a:solidFill>
                <a:latin typeface="Consolas"/>
                <a:ea typeface="Consolas"/>
                <a:cs typeface="Consolas"/>
              </a:defRPr>
            </a:pPr>
            <a:r>
              <a:rPr sz="593" b="0">
                <a:solidFill>
                  <a:srgbClr val="111827"/>
                </a:solidFill>
                <a:latin typeface="Consolas"/>
                <a:ea typeface="Consolas"/>
                <a:cs typeface="Consolas"/>
              </a:rPr>
              <a:t>        </a:t>
            </a:r>
          </a:p>
          <a:p>
            <a:pPr algn="l">
              <a:defRPr sz="593" b="0">
                <a:solidFill>
                  <a:srgbClr val="111827"/>
                </a:solidFill>
                <a:latin typeface="Consolas"/>
                <a:ea typeface="Consolas"/>
                <a:cs typeface="Consolas"/>
              </a:defRPr>
            </a:pPr>
            <a:r>
              <a:rPr sz="593" b="0">
                <a:solidFill>
                  <a:srgbClr val="111827"/>
                </a:solidFill>
                <a:latin typeface="Consolas"/>
                <a:ea typeface="Consolas"/>
                <a:cs typeface="Consolas"/>
              </a:rPr>
              <a:t>        self.starts = {}   # starts[train_id, op_id]: Integer, start time</a:t>
            </a:r>
          </a:p>
          <a:p>
            <a:pPr algn="l">
              <a:defRPr sz="593" b="0">
                <a:solidFill>
                  <a:srgbClr val="111827"/>
                </a:solidFill>
                <a:latin typeface="Consolas"/>
                <a:ea typeface="Consolas"/>
                <a:cs typeface="Consolas"/>
              </a:defRPr>
            </a:pPr>
            <a:r>
              <a:rPr sz="593" b="0">
                <a:solidFill>
                  <a:srgbClr val="111827"/>
                </a:solidFill>
                <a:latin typeface="Consolas"/>
                <a:ea typeface="Consolas"/>
                <a:cs typeface="Consolas"/>
              </a:rPr>
              <a:t>        self.durations = {} # durations[train_id, op_id]: Integer, duration</a:t>
            </a:r>
          </a:p>
          <a:p>
            <a:pPr algn="l">
              <a:defRPr sz="593" b="0">
                <a:solidFill>
                  <a:srgbClr val="111827"/>
                </a:solidFill>
                <a:latin typeface="Consolas"/>
                <a:ea typeface="Consolas"/>
                <a:cs typeface="Consolas"/>
              </a:defRPr>
            </a:pPr>
            <a:r>
              <a:rPr sz="593" b="0">
                <a:solidFill>
                  <a:srgbClr val="111827"/>
                </a:solidFill>
                <a:latin typeface="Consolas"/>
                <a:ea typeface="Consolas"/>
                <a:cs typeface="Consolas"/>
              </a:rPr>
              <a:t>        self.ends = {}     # ends[train_id, op_id]: Integer, end time</a:t>
            </a:r>
          </a:p>
          <a:p>
            <a:pPr algn="l">
              <a:defRPr sz="593" b="0">
                <a:solidFill>
                  <a:srgbClr val="111827"/>
                </a:solidFill>
                <a:latin typeface="Consolas"/>
                <a:ea typeface="Consolas"/>
                <a:cs typeface="Consolas"/>
              </a:defRPr>
            </a:pPr>
            <a:r>
              <a:rPr sz="593" b="0">
                <a:solidFill>
                  <a:srgbClr val="111827"/>
                </a:solidFill>
                <a:latin typeface="Consolas"/>
                <a:ea typeface="Consolas"/>
                <a:cs typeface="Consolas"/>
              </a:rPr>
              <a:t>        </a:t>
            </a:r>
          </a:p>
          <a:p>
            <a:pPr algn="l">
              <a:defRPr sz="593" b="0">
                <a:solidFill>
                  <a:srgbClr val="111827"/>
                </a:solidFill>
                <a:latin typeface="Consolas"/>
                <a:ea typeface="Consolas"/>
                <a:cs typeface="Consolas"/>
              </a:defRPr>
            </a:pPr>
            <a:r>
              <a:rPr sz="593" b="0">
                <a:solidFill>
                  <a:srgbClr val="111827"/>
                </a:solidFill>
                <a:latin typeface="Consolas"/>
                <a:ea typeface="Consolas"/>
                <a:cs typeface="Consolas"/>
              </a:rPr>
              <a:t>        self.status = None</a:t>
            </a:r>
          </a:p>
          <a:p>
            <a:pPr algn="l">
              <a:defRPr sz="593" b="0">
                <a:solidFill>
                  <a:srgbClr val="111827"/>
                </a:solidFill>
                <a:latin typeface="Consolas"/>
                <a:ea typeface="Consolas"/>
                <a:cs typeface="Consolas"/>
              </a:defRPr>
            </a:pPr>
            <a:r>
              <a:rPr sz="593" b="0">
                <a:solidFill>
                  <a:srgbClr val="111827"/>
                </a:solidFill>
                <a:latin typeface="Consolas"/>
                <a:ea typeface="Consolas"/>
                <a:cs typeface="Consolas"/>
              </a:rPr>
              <a:t>        self.obj_val = float('inf')</a:t>
            </a:r>
          </a:p>
          <a:p>
            <a:pPr algn="l">
              <a:defRPr sz="593" b="0">
                <a:solidFill>
                  <a:srgbClr val="111827"/>
                </a:solidFill>
                <a:latin typeface="Consolas"/>
                <a:ea typeface="Consolas"/>
                <a:cs typeface="Consolas"/>
              </a:defRPr>
            </a:pPr>
            <a:r>
              <a:rPr sz="593" b="0">
                <a:solidFill>
                  <a:srgbClr val="111827"/>
                </a:solidFill>
                <a:latin typeface="Consolas"/>
                <a:ea typeface="Consolas"/>
                <a:cs typeface="Consolas"/>
              </a:rPr>
              <a:t>        </a:t>
            </a:r>
          </a:p>
          <a:p>
            <a:pPr algn="l">
              <a:defRPr sz="593" b="0">
                <a:solidFill>
                  <a:srgbClr val="111827"/>
                </a:solidFill>
                <a:latin typeface="Consolas"/>
                <a:ea typeface="Consolas"/>
                <a:cs typeface="Consolas"/>
              </a:defRPr>
            </a:pPr>
            <a:r>
              <a:rPr sz="593" b="0">
                <a:solidFill>
                  <a:srgbClr val="111827"/>
                </a:solidFill>
                <a:latin typeface="Consolas"/>
                <a:ea typeface="Consolas"/>
                <a:cs typeface="Consolas"/>
              </a:rPr>
              <a:t>        # Use a scaling factor since CP-SAT only supports integers, but cost coefficients might be floats</a:t>
            </a:r>
          </a:p>
          <a:p>
            <a:pPr algn="l">
              <a:defRPr sz="593" b="0">
                <a:solidFill>
                  <a:srgbClr val="111827"/>
                </a:solidFill>
                <a:latin typeface="Consolas"/>
                <a:ea typeface="Consolas"/>
                <a:cs typeface="Consolas"/>
              </a:defRPr>
            </a:pPr>
            <a:r>
              <a:rPr sz="593" b="0">
                <a:solidFill>
                  <a:srgbClr val="111827"/>
                </a:solidFill>
                <a:latin typeface="Consolas"/>
                <a:ea typeface="Consolas"/>
                <a:cs typeface="Consolas"/>
              </a:rPr>
              <a:t>        self.COEFF_SCALE = 1000 </a:t>
            </a:r>
          </a:p>
          <a:p>
            <a:pPr algn="l">
              <a:defRPr sz="593" b="0">
                <a:solidFill>
                  <a:srgbClr val="111827"/>
                </a:solidFill>
                <a:latin typeface="Consolas"/>
                <a:ea typeface="Consolas"/>
                <a:cs typeface="Consolas"/>
              </a:defRPr>
            </a:pPr>
            <a:r>
              <a:rPr sz="593" b="0">
                <a:solidFill>
                  <a:srgbClr val="111827"/>
                </a:solidFill>
                <a:latin typeface="Consolas"/>
                <a:ea typeface="Consolas"/>
                <a:cs typeface="Consolas"/>
              </a:rPr>
              <a:t>        </a:t>
            </a:r>
          </a:p>
          <a:p>
            <a:pPr algn="l">
              <a:defRPr sz="593" b="0">
                <a:solidFill>
                  <a:srgbClr val="111827"/>
                </a:solidFill>
                <a:latin typeface="Consolas"/>
                <a:ea typeface="Consolas"/>
                <a:cs typeface="Consolas"/>
              </a:defRPr>
            </a:pPr>
            <a:r>
              <a:rPr sz="593" b="0">
                <a:solidFill>
                  <a:srgbClr val="111827"/>
                </a:solidFill>
                <a:latin typeface="Consolas"/>
                <a:ea typeface="Consolas"/>
                <a:cs typeface="Consolas"/>
              </a:rPr>
              <a:t>        self._build_model()</a:t>
            </a:r>
          </a:p>
        </p:txBody>
      </p:sp>
      <p:sp>
        <p:nvSpPr>
          <p:cNvPr id="12" name="Rectangle 11">
            <a:extLst>
              <a:ext uri="{FF2B5EF4-FFF2-40B4-BE49-F238E27FC236}">
                <a16:creationId xmlns:a16="http://schemas.microsoft.com/office/drawing/2014/main" id="{5BA96ED8-F3C9-4F9D-88AC-A8CC02098FC3}"/>
              </a:ext>
            </a:extLst>
          </p:cNvPr>
          <p:cNvSpPr>
            <a:spLocks noGrp="1"/>
          </p:cNvSpPr>
          <p:nvPr/>
        </p:nvSpPr>
        <p:spPr>
          <a:xfrm>
            <a:off x="4476750" y="3181350"/>
            <a:ext cx="6762750" cy="2552700"/>
          </a:xfrm>
          <a:prstGeom prst="rect">
            <a:avLst/>
          </a:prstGeom>
          <a:solidFill>
            <a:srgbClr val="F6F8FA"/>
          </a:solidFill>
          <a:ln w="9525">
            <a:solidFill>
              <a:srgbClr val="7FAAD3"/>
            </a:solidFill>
            <a:prstDash val="solid"/>
          </a:ln>
        </p:spPr>
        <p:txBody>
          <a:bodyPr/>
          <a:lstStyle/>
          <a:p>
            <a:endParaRPr lang="en-DE"/>
          </a:p>
        </p:txBody>
      </p:sp>
      <p:sp>
        <p:nvSpPr>
          <p:cNvPr id="13" name="Rectangle 12">
            <a:extLst>
              <a:ext uri="{FF2B5EF4-FFF2-40B4-BE49-F238E27FC236}">
                <a16:creationId xmlns:a16="http://schemas.microsoft.com/office/drawing/2014/main" id="{9FB8F85B-E51C-4C08-B448-C571DD8E8A9D}"/>
              </a:ext>
            </a:extLst>
          </p:cNvPr>
          <p:cNvSpPr>
            <a:spLocks noGrp="1"/>
          </p:cNvSpPr>
          <p:nvPr/>
        </p:nvSpPr>
        <p:spPr>
          <a:xfrm>
            <a:off x="4476750" y="3181350"/>
            <a:ext cx="6762750" cy="228600"/>
          </a:xfrm>
          <a:prstGeom prst="rect">
            <a:avLst/>
          </a:prstGeom>
          <a:solidFill>
            <a:srgbClr val="E7F0FA"/>
          </a:solidFill>
          <a:ln w="9525">
            <a:solidFill>
              <a:srgbClr val="7FAAD3"/>
            </a:solidFill>
            <a:prstDash val="solid"/>
          </a:ln>
        </p:spPr>
        <p:txBody>
          <a:bodyPr/>
          <a:lstStyle/>
          <a:p>
            <a:endParaRPr lang="en-DE"/>
          </a:p>
        </p:txBody>
      </p:sp>
      <p:sp>
        <p:nvSpPr>
          <p:cNvPr id="14" name="Rectangle 13">
            <a:extLst>
              <a:ext uri="{FF2B5EF4-FFF2-40B4-BE49-F238E27FC236}">
                <a16:creationId xmlns:a16="http://schemas.microsoft.com/office/drawing/2014/main" id="{B8587009-44E0-43BF-8ECA-F282653D20D5}"/>
              </a:ext>
            </a:extLst>
          </p:cNvPr>
          <p:cNvSpPr>
            <a:spLocks noGrp="1"/>
          </p:cNvSpPr>
          <p:nvPr/>
        </p:nvSpPr>
        <p:spPr>
          <a:xfrm>
            <a:off x="4572000" y="3238500"/>
            <a:ext cx="657225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70" b="1">
                <a:solidFill>
                  <a:srgbClr val="00549F"/>
                </a:solidFill>
                <a:latin typeface="Arial"/>
                <a:ea typeface="Arial"/>
                <a:cs typeface="Arial"/>
              </a:defRPr>
            </a:pPr>
            <a:r>
              <a:rPr sz="570" b="1">
                <a:solidFill>
                  <a:srgbClr val="00549F"/>
                </a:solidFill>
                <a:latin typeface="Arial"/>
                <a:ea typeface="Arial"/>
                <a:cs typeface="Arial"/>
              </a:rPr>
              <a:t>phase2_extend/src/cp_model.py:38-67</a:t>
            </a:r>
          </a:p>
        </p:txBody>
      </p:sp>
      <p:sp>
        <p:nvSpPr>
          <p:cNvPr id="15" name="Rectangle 14">
            <a:extLst>
              <a:ext uri="{FF2B5EF4-FFF2-40B4-BE49-F238E27FC236}">
                <a16:creationId xmlns:a16="http://schemas.microsoft.com/office/drawing/2014/main" id="{F95491CF-26AF-4767-AEF1-7E373F6A295D}"/>
              </a:ext>
            </a:extLst>
          </p:cNvPr>
          <p:cNvSpPr>
            <a:spLocks noGrp="1"/>
          </p:cNvSpPr>
          <p:nvPr/>
        </p:nvSpPr>
        <p:spPr>
          <a:xfrm>
            <a:off x="4591050" y="3505200"/>
            <a:ext cx="6534150" cy="2152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476" b="0">
                <a:solidFill>
                  <a:srgbClr val="111827"/>
                </a:solidFill>
                <a:latin typeface="Consolas"/>
                <a:ea typeface="Consolas"/>
                <a:cs typeface="Consolas"/>
              </a:defRPr>
            </a:pPr>
            <a:r>
              <a:rPr sz="476" b="0">
                <a:solidFill>
                  <a:srgbClr val="111827"/>
                </a:solidFill>
                <a:latin typeface="Consolas"/>
                <a:ea typeface="Consolas"/>
                <a:cs typeface="Consolas"/>
              </a:rPr>
              <a:t>        # -----------------------------------------------------</a:t>
            </a:r>
          </a:p>
          <a:p>
            <a:pPr algn="l">
              <a:defRPr sz="476" b="0">
                <a:solidFill>
                  <a:srgbClr val="111827"/>
                </a:solidFill>
                <a:latin typeface="Consolas"/>
                <a:ea typeface="Consolas"/>
                <a:cs typeface="Consolas"/>
              </a:defRPr>
            </a:pPr>
            <a:r>
              <a:rPr sz="476" b="0">
                <a:solidFill>
                  <a:srgbClr val="111827"/>
                </a:solidFill>
                <a:latin typeface="Consolas"/>
                <a:ea typeface="Consolas"/>
                <a:cs typeface="Consolas"/>
              </a:rPr>
              <a:t>        # 1. Variables &amp; Interval Construction</a:t>
            </a:r>
          </a:p>
          <a:p>
            <a:pPr algn="l">
              <a:defRPr sz="476" b="0">
                <a:solidFill>
                  <a:srgbClr val="111827"/>
                </a:solidFill>
                <a:latin typeface="Consolas"/>
                <a:ea typeface="Consolas"/>
                <a:cs typeface="Consolas"/>
              </a:defRPr>
            </a:pPr>
            <a:r>
              <a:rPr sz="476" b="0">
                <a:solidFill>
                  <a:srgbClr val="111827"/>
                </a:solidFill>
                <a:latin typeface="Consolas"/>
                <a:ea typeface="Consolas"/>
                <a:cs typeface="Consolas"/>
              </a:rPr>
              <a:t>        # -----------------------------------------------------</a:t>
            </a:r>
          </a:p>
          <a:p>
            <a:pPr algn="l">
              <a:defRPr sz="476" b="0">
                <a:solidFill>
                  <a:srgbClr val="111827"/>
                </a:solidFill>
                <a:latin typeface="Consolas"/>
                <a:ea typeface="Consolas"/>
                <a:cs typeface="Consolas"/>
              </a:defRPr>
            </a:pPr>
            <a:r>
              <a:rPr sz="476" b="0">
                <a:solidFill>
                  <a:srgbClr val="111827"/>
                </a:solidFill>
                <a:latin typeface="Consolas"/>
                <a:ea typeface="Consolas"/>
                <a:cs typeface="Consolas"/>
              </a:rPr>
              <a:t>        for train in self.instance.trains:</a:t>
            </a:r>
          </a:p>
          <a:p>
            <a:pPr algn="l">
              <a:defRPr sz="476" b="0">
                <a:solidFill>
                  <a:srgbClr val="111827"/>
                </a:solidFill>
                <a:latin typeface="Consolas"/>
                <a:ea typeface="Consolas"/>
                <a:cs typeface="Consolas"/>
              </a:defRPr>
            </a:pPr>
            <a:r>
              <a:rPr sz="476" b="0">
                <a:solidFill>
                  <a:srgbClr val="111827"/>
                </a:solidFill>
                <a:latin typeface="Consolas"/>
                <a:ea typeface="Consolas"/>
                <a:cs typeface="Consolas"/>
              </a:rPr>
              <a:t>            for op in train.operations:</a:t>
            </a:r>
          </a:p>
          <a:p>
            <a:pPr algn="l">
              <a:defRPr sz="476" b="0">
                <a:solidFill>
                  <a:srgbClr val="111827"/>
                </a:solidFill>
                <a:latin typeface="Consolas"/>
                <a:ea typeface="Consolas"/>
                <a:cs typeface="Consolas"/>
              </a:defRPr>
            </a:pPr>
            <a:r>
              <a:rPr sz="476" b="0">
                <a:solidFill>
                  <a:srgbClr val="111827"/>
                </a:solidFill>
                <a:latin typeface="Consolas"/>
                <a:ea typeface="Consolas"/>
                <a:cs typeface="Consolas"/>
              </a:rPr>
              <a:t>                t_id = train.id</a:t>
            </a:r>
          </a:p>
          <a:p>
            <a:pPr algn="l">
              <a:defRPr sz="476" b="0">
                <a:solidFill>
                  <a:srgbClr val="111827"/>
                </a:solidFill>
                <a:latin typeface="Consolas"/>
                <a:ea typeface="Consolas"/>
                <a:cs typeface="Consolas"/>
              </a:defRPr>
            </a:pPr>
            <a:r>
              <a:rPr sz="476" b="0">
                <a:solidFill>
                  <a:srgbClr val="111827"/>
                </a:solidFill>
                <a:latin typeface="Consolas"/>
                <a:ea typeface="Consolas"/>
                <a:cs typeface="Consolas"/>
              </a:rPr>
              <a:t>                o_id = op.id</a:t>
            </a:r>
          </a:p>
          <a:p>
            <a:pPr algn="l">
              <a:defRPr sz="476" b="0">
                <a:solidFill>
                  <a:srgbClr val="111827"/>
                </a:solidFill>
                <a:latin typeface="Consolas"/>
                <a:ea typeface="Consolas"/>
                <a:cs typeface="Consolas"/>
              </a:defRPr>
            </a:pPr>
            <a:r>
              <a:rPr sz="476" b="0">
                <a:solidFill>
                  <a:srgbClr val="111827"/>
                </a:solidFill>
                <a:latin typeface="Consolas"/>
                <a:ea typeface="Consolas"/>
                <a:cs typeface="Consolas"/>
              </a:rPr>
              <a:t>                </a:t>
            </a:r>
          </a:p>
          <a:p>
            <a:pPr algn="l">
              <a:defRPr sz="476" b="0">
                <a:solidFill>
                  <a:srgbClr val="111827"/>
                </a:solidFill>
                <a:latin typeface="Consolas"/>
                <a:ea typeface="Consolas"/>
                <a:cs typeface="Consolas"/>
              </a:defRPr>
            </a:pPr>
            <a:r>
              <a:rPr sz="476" b="0">
                <a:solidFill>
                  <a:srgbClr val="111827"/>
                </a:solidFill>
                <a:latin typeface="Consolas"/>
                <a:ea typeface="Consolas"/>
                <a:cs typeface="Consolas"/>
              </a:rPr>
              <a:t>                # Active boolean var</a:t>
            </a:r>
          </a:p>
          <a:p>
            <a:pPr algn="l">
              <a:defRPr sz="476" b="0">
                <a:solidFill>
                  <a:srgbClr val="111827"/>
                </a:solidFill>
                <a:latin typeface="Consolas"/>
                <a:ea typeface="Consolas"/>
                <a:cs typeface="Consolas"/>
              </a:defRPr>
            </a:pPr>
            <a:r>
              <a:rPr sz="476" b="0">
                <a:solidFill>
                  <a:srgbClr val="111827"/>
                </a:solidFill>
                <a:latin typeface="Consolas"/>
                <a:ea typeface="Consolas"/>
                <a:cs typeface="Consolas"/>
              </a:rPr>
              <a:t>                self.x[t_id, o_id] = self.model.NewBoolVar(f"x_{t_id}_{o_id}")</a:t>
            </a:r>
          </a:p>
          <a:p>
            <a:pPr algn="l">
              <a:defRPr sz="476" b="0">
                <a:solidFill>
                  <a:srgbClr val="111827"/>
                </a:solidFill>
                <a:latin typeface="Consolas"/>
                <a:ea typeface="Consolas"/>
                <a:cs typeface="Consolas"/>
              </a:defRPr>
            </a:pPr>
            <a:r>
              <a:rPr sz="476" b="0">
                <a:solidFill>
                  <a:srgbClr val="111827"/>
                </a:solidFill>
                <a:latin typeface="Consolas"/>
                <a:ea typeface="Consolas"/>
                <a:cs typeface="Consolas"/>
              </a:rPr>
              <a:t>                self.u[t_id, o_id] = self.model.NewIntVar(0, sum(len(tr.operations) for tr in self.instance.trains), f"u_{t_id}_{o_id}")</a:t>
            </a:r>
          </a:p>
          <a:p>
            <a:pPr algn="l">
              <a:defRPr sz="476" b="0">
                <a:solidFill>
                  <a:srgbClr val="111827"/>
                </a:solidFill>
                <a:latin typeface="Consolas"/>
                <a:ea typeface="Consolas"/>
                <a:cs typeface="Consolas"/>
              </a:defRPr>
            </a:pPr>
            <a:r>
              <a:rPr sz="476" b="0">
                <a:solidFill>
                  <a:srgbClr val="111827"/>
                </a:solidFill>
                <a:latin typeface="Consolas"/>
                <a:ea typeface="Consolas"/>
                <a:cs typeface="Consolas"/>
              </a:rPr>
              <a:t>                </a:t>
            </a:r>
          </a:p>
          <a:p>
            <a:pPr algn="l">
              <a:defRPr sz="476" b="0">
                <a:solidFill>
                  <a:srgbClr val="111827"/>
                </a:solidFill>
                <a:latin typeface="Consolas"/>
                <a:ea typeface="Consolas"/>
                <a:cs typeface="Consolas"/>
              </a:defRPr>
            </a:pPr>
            <a:r>
              <a:rPr sz="476" b="0">
                <a:solidFill>
                  <a:srgbClr val="111827"/>
                </a:solidFill>
                <a:latin typeface="Consolas"/>
                <a:ea typeface="Consolas"/>
                <a:cs typeface="Consolas"/>
              </a:rPr>
              <a:t>                # Time bounds mapping</a:t>
            </a:r>
          </a:p>
          <a:p>
            <a:pPr algn="l">
              <a:defRPr sz="476" b="0">
                <a:solidFill>
                  <a:srgbClr val="111827"/>
                </a:solidFill>
                <a:latin typeface="Consolas"/>
                <a:ea typeface="Consolas"/>
                <a:cs typeface="Consolas"/>
              </a:defRPr>
            </a:pPr>
            <a:r>
              <a:rPr sz="476" b="0">
                <a:solidFill>
                  <a:srgbClr val="111827"/>
                </a:solidFill>
                <a:latin typeface="Consolas"/>
                <a:ea typeface="Consolas"/>
                <a:cs typeface="Consolas"/>
              </a:rPr>
              <a:t>                lb = max(0, int(op.start_lb))</a:t>
            </a:r>
          </a:p>
          <a:p>
            <a:pPr algn="l">
              <a:defRPr sz="476" b="0">
                <a:solidFill>
                  <a:srgbClr val="111827"/>
                </a:solidFill>
                <a:latin typeface="Consolas"/>
                <a:ea typeface="Consolas"/>
                <a:cs typeface="Consolas"/>
              </a:defRPr>
            </a:pPr>
            <a:r>
              <a:rPr sz="476" b="0">
                <a:solidFill>
                  <a:srgbClr val="111827"/>
                </a:solidFill>
                <a:latin typeface="Consolas"/>
                <a:ea typeface="Consolas"/>
                <a:cs typeface="Consolas"/>
              </a:rPr>
              <a:t>                ub_val = op.start_ub</a:t>
            </a:r>
          </a:p>
          <a:p>
            <a:pPr algn="l">
              <a:defRPr sz="476" b="0">
                <a:solidFill>
                  <a:srgbClr val="111827"/>
                </a:solidFill>
                <a:latin typeface="Consolas"/>
                <a:ea typeface="Consolas"/>
                <a:cs typeface="Consolas"/>
              </a:defRPr>
            </a:pPr>
            <a:r>
              <a:rPr sz="476" b="0">
                <a:solidFill>
                  <a:srgbClr val="111827"/>
                </a:solidFill>
                <a:latin typeface="Consolas"/>
                <a:ea typeface="Consolas"/>
                <a:cs typeface="Consolas"/>
              </a:rPr>
              <a:t>                ub = self.horizon if (ub_val is None or ub_val == float('inf')) else min(self.horizon, int(ub_val))</a:t>
            </a:r>
          </a:p>
          <a:p>
            <a:pPr algn="l">
              <a:defRPr sz="476" b="0">
                <a:solidFill>
                  <a:srgbClr val="111827"/>
                </a:solidFill>
                <a:latin typeface="Consolas"/>
                <a:ea typeface="Consolas"/>
                <a:cs typeface="Consolas"/>
              </a:defRPr>
            </a:pPr>
            <a:r>
              <a:rPr sz="476" b="0">
                <a:solidFill>
                  <a:srgbClr val="111827"/>
                </a:solidFill>
                <a:latin typeface="Consolas"/>
                <a:ea typeface="Consolas"/>
                <a:cs typeface="Consolas"/>
              </a:rPr>
              <a:t>                if ub &lt; lb: ub = lb # Safety fallback</a:t>
            </a:r>
          </a:p>
          <a:p>
            <a:pPr algn="l">
              <a:defRPr sz="476" b="0">
                <a:solidFill>
                  <a:srgbClr val="111827"/>
                </a:solidFill>
                <a:latin typeface="Consolas"/>
                <a:ea typeface="Consolas"/>
                <a:cs typeface="Consolas"/>
              </a:defRPr>
            </a:pPr>
            <a:r>
              <a:rPr sz="476" b="0">
                <a:solidFill>
                  <a:srgbClr val="111827"/>
                </a:solidFill>
                <a:latin typeface="Consolas"/>
                <a:ea typeface="Consolas"/>
                <a:cs typeface="Consolas"/>
              </a:rPr>
              <a:t>                </a:t>
            </a:r>
          </a:p>
          <a:p>
            <a:pPr algn="l">
              <a:defRPr sz="476" b="0">
                <a:solidFill>
                  <a:srgbClr val="111827"/>
                </a:solidFill>
                <a:latin typeface="Consolas"/>
                <a:ea typeface="Consolas"/>
                <a:cs typeface="Consolas"/>
              </a:defRPr>
            </a:pPr>
            <a:r>
              <a:rPr sz="476" b="0">
                <a:solidFill>
                  <a:srgbClr val="111827"/>
                </a:solidFill>
                <a:latin typeface="Consolas"/>
                <a:ea typeface="Consolas"/>
                <a:cs typeface="Consolas"/>
              </a:rPr>
              <a:t>                self.starts[t_id, o_id] = self.model.NewIntVar(lb, ub, f"st_{t_id}_{o_id}")</a:t>
            </a:r>
          </a:p>
          <a:p>
            <a:pPr algn="l">
              <a:defRPr sz="476" b="0">
                <a:solidFill>
                  <a:srgbClr val="111827"/>
                </a:solidFill>
                <a:latin typeface="Consolas"/>
                <a:ea typeface="Consolas"/>
                <a:cs typeface="Consolas"/>
              </a:defRPr>
            </a:pPr>
            <a:r>
              <a:rPr sz="476" b="0">
                <a:solidFill>
                  <a:srgbClr val="111827"/>
                </a:solidFill>
                <a:latin typeface="Consolas"/>
                <a:ea typeface="Consolas"/>
                <a:cs typeface="Consolas"/>
              </a:rPr>
              <a:t>                self.durations[t_id, o_id] = self.model.NewIntVar(int(op.min_duration), self.horizon, f"dur_{t_id}_{o_id}")</a:t>
            </a:r>
          </a:p>
          <a:p>
            <a:pPr algn="l">
              <a:defRPr sz="476" b="0">
                <a:solidFill>
                  <a:srgbClr val="111827"/>
                </a:solidFill>
                <a:latin typeface="Consolas"/>
                <a:ea typeface="Consolas"/>
                <a:cs typeface="Consolas"/>
              </a:defRPr>
            </a:pPr>
            <a:r>
              <a:rPr sz="476" b="0">
                <a:solidFill>
                  <a:srgbClr val="111827"/>
                </a:solidFill>
                <a:latin typeface="Consolas"/>
                <a:ea typeface="Consolas"/>
                <a:cs typeface="Consolas"/>
              </a:rPr>
              <a:t>                self.ends[t_id, o_id] = self.model.NewIntVar(lb + int(op.min_duration), self.horizon + self.horizon, f"end_{t_id}_{o_id}")</a:t>
            </a:r>
          </a:p>
          <a:p>
            <a:pPr algn="l">
              <a:defRPr sz="476" b="0">
                <a:solidFill>
                  <a:srgbClr val="111827"/>
                </a:solidFill>
                <a:latin typeface="Consolas"/>
                <a:ea typeface="Consolas"/>
                <a:cs typeface="Consolas"/>
              </a:defRPr>
            </a:pPr>
            <a:r>
              <a:rPr sz="476" b="0">
                <a:solidFill>
                  <a:srgbClr val="111827"/>
                </a:solidFill>
                <a:latin typeface="Consolas"/>
                <a:ea typeface="Consolas"/>
                <a:cs typeface="Consolas"/>
              </a:rPr>
              <a:t>                </a:t>
            </a:r>
          </a:p>
          <a:p>
            <a:pPr algn="l">
              <a:defRPr sz="476" b="0">
                <a:solidFill>
                  <a:srgbClr val="111827"/>
                </a:solidFill>
                <a:latin typeface="Consolas"/>
                <a:ea typeface="Consolas"/>
                <a:cs typeface="Consolas"/>
              </a:defRPr>
            </a:pPr>
            <a:r>
              <a:rPr sz="476" b="0">
                <a:solidFill>
                  <a:srgbClr val="111827"/>
                </a:solidFill>
                <a:latin typeface="Consolas"/>
                <a:ea typeface="Consolas"/>
                <a:cs typeface="Consolas"/>
              </a:rPr>
              <a:t>                # The heart of CP: Optional Interval Variable</a:t>
            </a:r>
          </a:p>
          <a:p>
            <a:pPr algn="l">
              <a:defRPr sz="476" b="0">
                <a:solidFill>
                  <a:srgbClr val="111827"/>
                </a:solidFill>
                <a:latin typeface="Consolas"/>
                <a:ea typeface="Consolas"/>
                <a:cs typeface="Consolas"/>
              </a:defRPr>
            </a:pPr>
            <a:r>
              <a:rPr sz="476" b="0">
                <a:solidFill>
                  <a:srgbClr val="111827"/>
                </a:solidFill>
                <a:latin typeface="Consolas"/>
                <a:ea typeface="Consolas"/>
                <a:cs typeface="Consolas"/>
              </a:rPr>
              <a:t>                iv = self.model.NewOptionalIntervalVar(</a:t>
            </a:r>
          </a:p>
          <a:p>
            <a:pPr algn="l">
              <a:defRPr sz="476" b="0">
                <a:solidFill>
                  <a:srgbClr val="111827"/>
                </a:solidFill>
                <a:latin typeface="Consolas"/>
                <a:ea typeface="Consolas"/>
                <a:cs typeface="Consolas"/>
              </a:defRPr>
            </a:pPr>
            <a:r>
              <a:rPr sz="476" b="0">
                <a:solidFill>
                  <a:srgbClr val="111827"/>
                </a:solidFill>
                <a:latin typeface="Consolas"/>
                <a:ea typeface="Consolas"/>
                <a:cs typeface="Consolas"/>
              </a:rPr>
              <a:t>                    self.starts[t_id, o_id], </a:t>
            </a:r>
          </a:p>
          <a:p>
            <a:pPr algn="l">
              <a:defRPr sz="476" b="0">
                <a:solidFill>
                  <a:srgbClr val="111827"/>
                </a:solidFill>
                <a:latin typeface="Consolas"/>
                <a:ea typeface="Consolas"/>
                <a:cs typeface="Consolas"/>
              </a:defRPr>
            </a:pPr>
            <a:r>
              <a:rPr sz="476" b="0">
                <a:solidFill>
                  <a:srgbClr val="111827"/>
                </a:solidFill>
                <a:latin typeface="Consolas"/>
                <a:ea typeface="Consolas"/>
                <a:cs typeface="Consolas"/>
              </a:rPr>
              <a:t>                    self.durations[t_id, o_id], </a:t>
            </a:r>
          </a:p>
          <a:p>
            <a:pPr algn="l">
              <a:defRPr sz="476" b="0">
                <a:solidFill>
                  <a:srgbClr val="111827"/>
                </a:solidFill>
                <a:latin typeface="Consolas"/>
                <a:ea typeface="Consolas"/>
                <a:cs typeface="Consolas"/>
              </a:defRPr>
            </a:pPr>
            <a:r>
              <a:rPr sz="476" b="0">
                <a:solidFill>
                  <a:srgbClr val="111827"/>
                </a:solidFill>
                <a:latin typeface="Consolas"/>
                <a:ea typeface="Consolas"/>
                <a:cs typeface="Consolas"/>
              </a:rPr>
              <a:t>                    self.ends[t_id, o_id], </a:t>
            </a:r>
          </a:p>
          <a:p>
            <a:pPr algn="l">
              <a:defRPr sz="476" b="0">
                <a:solidFill>
                  <a:srgbClr val="111827"/>
                </a:solidFill>
                <a:latin typeface="Consolas"/>
                <a:ea typeface="Consolas"/>
                <a:cs typeface="Consolas"/>
              </a:defRPr>
            </a:pPr>
            <a:r>
              <a:rPr sz="476" b="0">
                <a:solidFill>
                  <a:srgbClr val="111827"/>
                </a:solidFill>
                <a:latin typeface="Consolas"/>
                <a:ea typeface="Consolas"/>
                <a:cs typeface="Consolas"/>
              </a:rPr>
              <a:t>                    self.x[t_id, o_id], </a:t>
            </a:r>
          </a:p>
          <a:p>
            <a:pPr algn="l">
              <a:defRPr sz="476" b="0">
                <a:solidFill>
                  <a:srgbClr val="111827"/>
                </a:solidFill>
                <a:latin typeface="Consolas"/>
                <a:ea typeface="Consolas"/>
                <a:cs typeface="Consolas"/>
              </a:defRPr>
            </a:pPr>
            <a:r>
              <a:rPr sz="476" b="0">
                <a:solidFill>
                  <a:srgbClr val="111827"/>
                </a:solidFill>
                <a:latin typeface="Consolas"/>
                <a:ea typeface="Consolas"/>
                <a:cs typeface="Consolas"/>
              </a:rPr>
              <a:t>                    f"iv_{t_id}_{o_id}"</a:t>
            </a:r>
          </a:p>
          <a:p>
            <a:pPr algn="l">
              <a:defRPr sz="476" b="0">
                <a:solidFill>
                  <a:srgbClr val="111827"/>
                </a:solidFill>
                <a:latin typeface="Consolas"/>
                <a:ea typeface="Consolas"/>
                <a:cs typeface="Consolas"/>
              </a:defRPr>
            </a:pPr>
            <a:r>
              <a:rPr sz="476" b="0">
                <a:solidFill>
                  <a:srgbClr val="111827"/>
                </a:solidFill>
                <a:latin typeface="Consolas"/>
                <a:ea typeface="Consolas"/>
                <a:cs typeface="Consolas"/>
              </a:rPr>
              <a:t>                )</a:t>
            </a:r>
          </a:p>
        </p:txBody>
      </p:sp>
      <p:sp>
        <p:nvSpPr>
          <p:cNvPr id="16" name="Rectangle 15">
            <a:extLst>
              <a:ext uri="{FF2B5EF4-FFF2-40B4-BE49-F238E27FC236}">
                <a16:creationId xmlns:a16="http://schemas.microsoft.com/office/drawing/2014/main" id="{3D807B83-62D2-4F7B-AE8C-875B64E2F462}"/>
              </a:ext>
            </a:extLst>
          </p:cNvPr>
          <p:cNvSpPr>
            <a:spLocks noGrp="1"/>
          </p:cNvSpPr>
          <p:nvPr/>
        </p:nvSpPr>
        <p:spPr>
          <a:xfrm>
            <a:off x="552450" y="4286250"/>
            <a:ext cx="3619500" cy="952500"/>
          </a:xfrm>
          <a:prstGeom prst="rect">
            <a:avLst/>
          </a:prstGeom>
          <a:solidFill>
            <a:srgbClr val="FFFFFF"/>
          </a:solidFill>
          <a:ln w="10478">
            <a:solidFill>
              <a:srgbClr val="00A6B2"/>
            </a:solidFill>
            <a:prstDash val="solid"/>
          </a:ln>
        </p:spPr>
        <p:txBody>
          <a:bodyPr/>
          <a:lstStyle/>
          <a:p>
            <a:endParaRPr lang="en-DE"/>
          </a:p>
        </p:txBody>
      </p:sp>
      <p:sp>
        <p:nvSpPr>
          <p:cNvPr id="17" name="Rectangle 16">
            <a:extLst>
              <a:ext uri="{FF2B5EF4-FFF2-40B4-BE49-F238E27FC236}">
                <a16:creationId xmlns:a16="http://schemas.microsoft.com/office/drawing/2014/main" id="{2D80663D-3EB5-443D-9B96-6E32B0D76945}"/>
              </a:ext>
            </a:extLst>
          </p:cNvPr>
          <p:cNvSpPr>
            <a:spLocks noGrp="1"/>
          </p:cNvSpPr>
          <p:nvPr/>
        </p:nvSpPr>
        <p:spPr>
          <a:xfrm>
            <a:off x="666750" y="4381500"/>
            <a:ext cx="33909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1">
                <a:solidFill>
                  <a:srgbClr val="00A6B2"/>
                </a:solidFill>
                <a:latin typeface="Arial"/>
                <a:ea typeface="Arial"/>
                <a:cs typeface="Arial"/>
              </a:defRPr>
            </a:pPr>
            <a:r>
              <a:rPr sz="563" b="1">
                <a:solidFill>
                  <a:srgbClr val="00A6B2"/>
                </a:solidFill>
                <a:latin typeface="Arial"/>
                <a:ea typeface="Arial"/>
                <a:cs typeface="Arial"/>
              </a:rPr>
              <a:t>WARUM ANDERS?</a:t>
            </a:r>
          </a:p>
        </p:txBody>
      </p:sp>
      <p:sp>
        <p:nvSpPr>
          <p:cNvPr id="18" name="Rectangle 17">
            <a:extLst>
              <a:ext uri="{FF2B5EF4-FFF2-40B4-BE49-F238E27FC236}">
                <a16:creationId xmlns:a16="http://schemas.microsoft.com/office/drawing/2014/main" id="{20E2AAED-D432-4207-9FF2-ADAAEAC660FB}"/>
              </a:ext>
            </a:extLst>
          </p:cNvPr>
          <p:cNvSpPr>
            <a:spLocks noGrp="1"/>
          </p:cNvSpPr>
          <p:nvPr/>
        </p:nvSpPr>
        <p:spPr>
          <a:xfrm>
            <a:off x="666750" y="4572000"/>
            <a:ext cx="33909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73" b="0">
                <a:solidFill>
                  <a:srgbClr val="111111"/>
                </a:solidFill>
                <a:latin typeface="Arial"/>
                <a:ea typeface="Arial"/>
                <a:cs typeface="Arial"/>
              </a:defRPr>
            </a:pPr>
            <a:r>
              <a:rPr sz="773" b="0">
                <a:solidFill>
                  <a:srgbClr val="111111"/>
                </a:solidFill>
                <a:latin typeface="Arial"/>
                <a:ea typeface="Arial"/>
                <a:cs typeface="Arial"/>
              </a:rPr>
              <a:t>CP-SAT braucht ganzzahlige Zeitachsen und optionale Intervalle. Ein Intervall ist praktisch: Start + Dauer + Ende + Aktivierungsvariable.</a:t>
            </a:r>
          </a:p>
        </p:txBody>
      </p:sp>
      <p:sp>
        <p:nvSpPr>
          <p:cNvPr id="19" name="Rectangle 18">
            <a:extLst>
              <a:ext uri="{FF2B5EF4-FFF2-40B4-BE49-F238E27FC236}">
                <a16:creationId xmlns:a16="http://schemas.microsoft.com/office/drawing/2014/main" id="{F6635C7E-5B5A-46EB-BC79-C5EA508CD222}"/>
              </a:ext>
            </a:extLst>
          </p:cNvPr>
          <p:cNvSpPr>
            <a:spLocks noGrp="1"/>
          </p:cNvSpPr>
          <p:nvPr/>
        </p:nvSpPr>
        <p:spPr>
          <a:xfrm>
            <a:off x="381000" y="5753100"/>
            <a:ext cx="11430000" cy="11430"/>
          </a:xfrm>
          <a:prstGeom prst="rect">
            <a:avLst/>
          </a:prstGeom>
          <a:solidFill>
            <a:srgbClr val="222222"/>
          </a:solidFill>
          <a:ln w="0">
            <a:solidFill>
              <a:srgbClr val="000000">
                <a:alpha val="0"/>
              </a:srgbClr>
            </a:solidFill>
            <a:prstDash val="solid"/>
          </a:ln>
        </p:spPr>
        <p:txBody>
          <a:bodyPr/>
          <a:lstStyle/>
          <a:p>
            <a:endParaRPr lang="en-DE"/>
          </a:p>
        </p:txBody>
      </p:sp>
      <p:sp>
        <p:nvSpPr>
          <p:cNvPr id="20" name="Rectangle 19">
            <a:extLst>
              <a:ext uri="{FF2B5EF4-FFF2-40B4-BE49-F238E27FC236}">
                <a16:creationId xmlns:a16="http://schemas.microsoft.com/office/drawing/2014/main" id="{6E489220-FD97-40E9-BD19-0A9CB73CC048}"/>
              </a:ext>
            </a:extLst>
          </p:cNvPr>
          <p:cNvSpPr>
            <a:spLocks noGrp="1"/>
          </p:cNvSpPr>
          <p:nvPr/>
        </p:nvSpPr>
        <p:spPr>
          <a:xfrm>
            <a:off x="381000" y="592455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00549F"/>
                </a:solidFill>
                <a:latin typeface="Arial"/>
                <a:ea typeface="Arial"/>
                <a:cs typeface="Arial"/>
              </a:defRPr>
            </a:pPr>
            <a:r>
              <a:rPr sz="675" b="0">
                <a:solidFill>
                  <a:srgbClr val="00549F"/>
                </a:solidFill>
                <a:latin typeface="Arial"/>
                <a:ea typeface="Arial"/>
                <a:cs typeface="Arial"/>
              </a:rPr>
              <a:t>4</a:t>
            </a:r>
          </a:p>
        </p:txBody>
      </p:sp>
      <p:sp>
        <p:nvSpPr>
          <p:cNvPr id="21" name="Rectangle 20">
            <a:extLst>
              <a:ext uri="{FF2B5EF4-FFF2-40B4-BE49-F238E27FC236}">
                <a16:creationId xmlns:a16="http://schemas.microsoft.com/office/drawing/2014/main" id="{A57AEB0A-068A-4C6C-98DF-BAE0DD5BB347}"/>
              </a:ext>
            </a:extLst>
          </p:cNvPr>
          <p:cNvSpPr>
            <a:spLocks noGrp="1"/>
          </p:cNvSpPr>
          <p:nvPr/>
        </p:nvSpPr>
        <p:spPr>
          <a:xfrm>
            <a:off x="1123950" y="5924550"/>
            <a:ext cx="6572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0" b="0">
                <a:solidFill>
                  <a:srgbClr val="00549F"/>
                </a:solidFill>
                <a:latin typeface="Arial"/>
                <a:ea typeface="Arial"/>
                <a:cs typeface="Arial"/>
              </a:defRPr>
            </a:pPr>
            <a:r>
              <a:rPr sz="630" b="0">
                <a:solidFill>
                  <a:srgbClr val="00549F"/>
                </a:solidFill>
                <a:latin typeface="Arial"/>
                <a:ea typeface="Arial"/>
                <a:cs typeface="Arial"/>
              </a:rPr>
              <a:t>Train Dispatching | DISPLIB mathematical model to code | Baseline MIP and Extended CP-SAT</a:t>
            </a:r>
          </a:p>
        </p:txBody>
      </p:sp>
      <p:pic>
        <p:nvPicPr>
          <p:cNvPr id="22" name="Picture 21"/>
          <p:cNvPicPr>
            <a:picLocks noChangeAspect="1"/>
          </p:cNvPicPr>
          <p:nvPr/>
        </p:nvPicPr>
        <p:blipFill>
          <a:blip r:embed="rId4"/>
          <a:stretch/>
        </p:blipFill>
        <p:spPr>
          <a:xfrm>
            <a:off x="8107690" y="5829300"/>
            <a:ext cx="2929870" cy="819150"/>
          </a:xfrm>
          <a:prstGeom prst="rect">
            <a:avLst/>
          </a:prstGeom>
        </p:spPr>
      </p:pic>
    </p:spTree>
    <p:extLst>
      <p:ext uri="{BB962C8B-B14F-4D97-AF65-F5344CB8AC3E}">
        <p14:creationId xmlns:p14="http://schemas.microsoft.com/office/powerpoint/2010/main" val="12041792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7372C0E-660F-430D-A7F9-059F0C0308C0}"/>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en-DE"/>
          </a:p>
        </p:txBody>
      </p:sp>
      <p:sp>
        <p:nvSpPr>
          <p:cNvPr id="2" name="Rectangle 1">
            <a:extLst>
              <a:ext uri="{FF2B5EF4-FFF2-40B4-BE49-F238E27FC236}">
                <a16:creationId xmlns:a16="http://schemas.microsoft.com/office/drawing/2014/main" id="{435B8F9B-6573-43C2-B903-12E0899CBE4C}"/>
              </a:ext>
            </a:extLst>
          </p:cNvPr>
          <p:cNvSpPr>
            <a:spLocks noGrp="1"/>
          </p:cNvSpPr>
          <p:nvPr/>
        </p:nvSpPr>
        <p:spPr>
          <a:xfrm>
            <a:off x="514350" y="285750"/>
            <a:ext cx="106680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00549F"/>
                </a:solidFill>
                <a:latin typeface="Arial"/>
                <a:ea typeface="Arial"/>
                <a:cs typeface="Arial"/>
              </a:defRPr>
            </a:pPr>
            <a:r>
              <a:rPr sz="1800" b="1">
                <a:solidFill>
                  <a:srgbClr val="00549F"/>
                </a:solidFill>
                <a:latin typeface="Arial"/>
                <a:ea typeface="Arial"/>
                <a:cs typeface="Arial"/>
              </a:rPr>
              <a:t>Routing: im MIP steckt Gleichung (1) in den Flow-Constraints.</a:t>
            </a:r>
          </a:p>
        </p:txBody>
      </p:sp>
      <p:sp>
        <p:nvSpPr>
          <p:cNvPr id="3" name="Rectangle 2">
            <a:extLst>
              <a:ext uri="{FF2B5EF4-FFF2-40B4-BE49-F238E27FC236}">
                <a16:creationId xmlns:a16="http://schemas.microsoft.com/office/drawing/2014/main" id="{A6D910C4-86DE-4035-A8CD-1ED45B061F28}"/>
              </a:ext>
            </a:extLst>
          </p:cNvPr>
          <p:cNvSpPr>
            <a:spLocks noGrp="1"/>
          </p:cNvSpPr>
          <p:nvPr/>
        </p:nvSpPr>
        <p:spPr>
          <a:xfrm>
            <a:off x="514350" y="704850"/>
            <a:ext cx="9715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10" b="0">
                <a:solidFill>
                  <a:srgbClr val="565656"/>
                </a:solidFill>
                <a:latin typeface="Arial"/>
                <a:ea typeface="Arial"/>
                <a:cs typeface="Arial"/>
              </a:defRPr>
            </a:pPr>
            <a:r>
              <a:rPr sz="810" b="0">
                <a:solidFill>
                  <a:srgbClr val="565656"/>
                </a:solidFill>
                <a:latin typeface="Arial"/>
                <a:ea typeface="Arial"/>
                <a:cs typeface="Arial"/>
              </a:rPr>
              <a:t>Das ist die echte Code-Stelle, die Eingang, Ausgang und Zwischenknoten verbindet.</a:t>
            </a:r>
          </a:p>
        </p:txBody>
      </p:sp>
      <p:sp>
        <p:nvSpPr>
          <p:cNvPr id="4" name="Rectangle 3">
            <a:extLst>
              <a:ext uri="{FF2B5EF4-FFF2-40B4-BE49-F238E27FC236}">
                <a16:creationId xmlns:a16="http://schemas.microsoft.com/office/drawing/2014/main" id="{79DA0493-DC21-41C4-AD2D-DA4BD06B95D3}"/>
              </a:ext>
            </a:extLst>
          </p:cNvPr>
          <p:cNvSpPr>
            <a:spLocks noGrp="1"/>
          </p:cNvSpPr>
          <p:nvPr/>
        </p:nvSpPr>
        <p:spPr>
          <a:xfrm>
            <a:off x="514350" y="971550"/>
            <a:ext cx="10763250" cy="11430"/>
          </a:xfrm>
          <a:prstGeom prst="rect">
            <a:avLst/>
          </a:prstGeom>
          <a:solidFill>
            <a:srgbClr val="222222"/>
          </a:solidFill>
          <a:ln w="0">
            <a:solidFill>
              <a:srgbClr val="000000">
                <a:alpha val="0"/>
              </a:srgbClr>
            </a:solidFill>
            <a:prstDash val="solid"/>
          </a:ln>
        </p:spPr>
        <p:txBody>
          <a:bodyPr/>
          <a:lstStyle/>
          <a:p>
            <a:endParaRPr lang="en-DE"/>
          </a:p>
        </p:txBody>
      </p:sp>
      <p:sp>
        <p:nvSpPr>
          <p:cNvPr id="5" name="Rectangle 4">
            <a:extLst>
              <a:ext uri="{FF2B5EF4-FFF2-40B4-BE49-F238E27FC236}">
                <a16:creationId xmlns:a16="http://schemas.microsoft.com/office/drawing/2014/main" id="{FA1F06B6-1F7C-438D-9365-89C5083A582C}"/>
              </a:ext>
            </a:extLst>
          </p:cNvPr>
          <p:cNvSpPr>
            <a:spLocks noGrp="1"/>
          </p:cNvSpPr>
          <p:nvPr/>
        </p:nvSpPr>
        <p:spPr>
          <a:xfrm>
            <a:off x="552450" y="1276350"/>
            <a:ext cx="3733800" cy="3000375"/>
          </a:xfrm>
          <a:prstGeom prst="rect">
            <a:avLst/>
          </a:prstGeom>
          <a:solidFill>
            <a:srgbClr val="FFFFFF"/>
          </a:solidFill>
          <a:ln w="9525">
            <a:solidFill>
              <a:srgbClr val="D7DDE4"/>
            </a:solidFill>
            <a:prstDash val="solid"/>
          </a:ln>
        </p:spPr>
        <p:txBody>
          <a:bodyPr/>
          <a:lstStyle/>
          <a:p>
            <a:endParaRPr lang="en-DE"/>
          </a:p>
        </p:txBody>
      </p:sp>
      <p:pic>
        <p:nvPicPr>
          <p:cNvPr id="6" name="Picture 5"/>
          <p:cNvPicPr>
            <a:picLocks noChangeAspect="1"/>
          </p:cNvPicPr>
          <p:nvPr/>
        </p:nvPicPr>
        <p:blipFill>
          <a:blip r:embed="rId3"/>
          <a:stretch/>
        </p:blipFill>
        <p:spPr>
          <a:xfrm>
            <a:off x="647700" y="1983492"/>
            <a:ext cx="3543300" cy="1490841"/>
          </a:xfrm>
          <a:prstGeom prst="rect">
            <a:avLst/>
          </a:prstGeom>
        </p:spPr>
      </p:pic>
      <p:sp>
        <p:nvSpPr>
          <p:cNvPr id="7" name="Rectangle 6">
            <a:extLst>
              <a:ext uri="{FF2B5EF4-FFF2-40B4-BE49-F238E27FC236}">
                <a16:creationId xmlns:a16="http://schemas.microsoft.com/office/drawing/2014/main" id="{E83BE776-6721-45F1-AAD6-8355FBF3519F}"/>
              </a:ext>
            </a:extLst>
          </p:cNvPr>
          <p:cNvSpPr>
            <a:spLocks noGrp="1"/>
          </p:cNvSpPr>
          <p:nvPr/>
        </p:nvSpPr>
        <p:spPr>
          <a:xfrm>
            <a:off x="647700" y="4105275"/>
            <a:ext cx="3543300" cy="104775"/>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533" b="0">
                <a:solidFill>
                  <a:srgbClr val="565656"/>
                </a:solidFill>
                <a:latin typeface="Arial"/>
                <a:ea typeface="Arial"/>
                <a:cs typeface="Arial"/>
              </a:defRPr>
            </a:pPr>
            <a:r>
              <a:rPr sz="533" b="0">
                <a:solidFill>
                  <a:srgbClr val="565656"/>
                </a:solidFill>
                <a:latin typeface="Arial"/>
                <a:ea typeface="Arial"/>
                <a:cs typeface="Arial"/>
              </a:rPr>
              <a:t>Paper Gl. (1): Routing-Constraints</a:t>
            </a:r>
          </a:p>
        </p:txBody>
      </p:sp>
      <p:sp>
        <p:nvSpPr>
          <p:cNvPr id="8" name="Rectangle 7">
            <a:extLst>
              <a:ext uri="{FF2B5EF4-FFF2-40B4-BE49-F238E27FC236}">
                <a16:creationId xmlns:a16="http://schemas.microsoft.com/office/drawing/2014/main" id="{5CDE3C4B-28E5-499F-951D-E8CC17D0246C}"/>
              </a:ext>
            </a:extLst>
          </p:cNvPr>
          <p:cNvSpPr>
            <a:spLocks noGrp="1"/>
          </p:cNvSpPr>
          <p:nvPr/>
        </p:nvSpPr>
        <p:spPr>
          <a:xfrm>
            <a:off x="4619625" y="1276350"/>
            <a:ext cx="6667500" cy="4095750"/>
          </a:xfrm>
          <a:prstGeom prst="rect">
            <a:avLst/>
          </a:prstGeom>
          <a:solidFill>
            <a:srgbClr val="F6F8FA"/>
          </a:solidFill>
          <a:ln w="9525">
            <a:solidFill>
              <a:srgbClr val="7FAAD3"/>
            </a:solidFill>
            <a:prstDash val="solid"/>
          </a:ln>
        </p:spPr>
        <p:txBody>
          <a:bodyPr/>
          <a:lstStyle/>
          <a:p>
            <a:endParaRPr lang="en-DE"/>
          </a:p>
        </p:txBody>
      </p:sp>
      <p:sp>
        <p:nvSpPr>
          <p:cNvPr id="9" name="Rectangle 8">
            <a:extLst>
              <a:ext uri="{FF2B5EF4-FFF2-40B4-BE49-F238E27FC236}">
                <a16:creationId xmlns:a16="http://schemas.microsoft.com/office/drawing/2014/main" id="{D053DC29-448E-4669-8FAF-3FE729F60ADA}"/>
              </a:ext>
            </a:extLst>
          </p:cNvPr>
          <p:cNvSpPr>
            <a:spLocks noGrp="1"/>
          </p:cNvSpPr>
          <p:nvPr/>
        </p:nvSpPr>
        <p:spPr>
          <a:xfrm>
            <a:off x="4619625" y="1276350"/>
            <a:ext cx="6667500" cy="228600"/>
          </a:xfrm>
          <a:prstGeom prst="rect">
            <a:avLst/>
          </a:prstGeom>
          <a:solidFill>
            <a:srgbClr val="E7F0FA"/>
          </a:solidFill>
          <a:ln w="9525">
            <a:solidFill>
              <a:srgbClr val="7FAAD3"/>
            </a:solidFill>
            <a:prstDash val="solid"/>
          </a:ln>
        </p:spPr>
        <p:txBody>
          <a:bodyPr/>
          <a:lstStyle/>
          <a:p>
            <a:endParaRPr lang="en-DE"/>
          </a:p>
        </p:txBody>
      </p:sp>
      <p:sp>
        <p:nvSpPr>
          <p:cNvPr id="10" name="Rectangle 9">
            <a:extLst>
              <a:ext uri="{FF2B5EF4-FFF2-40B4-BE49-F238E27FC236}">
                <a16:creationId xmlns:a16="http://schemas.microsoft.com/office/drawing/2014/main" id="{C80EC9A2-8C81-4D0E-B0DF-322D069FD373}"/>
              </a:ext>
            </a:extLst>
          </p:cNvPr>
          <p:cNvSpPr>
            <a:spLocks noGrp="1"/>
          </p:cNvSpPr>
          <p:nvPr/>
        </p:nvSpPr>
        <p:spPr>
          <a:xfrm>
            <a:off x="4714875" y="1333500"/>
            <a:ext cx="6477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70" b="1">
                <a:solidFill>
                  <a:srgbClr val="00549F"/>
                </a:solidFill>
                <a:latin typeface="Arial"/>
                <a:ea typeface="Arial"/>
                <a:cs typeface="Arial"/>
              </a:defRPr>
            </a:pPr>
            <a:r>
              <a:rPr sz="570" b="1">
                <a:solidFill>
                  <a:srgbClr val="00549F"/>
                </a:solidFill>
                <a:latin typeface="Arial"/>
                <a:ea typeface="Arial"/>
                <a:cs typeface="Arial"/>
              </a:rPr>
              <a:t>phase1_baseline/src/mip_model.py:70-102</a:t>
            </a:r>
          </a:p>
        </p:txBody>
      </p:sp>
      <p:sp>
        <p:nvSpPr>
          <p:cNvPr id="11" name="Rectangle 10">
            <a:extLst>
              <a:ext uri="{FF2B5EF4-FFF2-40B4-BE49-F238E27FC236}">
                <a16:creationId xmlns:a16="http://schemas.microsoft.com/office/drawing/2014/main" id="{B59F8F9E-CE39-489B-82CF-E5F9ED304B50}"/>
              </a:ext>
            </a:extLst>
          </p:cNvPr>
          <p:cNvSpPr>
            <a:spLocks noGrp="1"/>
          </p:cNvSpPr>
          <p:nvPr/>
        </p:nvSpPr>
        <p:spPr>
          <a:xfrm>
            <a:off x="4733925" y="1600200"/>
            <a:ext cx="6438900" cy="3695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 A) Flow constraints</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for train in self.instance.trains:</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entries = [op.id for op in train.operations if len(predecessors[train.id][op.id]) == 0]</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exits = [op.id for op in train.operations if len(op.successors) == 0]</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 Flow leaving entry</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for entry in entries:</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op = train.get_operation(entry)</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self.model.addConstr(gp.quicksum(self.y[train.id, entry, succ] for succ in op.successors) == 1)</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self.model.addConstr(self.x[train.id, entry] == 1)</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 Flow entering exit</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for exit in exits:</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self.model.addConstr(gp.quicksum(self.y[train.id, pred, exit] for pred in predecessors[train.id][exit]) == 1)</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self.model.addConstr(self.x[train.id, exit] == 1)</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 Flow conservation for intermediate</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for op in train.operations:</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if op.id not in entries and op.id not in exits:</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sum_in = gp.quicksum(self.y[train.id, pred, op.id] for pred in predecessors[train.id][op.id])</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sum_out = gp.quicksum(self.y[train.id, op.id, succ] for succ in op.successors)</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self.model.addConstr(sum_in == sum_out)</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self.model.addConstr(sum_in == self.x[train.id, op.id])</a:t>
            </a:r>
          </a:p>
          <a:p>
            <a:endParaRPr sz="518" b="0">
              <a:solidFill>
                <a:srgbClr val="111827"/>
              </a:solidFill>
              <a:latin typeface="Consolas"/>
              <a:ea typeface="Consolas"/>
              <a:cs typeface="Consolas"/>
            </a:endParaRP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 Logical y relates to x</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for op in train.operations:</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for succ in op.successors:</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self.model.addConstr(self.y[train.id, op.id, succ] &lt;= self.x[train.id, op.id])</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self.model.addConstr(self.y[train.id, op.id, succ] &lt;= self.x[train.id, succ])</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self.model.addConstr(self.x[train.id, op.id] + self.x[train.id, succ] - 1 &lt;= self.y[train.id, op.id, succ])</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 Duration minimum</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self.model.addConstr(self.t[train.id, succ] - self.t[train.id, op.id] &gt;= op.min_duration * self.y[train.id, op.id, succ])</a:t>
            </a:r>
          </a:p>
        </p:txBody>
      </p:sp>
      <p:sp>
        <p:nvSpPr>
          <p:cNvPr id="12" name="Rectangle 11">
            <a:extLst>
              <a:ext uri="{FF2B5EF4-FFF2-40B4-BE49-F238E27FC236}">
                <a16:creationId xmlns:a16="http://schemas.microsoft.com/office/drawing/2014/main" id="{42C9572A-EC1D-4353-9769-E24B551879B8}"/>
              </a:ext>
            </a:extLst>
          </p:cNvPr>
          <p:cNvSpPr>
            <a:spLocks noGrp="1"/>
          </p:cNvSpPr>
          <p:nvPr/>
        </p:nvSpPr>
        <p:spPr>
          <a:xfrm>
            <a:off x="552450" y="4476750"/>
            <a:ext cx="3733800" cy="800100"/>
          </a:xfrm>
          <a:prstGeom prst="rect">
            <a:avLst/>
          </a:prstGeom>
          <a:solidFill>
            <a:srgbClr val="FFFFFF"/>
          </a:solidFill>
          <a:ln w="10478">
            <a:solidFill>
              <a:srgbClr val="00549F"/>
            </a:solidFill>
            <a:prstDash val="solid"/>
          </a:ln>
        </p:spPr>
        <p:txBody>
          <a:bodyPr/>
          <a:lstStyle/>
          <a:p>
            <a:endParaRPr lang="en-DE"/>
          </a:p>
        </p:txBody>
      </p:sp>
      <p:sp>
        <p:nvSpPr>
          <p:cNvPr id="13" name="Rectangle 12">
            <a:extLst>
              <a:ext uri="{FF2B5EF4-FFF2-40B4-BE49-F238E27FC236}">
                <a16:creationId xmlns:a16="http://schemas.microsoft.com/office/drawing/2014/main" id="{F1B29F79-BEB0-43DB-AF48-A5C32931F7FB}"/>
              </a:ext>
            </a:extLst>
          </p:cNvPr>
          <p:cNvSpPr>
            <a:spLocks noGrp="1"/>
          </p:cNvSpPr>
          <p:nvPr/>
        </p:nvSpPr>
        <p:spPr>
          <a:xfrm>
            <a:off x="666750" y="4572000"/>
            <a:ext cx="35052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1">
                <a:solidFill>
                  <a:srgbClr val="00549F"/>
                </a:solidFill>
                <a:latin typeface="Arial"/>
                <a:ea typeface="Arial"/>
                <a:cs typeface="Arial"/>
              </a:defRPr>
            </a:pPr>
            <a:r>
              <a:rPr sz="563" b="1">
                <a:solidFill>
                  <a:srgbClr val="00549F"/>
                </a:solidFill>
                <a:latin typeface="Arial"/>
                <a:ea typeface="Arial"/>
                <a:cs typeface="Arial"/>
              </a:rPr>
              <a:t>SPRECHPUNKT</a:t>
            </a:r>
          </a:p>
        </p:txBody>
      </p:sp>
      <p:sp>
        <p:nvSpPr>
          <p:cNvPr id="14" name="Rectangle 13">
            <a:extLst>
              <a:ext uri="{FF2B5EF4-FFF2-40B4-BE49-F238E27FC236}">
                <a16:creationId xmlns:a16="http://schemas.microsoft.com/office/drawing/2014/main" id="{6744DC8C-45FD-49FB-B02C-F3BDF6B5861F}"/>
              </a:ext>
            </a:extLst>
          </p:cNvPr>
          <p:cNvSpPr>
            <a:spLocks noGrp="1"/>
          </p:cNvSpPr>
          <p:nvPr/>
        </p:nvSpPr>
        <p:spPr>
          <a:xfrm>
            <a:off x="666750" y="4762500"/>
            <a:ext cx="35052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73" b="0">
                <a:solidFill>
                  <a:srgbClr val="111111"/>
                </a:solidFill>
                <a:latin typeface="Arial"/>
                <a:ea typeface="Arial"/>
                <a:cs typeface="Arial"/>
              </a:defRPr>
            </a:pPr>
            <a:r>
              <a:rPr sz="773" b="0">
                <a:solidFill>
                  <a:srgbClr val="111111"/>
                </a:solidFill>
                <a:latin typeface="Arial"/>
                <a:ea typeface="Arial"/>
                <a:cs typeface="Arial"/>
              </a:rPr>
              <a:t>Eingang: genau ein Weg raus. Ausgang: genau ein Weg rein. Zwischenoperation: Summe rein gleich Summe raus.</a:t>
            </a:r>
          </a:p>
        </p:txBody>
      </p:sp>
      <p:sp>
        <p:nvSpPr>
          <p:cNvPr id="15" name="Rectangle 14">
            <a:extLst>
              <a:ext uri="{FF2B5EF4-FFF2-40B4-BE49-F238E27FC236}">
                <a16:creationId xmlns:a16="http://schemas.microsoft.com/office/drawing/2014/main" id="{3FCA253A-1C15-420F-A7C0-227EE8943E31}"/>
              </a:ext>
            </a:extLst>
          </p:cNvPr>
          <p:cNvSpPr>
            <a:spLocks noGrp="1"/>
          </p:cNvSpPr>
          <p:nvPr/>
        </p:nvSpPr>
        <p:spPr>
          <a:xfrm>
            <a:off x="381000" y="5753100"/>
            <a:ext cx="11430000" cy="11430"/>
          </a:xfrm>
          <a:prstGeom prst="rect">
            <a:avLst/>
          </a:prstGeom>
          <a:solidFill>
            <a:srgbClr val="222222"/>
          </a:solidFill>
          <a:ln w="0">
            <a:solidFill>
              <a:srgbClr val="000000">
                <a:alpha val="0"/>
              </a:srgbClr>
            </a:solidFill>
            <a:prstDash val="solid"/>
          </a:ln>
        </p:spPr>
        <p:txBody>
          <a:bodyPr/>
          <a:lstStyle/>
          <a:p>
            <a:endParaRPr lang="en-DE"/>
          </a:p>
        </p:txBody>
      </p:sp>
      <p:sp>
        <p:nvSpPr>
          <p:cNvPr id="16" name="Rectangle 15">
            <a:extLst>
              <a:ext uri="{FF2B5EF4-FFF2-40B4-BE49-F238E27FC236}">
                <a16:creationId xmlns:a16="http://schemas.microsoft.com/office/drawing/2014/main" id="{EA7A256B-8819-4459-85EC-32E166E77BEA}"/>
              </a:ext>
            </a:extLst>
          </p:cNvPr>
          <p:cNvSpPr>
            <a:spLocks noGrp="1"/>
          </p:cNvSpPr>
          <p:nvPr/>
        </p:nvSpPr>
        <p:spPr>
          <a:xfrm>
            <a:off x="381000" y="592455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00549F"/>
                </a:solidFill>
                <a:latin typeface="Arial"/>
                <a:ea typeface="Arial"/>
                <a:cs typeface="Arial"/>
              </a:defRPr>
            </a:pPr>
            <a:r>
              <a:rPr sz="675" b="0">
                <a:solidFill>
                  <a:srgbClr val="00549F"/>
                </a:solidFill>
                <a:latin typeface="Arial"/>
                <a:ea typeface="Arial"/>
                <a:cs typeface="Arial"/>
              </a:rPr>
              <a:t>5</a:t>
            </a:r>
          </a:p>
        </p:txBody>
      </p:sp>
      <p:sp>
        <p:nvSpPr>
          <p:cNvPr id="17" name="Rectangle 16">
            <a:extLst>
              <a:ext uri="{FF2B5EF4-FFF2-40B4-BE49-F238E27FC236}">
                <a16:creationId xmlns:a16="http://schemas.microsoft.com/office/drawing/2014/main" id="{98F10371-EE6B-41CE-B0E4-4DFB9FA6EE8C}"/>
              </a:ext>
            </a:extLst>
          </p:cNvPr>
          <p:cNvSpPr>
            <a:spLocks noGrp="1"/>
          </p:cNvSpPr>
          <p:nvPr/>
        </p:nvSpPr>
        <p:spPr>
          <a:xfrm>
            <a:off x="1123950" y="5924550"/>
            <a:ext cx="6572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0" b="0">
                <a:solidFill>
                  <a:srgbClr val="00549F"/>
                </a:solidFill>
                <a:latin typeface="Arial"/>
                <a:ea typeface="Arial"/>
                <a:cs typeface="Arial"/>
              </a:defRPr>
            </a:pPr>
            <a:r>
              <a:rPr sz="630" b="0">
                <a:solidFill>
                  <a:srgbClr val="00549F"/>
                </a:solidFill>
                <a:latin typeface="Arial"/>
                <a:ea typeface="Arial"/>
                <a:cs typeface="Arial"/>
              </a:rPr>
              <a:t>Train Dispatching | DISPLIB mathematical model to code | Baseline MIP and Extended CP-SAT</a:t>
            </a:r>
          </a:p>
        </p:txBody>
      </p:sp>
      <p:pic>
        <p:nvPicPr>
          <p:cNvPr id="18" name="Picture 17"/>
          <p:cNvPicPr>
            <a:picLocks noChangeAspect="1"/>
          </p:cNvPicPr>
          <p:nvPr/>
        </p:nvPicPr>
        <p:blipFill>
          <a:blip r:embed="rId4"/>
          <a:stretch/>
        </p:blipFill>
        <p:spPr>
          <a:xfrm>
            <a:off x="8107690" y="5829300"/>
            <a:ext cx="2929870" cy="819150"/>
          </a:xfrm>
          <a:prstGeom prst="rect">
            <a:avLst/>
          </a:prstGeom>
        </p:spPr>
      </p:pic>
    </p:spTree>
    <p:extLst>
      <p:ext uri="{BB962C8B-B14F-4D97-AF65-F5344CB8AC3E}">
        <p14:creationId xmlns:p14="http://schemas.microsoft.com/office/powerpoint/2010/main" val="1668264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C8707360-660F-4460-AC6F-606F80C4B7DB}"/>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en-DE"/>
          </a:p>
        </p:txBody>
      </p:sp>
      <p:sp>
        <p:nvSpPr>
          <p:cNvPr id="2" name="Rectangle 1">
            <a:extLst>
              <a:ext uri="{FF2B5EF4-FFF2-40B4-BE49-F238E27FC236}">
                <a16:creationId xmlns:a16="http://schemas.microsoft.com/office/drawing/2014/main" id="{A2B555C9-55F5-425C-8B3B-49789C6AF981}"/>
              </a:ext>
            </a:extLst>
          </p:cNvPr>
          <p:cNvSpPr>
            <a:spLocks noGrp="1"/>
          </p:cNvSpPr>
          <p:nvPr/>
        </p:nvSpPr>
        <p:spPr>
          <a:xfrm>
            <a:off x="514350" y="285750"/>
            <a:ext cx="106680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00549F"/>
                </a:solidFill>
                <a:latin typeface="Arial"/>
                <a:ea typeface="Arial"/>
                <a:cs typeface="Arial"/>
              </a:defRPr>
            </a:pPr>
            <a:r>
              <a:rPr sz="1800" b="1">
                <a:solidFill>
                  <a:srgbClr val="00549F"/>
                </a:solidFill>
                <a:latin typeface="Arial"/>
                <a:ea typeface="Arial"/>
                <a:cs typeface="Arial"/>
              </a:rPr>
              <a:t>Routing: CP-SAT schreibt dieselbe Logik mit Add-Constraints.</a:t>
            </a:r>
          </a:p>
        </p:txBody>
      </p:sp>
      <p:sp>
        <p:nvSpPr>
          <p:cNvPr id="3" name="Rectangle 2">
            <a:extLst>
              <a:ext uri="{FF2B5EF4-FFF2-40B4-BE49-F238E27FC236}">
                <a16:creationId xmlns:a16="http://schemas.microsoft.com/office/drawing/2014/main" id="{8312FC25-89FF-4856-9ABC-6B12E25D7CC8}"/>
              </a:ext>
            </a:extLst>
          </p:cNvPr>
          <p:cNvSpPr>
            <a:spLocks noGrp="1"/>
          </p:cNvSpPr>
          <p:nvPr/>
        </p:nvSpPr>
        <p:spPr>
          <a:xfrm>
            <a:off x="514350" y="704850"/>
            <a:ext cx="9715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10" b="0">
                <a:solidFill>
                  <a:srgbClr val="565656"/>
                </a:solidFill>
                <a:latin typeface="Arial"/>
                <a:ea typeface="Arial"/>
                <a:cs typeface="Arial"/>
              </a:defRPr>
            </a:pPr>
            <a:r>
              <a:rPr sz="810" b="0">
                <a:solidFill>
                  <a:srgbClr val="565656"/>
                </a:solidFill>
                <a:latin typeface="Arial"/>
                <a:ea typeface="Arial"/>
                <a:cs typeface="Arial"/>
              </a:rPr>
              <a:t>Der Inhalt ist ähnlich, aber die Syntax folgt der CP-SAT API.</a:t>
            </a:r>
          </a:p>
        </p:txBody>
      </p:sp>
      <p:sp>
        <p:nvSpPr>
          <p:cNvPr id="4" name="Rectangle 3">
            <a:extLst>
              <a:ext uri="{FF2B5EF4-FFF2-40B4-BE49-F238E27FC236}">
                <a16:creationId xmlns:a16="http://schemas.microsoft.com/office/drawing/2014/main" id="{390945F8-4A95-4B67-8C62-052698DA901A}"/>
              </a:ext>
            </a:extLst>
          </p:cNvPr>
          <p:cNvSpPr>
            <a:spLocks noGrp="1"/>
          </p:cNvSpPr>
          <p:nvPr/>
        </p:nvSpPr>
        <p:spPr>
          <a:xfrm>
            <a:off x="514350" y="971550"/>
            <a:ext cx="10763250" cy="11430"/>
          </a:xfrm>
          <a:prstGeom prst="rect">
            <a:avLst/>
          </a:prstGeom>
          <a:solidFill>
            <a:srgbClr val="222222"/>
          </a:solidFill>
          <a:ln w="0">
            <a:solidFill>
              <a:srgbClr val="000000">
                <a:alpha val="0"/>
              </a:srgbClr>
            </a:solidFill>
            <a:prstDash val="solid"/>
          </a:ln>
        </p:spPr>
        <p:txBody>
          <a:bodyPr/>
          <a:lstStyle/>
          <a:p>
            <a:endParaRPr lang="en-DE"/>
          </a:p>
        </p:txBody>
      </p:sp>
      <p:sp>
        <p:nvSpPr>
          <p:cNvPr id="5" name="Rectangle 4">
            <a:extLst>
              <a:ext uri="{FF2B5EF4-FFF2-40B4-BE49-F238E27FC236}">
                <a16:creationId xmlns:a16="http://schemas.microsoft.com/office/drawing/2014/main" id="{DC0B4539-7709-4C98-9BBF-AB429AB214A8}"/>
              </a:ext>
            </a:extLst>
          </p:cNvPr>
          <p:cNvSpPr>
            <a:spLocks noGrp="1"/>
          </p:cNvSpPr>
          <p:nvPr/>
        </p:nvSpPr>
        <p:spPr>
          <a:xfrm>
            <a:off x="552450" y="1276350"/>
            <a:ext cx="3714750" cy="2857500"/>
          </a:xfrm>
          <a:prstGeom prst="rect">
            <a:avLst/>
          </a:prstGeom>
          <a:solidFill>
            <a:srgbClr val="FFFFFF"/>
          </a:solidFill>
          <a:ln w="9525">
            <a:solidFill>
              <a:srgbClr val="D7DDE4"/>
            </a:solidFill>
            <a:prstDash val="solid"/>
          </a:ln>
        </p:spPr>
        <p:txBody>
          <a:bodyPr/>
          <a:lstStyle/>
          <a:p>
            <a:endParaRPr lang="en-DE"/>
          </a:p>
        </p:txBody>
      </p:sp>
      <p:pic>
        <p:nvPicPr>
          <p:cNvPr id="6" name="Picture 5"/>
          <p:cNvPicPr>
            <a:picLocks noChangeAspect="1"/>
          </p:cNvPicPr>
          <p:nvPr/>
        </p:nvPicPr>
        <p:blipFill>
          <a:blip r:embed="rId3"/>
          <a:stretch/>
        </p:blipFill>
        <p:spPr>
          <a:xfrm>
            <a:off x="647700" y="1916062"/>
            <a:ext cx="3524250" cy="1482826"/>
          </a:xfrm>
          <a:prstGeom prst="rect">
            <a:avLst/>
          </a:prstGeom>
        </p:spPr>
      </p:pic>
      <p:sp>
        <p:nvSpPr>
          <p:cNvPr id="7" name="Rectangle 6">
            <a:extLst>
              <a:ext uri="{FF2B5EF4-FFF2-40B4-BE49-F238E27FC236}">
                <a16:creationId xmlns:a16="http://schemas.microsoft.com/office/drawing/2014/main" id="{E0D8969B-545F-44E7-9B93-54968329BE8C}"/>
              </a:ext>
            </a:extLst>
          </p:cNvPr>
          <p:cNvSpPr>
            <a:spLocks noGrp="1"/>
          </p:cNvSpPr>
          <p:nvPr/>
        </p:nvSpPr>
        <p:spPr>
          <a:xfrm>
            <a:off x="647700" y="3962400"/>
            <a:ext cx="3524250" cy="104775"/>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533" b="0">
                <a:solidFill>
                  <a:srgbClr val="565656"/>
                </a:solidFill>
                <a:latin typeface="Arial"/>
                <a:ea typeface="Arial"/>
                <a:cs typeface="Arial"/>
              </a:defRPr>
            </a:pPr>
            <a:r>
              <a:rPr sz="533" b="0">
                <a:solidFill>
                  <a:srgbClr val="565656"/>
                </a:solidFill>
                <a:latin typeface="Arial"/>
                <a:ea typeface="Arial"/>
                <a:cs typeface="Arial"/>
              </a:rPr>
              <a:t>Paper Gl. (1): gleiche Routenlogik</a:t>
            </a:r>
          </a:p>
        </p:txBody>
      </p:sp>
      <p:sp>
        <p:nvSpPr>
          <p:cNvPr id="8" name="Rectangle 7">
            <a:extLst>
              <a:ext uri="{FF2B5EF4-FFF2-40B4-BE49-F238E27FC236}">
                <a16:creationId xmlns:a16="http://schemas.microsoft.com/office/drawing/2014/main" id="{0BB1381D-23A4-4A33-A175-6551BF865F0C}"/>
              </a:ext>
            </a:extLst>
          </p:cNvPr>
          <p:cNvSpPr>
            <a:spLocks noGrp="1"/>
          </p:cNvSpPr>
          <p:nvPr/>
        </p:nvSpPr>
        <p:spPr>
          <a:xfrm>
            <a:off x="4619625" y="1276350"/>
            <a:ext cx="6667500" cy="2781300"/>
          </a:xfrm>
          <a:prstGeom prst="rect">
            <a:avLst/>
          </a:prstGeom>
          <a:solidFill>
            <a:srgbClr val="F6F8FA"/>
          </a:solidFill>
          <a:ln w="9525">
            <a:solidFill>
              <a:srgbClr val="7FAAD3"/>
            </a:solidFill>
            <a:prstDash val="solid"/>
          </a:ln>
        </p:spPr>
        <p:txBody>
          <a:bodyPr/>
          <a:lstStyle/>
          <a:p>
            <a:endParaRPr lang="en-DE"/>
          </a:p>
        </p:txBody>
      </p:sp>
      <p:sp>
        <p:nvSpPr>
          <p:cNvPr id="9" name="Rectangle 8">
            <a:extLst>
              <a:ext uri="{FF2B5EF4-FFF2-40B4-BE49-F238E27FC236}">
                <a16:creationId xmlns:a16="http://schemas.microsoft.com/office/drawing/2014/main" id="{283E2BDE-D7E9-45BB-819C-53634C17B775}"/>
              </a:ext>
            </a:extLst>
          </p:cNvPr>
          <p:cNvSpPr>
            <a:spLocks noGrp="1"/>
          </p:cNvSpPr>
          <p:nvPr/>
        </p:nvSpPr>
        <p:spPr>
          <a:xfrm>
            <a:off x="4619625" y="1276350"/>
            <a:ext cx="6667500" cy="228600"/>
          </a:xfrm>
          <a:prstGeom prst="rect">
            <a:avLst/>
          </a:prstGeom>
          <a:solidFill>
            <a:srgbClr val="E7F0FA"/>
          </a:solidFill>
          <a:ln w="9525">
            <a:solidFill>
              <a:srgbClr val="7FAAD3"/>
            </a:solidFill>
            <a:prstDash val="solid"/>
          </a:ln>
        </p:spPr>
        <p:txBody>
          <a:bodyPr/>
          <a:lstStyle/>
          <a:p>
            <a:endParaRPr lang="en-DE"/>
          </a:p>
        </p:txBody>
      </p:sp>
      <p:sp>
        <p:nvSpPr>
          <p:cNvPr id="10" name="Rectangle 9">
            <a:extLst>
              <a:ext uri="{FF2B5EF4-FFF2-40B4-BE49-F238E27FC236}">
                <a16:creationId xmlns:a16="http://schemas.microsoft.com/office/drawing/2014/main" id="{6BEC9C92-6ADF-4018-A7D2-466BB553BC77}"/>
              </a:ext>
            </a:extLst>
          </p:cNvPr>
          <p:cNvSpPr>
            <a:spLocks noGrp="1"/>
          </p:cNvSpPr>
          <p:nvPr/>
        </p:nvSpPr>
        <p:spPr>
          <a:xfrm>
            <a:off x="4714875" y="1333500"/>
            <a:ext cx="6477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70" b="1">
                <a:solidFill>
                  <a:srgbClr val="00549F"/>
                </a:solidFill>
                <a:latin typeface="Arial"/>
                <a:ea typeface="Arial"/>
                <a:cs typeface="Arial"/>
              </a:defRPr>
            </a:pPr>
            <a:r>
              <a:rPr sz="570" b="1">
                <a:solidFill>
                  <a:srgbClr val="00549F"/>
                </a:solidFill>
                <a:latin typeface="Arial"/>
                <a:ea typeface="Arial"/>
                <a:cs typeface="Arial"/>
              </a:rPr>
              <a:t>phase2_extend/src/cp_model.py:156-188</a:t>
            </a:r>
          </a:p>
        </p:txBody>
      </p:sp>
      <p:sp>
        <p:nvSpPr>
          <p:cNvPr id="11" name="Rectangle 10">
            <a:extLst>
              <a:ext uri="{FF2B5EF4-FFF2-40B4-BE49-F238E27FC236}">
                <a16:creationId xmlns:a16="http://schemas.microsoft.com/office/drawing/2014/main" id="{5E102C07-C85B-49FD-BC94-404B173614C8}"/>
              </a:ext>
            </a:extLst>
          </p:cNvPr>
          <p:cNvSpPr>
            <a:spLocks noGrp="1"/>
          </p:cNvSpPr>
          <p:nvPr/>
        </p:nvSpPr>
        <p:spPr>
          <a:xfrm>
            <a:off x="4733925" y="1600200"/>
            <a:ext cx="6438900" cy="2381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491" b="0">
                <a:solidFill>
                  <a:srgbClr val="111827"/>
                </a:solidFill>
                <a:latin typeface="Consolas"/>
                <a:ea typeface="Consolas"/>
                <a:cs typeface="Consolas"/>
              </a:defRPr>
            </a:pPr>
            <a:r>
              <a:rPr sz="491" b="0">
                <a:solidFill>
                  <a:srgbClr val="111827"/>
                </a:solidFill>
                <a:latin typeface="Consolas"/>
                <a:ea typeface="Consolas"/>
                <a:cs typeface="Consolas"/>
              </a:rPr>
              <a:t>        # 3. Flow Constraints (Entering &amp; Leaving)</a:t>
            </a:r>
          </a:p>
          <a:p>
            <a:pPr algn="l">
              <a:defRPr sz="491" b="0">
                <a:solidFill>
                  <a:srgbClr val="111827"/>
                </a:solidFill>
                <a:latin typeface="Consolas"/>
                <a:ea typeface="Consolas"/>
                <a:cs typeface="Consolas"/>
              </a:defRPr>
            </a:pPr>
            <a:r>
              <a:rPr sz="491" b="0">
                <a:solidFill>
                  <a:srgbClr val="111827"/>
                </a:solidFill>
                <a:latin typeface="Consolas"/>
                <a:ea typeface="Consolas"/>
                <a:cs typeface="Consolas"/>
              </a:rPr>
              <a:t>        # -----------------------------------------------------</a:t>
            </a:r>
          </a:p>
          <a:p>
            <a:pPr algn="l">
              <a:defRPr sz="491" b="0">
                <a:solidFill>
                  <a:srgbClr val="111827"/>
                </a:solidFill>
                <a:latin typeface="Consolas"/>
                <a:ea typeface="Consolas"/>
                <a:cs typeface="Consolas"/>
              </a:defRPr>
            </a:pPr>
            <a:r>
              <a:rPr sz="491" b="0">
                <a:solidFill>
                  <a:srgbClr val="111827"/>
                </a:solidFill>
                <a:latin typeface="Consolas"/>
                <a:ea typeface="Consolas"/>
                <a:cs typeface="Consolas"/>
              </a:rPr>
              <a:t>        predecessors = {train.id: {op.id: [] for op in train.operations} for train in self.instance.trains}</a:t>
            </a:r>
          </a:p>
          <a:p>
            <a:pPr algn="l">
              <a:defRPr sz="491" b="0">
                <a:solidFill>
                  <a:srgbClr val="111827"/>
                </a:solidFill>
                <a:latin typeface="Consolas"/>
                <a:ea typeface="Consolas"/>
                <a:cs typeface="Consolas"/>
              </a:defRPr>
            </a:pPr>
            <a:r>
              <a:rPr sz="491" b="0">
                <a:solidFill>
                  <a:srgbClr val="111827"/>
                </a:solidFill>
                <a:latin typeface="Consolas"/>
                <a:ea typeface="Consolas"/>
                <a:cs typeface="Consolas"/>
              </a:rPr>
              <a:t>        for train in self.instance.trains:</a:t>
            </a:r>
          </a:p>
          <a:p>
            <a:pPr algn="l">
              <a:defRPr sz="491" b="0">
                <a:solidFill>
                  <a:srgbClr val="111827"/>
                </a:solidFill>
                <a:latin typeface="Consolas"/>
                <a:ea typeface="Consolas"/>
                <a:cs typeface="Consolas"/>
              </a:defRPr>
            </a:pPr>
            <a:r>
              <a:rPr sz="491" b="0">
                <a:solidFill>
                  <a:srgbClr val="111827"/>
                </a:solidFill>
                <a:latin typeface="Consolas"/>
                <a:ea typeface="Consolas"/>
                <a:cs typeface="Consolas"/>
              </a:rPr>
              <a:t>            for op in train.operations:</a:t>
            </a:r>
          </a:p>
          <a:p>
            <a:pPr algn="l">
              <a:defRPr sz="491" b="0">
                <a:solidFill>
                  <a:srgbClr val="111827"/>
                </a:solidFill>
                <a:latin typeface="Consolas"/>
                <a:ea typeface="Consolas"/>
                <a:cs typeface="Consolas"/>
              </a:defRPr>
            </a:pPr>
            <a:r>
              <a:rPr sz="491" b="0">
                <a:solidFill>
                  <a:srgbClr val="111827"/>
                </a:solidFill>
                <a:latin typeface="Consolas"/>
                <a:ea typeface="Consolas"/>
                <a:cs typeface="Consolas"/>
              </a:rPr>
              <a:t>                for succ in op.successors:</a:t>
            </a:r>
          </a:p>
          <a:p>
            <a:pPr algn="l">
              <a:defRPr sz="491" b="0">
                <a:solidFill>
                  <a:srgbClr val="111827"/>
                </a:solidFill>
                <a:latin typeface="Consolas"/>
                <a:ea typeface="Consolas"/>
                <a:cs typeface="Consolas"/>
              </a:defRPr>
            </a:pPr>
            <a:r>
              <a:rPr sz="491" b="0">
                <a:solidFill>
                  <a:srgbClr val="111827"/>
                </a:solidFill>
                <a:latin typeface="Consolas"/>
                <a:ea typeface="Consolas"/>
                <a:cs typeface="Consolas"/>
              </a:rPr>
              <a:t>                    predecessors[train.id][succ].append(op.id)</a:t>
            </a:r>
          </a:p>
          <a:p>
            <a:endParaRPr sz="491" b="0">
              <a:solidFill>
                <a:srgbClr val="111827"/>
              </a:solidFill>
              <a:latin typeface="Consolas"/>
              <a:ea typeface="Consolas"/>
              <a:cs typeface="Consolas"/>
            </a:endParaRPr>
          </a:p>
          <a:p>
            <a:pPr algn="l">
              <a:defRPr sz="491" b="0">
                <a:solidFill>
                  <a:srgbClr val="111827"/>
                </a:solidFill>
                <a:latin typeface="Consolas"/>
                <a:ea typeface="Consolas"/>
                <a:cs typeface="Consolas"/>
              </a:defRPr>
            </a:pPr>
            <a:r>
              <a:rPr sz="491" b="0">
                <a:solidFill>
                  <a:srgbClr val="111827"/>
                </a:solidFill>
                <a:latin typeface="Consolas"/>
                <a:ea typeface="Consolas"/>
                <a:cs typeface="Consolas"/>
              </a:rPr>
              <a:t>        for train in self.instance.trains:</a:t>
            </a:r>
          </a:p>
          <a:p>
            <a:pPr algn="l">
              <a:defRPr sz="491" b="0">
                <a:solidFill>
                  <a:srgbClr val="111827"/>
                </a:solidFill>
                <a:latin typeface="Consolas"/>
                <a:ea typeface="Consolas"/>
                <a:cs typeface="Consolas"/>
              </a:defRPr>
            </a:pPr>
            <a:r>
              <a:rPr sz="491" b="0">
                <a:solidFill>
                  <a:srgbClr val="111827"/>
                </a:solidFill>
                <a:latin typeface="Consolas"/>
                <a:ea typeface="Consolas"/>
                <a:cs typeface="Consolas"/>
              </a:rPr>
              <a:t>            t_id = train.id</a:t>
            </a:r>
          </a:p>
          <a:p>
            <a:pPr algn="l">
              <a:defRPr sz="491" b="0">
                <a:solidFill>
                  <a:srgbClr val="111827"/>
                </a:solidFill>
                <a:latin typeface="Consolas"/>
                <a:ea typeface="Consolas"/>
                <a:cs typeface="Consolas"/>
              </a:defRPr>
            </a:pPr>
            <a:r>
              <a:rPr sz="491" b="0">
                <a:solidFill>
                  <a:srgbClr val="111827"/>
                </a:solidFill>
                <a:latin typeface="Consolas"/>
                <a:ea typeface="Consolas"/>
                <a:cs typeface="Consolas"/>
              </a:rPr>
              <a:t>            </a:t>
            </a:r>
          </a:p>
          <a:p>
            <a:pPr algn="l">
              <a:defRPr sz="491" b="0">
                <a:solidFill>
                  <a:srgbClr val="111827"/>
                </a:solidFill>
                <a:latin typeface="Consolas"/>
                <a:ea typeface="Consolas"/>
                <a:cs typeface="Consolas"/>
              </a:defRPr>
            </a:pPr>
            <a:r>
              <a:rPr sz="491" b="0">
                <a:solidFill>
                  <a:srgbClr val="111827"/>
                </a:solidFill>
                <a:latin typeface="Consolas"/>
                <a:ea typeface="Consolas"/>
                <a:cs typeface="Consolas"/>
              </a:rPr>
              <a:t>            starts_idx = [op.id for op in train.operations if len(predecessors[t_id][op.id]) == 0]</a:t>
            </a:r>
          </a:p>
          <a:p>
            <a:pPr algn="l">
              <a:defRPr sz="491" b="0">
                <a:solidFill>
                  <a:srgbClr val="111827"/>
                </a:solidFill>
                <a:latin typeface="Consolas"/>
                <a:ea typeface="Consolas"/>
                <a:cs typeface="Consolas"/>
              </a:defRPr>
            </a:pPr>
            <a:r>
              <a:rPr sz="491" b="0">
                <a:solidFill>
                  <a:srgbClr val="111827"/>
                </a:solidFill>
                <a:latin typeface="Consolas"/>
                <a:ea typeface="Consolas"/>
                <a:cs typeface="Consolas"/>
              </a:rPr>
              <a:t>            ends_idx = [op.id for op in train.operations if len(op.successors) == 0]</a:t>
            </a:r>
          </a:p>
          <a:p>
            <a:pPr algn="l">
              <a:defRPr sz="491" b="0">
                <a:solidFill>
                  <a:srgbClr val="111827"/>
                </a:solidFill>
                <a:latin typeface="Consolas"/>
                <a:ea typeface="Consolas"/>
                <a:cs typeface="Consolas"/>
              </a:defRPr>
            </a:pPr>
            <a:r>
              <a:rPr sz="491" b="0">
                <a:solidFill>
                  <a:srgbClr val="111827"/>
                </a:solidFill>
                <a:latin typeface="Consolas"/>
                <a:ea typeface="Consolas"/>
                <a:cs typeface="Consolas"/>
              </a:rPr>
              <a:t>            </a:t>
            </a:r>
          </a:p>
          <a:p>
            <a:pPr algn="l">
              <a:defRPr sz="491" b="0">
                <a:solidFill>
                  <a:srgbClr val="111827"/>
                </a:solidFill>
                <a:latin typeface="Consolas"/>
                <a:ea typeface="Consolas"/>
                <a:cs typeface="Consolas"/>
              </a:defRPr>
            </a:pPr>
            <a:r>
              <a:rPr sz="491" b="0">
                <a:solidFill>
                  <a:srgbClr val="111827"/>
                </a:solidFill>
                <a:latin typeface="Consolas"/>
                <a:ea typeface="Consolas"/>
                <a:cs typeface="Consolas"/>
              </a:rPr>
              <a:t>            # Start Ops must be active (usually only 1 start)</a:t>
            </a:r>
          </a:p>
          <a:p>
            <a:pPr algn="l">
              <a:defRPr sz="491" b="0">
                <a:solidFill>
                  <a:srgbClr val="111827"/>
                </a:solidFill>
                <a:latin typeface="Consolas"/>
                <a:ea typeface="Consolas"/>
                <a:cs typeface="Consolas"/>
              </a:defRPr>
            </a:pPr>
            <a:r>
              <a:rPr sz="491" b="0">
                <a:solidFill>
                  <a:srgbClr val="111827"/>
                </a:solidFill>
                <a:latin typeface="Consolas"/>
                <a:ea typeface="Consolas"/>
                <a:cs typeface="Consolas"/>
              </a:rPr>
              <a:t>            for o_idx in starts_idx:</a:t>
            </a:r>
          </a:p>
          <a:p>
            <a:pPr algn="l">
              <a:defRPr sz="491" b="0">
                <a:solidFill>
                  <a:srgbClr val="111827"/>
                </a:solidFill>
                <a:latin typeface="Consolas"/>
                <a:ea typeface="Consolas"/>
                <a:cs typeface="Consolas"/>
              </a:defRPr>
            </a:pPr>
            <a:r>
              <a:rPr sz="491" b="0">
                <a:solidFill>
                  <a:srgbClr val="111827"/>
                </a:solidFill>
                <a:latin typeface="Consolas"/>
                <a:ea typeface="Consolas"/>
                <a:cs typeface="Consolas"/>
              </a:rPr>
              <a:t>                self.model.Add(self.x[t_id, o_idx] == 1)</a:t>
            </a:r>
          </a:p>
          <a:p>
            <a:pPr algn="l">
              <a:defRPr sz="491" b="0">
                <a:solidFill>
                  <a:srgbClr val="111827"/>
                </a:solidFill>
                <a:latin typeface="Consolas"/>
                <a:ea typeface="Consolas"/>
                <a:cs typeface="Consolas"/>
              </a:defRPr>
            </a:pPr>
            <a:r>
              <a:rPr sz="491" b="0">
                <a:solidFill>
                  <a:srgbClr val="111827"/>
                </a:solidFill>
                <a:latin typeface="Consolas"/>
                <a:ea typeface="Consolas"/>
                <a:cs typeface="Consolas"/>
              </a:rPr>
              <a:t>                </a:t>
            </a:r>
          </a:p>
          <a:p>
            <a:pPr algn="l">
              <a:defRPr sz="491" b="0">
                <a:solidFill>
                  <a:srgbClr val="111827"/>
                </a:solidFill>
                <a:latin typeface="Consolas"/>
                <a:ea typeface="Consolas"/>
                <a:cs typeface="Consolas"/>
              </a:defRPr>
            </a:pPr>
            <a:r>
              <a:rPr sz="491" b="0">
                <a:solidFill>
                  <a:srgbClr val="111827"/>
                </a:solidFill>
                <a:latin typeface="Consolas"/>
                <a:ea typeface="Consolas"/>
                <a:cs typeface="Consolas"/>
              </a:rPr>
              <a:t>            # End Ops must be active (usually only 1 end)</a:t>
            </a:r>
          </a:p>
          <a:p>
            <a:pPr algn="l">
              <a:defRPr sz="491" b="0">
                <a:solidFill>
                  <a:srgbClr val="111827"/>
                </a:solidFill>
                <a:latin typeface="Consolas"/>
                <a:ea typeface="Consolas"/>
                <a:cs typeface="Consolas"/>
              </a:defRPr>
            </a:pPr>
            <a:r>
              <a:rPr sz="491" b="0">
                <a:solidFill>
                  <a:srgbClr val="111827"/>
                </a:solidFill>
                <a:latin typeface="Consolas"/>
                <a:ea typeface="Consolas"/>
                <a:cs typeface="Consolas"/>
              </a:rPr>
              <a:t>            for o_idx in ends_idx:</a:t>
            </a:r>
          </a:p>
          <a:p>
            <a:pPr algn="l">
              <a:defRPr sz="491" b="0">
                <a:solidFill>
                  <a:srgbClr val="111827"/>
                </a:solidFill>
                <a:latin typeface="Consolas"/>
                <a:ea typeface="Consolas"/>
                <a:cs typeface="Consolas"/>
              </a:defRPr>
            </a:pPr>
            <a:r>
              <a:rPr sz="491" b="0">
                <a:solidFill>
                  <a:srgbClr val="111827"/>
                </a:solidFill>
                <a:latin typeface="Consolas"/>
                <a:ea typeface="Consolas"/>
                <a:cs typeface="Consolas"/>
              </a:rPr>
              <a:t>                self.model.Add(self.x[t_id, o_idx] == 1)</a:t>
            </a:r>
          </a:p>
          <a:p>
            <a:pPr algn="l">
              <a:defRPr sz="491" b="0">
                <a:solidFill>
                  <a:srgbClr val="111827"/>
                </a:solidFill>
                <a:latin typeface="Consolas"/>
                <a:ea typeface="Consolas"/>
                <a:cs typeface="Consolas"/>
              </a:defRPr>
            </a:pPr>
            <a:r>
              <a:rPr sz="491" b="0">
                <a:solidFill>
                  <a:srgbClr val="111827"/>
                </a:solidFill>
                <a:latin typeface="Consolas"/>
                <a:ea typeface="Consolas"/>
                <a:cs typeface="Consolas"/>
              </a:rPr>
              <a:t>            </a:t>
            </a:r>
          </a:p>
          <a:p>
            <a:pPr algn="l">
              <a:defRPr sz="491" b="0">
                <a:solidFill>
                  <a:srgbClr val="111827"/>
                </a:solidFill>
                <a:latin typeface="Consolas"/>
                <a:ea typeface="Consolas"/>
                <a:cs typeface="Consolas"/>
              </a:defRPr>
            </a:pPr>
            <a:r>
              <a:rPr sz="491" b="0">
                <a:solidFill>
                  <a:srgbClr val="111827"/>
                </a:solidFill>
                <a:latin typeface="Consolas"/>
                <a:ea typeface="Consolas"/>
                <a:cs typeface="Consolas"/>
              </a:rPr>
              <a:t>            for op in train.operations:</a:t>
            </a:r>
          </a:p>
          <a:p>
            <a:pPr algn="l">
              <a:defRPr sz="491" b="0">
                <a:solidFill>
                  <a:srgbClr val="111827"/>
                </a:solidFill>
                <a:latin typeface="Consolas"/>
                <a:ea typeface="Consolas"/>
                <a:cs typeface="Consolas"/>
              </a:defRPr>
            </a:pPr>
            <a:r>
              <a:rPr sz="491" b="0">
                <a:solidFill>
                  <a:srgbClr val="111827"/>
                </a:solidFill>
                <a:latin typeface="Consolas"/>
                <a:ea typeface="Consolas"/>
                <a:cs typeface="Consolas"/>
              </a:rPr>
              <a:t>                o_id = op.id</a:t>
            </a:r>
          </a:p>
          <a:p>
            <a:pPr algn="l">
              <a:defRPr sz="491" b="0">
                <a:solidFill>
                  <a:srgbClr val="111827"/>
                </a:solidFill>
                <a:latin typeface="Consolas"/>
                <a:ea typeface="Consolas"/>
                <a:cs typeface="Consolas"/>
              </a:defRPr>
            </a:pPr>
            <a:r>
              <a:rPr sz="491" b="0">
                <a:solidFill>
                  <a:srgbClr val="111827"/>
                </a:solidFill>
                <a:latin typeface="Consolas"/>
                <a:ea typeface="Consolas"/>
                <a:cs typeface="Consolas"/>
              </a:rPr>
              <a:t>                </a:t>
            </a:r>
          </a:p>
          <a:p>
            <a:pPr algn="l">
              <a:defRPr sz="491" b="0">
                <a:solidFill>
                  <a:srgbClr val="111827"/>
                </a:solidFill>
                <a:latin typeface="Consolas"/>
                <a:ea typeface="Consolas"/>
                <a:cs typeface="Consolas"/>
              </a:defRPr>
            </a:pPr>
            <a:r>
              <a:rPr sz="491" b="0">
                <a:solidFill>
                  <a:srgbClr val="111827"/>
                </a:solidFill>
                <a:latin typeface="Consolas"/>
                <a:ea typeface="Consolas"/>
                <a:cs typeface="Consolas"/>
              </a:rPr>
              <a:t>                # Flow OUT: sum_out == x</a:t>
            </a:r>
          </a:p>
          <a:p>
            <a:pPr algn="l">
              <a:defRPr sz="491" b="0">
                <a:solidFill>
                  <a:srgbClr val="111827"/>
                </a:solidFill>
                <a:latin typeface="Consolas"/>
                <a:ea typeface="Consolas"/>
                <a:cs typeface="Consolas"/>
              </a:defRPr>
            </a:pPr>
            <a:r>
              <a:rPr sz="491" b="0">
                <a:solidFill>
                  <a:srgbClr val="111827"/>
                </a:solidFill>
                <a:latin typeface="Consolas"/>
                <a:ea typeface="Consolas"/>
                <a:cs typeface="Consolas"/>
              </a:rPr>
              <a:t>                if o_id not in ends_idx:</a:t>
            </a:r>
          </a:p>
          <a:p>
            <a:pPr algn="l">
              <a:defRPr sz="491" b="0">
                <a:solidFill>
                  <a:srgbClr val="111827"/>
                </a:solidFill>
                <a:latin typeface="Consolas"/>
                <a:ea typeface="Consolas"/>
                <a:cs typeface="Consolas"/>
              </a:defRPr>
            </a:pPr>
            <a:r>
              <a:rPr sz="491" b="0">
                <a:solidFill>
                  <a:srgbClr val="111827"/>
                </a:solidFill>
                <a:latin typeface="Consolas"/>
                <a:ea typeface="Consolas"/>
                <a:cs typeface="Consolas"/>
              </a:rPr>
              <a:t>                    self.model.Add(sum(self.y[t_id, o_id, succ] for succ in op.successors) == self.x[t_id, o_id])</a:t>
            </a:r>
          </a:p>
          <a:p>
            <a:pPr algn="l">
              <a:defRPr sz="491" b="0">
                <a:solidFill>
                  <a:srgbClr val="111827"/>
                </a:solidFill>
                <a:latin typeface="Consolas"/>
                <a:ea typeface="Consolas"/>
                <a:cs typeface="Consolas"/>
              </a:defRPr>
            </a:pPr>
            <a:r>
              <a:rPr sz="491" b="0">
                <a:solidFill>
                  <a:srgbClr val="111827"/>
                </a:solidFill>
                <a:latin typeface="Consolas"/>
                <a:ea typeface="Consolas"/>
                <a:cs typeface="Consolas"/>
              </a:rPr>
              <a:t>                </a:t>
            </a:r>
          </a:p>
          <a:p>
            <a:pPr algn="l">
              <a:defRPr sz="491" b="0">
                <a:solidFill>
                  <a:srgbClr val="111827"/>
                </a:solidFill>
                <a:latin typeface="Consolas"/>
                <a:ea typeface="Consolas"/>
                <a:cs typeface="Consolas"/>
              </a:defRPr>
            </a:pPr>
            <a:r>
              <a:rPr sz="491" b="0">
                <a:solidFill>
                  <a:srgbClr val="111827"/>
                </a:solidFill>
                <a:latin typeface="Consolas"/>
                <a:ea typeface="Consolas"/>
                <a:cs typeface="Consolas"/>
              </a:rPr>
              <a:t>                # Flow IN: sum_in == x</a:t>
            </a:r>
          </a:p>
          <a:p>
            <a:pPr algn="l">
              <a:defRPr sz="491" b="0">
                <a:solidFill>
                  <a:srgbClr val="111827"/>
                </a:solidFill>
                <a:latin typeface="Consolas"/>
                <a:ea typeface="Consolas"/>
                <a:cs typeface="Consolas"/>
              </a:defRPr>
            </a:pPr>
            <a:r>
              <a:rPr sz="491" b="0">
                <a:solidFill>
                  <a:srgbClr val="111827"/>
                </a:solidFill>
                <a:latin typeface="Consolas"/>
                <a:ea typeface="Consolas"/>
                <a:cs typeface="Consolas"/>
              </a:rPr>
              <a:t>                if o_id not in starts_idx:</a:t>
            </a:r>
          </a:p>
          <a:p>
            <a:pPr algn="l">
              <a:defRPr sz="491" b="0">
                <a:solidFill>
                  <a:srgbClr val="111827"/>
                </a:solidFill>
                <a:latin typeface="Consolas"/>
                <a:ea typeface="Consolas"/>
                <a:cs typeface="Consolas"/>
              </a:defRPr>
            </a:pPr>
            <a:r>
              <a:rPr sz="491" b="0">
                <a:solidFill>
                  <a:srgbClr val="111827"/>
                </a:solidFill>
                <a:latin typeface="Consolas"/>
                <a:ea typeface="Consolas"/>
                <a:cs typeface="Consolas"/>
              </a:rPr>
              <a:t>                    preds = predecessors[t_id][o_id]</a:t>
            </a:r>
          </a:p>
          <a:p>
            <a:pPr algn="l">
              <a:defRPr sz="491" b="0">
                <a:solidFill>
                  <a:srgbClr val="111827"/>
                </a:solidFill>
                <a:latin typeface="Consolas"/>
                <a:ea typeface="Consolas"/>
                <a:cs typeface="Consolas"/>
              </a:defRPr>
            </a:pPr>
            <a:r>
              <a:rPr sz="491" b="0">
                <a:solidFill>
                  <a:srgbClr val="111827"/>
                </a:solidFill>
                <a:latin typeface="Consolas"/>
                <a:ea typeface="Consolas"/>
                <a:cs typeface="Consolas"/>
              </a:rPr>
              <a:t>                    self.model.Add(sum(self.y[t_id, p, o_id] for p in preds) == self.x[t_id, o_id])</a:t>
            </a:r>
          </a:p>
        </p:txBody>
      </p:sp>
      <p:sp>
        <p:nvSpPr>
          <p:cNvPr id="12" name="Rectangle 11">
            <a:extLst>
              <a:ext uri="{FF2B5EF4-FFF2-40B4-BE49-F238E27FC236}">
                <a16:creationId xmlns:a16="http://schemas.microsoft.com/office/drawing/2014/main" id="{86E7B9FB-32CB-4F2D-A49D-E64D556A366F}"/>
              </a:ext>
            </a:extLst>
          </p:cNvPr>
          <p:cNvSpPr>
            <a:spLocks noGrp="1"/>
          </p:cNvSpPr>
          <p:nvPr/>
        </p:nvSpPr>
        <p:spPr>
          <a:xfrm>
            <a:off x="4619625" y="4229100"/>
            <a:ext cx="6667500" cy="1123950"/>
          </a:xfrm>
          <a:prstGeom prst="rect">
            <a:avLst/>
          </a:prstGeom>
          <a:solidFill>
            <a:srgbClr val="F6F8FA"/>
          </a:solidFill>
          <a:ln w="9525">
            <a:solidFill>
              <a:srgbClr val="7FAAD3"/>
            </a:solidFill>
            <a:prstDash val="solid"/>
          </a:ln>
        </p:spPr>
        <p:txBody>
          <a:bodyPr/>
          <a:lstStyle/>
          <a:p>
            <a:endParaRPr lang="en-DE"/>
          </a:p>
        </p:txBody>
      </p:sp>
      <p:sp>
        <p:nvSpPr>
          <p:cNvPr id="13" name="Rectangle 12">
            <a:extLst>
              <a:ext uri="{FF2B5EF4-FFF2-40B4-BE49-F238E27FC236}">
                <a16:creationId xmlns:a16="http://schemas.microsoft.com/office/drawing/2014/main" id="{2D162BDE-E67E-4173-9412-9367845F02A0}"/>
              </a:ext>
            </a:extLst>
          </p:cNvPr>
          <p:cNvSpPr>
            <a:spLocks noGrp="1"/>
          </p:cNvSpPr>
          <p:nvPr/>
        </p:nvSpPr>
        <p:spPr>
          <a:xfrm>
            <a:off x="4619625" y="4229100"/>
            <a:ext cx="6667500" cy="228600"/>
          </a:xfrm>
          <a:prstGeom prst="rect">
            <a:avLst/>
          </a:prstGeom>
          <a:solidFill>
            <a:srgbClr val="E7F0FA"/>
          </a:solidFill>
          <a:ln w="9525">
            <a:solidFill>
              <a:srgbClr val="7FAAD3"/>
            </a:solidFill>
            <a:prstDash val="solid"/>
          </a:ln>
        </p:spPr>
        <p:txBody>
          <a:bodyPr/>
          <a:lstStyle/>
          <a:p>
            <a:endParaRPr lang="en-DE"/>
          </a:p>
        </p:txBody>
      </p:sp>
      <p:sp>
        <p:nvSpPr>
          <p:cNvPr id="14" name="Rectangle 13">
            <a:extLst>
              <a:ext uri="{FF2B5EF4-FFF2-40B4-BE49-F238E27FC236}">
                <a16:creationId xmlns:a16="http://schemas.microsoft.com/office/drawing/2014/main" id="{5FB7A49B-B844-4A1A-A0DA-FE0ADF479120}"/>
              </a:ext>
            </a:extLst>
          </p:cNvPr>
          <p:cNvSpPr>
            <a:spLocks noGrp="1"/>
          </p:cNvSpPr>
          <p:nvPr/>
        </p:nvSpPr>
        <p:spPr>
          <a:xfrm>
            <a:off x="4714875" y="4286250"/>
            <a:ext cx="6477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70" b="1">
                <a:solidFill>
                  <a:srgbClr val="00549F"/>
                </a:solidFill>
                <a:latin typeface="Arial"/>
                <a:ea typeface="Arial"/>
                <a:cs typeface="Arial"/>
              </a:defRPr>
            </a:pPr>
            <a:r>
              <a:rPr sz="570" b="1">
                <a:solidFill>
                  <a:srgbClr val="00549F"/>
                </a:solidFill>
                <a:latin typeface="Arial"/>
                <a:ea typeface="Arial"/>
                <a:cs typeface="Arial"/>
              </a:rPr>
              <a:t>phase2_extend/src/cp_model.py:190-197</a:t>
            </a:r>
          </a:p>
        </p:txBody>
      </p:sp>
      <p:sp>
        <p:nvSpPr>
          <p:cNvPr id="15" name="Rectangle 14">
            <a:extLst>
              <a:ext uri="{FF2B5EF4-FFF2-40B4-BE49-F238E27FC236}">
                <a16:creationId xmlns:a16="http://schemas.microsoft.com/office/drawing/2014/main" id="{C97956DC-E7ED-405B-A6A7-5F1C07427111}"/>
              </a:ext>
            </a:extLst>
          </p:cNvPr>
          <p:cNvSpPr>
            <a:spLocks noGrp="1"/>
          </p:cNvSpPr>
          <p:nvPr/>
        </p:nvSpPr>
        <p:spPr>
          <a:xfrm>
            <a:off x="4733925" y="4552950"/>
            <a:ext cx="64389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51" b="0">
                <a:solidFill>
                  <a:srgbClr val="111827"/>
                </a:solidFill>
                <a:latin typeface="Consolas"/>
                <a:ea typeface="Consolas"/>
                <a:cs typeface="Consolas"/>
              </a:defRPr>
            </a:pPr>
            <a:r>
              <a:rPr sz="551" b="0">
                <a:solidFill>
                  <a:srgbClr val="111827"/>
                </a:solidFill>
                <a:latin typeface="Consolas"/>
                <a:ea typeface="Consolas"/>
                <a:cs typeface="Consolas"/>
              </a:rPr>
              <a:t>                # Precedences Time Logic</a:t>
            </a:r>
          </a:p>
          <a:p>
            <a:pPr algn="l">
              <a:defRPr sz="551" b="0">
                <a:solidFill>
                  <a:srgbClr val="111827"/>
                </a:solidFill>
                <a:latin typeface="Consolas"/>
                <a:ea typeface="Consolas"/>
                <a:cs typeface="Consolas"/>
              </a:defRPr>
            </a:pPr>
            <a:r>
              <a:rPr sz="551" b="0">
                <a:solidFill>
                  <a:srgbClr val="111827"/>
                </a:solidFill>
                <a:latin typeface="Consolas"/>
                <a:ea typeface="Consolas"/>
                <a:cs typeface="Consolas"/>
              </a:rPr>
              <a:t>                for succ in op.successors:</a:t>
            </a:r>
          </a:p>
          <a:p>
            <a:pPr algn="l">
              <a:defRPr sz="551" b="0">
                <a:solidFill>
                  <a:srgbClr val="111827"/>
                </a:solidFill>
                <a:latin typeface="Consolas"/>
                <a:ea typeface="Consolas"/>
                <a:cs typeface="Consolas"/>
              </a:defRPr>
            </a:pPr>
            <a:r>
              <a:rPr sz="551" b="0">
                <a:solidFill>
                  <a:srgbClr val="111827"/>
                </a:solidFill>
                <a:latin typeface="Consolas"/>
                <a:ea typeface="Consolas"/>
                <a:cs typeface="Consolas"/>
              </a:rPr>
              <a:t>                    # IF y[op-&gt;succ] is true =&gt; start(succ) == end(op)</a:t>
            </a:r>
          </a:p>
          <a:p>
            <a:pPr algn="l">
              <a:defRPr sz="551" b="0">
                <a:solidFill>
                  <a:srgbClr val="111827"/>
                </a:solidFill>
                <a:latin typeface="Consolas"/>
                <a:ea typeface="Consolas"/>
                <a:cs typeface="Consolas"/>
              </a:defRPr>
            </a:pPr>
            <a:r>
              <a:rPr sz="551" b="0">
                <a:solidFill>
                  <a:srgbClr val="111827"/>
                </a:solidFill>
                <a:latin typeface="Consolas"/>
                <a:ea typeface="Consolas"/>
                <a:cs typeface="Consolas"/>
              </a:rPr>
              <a:t>                    # This is critical: the train occupies the resource until it physically starts the next operation!</a:t>
            </a:r>
          </a:p>
          <a:p>
            <a:pPr algn="l">
              <a:defRPr sz="551" b="0">
                <a:solidFill>
                  <a:srgbClr val="111827"/>
                </a:solidFill>
                <a:latin typeface="Consolas"/>
                <a:ea typeface="Consolas"/>
                <a:cs typeface="Consolas"/>
              </a:defRPr>
            </a:pPr>
            <a:r>
              <a:rPr sz="551" b="0">
                <a:solidFill>
                  <a:srgbClr val="111827"/>
                </a:solidFill>
                <a:latin typeface="Consolas"/>
                <a:ea typeface="Consolas"/>
                <a:cs typeface="Consolas"/>
              </a:rPr>
              <a:t>                    self.model.Add(self.starts[t_id, succ] == self.ends[t_id, o_id]).OnlyEnforceIf(self.y[t_id, o_id, succ])</a:t>
            </a:r>
          </a:p>
          <a:p>
            <a:pPr algn="l">
              <a:defRPr sz="551" b="0">
                <a:solidFill>
                  <a:srgbClr val="111827"/>
                </a:solidFill>
                <a:latin typeface="Consolas"/>
                <a:ea typeface="Consolas"/>
                <a:cs typeface="Consolas"/>
              </a:defRPr>
            </a:pPr>
            <a:r>
              <a:rPr sz="551" b="0">
                <a:solidFill>
                  <a:srgbClr val="111827"/>
                </a:solidFill>
                <a:latin typeface="Consolas"/>
                <a:ea typeface="Consolas"/>
                <a:cs typeface="Consolas"/>
              </a:rPr>
              <a:t>                    </a:t>
            </a:r>
          </a:p>
          <a:p>
            <a:pPr algn="l">
              <a:defRPr sz="551" b="0">
                <a:solidFill>
                  <a:srgbClr val="111827"/>
                </a:solidFill>
                <a:latin typeface="Consolas"/>
                <a:ea typeface="Consolas"/>
                <a:cs typeface="Consolas"/>
              </a:defRPr>
            </a:pPr>
            <a:r>
              <a:rPr sz="551" b="0">
                <a:solidFill>
                  <a:srgbClr val="111827"/>
                </a:solidFill>
                <a:latin typeface="Consolas"/>
                <a:ea typeface="Consolas"/>
                <a:cs typeface="Consolas"/>
              </a:rPr>
              <a:t>                    # Strict topological rank progression</a:t>
            </a:r>
          </a:p>
          <a:p>
            <a:pPr algn="l">
              <a:defRPr sz="551" b="0">
                <a:solidFill>
                  <a:srgbClr val="111827"/>
                </a:solidFill>
                <a:latin typeface="Consolas"/>
                <a:ea typeface="Consolas"/>
                <a:cs typeface="Consolas"/>
              </a:defRPr>
            </a:pPr>
            <a:r>
              <a:rPr sz="551" b="0">
                <a:solidFill>
                  <a:srgbClr val="111827"/>
                </a:solidFill>
                <a:latin typeface="Consolas"/>
                <a:ea typeface="Consolas"/>
                <a:cs typeface="Consolas"/>
              </a:rPr>
              <a:t>                    self.model.Add(self.u[t_id, succ] &gt;= self.u[t_id, o_id] + 1).OnlyEnforceIf(self.y[t_id, o_id, succ])</a:t>
            </a:r>
          </a:p>
        </p:txBody>
      </p:sp>
      <p:sp>
        <p:nvSpPr>
          <p:cNvPr id="16" name="Rectangle 15">
            <a:extLst>
              <a:ext uri="{FF2B5EF4-FFF2-40B4-BE49-F238E27FC236}">
                <a16:creationId xmlns:a16="http://schemas.microsoft.com/office/drawing/2014/main" id="{E4357842-0485-4C5F-B58E-3DB5D2915AAF}"/>
              </a:ext>
            </a:extLst>
          </p:cNvPr>
          <p:cNvSpPr>
            <a:spLocks noGrp="1"/>
          </p:cNvSpPr>
          <p:nvPr/>
        </p:nvSpPr>
        <p:spPr>
          <a:xfrm>
            <a:off x="552450" y="4333875"/>
            <a:ext cx="3714750" cy="952500"/>
          </a:xfrm>
          <a:prstGeom prst="rect">
            <a:avLst/>
          </a:prstGeom>
          <a:solidFill>
            <a:srgbClr val="FFFFFF"/>
          </a:solidFill>
          <a:ln w="10478">
            <a:solidFill>
              <a:srgbClr val="00A6B2"/>
            </a:solidFill>
            <a:prstDash val="solid"/>
          </a:ln>
        </p:spPr>
        <p:txBody>
          <a:bodyPr/>
          <a:lstStyle/>
          <a:p>
            <a:endParaRPr lang="en-DE"/>
          </a:p>
        </p:txBody>
      </p:sp>
      <p:sp>
        <p:nvSpPr>
          <p:cNvPr id="17" name="Rectangle 16">
            <a:extLst>
              <a:ext uri="{FF2B5EF4-FFF2-40B4-BE49-F238E27FC236}">
                <a16:creationId xmlns:a16="http://schemas.microsoft.com/office/drawing/2014/main" id="{1706BED6-507C-42E8-A0DC-230B25A3FD90}"/>
              </a:ext>
            </a:extLst>
          </p:cNvPr>
          <p:cNvSpPr>
            <a:spLocks noGrp="1"/>
          </p:cNvSpPr>
          <p:nvPr/>
        </p:nvSpPr>
        <p:spPr>
          <a:xfrm>
            <a:off x="666750" y="4429125"/>
            <a:ext cx="34861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1">
                <a:solidFill>
                  <a:srgbClr val="00A6B2"/>
                </a:solidFill>
                <a:latin typeface="Arial"/>
                <a:ea typeface="Arial"/>
                <a:cs typeface="Arial"/>
              </a:defRPr>
            </a:pPr>
            <a:r>
              <a:rPr sz="563" b="1">
                <a:solidFill>
                  <a:srgbClr val="00A6B2"/>
                </a:solidFill>
                <a:latin typeface="Arial"/>
                <a:ea typeface="Arial"/>
                <a:cs typeface="Arial"/>
              </a:rPr>
              <a:t>SPRECHPUNKT</a:t>
            </a:r>
          </a:p>
        </p:txBody>
      </p:sp>
      <p:sp>
        <p:nvSpPr>
          <p:cNvPr id="18" name="Rectangle 17">
            <a:extLst>
              <a:ext uri="{FF2B5EF4-FFF2-40B4-BE49-F238E27FC236}">
                <a16:creationId xmlns:a16="http://schemas.microsoft.com/office/drawing/2014/main" id="{3AD1AD38-9120-4BD3-B488-1467A2666DEF}"/>
              </a:ext>
            </a:extLst>
          </p:cNvPr>
          <p:cNvSpPr>
            <a:spLocks noGrp="1"/>
          </p:cNvSpPr>
          <p:nvPr/>
        </p:nvSpPr>
        <p:spPr>
          <a:xfrm>
            <a:off x="666750" y="4619625"/>
            <a:ext cx="348615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73" b="0">
                <a:solidFill>
                  <a:srgbClr val="111111"/>
                </a:solidFill>
                <a:latin typeface="Arial"/>
                <a:ea typeface="Arial"/>
                <a:cs typeface="Arial"/>
              </a:defRPr>
            </a:pPr>
            <a:r>
              <a:rPr sz="773" b="0">
                <a:solidFill>
                  <a:srgbClr val="111111"/>
                </a:solidFill>
                <a:latin typeface="Arial"/>
                <a:ea typeface="Arial"/>
                <a:cs typeface="Arial"/>
              </a:rPr>
              <a:t>Die Route wird über dieselben `x`- und `y`-Ideen gesteuert. Zusätzlich koppelt CP-SAT den Nachfolger direkt an `start == end`.</a:t>
            </a:r>
          </a:p>
        </p:txBody>
      </p:sp>
      <p:sp>
        <p:nvSpPr>
          <p:cNvPr id="19" name="Rectangle 18">
            <a:extLst>
              <a:ext uri="{FF2B5EF4-FFF2-40B4-BE49-F238E27FC236}">
                <a16:creationId xmlns:a16="http://schemas.microsoft.com/office/drawing/2014/main" id="{5A24DBA8-A2A7-4E34-85DD-CE40C6F0B907}"/>
              </a:ext>
            </a:extLst>
          </p:cNvPr>
          <p:cNvSpPr>
            <a:spLocks noGrp="1"/>
          </p:cNvSpPr>
          <p:nvPr/>
        </p:nvSpPr>
        <p:spPr>
          <a:xfrm>
            <a:off x="381000" y="5753100"/>
            <a:ext cx="11430000" cy="11430"/>
          </a:xfrm>
          <a:prstGeom prst="rect">
            <a:avLst/>
          </a:prstGeom>
          <a:solidFill>
            <a:srgbClr val="222222"/>
          </a:solidFill>
          <a:ln w="0">
            <a:solidFill>
              <a:srgbClr val="000000">
                <a:alpha val="0"/>
              </a:srgbClr>
            </a:solidFill>
            <a:prstDash val="solid"/>
          </a:ln>
        </p:spPr>
        <p:txBody>
          <a:bodyPr/>
          <a:lstStyle/>
          <a:p>
            <a:endParaRPr lang="en-DE"/>
          </a:p>
        </p:txBody>
      </p:sp>
      <p:sp>
        <p:nvSpPr>
          <p:cNvPr id="20" name="Rectangle 19">
            <a:extLst>
              <a:ext uri="{FF2B5EF4-FFF2-40B4-BE49-F238E27FC236}">
                <a16:creationId xmlns:a16="http://schemas.microsoft.com/office/drawing/2014/main" id="{F772E38A-1FDB-4FA2-875E-F284866FB63A}"/>
              </a:ext>
            </a:extLst>
          </p:cNvPr>
          <p:cNvSpPr>
            <a:spLocks noGrp="1"/>
          </p:cNvSpPr>
          <p:nvPr/>
        </p:nvSpPr>
        <p:spPr>
          <a:xfrm>
            <a:off x="381000" y="592455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00549F"/>
                </a:solidFill>
                <a:latin typeface="Arial"/>
                <a:ea typeface="Arial"/>
                <a:cs typeface="Arial"/>
              </a:defRPr>
            </a:pPr>
            <a:r>
              <a:rPr sz="675" b="0">
                <a:solidFill>
                  <a:srgbClr val="00549F"/>
                </a:solidFill>
                <a:latin typeface="Arial"/>
                <a:ea typeface="Arial"/>
                <a:cs typeface="Arial"/>
              </a:rPr>
              <a:t>6</a:t>
            </a:r>
          </a:p>
        </p:txBody>
      </p:sp>
      <p:sp>
        <p:nvSpPr>
          <p:cNvPr id="21" name="Rectangle 20">
            <a:extLst>
              <a:ext uri="{FF2B5EF4-FFF2-40B4-BE49-F238E27FC236}">
                <a16:creationId xmlns:a16="http://schemas.microsoft.com/office/drawing/2014/main" id="{E7E64201-15DF-4843-9E0F-D82A1EFF8638}"/>
              </a:ext>
            </a:extLst>
          </p:cNvPr>
          <p:cNvSpPr>
            <a:spLocks noGrp="1"/>
          </p:cNvSpPr>
          <p:nvPr/>
        </p:nvSpPr>
        <p:spPr>
          <a:xfrm>
            <a:off x="1123950" y="5924550"/>
            <a:ext cx="6572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0" b="0">
                <a:solidFill>
                  <a:srgbClr val="00549F"/>
                </a:solidFill>
                <a:latin typeface="Arial"/>
                <a:ea typeface="Arial"/>
                <a:cs typeface="Arial"/>
              </a:defRPr>
            </a:pPr>
            <a:r>
              <a:rPr sz="630" b="0">
                <a:solidFill>
                  <a:srgbClr val="00549F"/>
                </a:solidFill>
                <a:latin typeface="Arial"/>
                <a:ea typeface="Arial"/>
                <a:cs typeface="Arial"/>
              </a:rPr>
              <a:t>Train Dispatching | DISPLIB mathematical model to code | Baseline MIP and Extended CP-SAT</a:t>
            </a:r>
          </a:p>
        </p:txBody>
      </p:sp>
      <p:pic>
        <p:nvPicPr>
          <p:cNvPr id="22" name="Picture 21"/>
          <p:cNvPicPr>
            <a:picLocks noChangeAspect="1"/>
          </p:cNvPicPr>
          <p:nvPr/>
        </p:nvPicPr>
        <p:blipFill>
          <a:blip r:embed="rId4"/>
          <a:stretch/>
        </p:blipFill>
        <p:spPr>
          <a:xfrm>
            <a:off x="8107690" y="5829300"/>
            <a:ext cx="2929870" cy="819150"/>
          </a:xfrm>
          <a:prstGeom prst="rect">
            <a:avLst/>
          </a:prstGeom>
        </p:spPr>
      </p:pic>
    </p:spTree>
    <p:extLst>
      <p:ext uri="{BB962C8B-B14F-4D97-AF65-F5344CB8AC3E}">
        <p14:creationId xmlns:p14="http://schemas.microsoft.com/office/powerpoint/2010/main" val="15770616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7E7C8A2D-1916-44DC-BDE4-26F2CF1B387C}"/>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en-DE"/>
          </a:p>
        </p:txBody>
      </p:sp>
      <p:sp>
        <p:nvSpPr>
          <p:cNvPr id="2" name="Rectangle 1">
            <a:extLst>
              <a:ext uri="{FF2B5EF4-FFF2-40B4-BE49-F238E27FC236}">
                <a16:creationId xmlns:a16="http://schemas.microsoft.com/office/drawing/2014/main" id="{DC5F2494-38D7-49C0-B740-3991B249AEA2}"/>
              </a:ext>
            </a:extLst>
          </p:cNvPr>
          <p:cNvSpPr>
            <a:spLocks noGrp="1"/>
          </p:cNvSpPr>
          <p:nvPr/>
        </p:nvSpPr>
        <p:spPr>
          <a:xfrm>
            <a:off x="514350" y="285750"/>
            <a:ext cx="106680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00549F"/>
                </a:solidFill>
                <a:latin typeface="Arial"/>
                <a:ea typeface="Arial"/>
                <a:cs typeface="Arial"/>
              </a:defRPr>
            </a:pPr>
            <a:r>
              <a:rPr sz="1800" b="1">
                <a:solidFill>
                  <a:srgbClr val="00549F"/>
                </a:solidFill>
                <a:latin typeface="Arial"/>
                <a:ea typeface="Arial"/>
                <a:cs typeface="Arial"/>
              </a:rPr>
              <a:t>Zeitfenster und Mindestdauer: Bounds und Dauer werden im Code getrennt sichtbar.</a:t>
            </a:r>
          </a:p>
        </p:txBody>
      </p:sp>
      <p:sp>
        <p:nvSpPr>
          <p:cNvPr id="3" name="Rectangle 2">
            <a:extLst>
              <a:ext uri="{FF2B5EF4-FFF2-40B4-BE49-F238E27FC236}">
                <a16:creationId xmlns:a16="http://schemas.microsoft.com/office/drawing/2014/main" id="{E3C427BC-BC87-4450-A2CA-520A69285AEF}"/>
              </a:ext>
            </a:extLst>
          </p:cNvPr>
          <p:cNvSpPr>
            <a:spLocks noGrp="1"/>
          </p:cNvSpPr>
          <p:nvPr/>
        </p:nvSpPr>
        <p:spPr>
          <a:xfrm>
            <a:off x="514350" y="704850"/>
            <a:ext cx="9715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10" b="0">
                <a:solidFill>
                  <a:srgbClr val="565656"/>
                </a:solidFill>
                <a:latin typeface="Arial"/>
                <a:ea typeface="Arial"/>
                <a:cs typeface="Arial"/>
              </a:defRPr>
            </a:pPr>
            <a:r>
              <a:rPr sz="810" b="0">
                <a:solidFill>
                  <a:srgbClr val="565656"/>
                </a:solidFill>
                <a:latin typeface="Arial"/>
                <a:ea typeface="Arial"/>
                <a:cs typeface="Arial"/>
              </a:rPr>
              <a:t>Hier sieht man, wo die mathematischen Zeitbedingungen technisch entstehen.</a:t>
            </a:r>
          </a:p>
        </p:txBody>
      </p:sp>
      <p:sp>
        <p:nvSpPr>
          <p:cNvPr id="4" name="Rectangle 3">
            <a:extLst>
              <a:ext uri="{FF2B5EF4-FFF2-40B4-BE49-F238E27FC236}">
                <a16:creationId xmlns:a16="http://schemas.microsoft.com/office/drawing/2014/main" id="{061DC542-F192-4A27-933D-B689497F1199}"/>
              </a:ext>
            </a:extLst>
          </p:cNvPr>
          <p:cNvSpPr>
            <a:spLocks noGrp="1"/>
          </p:cNvSpPr>
          <p:nvPr/>
        </p:nvSpPr>
        <p:spPr>
          <a:xfrm>
            <a:off x="514350" y="971550"/>
            <a:ext cx="10763250" cy="11430"/>
          </a:xfrm>
          <a:prstGeom prst="rect">
            <a:avLst/>
          </a:prstGeom>
          <a:solidFill>
            <a:srgbClr val="222222"/>
          </a:solidFill>
          <a:ln w="0">
            <a:solidFill>
              <a:srgbClr val="000000">
                <a:alpha val="0"/>
              </a:srgbClr>
            </a:solidFill>
            <a:prstDash val="solid"/>
          </a:ln>
        </p:spPr>
        <p:txBody>
          <a:bodyPr/>
          <a:lstStyle/>
          <a:p>
            <a:endParaRPr lang="en-DE"/>
          </a:p>
        </p:txBody>
      </p:sp>
      <p:sp>
        <p:nvSpPr>
          <p:cNvPr id="5" name="Rectangle 4">
            <a:extLst>
              <a:ext uri="{FF2B5EF4-FFF2-40B4-BE49-F238E27FC236}">
                <a16:creationId xmlns:a16="http://schemas.microsoft.com/office/drawing/2014/main" id="{D3D5EB92-B35F-48D5-822C-C98EE94824EF}"/>
              </a:ext>
            </a:extLst>
          </p:cNvPr>
          <p:cNvSpPr>
            <a:spLocks noGrp="1"/>
          </p:cNvSpPr>
          <p:nvPr/>
        </p:nvSpPr>
        <p:spPr>
          <a:xfrm>
            <a:off x="552450" y="1276350"/>
            <a:ext cx="4000500" cy="2333625"/>
          </a:xfrm>
          <a:prstGeom prst="rect">
            <a:avLst/>
          </a:prstGeom>
          <a:solidFill>
            <a:srgbClr val="FFFFFF"/>
          </a:solidFill>
          <a:ln w="9525">
            <a:solidFill>
              <a:srgbClr val="D7DDE4"/>
            </a:solidFill>
            <a:prstDash val="solid"/>
          </a:ln>
        </p:spPr>
        <p:txBody>
          <a:bodyPr/>
          <a:lstStyle/>
          <a:p>
            <a:endParaRPr lang="en-DE"/>
          </a:p>
        </p:txBody>
      </p:sp>
      <p:pic>
        <p:nvPicPr>
          <p:cNvPr id="6" name="Picture 5"/>
          <p:cNvPicPr>
            <a:picLocks noChangeAspect="1"/>
          </p:cNvPicPr>
          <p:nvPr/>
        </p:nvPicPr>
        <p:blipFill>
          <a:blip r:embed="rId3"/>
          <a:stretch/>
        </p:blipFill>
        <p:spPr>
          <a:xfrm>
            <a:off x="647700" y="1891917"/>
            <a:ext cx="3810000" cy="1007241"/>
          </a:xfrm>
          <a:prstGeom prst="rect">
            <a:avLst/>
          </a:prstGeom>
        </p:spPr>
      </p:pic>
      <p:sp>
        <p:nvSpPr>
          <p:cNvPr id="7" name="Rectangle 6">
            <a:extLst>
              <a:ext uri="{FF2B5EF4-FFF2-40B4-BE49-F238E27FC236}">
                <a16:creationId xmlns:a16="http://schemas.microsoft.com/office/drawing/2014/main" id="{7D1F336A-2DA1-4D81-AEFB-F3D0F8A65C7A}"/>
              </a:ext>
            </a:extLst>
          </p:cNvPr>
          <p:cNvSpPr>
            <a:spLocks noGrp="1"/>
          </p:cNvSpPr>
          <p:nvPr/>
        </p:nvSpPr>
        <p:spPr>
          <a:xfrm>
            <a:off x="647700" y="3438525"/>
            <a:ext cx="3810000" cy="104775"/>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533" b="0">
                <a:solidFill>
                  <a:srgbClr val="565656"/>
                </a:solidFill>
                <a:latin typeface="Arial"/>
                <a:ea typeface="Arial"/>
                <a:cs typeface="Arial"/>
              </a:defRPr>
            </a:pPr>
            <a:r>
              <a:rPr sz="533" b="0">
                <a:solidFill>
                  <a:srgbClr val="565656"/>
                </a:solidFill>
                <a:latin typeface="Arial"/>
                <a:ea typeface="Arial"/>
                <a:cs typeface="Arial"/>
              </a:rPr>
              <a:t>Problemdefinition: Zeitfenster und Dauer</a:t>
            </a:r>
          </a:p>
        </p:txBody>
      </p:sp>
      <p:sp>
        <p:nvSpPr>
          <p:cNvPr id="8" name="Rectangle 7">
            <a:extLst>
              <a:ext uri="{FF2B5EF4-FFF2-40B4-BE49-F238E27FC236}">
                <a16:creationId xmlns:a16="http://schemas.microsoft.com/office/drawing/2014/main" id="{06478F3E-C84D-462F-AC64-DA67D58DDAFC}"/>
              </a:ext>
            </a:extLst>
          </p:cNvPr>
          <p:cNvSpPr>
            <a:spLocks noGrp="1"/>
          </p:cNvSpPr>
          <p:nvPr/>
        </p:nvSpPr>
        <p:spPr>
          <a:xfrm>
            <a:off x="4810125" y="1276350"/>
            <a:ext cx="2857500" cy="1028700"/>
          </a:xfrm>
          <a:prstGeom prst="rect">
            <a:avLst/>
          </a:prstGeom>
          <a:solidFill>
            <a:srgbClr val="F6F8FA"/>
          </a:solidFill>
          <a:ln w="9525">
            <a:solidFill>
              <a:srgbClr val="7FAAD3"/>
            </a:solidFill>
            <a:prstDash val="solid"/>
          </a:ln>
        </p:spPr>
        <p:txBody>
          <a:bodyPr/>
          <a:lstStyle/>
          <a:p>
            <a:endParaRPr lang="en-DE"/>
          </a:p>
        </p:txBody>
      </p:sp>
      <p:sp>
        <p:nvSpPr>
          <p:cNvPr id="9" name="Rectangle 8">
            <a:extLst>
              <a:ext uri="{FF2B5EF4-FFF2-40B4-BE49-F238E27FC236}">
                <a16:creationId xmlns:a16="http://schemas.microsoft.com/office/drawing/2014/main" id="{4F33156D-1E97-49AD-AA96-36A0141041C0}"/>
              </a:ext>
            </a:extLst>
          </p:cNvPr>
          <p:cNvSpPr>
            <a:spLocks noGrp="1"/>
          </p:cNvSpPr>
          <p:nvPr/>
        </p:nvSpPr>
        <p:spPr>
          <a:xfrm>
            <a:off x="4810125" y="1276350"/>
            <a:ext cx="2857500" cy="228600"/>
          </a:xfrm>
          <a:prstGeom prst="rect">
            <a:avLst/>
          </a:prstGeom>
          <a:solidFill>
            <a:srgbClr val="E7F0FA"/>
          </a:solidFill>
          <a:ln w="9525">
            <a:solidFill>
              <a:srgbClr val="7FAAD3"/>
            </a:solidFill>
            <a:prstDash val="solid"/>
          </a:ln>
        </p:spPr>
        <p:txBody>
          <a:bodyPr/>
          <a:lstStyle/>
          <a:p>
            <a:endParaRPr lang="en-DE"/>
          </a:p>
        </p:txBody>
      </p:sp>
      <p:sp>
        <p:nvSpPr>
          <p:cNvPr id="10" name="Rectangle 9">
            <a:extLst>
              <a:ext uri="{FF2B5EF4-FFF2-40B4-BE49-F238E27FC236}">
                <a16:creationId xmlns:a16="http://schemas.microsoft.com/office/drawing/2014/main" id="{4A97CA3C-B2EC-4494-9EF0-CFC9DED922F7}"/>
              </a:ext>
            </a:extLst>
          </p:cNvPr>
          <p:cNvSpPr>
            <a:spLocks noGrp="1"/>
          </p:cNvSpPr>
          <p:nvPr/>
        </p:nvSpPr>
        <p:spPr>
          <a:xfrm>
            <a:off x="4905375" y="1333500"/>
            <a:ext cx="2667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70" b="1">
                <a:solidFill>
                  <a:srgbClr val="00549F"/>
                </a:solidFill>
                <a:latin typeface="Arial"/>
                <a:ea typeface="Arial"/>
                <a:cs typeface="Arial"/>
              </a:defRPr>
            </a:pPr>
            <a:r>
              <a:rPr sz="570" b="1">
                <a:solidFill>
                  <a:srgbClr val="00549F"/>
                </a:solidFill>
                <a:latin typeface="Arial"/>
                <a:ea typeface="Arial"/>
                <a:cs typeface="Arial"/>
              </a:rPr>
              <a:t>mip_model.py:32-34</a:t>
            </a:r>
          </a:p>
        </p:txBody>
      </p:sp>
      <p:sp>
        <p:nvSpPr>
          <p:cNvPr id="11" name="Rectangle 10">
            <a:extLst>
              <a:ext uri="{FF2B5EF4-FFF2-40B4-BE49-F238E27FC236}">
                <a16:creationId xmlns:a16="http://schemas.microsoft.com/office/drawing/2014/main" id="{0F992008-077B-4CA4-ADD0-5DC8A0248D2A}"/>
              </a:ext>
            </a:extLst>
          </p:cNvPr>
          <p:cNvSpPr>
            <a:spLocks noGrp="1"/>
          </p:cNvSpPr>
          <p:nvPr/>
        </p:nvSpPr>
        <p:spPr>
          <a:xfrm>
            <a:off x="4924425" y="1600200"/>
            <a:ext cx="26289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59" b="0">
                <a:solidFill>
                  <a:srgbClr val="111827"/>
                </a:solidFill>
                <a:latin typeface="Consolas"/>
                <a:ea typeface="Consolas"/>
                <a:cs typeface="Consolas"/>
              </a:defRPr>
            </a:pPr>
            <a:r>
              <a:rPr sz="559" b="0">
                <a:solidFill>
                  <a:srgbClr val="111827"/>
                </a:solidFill>
                <a:latin typeface="Consolas"/>
                <a:ea typeface="Consolas"/>
                <a:cs typeface="Consolas"/>
              </a:rPr>
              <a:t>                # Variable t_i,a (start time)</a:t>
            </a:r>
          </a:p>
          <a:p>
            <a:pPr algn="l">
              <a:defRPr sz="559" b="0">
                <a:solidFill>
                  <a:srgbClr val="111827"/>
                </a:solidFill>
                <a:latin typeface="Consolas"/>
                <a:ea typeface="Consolas"/>
                <a:cs typeface="Consolas"/>
              </a:defRPr>
            </a:pPr>
            <a:r>
              <a:rPr sz="559" b="0">
                <a:solidFill>
                  <a:srgbClr val="111827"/>
                </a:solidFill>
                <a:latin typeface="Consolas"/>
                <a:ea typeface="Consolas"/>
                <a:cs typeface="Consolas"/>
              </a:rPr>
              <a:t>                ub = op.start_ub if op.start_ub is not None and op.start_ub &lt; float('inf') else GRB.INFINITY</a:t>
            </a:r>
          </a:p>
          <a:p>
            <a:pPr algn="l">
              <a:defRPr sz="559" b="0">
                <a:solidFill>
                  <a:srgbClr val="111827"/>
                </a:solidFill>
                <a:latin typeface="Consolas"/>
                <a:ea typeface="Consolas"/>
                <a:cs typeface="Consolas"/>
              </a:defRPr>
            </a:pPr>
            <a:r>
              <a:rPr sz="559" b="0">
                <a:solidFill>
                  <a:srgbClr val="111827"/>
                </a:solidFill>
                <a:latin typeface="Consolas"/>
                <a:ea typeface="Consolas"/>
                <a:cs typeface="Consolas"/>
              </a:rPr>
              <a:t>                self.t[train.id, op.id] = self.model.addVar(lb=op.start_lb, ub=ub, vtype=GRB.CONTINUOUS, name=f"t_{train.id}_{op.id}")</a:t>
            </a:r>
          </a:p>
        </p:txBody>
      </p:sp>
      <p:sp>
        <p:nvSpPr>
          <p:cNvPr id="12" name="Rectangle 11">
            <a:extLst>
              <a:ext uri="{FF2B5EF4-FFF2-40B4-BE49-F238E27FC236}">
                <a16:creationId xmlns:a16="http://schemas.microsoft.com/office/drawing/2014/main" id="{E6B8D171-CF9D-45A7-80D4-1F3F52331049}"/>
              </a:ext>
            </a:extLst>
          </p:cNvPr>
          <p:cNvSpPr>
            <a:spLocks noGrp="1"/>
          </p:cNvSpPr>
          <p:nvPr/>
        </p:nvSpPr>
        <p:spPr>
          <a:xfrm>
            <a:off x="4810125" y="2381250"/>
            <a:ext cx="2857500" cy="914400"/>
          </a:xfrm>
          <a:prstGeom prst="rect">
            <a:avLst/>
          </a:prstGeom>
          <a:solidFill>
            <a:srgbClr val="F6F8FA"/>
          </a:solidFill>
          <a:ln w="9525">
            <a:solidFill>
              <a:srgbClr val="7FAAD3"/>
            </a:solidFill>
            <a:prstDash val="solid"/>
          </a:ln>
        </p:spPr>
        <p:txBody>
          <a:bodyPr/>
          <a:lstStyle/>
          <a:p>
            <a:endParaRPr lang="en-DE"/>
          </a:p>
        </p:txBody>
      </p:sp>
      <p:sp>
        <p:nvSpPr>
          <p:cNvPr id="13" name="Rectangle 12">
            <a:extLst>
              <a:ext uri="{FF2B5EF4-FFF2-40B4-BE49-F238E27FC236}">
                <a16:creationId xmlns:a16="http://schemas.microsoft.com/office/drawing/2014/main" id="{7BA198C2-4555-4390-AC07-CD0C96714CD3}"/>
              </a:ext>
            </a:extLst>
          </p:cNvPr>
          <p:cNvSpPr>
            <a:spLocks noGrp="1"/>
          </p:cNvSpPr>
          <p:nvPr/>
        </p:nvSpPr>
        <p:spPr>
          <a:xfrm>
            <a:off x="4810125" y="2381250"/>
            <a:ext cx="2857500" cy="228600"/>
          </a:xfrm>
          <a:prstGeom prst="rect">
            <a:avLst/>
          </a:prstGeom>
          <a:solidFill>
            <a:srgbClr val="E7F0FA"/>
          </a:solidFill>
          <a:ln w="9525">
            <a:solidFill>
              <a:srgbClr val="7FAAD3"/>
            </a:solidFill>
            <a:prstDash val="solid"/>
          </a:ln>
        </p:spPr>
        <p:txBody>
          <a:bodyPr/>
          <a:lstStyle/>
          <a:p>
            <a:endParaRPr lang="en-DE"/>
          </a:p>
        </p:txBody>
      </p:sp>
      <p:sp>
        <p:nvSpPr>
          <p:cNvPr id="14" name="Rectangle 13">
            <a:extLst>
              <a:ext uri="{FF2B5EF4-FFF2-40B4-BE49-F238E27FC236}">
                <a16:creationId xmlns:a16="http://schemas.microsoft.com/office/drawing/2014/main" id="{0502DB1F-0D85-4D46-AB74-61B7EA3F4405}"/>
              </a:ext>
            </a:extLst>
          </p:cNvPr>
          <p:cNvSpPr>
            <a:spLocks noGrp="1"/>
          </p:cNvSpPr>
          <p:nvPr/>
        </p:nvSpPr>
        <p:spPr>
          <a:xfrm>
            <a:off x="4905375" y="2438400"/>
            <a:ext cx="2667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70" b="1">
                <a:solidFill>
                  <a:srgbClr val="00549F"/>
                </a:solidFill>
                <a:latin typeface="Arial"/>
                <a:ea typeface="Arial"/>
                <a:cs typeface="Arial"/>
              </a:defRPr>
            </a:pPr>
            <a:r>
              <a:rPr sz="570" b="1">
                <a:solidFill>
                  <a:srgbClr val="00549F"/>
                </a:solidFill>
                <a:latin typeface="Arial"/>
                <a:ea typeface="Arial"/>
                <a:cs typeface="Arial"/>
              </a:rPr>
              <a:t>mip_model.py:101-102</a:t>
            </a:r>
          </a:p>
        </p:txBody>
      </p:sp>
      <p:sp>
        <p:nvSpPr>
          <p:cNvPr id="15" name="Rectangle 14">
            <a:extLst>
              <a:ext uri="{FF2B5EF4-FFF2-40B4-BE49-F238E27FC236}">
                <a16:creationId xmlns:a16="http://schemas.microsoft.com/office/drawing/2014/main" id="{D4217C0D-E99B-4348-959F-2AC6A5C5325A}"/>
              </a:ext>
            </a:extLst>
          </p:cNvPr>
          <p:cNvSpPr>
            <a:spLocks noGrp="1"/>
          </p:cNvSpPr>
          <p:nvPr/>
        </p:nvSpPr>
        <p:spPr>
          <a:xfrm>
            <a:off x="4924425" y="2705100"/>
            <a:ext cx="26289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15" b="0">
                <a:solidFill>
                  <a:srgbClr val="111827"/>
                </a:solidFill>
                <a:latin typeface="Consolas"/>
                <a:ea typeface="Consolas"/>
                <a:cs typeface="Consolas"/>
              </a:defRPr>
            </a:pPr>
            <a:r>
              <a:rPr sz="615" b="0">
                <a:solidFill>
                  <a:srgbClr val="111827"/>
                </a:solidFill>
                <a:latin typeface="Consolas"/>
                <a:ea typeface="Consolas"/>
                <a:cs typeface="Consolas"/>
              </a:rPr>
              <a:t>                    # Duration minimum</a:t>
            </a:r>
          </a:p>
          <a:p>
            <a:pPr algn="l">
              <a:defRPr sz="615" b="0">
                <a:solidFill>
                  <a:srgbClr val="111827"/>
                </a:solidFill>
                <a:latin typeface="Consolas"/>
                <a:ea typeface="Consolas"/>
                <a:cs typeface="Consolas"/>
              </a:defRPr>
            </a:pPr>
            <a:r>
              <a:rPr sz="615" b="0">
                <a:solidFill>
                  <a:srgbClr val="111827"/>
                </a:solidFill>
                <a:latin typeface="Consolas"/>
                <a:ea typeface="Consolas"/>
                <a:cs typeface="Consolas"/>
              </a:rPr>
              <a:t>                    self.model.addConstr(self.t[train.id, succ] - self.t[train.id, op.id] &gt;= op.min_duration * self.y[train.id, op.id, succ])</a:t>
            </a:r>
          </a:p>
        </p:txBody>
      </p:sp>
      <p:sp>
        <p:nvSpPr>
          <p:cNvPr id="16" name="Rectangle 15">
            <a:extLst>
              <a:ext uri="{FF2B5EF4-FFF2-40B4-BE49-F238E27FC236}">
                <a16:creationId xmlns:a16="http://schemas.microsoft.com/office/drawing/2014/main" id="{4D136790-426D-4FD0-AFA0-AF510C247A6E}"/>
              </a:ext>
            </a:extLst>
          </p:cNvPr>
          <p:cNvSpPr>
            <a:spLocks noGrp="1"/>
          </p:cNvSpPr>
          <p:nvPr/>
        </p:nvSpPr>
        <p:spPr>
          <a:xfrm>
            <a:off x="7905750" y="1276350"/>
            <a:ext cx="3333750" cy="2038350"/>
          </a:xfrm>
          <a:prstGeom prst="rect">
            <a:avLst/>
          </a:prstGeom>
          <a:solidFill>
            <a:srgbClr val="F6F8FA"/>
          </a:solidFill>
          <a:ln w="9525">
            <a:solidFill>
              <a:srgbClr val="7FAAD3"/>
            </a:solidFill>
            <a:prstDash val="solid"/>
          </a:ln>
        </p:spPr>
        <p:txBody>
          <a:bodyPr/>
          <a:lstStyle/>
          <a:p>
            <a:endParaRPr lang="en-DE"/>
          </a:p>
        </p:txBody>
      </p:sp>
      <p:sp>
        <p:nvSpPr>
          <p:cNvPr id="17" name="Rectangle 16">
            <a:extLst>
              <a:ext uri="{FF2B5EF4-FFF2-40B4-BE49-F238E27FC236}">
                <a16:creationId xmlns:a16="http://schemas.microsoft.com/office/drawing/2014/main" id="{F6F83560-C193-4308-9A63-241A52803214}"/>
              </a:ext>
            </a:extLst>
          </p:cNvPr>
          <p:cNvSpPr>
            <a:spLocks noGrp="1"/>
          </p:cNvSpPr>
          <p:nvPr/>
        </p:nvSpPr>
        <p:spPr>
          <a:xfrm>
            <a:off x="7905750" y="1276350"/>
            <a:ext cx="3333750" cy="228600"/>
          </a:xfrm>
          <a:prstGeom prst="rect">
            <a:avLst/>
          </a:prstGeom>
          <a:solidFill>
            <a:srgbClr val="E7F0FA"/>
          </a:solidFill>
          <a:ln w="9525">
            <a:solidFill>
              <a:srgbClr val="7FAAD3"/>
            </a:solidFill>
            <a:prstDash val="solid"/>
          </a:ln>
        </p:spPr>
        <p:txBody>
          <a:bodyPr/>
          <a:lstStyle/>
          <a:p>
            <a:endParaRPr lang="en-DE"/>
          </a:p>
        </p:txBody>
      </p:sp>
      <p:sp>
        <p:nvSpPr>
          <p:cNvPr id="18" name="Rectangle 17">
            <a:extLst>
              <a:ext uri="{FF2B5EF4-FFF2-40B4-BE49-F238E27FC236}">
                <a16:creationId xmlns:a16="http://schemas.microsoft.com/office/drawing/2014/main" id="{1634B5C3-AE08-4414-B43A-C1ACEF5DCE45}"/>
              </a:ext>
            </a:extLst>
          </p:cNvPr>
          <p:cNvSpPr>
            <a:spLocks noGrp="1"/>
          </p:cNvSpPr>
          <p:nvPr/>
        </p:nvSpPr>
        <p:spPr>
          <a:xfrm>
            <a:off x="8001000" y="1333500"/>
            <a:ext cx="314325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70" b="1">
                <a:solidFill>
                  <a:srgbClr val="00549F"/>
                </a:solidFill>
                <a:latin typeface="Arial"/>
                <a:ea typeface="Arial"/>
                <a:cs typeface="Arial"/>
              </a:defRPr>
            </a:pPr>
            <a:r>
              <a:rPr sz="570" b="1">
                <a:solidFill>
                  <a:srgbClr val="00549F"/>
                </a:solidFill>
                <a:latin typeface="Arial"/>
                <a:ea typeface="Arial"/>
                <a:cs typeface="Arial"/>
              </a:rPr>
              <a:t>cp_model.py:50-67</a:t>
            </a:r>
          </a:p>
        </p:txBody>
      </p:sp>
      <p:sp>
        <p:nvSpPr>
          <p:cNvPr id="19" name="Rectangle 18">
            <a:extLst>
              <a:ext uri="{FF2B5EF4-FFF2-40B4-BE49-F238E27FC236}">
                <a16:creationId xmlns:a16="http://schemas.microsoft.com/office/drawing/2014/main" id="{5CDCD162-1856-4D8D-BDEB-D4DE510B3105}"/>
              </a:ext>
            </a:extLst>
          </p:cNvPr>
          <p:cNvSpPr>
            <a:spLocks noGrp="1"/>
          </p:cNvSpPr>
          <p:nvPr/>
        </p:nvSpPr>
        <p:spPr>
          <a:xfrm>
            <a:off x="8020050" y="1600200"/>
            <a:ext cx="3105150" cy="1638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03" b="0">
                <a:solidFill>
                  <a:srgbClr val="111827"/>
                </a:solidFill>
                <a:latin typeface="Consolas"/>
                <a:ea typeface="Consolas"/>
                <a:cs typeface="Consolas"/>
              </a:defRPr>
            </a:pPr>
            <a:r>
              <a:rPr sz="503" b="0">
                <a:solidFill>
                  <a:srgbClr val="111827"/>
                </a:solidFill>
                <a:latin typeface="Consolas"/>
                <a:ea typeface="Consolas"/>
                <a:cs typeface="Consolas"/>
              </a:rPr>
              <a:t>                # Time bounds mapping</a:t>
            </a:r>
          </a:p>
          <a:p>
            <a:pPr algn="l">
              <a:defRPr sz="503" b="0">
                <a:solidFill>
                  <a:srgbClr val="111827"/>
                </a:solidFill>
                <a:latin typeface="Consolas"/>
                <a:ea typeface="Consolas"/>
                <a:cs typeface="Consolas"/>
              </a:defRPr>
            </a:pPr>
            <a:r>
              <a:rPr sz="503" b="0">
                <a:solidFill>
                  <a:srgbClr val="111827"/>
                </a:solidFill>
                <a:latin typeface="Consolas"/>
                <a:ea typeface="Consolas"/>
                <a:cs typeface="Consolas"/>
              </a:rPr>
              <a:t>                lb = max(0, int(op.start_lb))</a:t>
            </a:r>
          </a:p>
          <a:p>
            <a:pPr algn="l">
              <a:defRPr sz="503" b="0">
                <a:solidFill>
                  <a:srgbClr val="111827"/>
                </a:solidFill>
                <a:latin typeface="Consolas"/>
                <a:ea typeface="Consolas"/>
                <a:cs typeface="Consolas"/>
              </a:defRPr>
            </a:pPr>
            <a:r>
              <a:rPr sz="503" b="0">
                <a:solidFill>
                  <a:srgbClr val="111827"/>
                </a:solidFill>
                <a:latin typeface="Consolas"/>
                <a:ea typeface="Consolas"/>
                <a:cs typeface="Consolas"/>
              </a:rPr>
              <a:t>                ub_val = op.start_ub</a:t>
            </a:r>
          </a:p>
          <a:p>
            <a:pPr algn="l">
              <a:defRPr sz="503" b="0">
                <a:solidFill>
                  <a:srgbClr val="111827"/>
                </a:solidFill>
                <a:latin typeface="Consolas"/>
                <a:ea typeface="Consolas"/>
                <a:cs typeface="Consolas"/>
              </a:defRPr>
            </a:pPr>
            <a:r>
              <a:rPr sz="503" b="0">
                <a:solidFill>
                  <a:srgbClr val="111827"/>
                </a:solidFill>
                <a:latin typeface="Consolas"/>
                <a:ea typeface="Consolas"/>
                <a:cs typeface="Consolas"/>
              </a:rPr>
              <a:t>                ub = self.horizon if (ub_val is None or ub_val == float('inf')) else min(self.horizon, int(ub_val))</a:t>
            </a:r>
          </a:p>
          <a:p>
            <a:pPr algn="l">
              <a:defRPr sz="503" b="0">
                <a:solidFill>
                  <a:srgbClr val="111827"/>
                </a:solidFill>
                <a:latin typeface="Consolas"/>
                <a:ea typeface="Consolas"/>
                <a:cs typeface="Consolas"/>
              </a:defRPr>
            </a:pPr>
            <a:r>
              <a:rPr sz="503" b="0">
                <a:solidFill>
                  <a:srgbClr val="111827"/>
                </a:solidFill>
                <a:latin typeface="Consolas"/>
                <a:ea typeface="Consolas"/>
                <a:cs typeface="Consolas"/>
              </a:rPr>
              <a:t>                if ub &lt; lb: ub = lb # Safety fallback</a:t>
            </a:r>
          </a:p>
          <a:p>
            <a:pPr algn="l">
              <a:defRPr sz="503" b="0">
                <a:solidFill>
                  <a:srgbClr val="111827"/>
                </a:solidFill>
                <a:latin typeface="Consolas"/>
                <a:ea typeface="Consolas"/>
                <a:cs typeface="Consolas"/>
              </a:defRPr>
            </a:pPr>
            <a:r>
              <a:rPr sz="503" b="0">
                <a:solidFill>
                  <a:srgbClr val="111827"/>
                </a:solidFill>
                <a:latin typeface="Consolas"/>
                <a:ea typeface="Consolas"/>
                <a:cs typeface="Consolas"/>
              </a:rPr>
              <a:t>                </a:t>
            </a:r>
          </a:p>
          <a:p>
            <a:pPr algn="l">
              <a:defRPr sz="503" b="0">
                <a:solidFill>
                  <a:srgbClr val="111827"/>
                </a:solidFill>
                <a:latin typeface="Consolas"/>
                <a:ea typeface="Consolas"/>
                <a:cs typeface="Consolas"/>
              </a:defRPr>
            </a:pPr>
            <a:r>
              <a:rPr sz="503" b="0">
                <a:solidFill>
                  <a:srgbClr val="111827"/>
                </a:solidFill>
                <a:latin typeface="Consolas"/>
                <a:ea typeface="Consolas"/>
                <a:cs typeface="Consolas"/>
              </a:rPr>
              <a:t>                self.starts[t_id, o_id] = self.model.NewIntVar(lb, ub, f"st_{t_id}_{o_id}")</a:t>
            </a:r>
          </a:p>
          <a:p>
            <a:pPr algn="l">
              <a:defRPr sz="503" b="0">
                <a:solidFill>
                  <a:srgbClr val="111827"/>
                </a:solidFill>
                <a:latin typeface="Consolas"/>
                <a:ea typeface="Consolas"/>
                <a:cs typeface="Consolas"/>
              </a:defRPr>
            </a:pPr>
            <a:r>
              <a:rPr sz="503" b="0">
                <a:solidFill>
                  <a:srgbClr val="111827"/>
                </a:solidFill>
                <a:latin typeface="Consolas"/>
                <a:ea typeface="Consolas"/>
                <a:cs typeface="Consolas"/>
              </a:rPr>
              <a:t>                self.durations[t_id, o_id] = self.model.NewIntVar(int(op.min_duration), self.horizon, f"dur_{t_id}_{o_id}")</a:t>
            </a:r>
          </a:p>
          <a:p>
            <a:pPr algn="l">
              <a:defRPr sz="503" b="0">
                <a:solidFill>
                  <a:srgbClr val="111827"/>
                </a:solidFill>
                <a:latin typeface="Consolas"/>
                <a:ea typeface="Consolas"/>
                <a:cs typeface="Consolas"/>
              </a:defRPr>
            </a:pPr>
            <a:r>
              <a:rPr sz="503" b="0">
                <a:solidFill>
                  <a:srgbClr val="111827"/>
                </a:solidFill>
                <a:latin typeface="Consolas"/>
                <a:ea typeface="Consolas"/>
                <a:cs typeface="Consolas"/>
              </a:rPr>
              <a:t>                self.ends[t_id, o_id] = self.model.NewIntVar(lb + int(op.min_duration), self.horizon + self.horizon, f"end_{t_id}_{o_id}")</a:t>
            </a:r>
          </a:p>
          <a:p>
            <a:pPr algn="l">
              <a:defRPr sz="503" b="0">
                <a:solidFill>
                  <a:srgbClr val="111827"/>
                </a:solidFill>
                <a:latin typeface="Consolas"/>
                <a:ea typeface="Consolas"/>
                <a:cs typeface="Consolas"/>
              </a:defRPr>
            </a:pPr>
            <a:r>
              <a:rPr sz="503" b="0">
                <a:solidFill>
                  <a:srgbClr val="111827"/>
                </a:solidFill>
                <a:latin typeface="Consolas"/>
                <a:ea typeface="Consolas"/>
                <a:cs typeface="Consolas"/>
              </a:rPr>
              <a:t>                </a:t>
            </a:r>
          </a:p>
          <a:p>
            <a:pPr algn="l">
              <a:defRPr sz="503" b="0">
                <a:solidFill>
                  <a:srgbClr val="111827"/>
                </a:solidFill>
                <a:latin typeface="Consolas"/>
                <a:ea typeface="Consolas"/>
                <a:cs typeface="Consolas"/>
              </a:defRPr>
            </a:pPr>
            <a:r>
              <a:rPr sz="503" b="0">
                <a:solidFill>
                  <a:srgbClr val="111827"/>
                </a:solidFill>
                <a:latin typeface="Consolas"/>
                <a:ea typeface="Consolas"/>
                <a:cs typeface="Consolas"/>
              </a:rPr>
              <a:t>                # The heart of CP: Optional Interval Variable</a:t>
            </a:r>
          </a:p>
          <a:p>
            <a:pPr algn="l">
              <a:defRPr sz="503" b="0">
                <a:solidFill>
                  <a:srgbClr val="111827"/>
                </a:solidFill>
                <a:latin typeface="Consolas"/>
                <a:ea typeface="Consolas"/>
                <a:cs typeface="Consolas"/>
              </a:defRPr>
            </a:pPr>
            <a:r>
              <a:rPr sz="503" b="0">
                <a:solidFill>
                  <a:srgbClr val="111827"/>
                </a:solidFill>
                <a:latin typeface="Consolas"/>
                <a:ea typeface="Consolas"/>
                <a:cs typeface="Consolas"/>
              </a:rPr>
              <a:t>                iv = self.model.NewOptionalIntervalVar(</a:t>
            </a:r>
          </a:p>
          <a:p>
            <a:pPr algn="l">
              <a:defRPr sz="503" b="0">
                <a:solidFill>
                  <a:srgbClr val="111827"/>
                </a:solidFill>
                <a:latin typeface="Consolas"/>
                <a:ea typeface="Consolas"/>
                <a:cs typeface="Consolas"/>
              </a:defRPr>
            </a:pPr>
            <a:r>
              <a:rPr sz="503" b="0">
                <a:solidFill>
                  <a:srgbClr val="111827"/>
                </a:solidFill>
                <a:latin typeface="Consolas"/>
                <a:ea typeface="Consolas"/>
                <a:cs typeface="Consolas"/>
              </a:rPr>
              <a:t>                    self.starts[t_id, o_id], </a:t>
            </a:r>
          </a:p>
          <a:p>
            <a:pPr algn="l">
              <a:defRPr sz="503" b="0">
                <a:solidFill>
                  <a:srgbClr val="111827"/>
                </a:solidFill>
                <a:latin typeface="Consolas"/>
                <a:ea typeface="Consolas"/>
                <a:cs typeface="Consolas"/>
              </a:defRPr>
            </a:pPr>
            <a:r>
              <a:rPr sz="503" b="0">
                <a:solidFill>
                  <a:srgbClr val="111827"/>
                </a:solidFill>
                <a:latin typeface="Consolas"/>
                <a:ea typeface="Consolas"/>
                <a:cs typeface="Consolas"/>
              </a:rPr>
              <a:t>                    self.durations[t_id, o_id], </a:t>
            </a:r>
          </a:p>
          <a:p>
            <a:pPr algn="l">
              <a:defRPr sz="503" b="0">
                <a:solidFill>
                  <a:srgbClr val="111827"/>
                </a:solidFill>
                <a:latin typeface="Consolas"/>
                <a:ea typeface="Consolas"/>
                <a:cs typeface="Consolas"/>
              </a:defRPr>
            </a:pPr>
            <a:r>
              <a:rPr sz="503" b="0">
                <a:solidFill>
                  <a:srgbClr val="111827"/>
                </a:solidFill>
                <a:latin typeface="Consolas"/>
                <a:ea typeface="Consolas"/>
                <a:cs typeface="Consolas"/>
              </a:rPr>
              <a:t>                    self.ends[t_id, o_id], </a:t>
            </a:r>
          </a:p>
          <a:p>
            <a:pPr algn="l">
              <a:defRPr sz="503" b="0">
                <a:solidFill>
                  <a:srgbClr val="111827"/>
                </a:solidFill>
                <a:latin typeface="Consolas"/>
                <a:ea typeface="Consolas"/>
                <a:cs typeface="Consolas"/>
              </a:defRPr>
            </a:pPr>
            <a:r>
              <a:rPr sz="503" b="0">
                <a:solidFill>
                  <a:srgbClr val="111827"/>
                </a:solidFill>
                <a:latin typeface="Consolas"/>
                <a:ea typeface="Consolas"/>
                <a:cs typeface="Consolas"/>
              </a:rPr>
              <a:t>                    self.x[t_id, o_id], </a:t>
            </a:r>
          </a:p>
          <a:p>
            <a:pPr algn="l">
              <a:defRPr sz="503" b="0">
                <a:solidFill>
                  <a:srgbClr val="111827"/>
                </a:solidFill>
                <a:latin typeface="Consolas"/>
                <a:ea typeface="Consolas"/>
                <a:cs typeface="Consolas"/>
              </a:defRPr>
            </a:pPr>
            <a:r>
              <a:rPr sz="503" b="0">
                <a:solidFill>
                  <a:srgbClr val="111827"/>
                </a:solidFill>
                <a:latin typeface="Consolas"/>
                <a:ea typeface="Consolas"/>
                <a:cs typeface="Consolas"/>
              </a:rPr>
              <a:t>                    f"iv_{t_id}_{o_id}"</a:t>
            </a:r>
          </a:p>
          <a:p>
            <a:pPr algn="l">
              <a:defRPr sz="503" b="0">
                <a:solidFill>
                  <a:srgbClr val="111827"/>
                </a:solidFill>
                <a:latin typeface="Consolas"/>
                <a:ea typeface="Consolas"/>
                <a:cs typeface="Consolas"/>
              </a:defRPr>
            </a:pPr>
            <a:r>
              <a:rPr sz="503" b="0">
                <a:solidFill>
                  <a:srgbClr val="111827"/>
                </a:solidFill>
                <a:latin typeface="Consolas"/>
                <a:ea typeface="Consolas"/>
                <a:cs typeface="Consolas"/>
              </a:rPr>
              <a:t>                )</a:t>
            </a:r>
          </a:p>
        </p:txBody>
      </p:sp>
      <p:sp>
        <p:nvSpPr>
          <p:cNvPr id="20" name="Rectangle 19">
            <a:extLst>
              <a:ext uri="{FF2B5EF4-FFF2-40B4-BE49-F238E27FC236}">
                <a16:creationId xmlns:a16="http://schemas.microsoft.com/office/drawing/2014/main" id="{A90852E5-A95E-4BEB-A344-D3A81598AD5D}"/>
              </a:ext>
            </a:extLst>
          </p:cNvPr>
          <p:cNvSpPr>
            <a:spLocks noGrp="1"/>
          </p:cNvSpPr>
          <p:nvPr/>
        </p:nvSpPr>
        <p:spPr>
          <a:xfrm>
            <a:off x="7905750" y="3486150"/>
            <a:ext cx="3333750" cy="1314450"/>
          </a:xfrm>
          <a:prstGeom prst="rect">
            <a:avLst/>
          </a:prstGeom>
          <a:solidFill>
            <a:srgbClr val="F6F8FA"/>
          </a:solidFill>
          <a:ln w="9525">
            <a:solidFill>
              <a:srgbClr val="7FAAD3"/>
            </a:solidFill>
            <a:prstDash val="solid"/>
          </a:ln>
        </p:spPr>
        <p:txBody>
          <a:bodyPr/>
          <a:lstStyle/>
          <a:p>
            <a:endParaRPr lang="en-DE"/>
          </a:p>
        </p:txBody>
      </p:sp>
      <p:sp>
        <p:nvSpPr>
          <p:cNvPr id="21" name="Rectangle 20">
            <a:extLst>
              <a:ext uri="{FF2B5EF4-FFF2-40B4-BE49-F238E27FC236}">
                <a16:creationId xmlns:a16="http://schemas.microsoft.com/office/drawing/2014/main" id="{BD11E43E-BFD3-47E1-A115-FCDD137B4E8C}"/>
              </a:ext>
            </a:extLst>
          </p:cNvPr>
          <p:cNvSpPr>
            <a:spLocks noGrp="1"/>
          </p:cNvSpPr>
          <p:nvPr/>
        </p:nvSpPr>
        <p:spPr>
          <a:xfrm>
            <a:off x="7905750" y="3486150"/>
            <a:ext cx="3333750" cy="228600"/>
          </a:xfrm>
          <a:prstGeom prst="rect">
            <a:avLst/>
          </a:prstGeom>
          <a:solidFill>
            <a:srgbClr val="E7F0FA"/>
          </a:solidFill>
          <a:ln w="9525">
            <a:solidFill>
              <a:srgbClr val="7FAAD3"/>
            </a:solidFill>
            <a:prstDash val="solid"/>
          </a:ln>
        </p:spPr>
        <p:txBody>
          <a:bodyPr/>
          <a:lstStyle/>
          <a:p>
            <a:endParaRPr lang="en-DE"/>
          </a:p>
        </p:txBody>
      </p:sp>
      <p:sp>
        <p:nvSpPr>
          <p:cNvPr id="22" name="Rectangle 21">
            <a:extLst>
              <a:ext uri="{FF2B5EF4-FFF2-40B4-BE49-F238E27FC236}">
                <a16:creationId xmlns:a16="http://schemas.microsoft.com/office/drawing/2014/main" id="{44DB12E1-DBB0-4C15-B092-3A01184A9ACD}"/>
              </a:ext>
            </a:extLst>
          </p:cNvPr>
          <p:cNvSpPr>
            <a:spLocks noGrp="1"/>
          </p:cNvSpPr>
          <p:nvPr/>
        </p:nvSpPr>
        <p:spPr>
          <a:xfrm>
            <a:off x="8001000" y="3543300"/>
            <a:ext cx="314325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70" b="1">
                <a:solidFill>
                  <a:srgbClr val="00549F"/>
                </a:solidFill>
                <a:latin typeface="Arial"/>
                <a:ea typeface="Arial"/>
                <a:cs typeface="Arial"/>
              </a:defRPr>
            </a:pPr>
            <a:r>
              <a:rPr sz="570" b="1">
                <a:solidFill>
                  <a:srgbClr val="00549F"/>
                </a:solidFill>
                <a:latin typeface="Arial"/>
                <a:ea typeface="Arial"/>
                <a:cs typeface="Arial"/>
              </a:rPr>
              <a:t>cp_model.py:190-197</a:t>
            </a:r>
          </a:p>
        </p:txBody>
      </p:sp>
      <p:sp>
        <p:nvSpPr>
          <p:cNvPr id="23" name="Rectangle 22">
            <a:extLst>
              <a:ext uri="{FF2B5EF4-FFF2-40B4-BE49-F238E27FC236}">
                <a16:creationId xmlns:a16="http://schemas.microsoft.com/office/drawing/2014/main" id="{C6A91330-A1D9-4C90-93C8-FCFDD9EC11C2}"/>
              </a:ext>
            </a:extLst>
          </p:cNvPr>
          <p:cNvSpPr>
            <a:spLocks noGrp="1"/>
          </p:cNvSpPr>
          <p:nvPr/>
        </p:nvSpPr>
        <p:spPr>
          <a:xfrm>
            <a:off x="8020050" y="3810000"/>
            <a:ext cx="310515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55" b="0">
                <a:solidFill>
                  <a:srgbClr val="111827"/>
                </a:solidFill>
                <a:latin typeface="Consolas"/>
                <a:ea typeface="Consolas"/>
                <a:cs typeface="Consolas"/>
              </a:defRPr>
            </a:pPr>
            <a:r>
              <a:rPr sz="555" b="0">
                <a:solidFill>
                  <a:srgbClr val="111827"/>
                </a:solidFill>
                <a:latin typeface="Consolas"/>
                <a:ea typeface="Consolas"/>
                <a:cs typeface="Consolas"/>
              </a:rPr>
              <a:t>                # Precedences Time Logic</a:t>
            </a:r>
          </a:p>
          <a:p>
            <a:pPr algn="l">
              <a:defRPr sz="555" b="0">
                <a:solidFill>
                  <a:srgbClr val="111827"/>
                </a:solidFill>
                <a:latin typeface="Consolas"/>
                <a:ea typeface="Consolas"/>
                <a:cs typeface="Consolas"/>
              </a:defRPr>
            </a:pPr>
            <a:r>
              <a:rPr sz="555" b="0">
                <a:solidFill>
                  <a:srgbClr val="111827"/>
                </a:solidFill>
                <a:latin typeface="Consolas"/>
                <a:ea typeface="Consolas"/>
                <a:cs typeface="Consolas"/>
              </a:rPr>
              <a:t>                for succ in op.successors:</a:t>
            </a:r>
          </a:p>
          <a:p>
            <a:pPr algn="l">
              <a:defRPr sz="555" b="0">
                <a:solidFill>
                  <a:srgbClr val="111827"/>
                </a:solidFill>
                <a:latin typeface="Consolas"/>
                <a:ea typeface="Consolas"/>
                <a:cs typeface="Consolas"/>
              </a:defRPr>
            </a:pPr>
            <a:r>
              <a:rPr sz="555" b="0">
                <a:solidFill>
                  <a:srgbClr val="111827"/>
                </a:solidFill>
                <a:latin typeface="Consolas"/>
                <a:ea typeface="Consolas"/>
                <a:cs typeface="Consolas"/>
              </a:rPr>
              <a:t>                    # IF y[op-&gt;succ] is true =&gt; start(succ) == end(op)</a:t>
            </a:r>
          </a:p>
          <a:p>
            <a:pPr algn="l">
              <a:defRPr sz="555" b="0">
                <a:solidFill>
                  <a:srgbClr val="111827"/>
                </a:solidFill>
                <a:latin typeface="Consolas"/>
                <a:ea typeface="Consolas"/>
                <a:cs typeface="Consolas"/>
              </a:defRPr>
            </a:pPr>
            <a:r>
              <a:rPr sz="555" b="0">
                <a:solidFill>
                  <a:srgbClr val="111827"/>
                </a:solidFill>
                <a:latin typeface="Consolas"/>
                <a:ea typeface="Consolas"/>
                <a:cs typeface="Consolas"/>
              </a:rPr>
              <a:t>                    # This is critical: the train occupies the resource until it physically starts the next operation!</a:t>
            </a:r>
          </a:p>
          <a:p>
            <a:pPr algn="l">
              <a:defRPr sz="555" b="0">
                <a:solidFill>
                  <a:srgbClr val="111827"/>
                </a:solidFill>
                <a:latin typeface="Consolas"/>
                <a:ea typeface="Consolas"/>
                <a:cs typeface="Consolas"/>
              </a:defRPr>
            </a:pPr>
            <a:r>
              <a:rPr sz="555" b="0">
                <a:solidFill>
                  <a:srgbClr val="111827"/>
                </a:solidFill>
                <a:latin typeface="Consolas"/>
                <a:ea typeface="Consolas"/>
                <a:cs typeface="Consolas"/>
              </a:rPr>
              <a:t>                    self.model.Add(self.starts[t_id, succ] == self.ends[t_id, o_id]).OnlyEnforceIf(self.y[t_id, o_id, succ])</a:t>
            </a:r>
          </a:p>
          <a:p>
            <a:pPr algn="l">
              <a:defRPr sz="555" b="0">
                <a:solidFill>
                  <a:srgbClr val="111827"/>
                </a:solidFill>
                <a:latin typeface="Consolas"/>
                <a:ea typeface="Consolas"/>
                <a:cs typeface="Consolas"/>
              </a:defRPr>
            </a:pPr>
            <a:r>
              <a:rPr sz="555" b="0">
                <a:solidFill>
                  <a:srgbClr val="111827"/>
                </a:solidFill>
                <a:latin typeface="Consolas"/>
                <a:ea typeface="Consolas"/>
                <a:cs typeface="Consolas"/>
              </a:rPr>
              <a:t>                    </a:t>
            </a:r>
          </a:p>
          <a:p>
            <a:pPr algn="l">
              <a:defRPr sz="555" b="0">
                <a:solidFill>
                  <a:srgbClr val="111827"/>
                </a:solidFill>
                <a:latin typeface="Consolas"/>
                <a:ea typeface="Consolas"/>
                <a:cs typeface="Consolas"/>
              </a:defRPr>
            </a:pPr>
            <a:r>
              <a:rPr sz="555" b="0">
                <a:solidFill>
                  <a:srgbClr val="111827"/>
                </a:solidFill>
                <a:latin typeface="Consolas"/>
                <a:ea typeface="Consolas"/>
                <a:cs typeface="Consolas"/>
              </a:rPr>
              <a:t>                    # Strict topological rank progression</a:t>
            </a:r>
          </a:p>
          <a:p>
            <a:pPr algn="l">
              <a:defRPr sz="555" b="0">
                <a:solidFill>
                  <a:srgbClr val="111827"/>
                </a:solidFill>
                <a:latin typeface="Consolas"/>
                <a:ea typeface="Consolas"/>
                <a:cs typeface="Consolas"/>
              </a:defRPr>
            </a:pPr>
            <a:r>
              <a:rPr sz="555" b="0">
                <a:solidFill>
                  <a:srgbClr val="111827"/>
                </a:solidFill>
                <a:latin typeface="Consolas"/>
                <a:ea typeface="Consolas"/>
                <a:cs typeface="Consolas"/>
              </a:rPr>
              <a:t>                    self.model.Add(self.u[t_id, succ] &gt;= self.u[t_id, o_id] + 1).OnlyEnforceIf(self.y[t_id, o_id, succ])</a:t>
            </a:r>
          </a:p>
        </p:txBody>
      </p:sp>
      <p:sp>
        <p:nvSpPr>
          <p:cNvPr id="24" name="Rectangle 23">
            <a:extLst>
              <a:ext uri="{FF2B5EF4-FFF2-40B4-BE49-F238E27FC236}">
                <a16:creationId xmlns:a16="http://schemas.microsoft.com/office/drawing/2014/main" id="{CC05A209-F9D8-4B42-A095-BD688D9C02C0}"/>
              </a:ext>
            </a:extLst>
          </p:cNvPr>
          <p:cNvSpPr>
            <a:spLocks noGrp="1"/>
          </p:cNvSpPr>
          <p:nvPr/>
        </p:nvSpPr>
        <p:spPr>
          <a:xfrm>
            <a:off x="552450" y="3857625"/>
            <a:ext cx="4000500" cy="971550"/>
          </a:xfrm>
          <a:prstGeom prst="rect">
            <a:avLst/>
          </a:prstGeom>
          <a:solidFill>
            <a:srgbClr val="FFFFFF"/>
          </a:solidFill>
          <a:ln w="10478">
            <a:solidFill>
              <a:srgbClr val="00549F"/>
            </a:solidFill>
            <a:prstDash val="solid"/>
          </a:ln>
        </p:spPr>
        <p:txBody>
          <a:bodyPr/>
          <a:lstStyle/>
          <a:p>
            <a:endParaRPr lang="en-DE"/>
          </a:p>
        </p:txBody>
      </p:sp>
      <p:sp>
        <p:nvSpPr>
          <p:cNvPr id="25" name="Rectangle 24">
            <a:extLst>
              <a:ext uri="{FF2B5EF4-FFF2-40B4-BE49-F238E27FC236}">
                <a16:creationId xmlns:a16="http://schemas.microsoft.com/office/drawing/2014/main" id="{1C8DB7F7-C568-4820-A9B8-26870A8A0E88}"/>
              </a:ext>
            </a:extLst>
          </p:cNvPr>
          <p:cNvSpPr>
            <a:spLocks noGrp="1"/>
          </p:cNvSpPr>
          <p:nvPr/>
        </p:nvSpPr>
        <p:spPr>
          <a:xfrm>
            <a:off x="666750" y="3952875"/>
            <a:ext cx="37719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1">
                <a:solidFill>
                  <a:srgbClr val="00549F"/>
                </a:solidFill>
                <a:latin typeface="Arial"/>
                <a:ea typeface="Arial"/>
                <a:cs typeface="Arial"/>
              </a:defRPr>
            </a:pPr>
            <a:r>
              <a:rPr sz="563" b="1">
                <a:solidFill>
                  <a:srgbClr val="00549F"/>
                </a:solidFill>
                <a:latin typeface="Arial"/>
                <a:ea typeface="Arial"/>
                <a:cs typeface="Arial"/>
              </a:rPr>
              <a:t>SPRECHPUNKT</a:t>
            </a:r>
          </a:p>
        </p:txBody>
      </p:sp>
      <p:sp>
        <p:nvSpPr>
          <p:cNvPr id="26" name="Rectangle 25">
            <a:extLst>
              <a:ext uri="{FF2B5EF4-FFF2-40B4-BE49-F238E27FC236}">
                <a16:creationId xmlns:a16="http://schemas.microsoft.com/office/drawing/2014/main" id="{0D84CA51-F840-45B1-A41E-C5A3FCEAB231}"/>
              </a:ext>
            </a:extLst>
          </p:cNvPr>
          <p:cNvSpPr>
            <a:spLocks noGrp="1"/>
          </p:cNvSpPr>
          <p:nvPr/>
        </p:nvSpPr>
        <p:spPr>
          <a:xfrm>
            <a:off x="666750" y="4143375"/>
            <a:ext cx="3771900" cy="609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73" b="0">
                <a:solidFill>
                  <a:srgbClr val="111111"/>
                </a:solidFill>
                <a:latin typeface="Arial"/>
                <a:ea typeface="Arial"/>
                <a:cs typeface="Arial"/>
              </a:defRPr>
            </a:pPr>
            <a:r>
              <a:rPr sz="773" b="0">
                <a:solidFill>
                  <a:srgbClr val="111111"/>
                </a:solidFill>
                <a:latin typeface="Arial"/>
                <a:ea typeface="Arial"/>
                <a:cs typeface="Arial"/>
              </a:rPr>
              <a:t>MIP: `t` bekommt lb/ub und später eine Mindestdauer. CP-SAT: Start, Dauer, Ende und Intervalle machen dieselbe Zeitlogik expliziter.</a:t>
            </a:r>
          </a:p>
        </p:txBody>
      </p:sp>
      <p:sp>
        <p:nvSpPr>
          <p:cNvPr id="27" name="Rectangle 26">
            <a:extLst>
              <a:ext uri="{FF2B5EF4-FFF2-40B4-BE49-F238E27FC236}">
                <a16:creationId xmlns:a16="http://schemas.microsoft.com/office/drawing/2014/main" id="{75CE31DB-E4A6-4493-A1CE-06D3A25161DB}"/>
              </a:ext>
            </a:extLst>
          </p:cNvPr>
          <p:cNvSpPr>
            <a:spLocks noGrp="1"/>
          </p:cNvSpPr>
          <p:nvPr/>
        </p:nvSpPr>
        <p:spPr>
          <a:xfrm>
            <a:off x="381000" y="5753100"/>
            <a:ext cx="11430000" cy="11430"/>
          </a:xfrm>
          <a:prstGeom prst="rect">
            <a:avLst/>
          </a:prstGeom>
          <a:solidFill>
            <a:srgbClr val="222222"/>
          </a:solidFill>
          <a:ln w="0">
            <a:solidFill>
              <a:srgbClr val="000000">
                <a:alpha val="0"/>
              </a:srgbClr>
            </a:solidFill>
            <a:prstDash val="solid"/>
          </a:ln>
        </p:spPr>
        <p:txBody>
          <a:bodyPr/>
          <a:lstStyle/>
          <a:p>
            <a:endParaRPr lang="en-DE"/>
          </a:p>
        </p:txBody>
      </p:sp>
      <p:sp>
        <p:nvSpPr>
          <p:cNvPr id="28" name="Rectangle 27">
            <a:extLst>
              <a:ext uri="{FF2B5EF4-FFF2-40B4-BE49-F238E27FC236}">
                <a16:creationId xmlns:a16="http://schemas.microsoft.com/office/drawing/2014/main" id="{117BEDDE-518B-4AA6-89CE-AE7136A5AD63}"/>
              </a:ext>
            </a:extLst>
          </p:cNvPr>
          <p:cNvSpPr>
            <a:spLocks noGrp="1"/>
          </p:cNvSpPr>
          <p:nvPr/>
        </p:nvSpPr>
        <p:spPr>
          <a:xfrm>
            <a:off x="381000" y="592455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00549F"/>
                </a:solidFill>
                <a:latin typeface="Arial"/>
                <a:ea typeface="Arial"/>
                <a:cs typeface="Arial"/>
              </a:defRPr>
            </a:pPr>
            <a:r>
              <a:rPr sz="675" b="0">
                <a:solidFill>
                  <a:srgbClr val="00549F"/>
                </a:solidFill>
                <a:latin typeface="Arial"/>
                <a:ea typeface="Arial"/>
                <a:cs typeface="Arial"/>
              </a:rPr>
              <a:t>7</a:t>
            </a:r>
          </a:p>
        </p:txBody>
      </p:sp>
      <p:sp>
        <p:nvSpPr>
          <p:cNvPr id="29" name="Rectangle 28">
            <a:extLst>
              <a:ext uri="{FF2B5EF4-FFF2-40B4-BE49-F238E27FC236}">
                <a16:creationId xmlns:a16="http://schemas.microsoft.com/office/drawing/2014/main" id="{8C5BCB6A-466E-4345-A5BF-8B3A92C15CCC}"/>
              </a:ext>
            </a:extLst>
          </p:cNvPr>
          <p:cNvSpPr>
            <a:spLocks noGrp="1"/>
          </p:cNvSpPr>
          <p:nvPr/>
        </p:nvSpPr>
        <p:spPr>
          <a:xfrm>
            <a:off x="1123950" y="5924550"/>
            <a:ext cx="6572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0" b="0">
                <a:solidFill>
                  <a:srgbClr val="00549F"/>
                </a:solidFill>
                <a:latin typeface="Arial"/>
                <a:ea typeface="Arial"/>
                <a:cs typeface="Arial"/>
              </a:defRPr>
            </a:pPr>
            <a:r>
              <a:rPr sz="630" b="0">
                <a:solidFill>
                  <a:srgbClr val="00549F"/>
                </a:solidFill>
                <a:latin typeface="Arial"/>
                <a:ea typeface="Arial"/>
                <a:cs typeface="Arial"/>
              </a:rPr>
              <a:t>Train Dispatching | DISPLIB mathematical model to code | Baseline MIP and Extended CP-SAT</a:t>
            </a:r>
          </a:p>
        </p:txBody>
      </p:sp>
      <p:pic>
        <p:nvPicPr>
          <p:cNvPr id="30" name="Picture 29"/>
          <p:cNvPicPr>
            <a:picLocks noChangeAspect="1"/>
          </p:cNvPicPr>
          <p:nvPr/>
        </p:nvPicPr>
        <p:blipFill>
          <a:blip r:embed="rId4"/>
          <a:stretch/>
        </p:blipFill>
        <p:spPr>
          <a:xfrm>
            <a:off x="8107690" y="5829300"/>
            <a:ext cx="2929870" cy="819150"/>
          </a:xfrm>
          <a:prstGeom prst="rect">
            <a:avLst/>
          </a:prstGeom>
        </p:spPr>
      </p:pic>
    </p:spTree>
    <p:extLst>
      <p:ext uri="{BB962C8B-B14F-4D97-AF65-F5344CB8AC3E}">
        <p14:creationId xmlns:p14="http://schemas.microsoft.com/office/powerpoint/2010/main" val="3127609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F1713B9D-EF25-4BDC-A887-55E37CCDD36C}"/>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en-DE"/>
          </a:p>
        </p:txBody>
      </p:sp>
      <p:sp>
        <p:nvSpPr>
          <p:cNvPr id="2" name="Rectangle 1">
            <a:extLst>
              <a:ext uri="{FF2B5EF4-FFF2-40B4-BE49-F238E27FC236}">
                <a16:creationId xmlns:a16="http://schemas.microsoft.com/office/drawing/2014/main" id="{C1218BEF-5841-4B65-A265-977E34FEB293}"/>
              </a:ext>
            </a:extLst>
          </p:cNvPr>
          <p:cNvSpPr>
            <a:spLocks noGrp="1"/>
          </p:cNvSpPr>
          <p:nvPr/>
        </p:nvSpPr>
        <p:spPr>
          <a:xfrm>
            <a:off x="514350" y="285750"/>
            <a:ext cx="106680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00549F"/>
                </a:solidFill>
                <a:latin typeface="Arial"/>
                <a:ea typeface="Arial"/>
                <a:cs typeface="Arial"/>
              </a:defRPr>
            </a:pPr>
            <a:r>
              <a:rPr sz="1800" b="1">
                <a:solidFill>
                  <a:srgbClr val="00549F"/>
                </a:solidFill>
                <a:latin typeface="Arial"/>
                <a:ea typeface="Arial"/>
                <a:cs typeface="Arial"/>
              </a:rPr>
              <a:t>Die Konfliktmenge A wird vor dem Solver im Parser aufgebaut.</a:t>
            </a:r>
          </a:p>
        </p:txBody>
      </p:sp>
      <p:sp>
        <p:nvSpPr>
          <p:cNvPr id="3" name="Rectangle 2">
            <a:extLst>
              <a:ext uri="{FF2B5EF4-FFF2-40B4-BE49-F238E27FC236}">
                <a16:creationId xmlns:a16="http://schemas.microsoft.com/office/drawing/2014/main" id="{84254C2C-2E63-4B9D-B7D6-E1DDB9F50286}"/>
              </a:ext>
            </a:extLst>
          </p:cNvPr>
          <p:cNvSpPr>
            <a:spLocks noGrp="1"/>
          </p:cNvSpPr>
          <p:nvPr/>
        </p:nvSpPr>
        <p:spPr>
          <a:xfrm>
            <a:off x="514350" y="704850"/>
            <a:ext cx="9715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10" b="0">
                <a:solidFill>
                  <a:srgbClr val="565656"/>
                </a:solidFill>
                <a:latin typeface="Arial"/>
                <a:ea typeface="Arial"/>
                <a:cs typeface="Arial"/>
              </a:defRPr>
            </a:pPr>
            <a:r>
              <a:rPr sz="810" b="0">
                <a:solidFill>
                  <a:srgbClr val="565656"/>
                </a:solidFill>
                <a:latin typeface="Arial"/>
                <a:ea typeface="Arial"/>
                <a:cs typeface="Arial"/>
              </a:rPr>
              <a:t>Erst werden Operationen mit gemeinsamer Ressource gefunden, danach nutzt das Modell diese Paare.</a:t>
            </a:r>
          </a:p>
        </p:txBody>
      </p:sp>
      <p:sp>
        <p:nvSpPr>
          <p:cNvPr id="4" name="Rectangle 3">
            <a:extLst>
              <a:ext uri="{FF2B5EF4-FFF2-40B4-BE49-F238E27FC236}">
                <a16:creationId xmlns:a16="http://schemas.microsoft.com/office/drawing/2014/main" id="{AD7E742C-4DFD-405C-B2E6-A80000B78C2F}"/>
              </a:ext>
            </a:extLst>
          </p:cNvPr>
          <p:cNvSpPr>
            <a:spLocks noGrp="1"/>
          </p:cNvSpPr>
          <p:nvPr/>
        </p:nvSpPr>
        <p:spPr>
          <a:xfrm>
            <a:off x="514350" y="971550"/>
            <a:ext cx="10763250" cy="11430"/>
          </a:xfrm>
          <a:prstGeom prst="rect">
            <a:avLst/>
          </a:prstGeom>
          <a:solidFill>
            <a:srgbClr val="222222"/>
          </a:solidFill>
          <a:ln w="0">
            <a:solidFill>
              <a:srgbClr val="000000">
                <a:alpha val="0"/>
              </a:srgbClr>
            </a:solidFill>
            <a:prstDash val="solid"/>
          </a:ln>
        </p:spPr>
        <p:txBody>
          <a:bodyPr/>
          <a:lstStyle/>
          <a:p>
            <a:endParaRPr lang="en-DE"/>
          </a:p>
        </p:txBody>
      </p:sp>
      <p:sp>
        <p:nvSpPr>
          <p:cNvPr id="5" name="Rectangle 4">
            <a:extLst>
              <a:ext uri="{FF2B5EF4-FFF2-40B4-BE49-F238E27FC236}">
                <a16:creationId xmlns:a16="http://schemas.microsoft.com/office/drawing/2014/main" id="{2D361787-66FD-4274-8732-EC0CD61E9EA9}"/>
              </a:ext>
            </a:extLst>
          </p:cNvPr>
          <p:cNvSpPr>
            <a:spLocks noGrp="1"/>
          </p:cNvSpPr>
          <p:nvPr/>
        </p:nvSpPr>
        <p:spPr>
          <a:xfrm>
            <a:off x="552450" y="1466850"/>
            <a:ext cx="4000500" cy="1714500"/>
          </a:xfrm>
          <a:prstGeom prst="rect">
            <a:avLst/>
          </a:prstGeom>
          <a:solidFill>
            <a:srgbClr val="FFFFFF"/>
          </a:solidFill>
          <a:ln w="9525">
            <a:solidFill>
              <a:srgbClr val="D7DDE4"/>
            </a:solidFill>
            <a:prstDash val="solid"/>
          </a:ln>
        </p:spPr>
        <p:txBody>
          <a:bodyPr/>
          <a:lstStyle/>
          <a:p>
            <a:endParaRPr lang="en-DE"/>
          </a:p>
        </p:txBody>
      </p:sp>
      <p:pic>
        <p:nvPicPr>
          <p:cNvPr id="6" name="Picture 5"/>
          <p:cNvPicPr>
            <a:picLocks noChangeAspect="1"/>
          </p:cNvPicPr>
          <p:nvPr/>
        </p:nvPicPr>
        <p:blipFill>
          <a:blip r:embed="rId3"/>
          <a:stretch/>
        </p:blipFill>
        <p:spPr>
          <a:xfrm>
            <a:off x="647700" y="2113189"/>
            <a:ext cx="3810000" cy="326571"/>
          </a:xfrm>
          <a:prstGeom prst="rect">
            <a:avLst/>
          </a:prstGeom>
        </p:spPr>
      </p:pic>
      <p:sp>
        <p:nvSpPr>
          <p:cNvPr id="7" name="Rectangle 6">
            <a:extLst>
              <a:ext uri="{FF2B5EF4-FFF2-40B4-BE49-F238E27FC236}">
                <a16:creationId xmlns:a16="http://schemas.microsoft.com/office/drawing/2014/main" id="{219B9C59-C6CD-4322-8415-704942E0D03A}"/>
              </a:ext>
            </a:extLst>
          </p:cNvPr>
          <p:cNvSpPr>
            <a:spLocks noGrp="1"/>
          </p:cNvSpPr>
          <p:nvPr/>
        </p:nvSpPr>
        <p:spPr>
          <a:xfrm>
            <a:off x="647700" y="3009900"/>
            <a:ext cx="3810000" cy="104775"/>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533" b="0">
                <a:solidFill>
                  <a:srgbClr val="565656"/>
                </a:solidFill>
                <a:latin typeface="Arial"/>
                <a:ea typeface="Arial"/>
                <a:cs typeface="Arial"/>
              </a:defRPr>
            </a:pPr>
            <a:r>
              <a:rPr sz="533" b="0">
                <a:solidFill>
                  <a:srgbClr val="565656"/>
                </a:solidFill>
                <a:latin typeface="Arial"/>
                <a:ea typeface="Arial"/>
                <a:cs typeface="Arial"/>
              </a:rPr>
              <a:t>Paper: Konfliktmenge A</a:t>
            </a:r>
          </a:p>
        </p:txBody>
      </p:sp>
      <p:sp>
        <p:nvSpPr>
          <p:cNvPr id="8" name="Rectangle 7">
            <a:extLst>
              <a:ext uri="{FF2B5EF4-FFF2-40B4-BE49-F238E27FC236}">
                <a16:creationId xmlns:a16="http://schemas.microsoft.com/office/drawing/2014/main" id="{C3E501D1-072D-417C-9E4A-5CE8AE620DD0}"/>
              </a:ext>
            </a:extLst>
          </p:cNvPr>
          <p:cNvSpPr>
            <a:spLocks noGrp="1"/>
          </p:cNvSpPr>
          <p:nvPr/>
        </p:nvSpPr>
        <p:spPr>
          <a:xfrm>
            <a:off x="4905375" y="1276350"/>
            <a:ext cx="6334125" cy="4000500"/>
          </a:xfrm>
          <a:prstGeom prst="rect">
            <a:avLst/>
          </a:prstGeom>
          <a:solidFill>
            <a:srgbClr val="F6F8FA"/>
          </a:solidFill>
          <a:ln w="9525">
            <a:solidFill>
              <a:srgbClr val="7FAAD3"/>
            </a:solidFill>
            <a:prstDash val="solid"/>
          </a:ln>
        </p:spPr>
        <p:txBody>
          <a:bodyPr/>
          <a:lstStyle/>
          <a:p>
            <a:endParaRPr lang="en-DE"/>
          </a:p>
        </p:txBody>
      </p:sp>
      <p:sp>
        <p:nvSpPr>
          <p:cNvPr id="9" name="Rectangle 8">
            <a:extLst>
              <a:ext uri="{FF2B5EF4-FFF2-40B4-BE49-F238E27FC236}">
                <a16:creationId xmlns:a16="http://schemas.microsoft.com/office/drawing/2014/main" id="{AF8537DA-D144-44E7-AF72-70F1C1B233AF}"/>
              </a:ext>
            </a:extLst>
          </p:cNvPr>
          <p:cNvSpPr>
            <a:spLocks noGrp="1"/>
          </p:cNvSpPr>
          <p:nvPr/>
        </p:nvSpPr>
        <p:spPr>
          <a:xfrm>
            <a:off x="4905375" y="1276350"/>
            <a:ext cx="6334125" cy="228600"/>
          </a:xfrm>
          <a:prstGeom prst="rect">
            <a:avLst/>
          </a:prstGeom>
          <a:solidFill>
            <a:srgbClr val="E7F0FA"/>
          </a:solidFill>
          <a:ln w="9525">
            <a:solidFill>
              <a:srgbClr val="7FAAD3"/>
            </a:solidFill>
            <a:prstDash val="solid"/>
          </a:ln>
        </p:spPr>
        <p:txBody>
          <a:bodyPr/>
          <a:lstStyle/>
          <a:p>
            <a:endParaRPr lang="en-DE"/>
          </a:p>
        </p:txBody>
      </p:sp>
      <p:sp>
        <p:nvSpPr>
          <p:cNvPr id="10" name="Rectangle 9">
            <a:extLst>
              <a:ext uri="{FF2B5EF4-FFF2-40B4-BE49-F238E27FC236}">
                <a16:creationId xmlns:a16="http://schemas.microsoft.com/office/drawing/2014/main" id="{44962CB9-DC99-4659-80F1-05399A9C6618}"/>
              </a:ext>
            </a:extLst>
          </p:cNvPr>
          <p:cNvSpPr>
            <a:spLocks noGrp="1"/>
          </p:cNvSpPr>
          <p:nvPr/>
        </p:nvSpPr>
        <p:spPr>
          <a:xfrm>
            <a:off x="5000625" y="1333500"/>
            <a:ext cx="6143625"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70" b="1">
                <a:solidFill>
                  <a:srgbClr val="00549F"/>
                </a:solidFill>
                <a:latin typeface="Arial"/>
                <a:ea typeface="Arial"/>
                <a:cs typeface="Arial"/>
              </a:defRPr>
            </a:pPr>
            <a:r>
              <a:rPr sz="570" b="1">
                <a:solidFill>
                  <a:srgbClr val="00549F"/>
                </a:solidFill>
                <a:latin typeface="Arial"/>
                <a:ea typeface="Arial"/>
                <a:cs typeface="Arial"/>
              </a:rPr>
              <a:t>phase1_baseline/src/data_parser.py:85-113</a:t>
            </a:r>
          </a:p>
        </p:txBody>
      </p:sp>
      <p:sp>
        <p:nvSpPr>
          <p:cNvPr id="11" name="Rectangle 10">
            <a:extLst>
              <a:ext uri="{FF2B5EF4-FFF2-40B4-BE49-F238E27FC236}">
                <a16:creationId xmlns:a16="http://schemas.microsoft.com/office/drawing/2014/main" id="{45829C2A-E430-4079-911A-834326F1922F}"/>
              </a:ext>
            </a:extLst>
          </p:cNvPr>
          <p:cNvSpPr>
            <a:spLocks noGrp="1"/>
          </p:cNvSpPr>
          <p:nvPr/>
        </p:nvSpPr>
        <p:spPr>
          <a:xfrm>
            <a:off x="5019675" y="1600200"/>
            <a:ext cx="6105525" cy="3600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48" b="0">
                <a:solidFill>
                  <a:srgbClr val="111827"/>
                </a:solidFill>
                <a:latin typeface="Consolas"/>
                <a:ea typeface="Consolas"/>
                <a:cs typeface="Consolas"/>
              </a:defRPr>
            </a:pPr>
            <a:r>
              <a:rPr sz="548" b="0">
                <a:solidFill>
                  <a:srgbClr val="111827"/>
                </a:solidFill>
                <a:latin typeface="Consolas"/>
                <a:ea typeface="Consolas"/>
                <a:cs typeface="Consolas"/>
              </a:rPr>
              <a:t>    def find_conflict_pairs(self) -&gt; List[Tuple[int, int, int, int, str, int, int]]:</a:t>
            </a:r>
          </a:p>
          <a:p>
            <a:pPr algn="l">
              <a:defRPr sz="548" b="0">
                <a:solidFill>
                  <a:srgbClr val="111827"/>
                </a:solidFill>
                <a:latin typeface="Consolas"/>
                <a:ea typeface="Consolas"/>
                <a:cs typeface="Consolas"/>
              </a:defRPr>
            </a:pPr>
            <a:r>
              <a:rPr sz="548" b="0">
                <a:solidFill>
                  <a:srgbClr val="111827"/>
                </a:solidFill>
                <a:latin typeface="Consolas"/>
                <a:ea typeface="Consolas"/>
                <a:cs typeface="Consolas"/>
              </a:rPr>
              <a:t>        """</a:t>
            </a:r>
          </a:p>
          <a:p>
            <a:pPr algn="l">
              <a:defRPr sz="548" b="0">
                <a:solidFill>
                  <a:srgbClr val="111827"/>
                </a:solidFill>
                <a:latin typeface="Consolas"/>
                <a:ea typeface="Consolas"/>
                <a:cs typeface="Consolas"/>
              </a:defRPr>
            </a:pPr>
            <a:r>
              <a:rPr sz="548" b="0">
                <a:solidFill>
                  <a:srgbClr val="111827"/>
                </a:solidFill>
                <a:latin typeface="Consolas"/>
                <a:ea typeface="Consolas"/>
                <a:cs typeface="Consolas"/>
              </a:rPr>
              <a:t>        Returns pairs of operations from different trains that require the same resource.</a:t>
            </a:r>
          </a:p>
          <a:p>
            <a:pPr algn="l">
              <a:defRPr sz="548" b="0">
                <a:solidFill>
                  <a:srgbClr val="111827"/>
                </a:solidFill>
                <a:latin typeface="Consolas"/>
                <a:ea typeface="Consolas"/>
                <a:cs typeface="Consolas"/>
              </a:defRPr>
            </a:pPr>
            <a:r>
              <a:rPr sz="548" b="0">
                <a:solidFill>
                  <a:srgbClr val="111827"/>
                </a:solidFill>
                <a:latin typeface="Consolas"/>
                <a:ea typeface="Consolas"/>
                <a:cs typeface="Consolas"/>
              </a:rPr>
              <a:t>        Returns tuples of (train_i, op_a, train_j, op_b, resource, lambda_i, lambda_j)</a:t>
            </a:r>
          </a:p>
          <a:p>
            <a:pPr algn="l">
              <a:defRPr sz="548" b="0">
                <a:solidFill>
                  <a:srgbClr val="111827"/>
                </a:solidFill>
                <a:latin typeface="Consolas"/>
                <a:ea typeface="Consolas"/>
                <a:cs typeface="Consolas"/>
              </a:defRPr>
            </a:pPr>
            <a:r>
              <a:rPr sz="548" b="0">
                <a:solidFill>
                  <a:srgbClr val="111827"/>
                </a:solidFill>
                <a:latin typeface="Consolas"/>
                <a:ea typeface="Consolas"/>
                <a:cs typeface="Consolas"/>
              </a:rPr>
              <a:t>        for i &lt; j to avoid duplicate symmetric pairs.</a:t>
            </a:r>
          </a:p>
          <a:p>
            <a:pPr algn="l">
              <a:defRPr sz="548" b="0">
                <a:solidFill>
                  <a:srgbClr val="111827"/>
                </a:solidFill>
                <a:latin typeface="Consolas"/>
                <a:ea typeface="Consolas"/>
                <a:cs typeface="Consolas"/>
              </a:defRPr>
            </a:pPr>
            <a:r>
              <a:rPr sz="548" b="0">
                <a:solidFill>
                  <a:srgbClr val="111827"/>
                </a:solidFill>
                <a:latin typeface="Consolas"/>
                <a:ea typeface="Consolas"/>
                <a:cs typeface="Consolas"/>
              </a:rPr>
              <a:t>        """</a:t>
            </a:r>
          </a:p>
          <a:p>
            <a:pPr algn="l">
              <a:defRPr sz="548" b="0">
                <a:solidFill>
                  <a:srgbClr val="111827"/>
                </a:solidFill>
                <a:latin typeface="Consolas"/>
                <a:ea typeface="Consolas"/>
                <a:cs typeface="Consolas"/>
              </a:defRPr>
            </a:pPr>
            <a:r>
              <a:rPr sz="548" b="0">
                <a:solidFill>
                  <a:srgbClr val="111827"/>
                </a:solidFill>
                <a:latin typeface="Consolas"/>
                <a:ea typeface="Consolas"/>
                <a:cs typeface="Consolas"/>
              </a:rPr>
              <a:t>        # Map resource -&gt; list of (train_idx, op_idx, release_time)</a:t>
            </a:r>
          </a:p>
          <a:p>
            <a:pPr algn="l">
              <a:defRPr sz="548" b="0">
                <a:solidFill>
                  <a:srgbClr val="111827"/>
                </a:solidFill>
                <a:latin typeface="Consolas"/>
                <a:ea typeface="Consolas"/>
                <a:cs typeface="Consolas"/>
              </a:defRPr>
            </a:pPr>
            <a:r>
              <a:rPr sz="548" b="0">
                <a:solidFill>
                  <a:srgbClr val="111827"/>
                </a:solidFill>
                <a:latin typeface="Consolas"/>
                <a:ea typeface="Consolas"/>
                <a:cs typeface="Consolas"/>
              </a:rPr>
              <a:t>        res_map = {}</a:t>
            </a:r>
          </a:p>
          <a:p>
            <a:pPr algn="l">
              <a:defRPr sz="548" b="0">
                <a:solidFill>
                  <a:srgbClr val="111827"/>
                </a:solidFill>
                <a:latin typeface="Consolas"/>
                <a:ea typeface="Consolas"/>
                <a:cs typeface="Consolas"/>
              </a:defRPr>
            </a:pPr>
            <a:r>
              <a:rPr sz="548" b="0">
                <a:solidFill>
                  <a:srgbClr val="111827"/>
                </a:solidFill>
                <a:latin typeface="Consolas"/>
                <a:ea typeface="Consolas"/>
                <a:cs typeface="Consolas"/>
              </a:rPr>
              <a:t>        for t in self.trains:</a:t>
            </a:r>
          </a:p>
          <a:p>
            <a:pPr algn="l">
              <a:defRPr sz="548" b="0">
                <a:solidFill>
                  <a:srgbClr val="111827"/>
                </a:solidFill>
                <a:latin typeface="Consolas"/>
                <a:ea typeface="Consolas"/>
                <a:cs typeface="Consolas"/>
              </a:defRPr>
            </a:pPr>
            <a:r>
              <a:rPr sz="548" b="0">
                <a:solidFill>
                  <a:srgbClr val="111827"/>
                </a:solidFill>
                <a:latin typeface="Consolas"/>
                <a:ea typeface="Consolas"/>
                <a:cs typeface="Consolas"/>
              </a:rPr>
              <a:t>            for op in t.operations:</a:t>
            </a:r>
          </a:p>
          <a:p>
            <a:pPr algn="l">
              <a:defRPr sz="548" b="0">
                <a:solidFill>
                  <a:srgbClr val="111827"/>
                </a:solidFill>
                <a:latin typeface="Consolas"/>
                <a:ea typeface="Consolas"/>
                <a:cs typeface="Consolas"/>
              </a:defRPr>
            </a:pPr>
            <a:r>
              <a:rPr sz="548" b="0">
                <a:solidFill>
                  <a:srgbClr val="111827"/>
                </a:solidFill>
                <a:latin typeface="Consolas"/>
                <a:ea typeface="Consolas"/>
                <a:cs typeface="Consolas"/>
              </a:rPr>
              <a:t>                for req in op.resources:</a:t>
            </a:r>
          </a:p>
          <a:p>
            <a:pPr algn="l">
              <a:defRPr sz="548" b="0">
                <a:solidFill>
                  <a:srgbClr val="111827"/>
                </a:solidFill>
                <a:latin typeface="Consolas"/>
                <a:ea typeface="Consolas"/>
                <a:cs typeface="Consolas"/>
              </a:defRPr>
            </a:pPr>
            <a:r>
              <a:rPr sz="548" b="0">
                <a:solidFill>
                  <a:srgbClr val="111827"/>
                </a:solidFill>
                <a:latin typeface="Consolas"/>
                <a:ea typeface="Consolas"/>
                <a:cs typeface="Consolas"/>
              </a:rPr>
              <a:t>                    if req.resource not in res_map:</a:t>
            </a:r>
          </a:p>
          <a:p>
            <a:pPr algn="l">
              <a:defRPr sz="548" b="0">
                <a:solidFill>
                  <a:srgbClr val="111827"/>
                </a:solidFill>
                <a:latin typeface="Consolas"/>
                <a:ea typeface="Consolas"/>
                <a:cs typeface="Consolas"/>
              </a:defRPr>
            </a:pPr>
            <a:r>
              <a:rPr sz="548" b="0">
                <a:solidFill>
                  <a:srgbClr val="111827"/>
                </a:solidFill>
                <a:latin typeface="Consolas"/>
                <a:ea typeface="Consolas"/>
                <a:cs typeface="Consolas"/>
              </a:rPr>
              <a:t>                        res_map[req.resource] = []</a:t>
            </a:r>
          </a:p>
          <a:p>
            <a:pPr algn="l">
              <a:defRPr sz="548" b="0">
                <a:solidFill>
                  <a:srgbClr val="111827"/>
                </a:solidFill>
                <a:latin typeface="Consolas"/>
                <a:ea typeface="Consolas"/>
                <a:cs typeface="Consolas"/>
              </a:defRPr>
            </a:pPr>
            <a:r>
              <a:rPr sz="548" b="0">
                <a:solidFill>
                  <a:srgbClr val="111827"/>
                </a:solidFill>
                <a:latin typeface="Consolas"/>
                <a:ea typeface="Consolas"/>
                <a:cs typeface="Consolas"/>
              </a:rPr>
              <a:t>                    res_map[req.resource].append((t.id, op.id, req.release_time))</a:t>
            </a:r>
          </a:p>
          <a:p>
            <a:pPr algn="l">
              <a:defRPr sz="548" b="0">
                <a:solidFill>
                  <a:srgbClr val="111827"/>
                </a:solidFill>
                <a:latin typeface="Consolas"/>
                <a:ea typeface="Consolas"/>
                <a:cs typeface="Consolas"/>
              </a:defRPr>
            </a:pPr>
            <a:r>
              <a:rPr sz="548" b="0">
                <a:solidFill>
                  <a:srgbClr val="111827"/>
                </a:solidFill>
                <a:latin typeface="Consolas"/>
                <a:ea typeface="Consolas"/>
                <a:cs typeface="Consolas"/>
              </a:rPr>
              <a:t>                    </a:t>
            </a:r>
          </a:p>
          <a:p>
            <a:pPr algn="l">
              <a:defRPr sz="548" b="0">
                <a:solidFill>
                  <a:srgbClr val="111827"/>
                </a:solidFill>
                <a:latin typeface="Consolas"/>
                <a:ea typeface="Consolas"/>
                <a:cs typeface="Consolas"/>
              </a:defRPr>
            </a:pPr>
            <a:r>
              <a:rPr sz="548" b="0">
                <a:solidFill>
                  <a:srgbClr val="111827"/>
                </a:solidFill>
                <a:latin typeface="Consolas"/>
                <a:ea typeface="Consolas"/>
                <a:cs typeface="Consolas"/>
              </a:rPr>
              <a:t>        conflicts = []</a:t>
            </a:r>
          </a:p>
          <a:p>
            <a:pPr algn="l">
              <a:defRPr sz="548" b="0">
                <a:solidFill>
                  <a:srgbClr val="111827"/>
                </a:solidFill>
                <a:latin typeface="Consolas"/>
                <a:ea typeface="Consolas"/>
                <a:cs typeface="Consolas"/>
              </a:defRPr>
            </a:pPr>
            <a:r>
              <a:rPr sz="548" b="0">
                <a:solidFill>
                  <a:srgbClr val="111827"/>
                </a:solidFill>
                <a:latin typeface="Consolas"/>
                <a:ea typeface="Consolas"/>
                <a:cs typeface="Consolas"/>
              </a:rPr>
              <a:t>        for res, usage_list in res_map.items():</a:t>
            </a:r>
          </a:p>
          <a:p>
            <a:pPr algn="l">
              <a:defRPr sz="548" b="0">
                <a:solidFill>
                  <a:srgbClr val="111827"/>
                </a:solidFill>
                <a:latin typeface="Consolas"/>
                <a:ea typeface="Consolas"/>
                <a:cs typeface="Consolas"/>
              </a:defRPr>
            </a:pPr>
            <a:r>
              <a:rPr sz="548" b="0">
                <a:solidFill>
                  <a:srgbClr val="111827"/>
                </a:solidFill>
                <a:latin typeface="Consolas"/>
                <a:ea typeface="Consolas"/>
                <a:cs typeface="Consolas"/>
              </a:rPr>
              <a:t>            for idx1 in range(len(usage_list)):</a:t>
            </a:r>
          </a:p>
          <a:p>
            <a:pPr algn="l">
              <a:defRPr sz="548" b="0">
                <a:solidFill>
                  <a:srgbClr val="111827"/>
                </a:solidFill>
                <a:latin typeface="Consolas"/>
                <a:ea typeface="Consolas"/>
                <a:cs typeface="Consolas"/>
              </a:defRPr>
            </a:pPr>
            <a:r>
              <a:rPr sz="548" b="0">
                <a:solidFill>
                  <a:srgbClr val="111827"/>
                </a:solidFill>
                <a:latin typeface="Consolas"/>
                <a:ea typeface="Consolas"/>
                <a:cs typeface="Consolas"/>
              </a:rPr>
              <a:t>                for idx2 in range(idx1 + 1, len(usage_list)):</a:t>
            </a:r>
          </a:p>
          <a:p>
            <a:pPr algn="l">
              <a:defRPr sz="548" b="0">
                <a:solidFill>
                  <a:srgbClr val="111827"/>
                </a:solidFill>
                <a:latin typeface="Consolas"/>
                <a:ea typeface="Consolas"/>
                <a:cs typeface="Consolas"/>
              </a:defRPr>
            </a:pPr>
            <a:r>
              <a:rPr sz="548" b="0">
                <a:solidFill>
                  <a:srgbClr val="111827"/>
                </a:solidFill>
                <a:latin typeface="Consolas"/>
                <a:ea typeface="Consolas"/>
                <a:cs typeface="Consolas"/>
              </a:rPr>
              <a:t>                    t1, op1, l1 = usage_list[idx1]</a:t>
            </a:r>
          </a:p>
          <a:p>
            <a:pPr algn="l">
              <a:defRPr sz="548" b="0">
                <a:solidFill>
                  <a:srgbClr val="111827"/>
                </a:solidFill>
                <a:latin typeface="Consolas"/>
                <a:ea typeface="Consolas"/>
                <a:cs typeface="Consolas"/>
              </a:defRPr>
            </a:pPr>
            <a:r>
              <a:rPr sz="548" b="0">
                <a:solidFill>
                  <a:srgbClr val="111827"/>
                </a:solidFill>
                <a:latin typeface="Consolas"/>
                <a:ea typeface="Consolas"/>
                <a:cs typeface="Consolas"/>
              </a:rPr>
              <a:t>                    t2, op2, l2 = usage_list[idx2]</a:t>
            </a:r>
          </a:p>
          <a:p>
            <a:pPr algn="l">
              <a:defRPr sz="548" b="0">
                <a:solidFill>
                  <a:srgbClr val="111827"/>
                </a:solidFill>
                <a:latin typeface="Consolas"/>
                <a:ea typeface="Consolas"/>
                <a:cs typeface="Consolas"/>
              </a:defRPr>
            </a:pPr>
            <a:r>
              <a:rPr sz="548" b="0">
                <a:solidFill>
                  <a:srgbClr val="111827"/>
                </a:solidFill>
                <a:latin typeface="Consolas"/>
                <a:ea typeface="Consolas"/>
                <a:cs typeface="Consolas"/>
              </a:rPr>
              <a:t>                    if t1 != t2:</a:t>
            </a:r>
          </a:p>
          <a:p>
            <a:pPr algn="l">
              <a:defRPr sz="548" b="0">
                <a:solidFill>
                  <a:srgbClr val="111827"/>
                </a:solidFill>
                <a:latin typeface="Consolas"/>
                <a:ea typeface="Consolas"/>
                <a:cs typeface="Consolas"/>
              </a:defRPr>
            </a:pPr>
            <a:r>
              <a:rPr sz="548" b="0">
                <a:solidFill>
                  <a:srgbClr val="111827"/>
                </a:solidFill>
                <a:latin typeface="Consolas"/>
                <a:ea typeface="Consolas"/>
                <a:cs typeface="Consolas"/>
              </a:rPr>
              <a:t>                        # ensure t1 &lt; t2 for consistent ordering</a:t>
            </a:r>
          </a:p>
          <a:p>
            <a:pPr algn="l">
              <a:defRPr sz="548" b="0">
                <a:solidFill>
                  <a:srgbClr val="111827"/>
                </a:solidFill>
                <a:latin typeface="Consolas"/>
                <a:ea typeface="Consolas"/>
                <a:cs typeface="Consolas"/>
              </a:defRPr>
            </a:pPr>
            <a:r>
              <a:rPr sz="548" b="0">
                <a:solidFill>
                  <a:srgbClr val="111827"/>
                </a:solidFill>
                <a:latin typeface="Consolas"/>
                <a:ea typeface="Consolas"/>
                <a:cs typeface="Consolas"/>
              </a:rPr>
              <a:t>                        if t1 &gt; t2:</a:t>
            </a:r>
          </a:p>
          <a:p>
            <a:pPr algn="l">
              <a:defRPr sz="548" b="0">
                <a:solidFill>
                  <a:srgbClr val="111827"/>
                </a:solidFill>
                <a:latin typeface="Consolas"/>
                <a:ea typeface="Consolas"/>
                <a:cs typeface="Consolas"/>
              </a:defRPr>
            </a:pPr>
            <a:r>
              <a:rPr sz="548" b="0">
                <a:solidFill>
                  <a:srgbClr val="111827"/>
                </a:solidFill>
                <a:latin typeface="Consolas"/>
                <a:ea typeface="Consolas"/>
                <a:cs typeface="Consolas"/>
              </a:rPr>
              <a:t>                            conflicts.append((t2, op2, t1, op1, res, l2, l1))</a:t>
            </a:r>
          </a:p>
          <a:p>
            <a:pPr algn="l">
              <a:defRPr sz="548" b="0">
                <a:solidFill>
                  <a:srgbClr val="111827"/>
                </a:solidFill>
                <a:latin typeface="Consolas"/>
                <a:ea typeface="Consolas"/>
                <a:cs typeface="Consolas"/>
              </a:defRPr>
            </a:pPr>
            <a:r>
              <a:rPr sz="548" b="0">
                <a:solidFill>
                  <a:srgbClr val="111827"/>
                </a:solidFill>
                <a:latin typeface="Consolas"/>
                <a:ea typeface="Consolas"/>
                <a:cs typeface="Consolas"/>
              </a:rPr>
              <a:t>                        else:</a:t>
            </a:r>
          </a:p>
          <a:p>
            <a:pPr algn="l">
              <a:defRPr sz="548" b="0">
                <a:solidFill>
                  <a:srgbClr val="111827"/>
                </a:solidFill>
                <a:latin typeface="Consolas"/>
                <a:ea typeface="Consolas"/>
                <a:cs typeface="Consolas"/>
              </a:defRPr>
            </a:pPr>
            <a:r>
              <a:rPr sz="548" b="0">
                <a:solidFill>
                  <a:srgbClr val="111827"/>
                </a:solidFill>
                <a:latin typeface="Consolas"/>
                <a:ea typeface="Consolas"/>
                <a:cs typeface="Consolas"/>
              </a:rPr>
              <a:t>                            conflicts.append((t1, op1, t2, op2, res, l1, l2))</a:t>
            </a:r>
          </a:p>
          <a:p>
            <a:pPr algn="l">
              <a:defRPr sz="548" b="0">
                <a:solidFill>
                  <a:srgbClr val="111827"/>
                </a:solidFill>
                <a:latin typeface="Consolas"/>
                <a:ea typeface="Consolas"/>
                <a:cs typeface="Consolas"/>
              </a:defRPr>
            </a:pPr>
            <a:r>
              <a:rPr sz="548" b="0">
                <a:solidFill>
                  <a:srgbClr val="111827"/>
                </a:solidFill>
                <a:latin typeface="Consolas"/>
                <a:ea typeface="Consolas"/>
                <a:cs typeface="Consolas"/>
              </a:rPr>
              <a:t>        </a:t>
            </a:r>
          </a:p>
          <a:p>
            <a:pPr algn="l">
              <a:defRPr sz="548" b="0">
                <a:solidFill>
                  <a:srgbClr val="111827"/>
                </a:solidFill>
                <a:latin typeface="Consolas"/>
                <a:ea typeface="Consolas"/>
                <a:cs typeface="Consolas"/>
              </a:defRPr>
            </a:pPr>
            <a:r>
              <a:rPr sz="548" b="0">
                <a:solidFill>
                  <a:srgbClr val="111827"/>
                </a:solidFill>
                <a:latin typeface="Consolas"/>
                <a:ea typeface="Consolas"/>
                <a:cs typeface="Consolas"/>
              </a:rPr>
              <a:t>        return list(set(conflicts))</a:t>
            </a:r>
          </a:p>
        </p:txBody>
      </p:sp>
      <p:sp>
        <p:nvSpPr>
          <p:cNvPr id="12" name="Rectangle 11">
            <a:extLst>
              <a:ext uri="{FF2B5EF4-FFF2-40B4-BE49-F238E27FC236}">
                <a16:creationId xmlns:a16="http://schemas.microsoft.com/office/drawing/2014/main" id="{0F4B7BBF-126C-4980-A466-A191731BEB24}"/>
              </a:ext>
            </a:extLst>
          </p:cNvPr>
          <p:cNvSpPr>
            <a:spLocks noGrp="1"/>
          </p:cNvSpPr>
          <p:nvPr/>
        </p:nvSpPr>
        <p:spPr>
          <a:xfrm>
            <a:off x="552450" y="3476625"/>
            <a:ext cx="4000500" cy="952500"/>
          </a:xfrm>
          <a:prstGeom prst="rect">
            <a:avLst/>
          </a:prstGeom>
          <a:solidFill>
            <a:srgbClr val="FFFFFF"/>
          </a:solidFill>
          <a:ln w="10478">
            <a:solidFill>
              <a:srgbClr val="00549F"/>
            </a:solidFill>
            <a:prstDash val="solid"/>
          </a:ln>
        </p:spPr>
        <p:txBody>
          <a:bodyPr/>
          <a:lstStyle/>
          <a:p>
            <a:endParaRPr lang="en-DE"/>
          </a:p>
        </p:txBody>
      </p:sp>
      <p:sp>
        <p:nvSpPr>
          <p:cNvPr id="13" name="Rectangle 12">
            <a:extLst>
              <a:ext uri="{FF2B5EF4-FFF2-40B4-BE49-F238E27FC236}">
                <a16:creationId xmlns:a16="http://schemas.microsoft.com/office/drawing/2014/main" id="{BCB4D059-0A07-4E1C-94CE-D82B01C4D7F2}"/>
              </a:ext>
            </a:extLst>
          </p:cNvPr>
          <p:cNvSpPr>
            <a:spLocks noGrp="1"/>
          </p:cNvSpPr>
          <p:nvPr/>
        </p:nvSpPr>
        <p:spPr>
          <a:xfrm>
            <a:off x="666750" y="3571875"/>
            <a:ext cx="37719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1">
                <a:solidFill>
                  <a:srgbClr val="00549F"/>
                </a:solidFill>
                <a:latin typeface="Arial"/>
                <a:ea typeface="Arial"/>
                <a:cs typeface="Arial"/>
              </a:defRPr>
            </a:pPr>
            <a:r>
              <a:rPr sz="563" b="1">
                <a:solidFill>
                  <a:srgbClr val="00549F"/>
                </a:solidFill>
                <a:latin typeface="Arial"/>
                <a:ea typeface="Arial"/>
                <a:cs typeface="Arial"/>
              </a:rPr>
              <a:t>SPRECHPUNKT</a:t>
            </a:r>
          </a:p>
        </p:txBody>
      </p:sp>
      <p:sp>
        <p:nvSpPr>
          <p:cNvPr id="14" name="Rectangle 13">
            <a:extLst>
              <a:ext uri="{FF2B5EF4-FFF2-40B4-BE49-F238E27FC236}">
                <a16:creationId xmlns:a16="http://schemas.microsoft.com/office/drawing/2014/main" id="{38E54566-8231-4816-A7A0-74A7D8D37A0A}"/>
              </a:ext>
            </a:extLst>
          </p:cNvPr>
          <p:cNvSpPr>
            <a:spLocks noGrp="1"/>
          </p:cNvSpPr>
          <p:nvPr/>
        </p:nvSpPr>
        <p:spPr>
          <a:xfrm>
            <a:off x="666750" y="3762375"/>
            <a:ext cx="37719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73" b="0">
                <a:solidFill>
                  <a:srgbClr val="111111"/>
                </a:solidFill>
                <a:latin typeface="Arial"/>
                <a:ea typeface="Arial"/>
                <a:cs typeface="Arial"/>
              </a:defRPr>
            </a:pPr>
            <a:r>
              <a:rPr sz="773" b="0">
                <a:solidFill>
                  <a:srgbClr val="111111"/>
                </a:solidFill>
                <a:latin typeface="Arial"/>
                <a:ea typeface="Arial"/>
                <a:cs typeface="Arial"/>
              </a:rPr>
              <a:t>Zwei Operationen stehen im Konflikt, wenn sie von verschiedenen Zügen kommen und dieselbe Ressource brauchen.</a:t>
            </a:r>
          </a:p>
        </p:txBody>
      </p:sp>
      <p:sp>
        <p:nvSpPr>
          <p:cNvPr id="15" name="Rectangle 14">
            <a:extLst>
              <a:ext uri="{FF2B5EF4-FFF2-40B4-BE49-F238E27FC236}">
                <a16:creationId xmlns:a16="http://schemas.microsoft.com/office/drawing/2014/main" id="{098D0161-C28F-4113-80A0-9D5DB6300DCF}"/>
              </a:ext>
            </a:extLst>
          </p:cNvPr>
          <p:cNvSpPr>
            <a:spLocks noGrp="1"/>
          </p:cNvSpPr>
          <p:nvPr/>
        </p:nvSpPr>
        <p:spPr>
          <a:xfrm>
            <a:off x="552450" y="4591050"/>
            <a:ext cx="4000500" cy="685800"/>
          </a:xfrm>
          <a:prstGeom prst="rect">
            <a:avLst/>
          </a:prstGeom>
          <a:solidFill>
            <a:srgbClr val="FFFFFF"/>
          </a:solidFill>
          <a:ln w="10478">
            <a:solidFill>
              <a:srgbClr val="00A6B2"/>
            </a:solidFill>
            <a:prstDash val="solid"/>
          </a:ln>
        </p:spPr>
        <p:txBody>
          <a:bodyPr/>
          <a:lstStyle/>
          <a:p>
            <a:endParaRPr lang="en-DE"/>
          </a:p>
        </p:txBody>
      </p:sp>
      <p:sp>
        <p:nvSpPr>
          <p:cNvPr id="16" name="Rectangle 15">
            <a:extLst>
              <a:ext uri="{FF2B5EF4-FFF2-40B4-BE49-F238E27FC236}">
                <a16:creationId xmlns:a16="http://schemas.microsoft.com/office/drawing/2014/main" id="{67734EB8-522D-4B6E-8123-A09A9CB162FC}"/>
              </a:ext>
            </a:extLst>
          </p:cNvPr>
          <p:cNvSpPr>
            <a:spLocks noGrp="1"/>
          </p:cNvSpPr>
          <p:nvPr/>
        </p:nvSpPr>
        <p:spPr>
          <a:xfrm>
            <a:off x="666750" y="4686300"/>
            <a:ext cx="37719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1">
                <a:solidFill>
                  <a:srgbClr val="00A6B2"/>
                </a:solidFill>
                <a:latin typeface="Arial"/>
                <a:ea typeface="Arial"/>
                <a:cs typeface="Arial"/>
              </a:defRPr>
            </a:pPr>
            <a:r>
              <a:rPr sz="563" b="1">
                <a:solidFill>
                  <a:srgbClr val="00A6B2"/>
                </a:solidFill>
                <a:latin typeface="Arial"/>
                <a:ea typeface="Arial"/>
                <a:cs typeface="Arial"/>
              </a:rPr>
              <a:t>WICHTIG</a:t>
            </a:r>
          </a:p>
        </p:txBody>
      </p:sp>
      <p:sp>
        <p:nvSpPr>
          <p:cNvPr id="17" name="Rectangle 16">
            <a:extLst>
              <a:ext uri="{FF2B5EF4-FFF2-40B4-BE49-F238E27FC236}">
                <a16:creationId xmlns:a16="http://schemas.microsoft.com/office/drawing/2014/main" id="{15BB23CF-CB4C-4444-B17C-A9A4B7033348}"/>
              </a:ext>
            </a:extLst>
          </p:cNvPr>
          <p:cNvSpPr>
            <a:spLocks noGrp="1"/>
          </p:cNvSpPr>
          <p:nvPr/>
        </p:nvSpPr>
        <p:spPr>
          <a:xfrm>
            <a:off x="666750" y="4876800"/>
            <a:ext cx="37719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73" b="0">
                <a:solidFill>
                  <a:srgbClr val="111111"/>
                </a:solidFill>
                <a:latin typeface="Arial"/>
                <a:ea typeface="Arial"/>
                <a:cs typeface="Arial"/>
              </a:defRPr>
            </a:pPr>
            <a:r>
              <a:rPr sz="773" b="0">
                <a:solidFill>
                  <a:srgbClr val="111111"/>
                </a:solidFill>
                <a:latin typeface="Arial"/>
                <a:ea typeface="Arial"/>
                <a:cs typeface="Arial"/>
              </a:rPr>
              <a:t>Diese Folie ist noch nicht die Optimierungsbedingung, sondern die Vorverarbeitung der Konfliktpaare.</a:t>
            </a:r>
          </a:p>
        </p:txBody>
      </p:sp>
      <p:sp>
        <p:nvSpPr>
          <p:cNvPr id="18" name="Rectangle 17">
            <a:extLst>
              <a:ext uri="{FF2B5EF4-FFF2-40B4-BE49-F238E27FC236}">
                <a16:creationId xmlns:a16="http://schemas.microsoft.com/office/drawing/2014/main" id="{7F8ED3A4-BCFF-4BB2-9895-E753807FCE0E}"/>
              </a:ext>
            </a:extLst>
          </p:cNvPr>
          <p:cNvSpPr>
            <a:spLocks noGrp="1"/>
          </p:cNvSpPr>
          <p:nvPr/>
        </p:nvSpPr>
        <p:spPr>
          <a:xfrm>
            <a:off x="381000" y="5753100"/>
            <a:ext cx="11430000" cy="11430"/>
          </a:xfrm>
          <a:prstGeom prst="rect">
            <a:avLst/>
          </a:prstGeom>
          <a:solidFill>
            <a:srgbClr val="222222"/>
          </a:solidFill>
          <a:ln w="0">
            <a:solidFill>
              <a:srgbClr val="000000">
                <a:alpha val="0"/>
              </a:srgbClr>
            </a:solidFill>
            <a:prstDash val="solid"/>
          </a:ln>
        </p:spPr>
        <p:txBody>
          <a:bodyPr/>
          <a:lstStyle/>
          <a:p>
            <a:endParaRPr lang="en-DE"/>
          </a:p>
        </p:txBody>
      </p:sp>
      <p:sp>
        <p:nvSpPr>
          <p:cNvPr id="19" name="Rectangle 18">
            <a:extLst>
              <a:ext uri="{FF2B5EF4-FFF2-40B4-BE49-F238E27FC236}">
                <a16:creationId xmlns:a16="http://schemas.microsoft.com/office/drawing/2014/main" id="{DFEC8927-D9FF-4E05-80D2-9223BB6FD29F}"/>
              </a:ext>
            </a:extLst>
          </p:cNvPr>
          <p:cNvSpPr>
            <a:spLocks noGrp="1"/>
          </p:cNvSpPr>
          <p:nvPr/>
        </p:nvSpPr>
        <p:spPr>
          <a:xfrm>
            <a:off x="381000" y="592455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00549F"/>
                </a:solidFill>
                <a:latin typeface="Arial"/>
                <a:ea typeface="Arial"/>
                <a:cs typeface="Arial"/>
              </a:defRPr>
            </a:pPr>
            <a:r>
              <a:rPr sz="675" b="0">
                <a:solidFill>
                  <a:srgbClr val="00549F"/>
                </a:solidFill>
                <a:latin typeface="Arial"/>
                <a:ea typeface="Arial"/>
                <a:cs typeface="Arial"/>
              </a:rPr>
              <a:t>8</a:t>
            </a:r>
          </a:p>
        </p:txBody>
      </p:sp>
      <p:sp>
        <p:nvSpPr>
          <p:cNvPr id="20" name="Rectangle 19">
            <a:extLst>
              <a:ext uri="{FF2B5EF4-FFF2-40B4-BE49-F238E27FC236}">
                <a16:creationId xmlns:a16="http://schemas.microsoft.com/office/drawing/2014/main" id="{DE5BE72D-39C8-4E78-9158-314FEFBF9BA3}"/>
              </a:ext>
            </a:extLst>
          </p:cNvPr>
          <p:cNvSpPr>
            <a:spLocks noGrp="1"/>
          </p:cNvSpPr>
          <p:nvPr/>
        </p:nvSpPr>
        <p:spPr>
          <a:xfrm>
            <a:off x="1123950" y="5924550"/>
            <a:ext cx="6572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0" b="0">
                <a:solidFill>
                  <a:srgbClr val="00549F"/>
                </a:solidFill>
                <a:latin typeface="Arial"/>
                <a:ea typeface="Arial"/>
                <a:cs typeface="Arial"/>
              </a:defRPr>
            </a:pPr>
            <a:r>
              <a:rPr sz="630" b="0">
                <a:solidFill>
                  <a:srgbClr val="00549F"/>
                </a:solidFill>
                <a:latin typeface="Arial"/>
                <a:ea typeface="Arial"/>
                <a:cs typeface="Arial"/>
              </a:rPr>
              <a:t>Train Dispatching | DISPLIB mathematical model to code | Baseline MIP and Extended CP-SAT</a:t>
            </a:r>
          </a:p>
        </p:txBody>
      </p:sp>
      <p:pic>
        <p:nvPicPr>
          <p:cNvPr id="21" name="Picture 20"/>
          <p:cNvPicPr>
            <a:picLocks noChangeAspect="1"/>
          </p:cNvPicPr>
          <p:nvPr/>
        </p:nvPicPr>
        <p:blipFill>
          <a:blip r:embed="rId4"/>
          <a:stretch/>
        </p:blipFill>
        <p:spPr>
          <a:xfrm>
            <a:off x="8107690" y="5829300"/>
            <a:ext cx="2929870" cy="819150"/>
          </a:xfrm>
          <a:prstGeom prst="rect">
            <a:avLst/>
          </a:prstGeom>
        </p:spPr>
      </p:pic>
    </p:spTree>
    <p:extLst>
      <p:ext uri="{BB962C8B-B14F-4D97-AF65-F5344CB8AC3E}">
        <p14:creationId xmlns:p14="http://schemas.microsoft.com/office/powerpoint/2010/main" val="1786749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E0E017DF-EFE9-4654-91DE-BD4C1F3F1C40}"/>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en-DE"/>
          </a:p>
        </p:txBody>
      </p:sp>
      <p:sp>
        <p:nvSpPr>
          <p:cNvPr id="2" name="Rectangle 1">
            <a:extLst>
              <a:ext uri="{FF2B5EF4-FFF2-40B4-BE49-F238E27FC236}">
                <a16:creationId xmlns:a16="http://schemas.microsoft.com/office/drawing/2014/main" id="{0F9183E8-3C61-4D5F-BED7-9E6454F628FF}"/>
              </a:ext>
            </a:extLst>
          </p:cNvPr>
          <p:cNvSpPr>
            <a:spLocks noGrp="1"/>
          </p:cNvSpPr>
          <p:nvPr/>
        </p:nvSpPr>
        <p:spPr>
          <a:xfrm>
            <a:off x="514350" y="285750"/>
            <a:ext cx="106680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00549F"/>
                </a:solidFill>
                <a:latin typeface="Arial"/>
                <a:ea typeface="Arial"/>
                <a:cs typeface="Arial"/>
              </a:defRPr>
            </a:pPr>
            <a:r>
              <a:rPr sz="1800" b="1">
                <a:solidFill>
                  <a:srgbClr val="00549F"/>
                </a:solidFill>
                <a:latin typeface="Arial"/>
                <a:ea typeface="Arial"/>
                <a:cs typeface="Arial"/>
              </a:rPr>
              <a:t>Ressourcenkonflikte im MIP: paarweise Reihenfolge mit `z_ab` und `z_ba`.</a:t>
            </a:r>
          </a:p>
        </p:txBody>
      </p:sp>
      <p:sp>
        <p:nvSpPr>
          <p:cNvPr id="3" name="Rectangle 2">
            <a:extLst>
              <a:ext uri="{FF2B5EF4-FFF2-40B4-BE49-F238E27FC236}">
                <a16:creationId xmlns:a16="http://schemas.microsoft.com/office/drawing/2014/main" id="{AF20C810-8249-4F72-B969-49E07530F5B8}"/>
              </a:ext>
            </a:extLst>
          </p:cNvPr>
          <p:cNvSpPr>
            <a:spLocks noGrp="1"/>
          </p:cNvSpPr>
          <p:nvPr/>
        </p:nvSpPr>
        <p:spPr>
          <a:xfrm>
            <a:off x="514350" y="704850"/>
            <a:ext cx="9715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10" b="0">
                <a:solidFill>
                  <a:srgbClr val="565656"/>
                </a:solidFill>
                <a:latin typeface="Arial"/>
                <a:ea typeface="Arial"/>
                <a:cs typeface="Arial"/>
              </a:defRPr>
            </a:pPr>
            <a:r>
              <a:rPr sz="810" b="0">
                <a:solidFill>
                  <a:srgbClr val="565656"/>
                </a:solidFill>
                <a:latin typeface="Arial"/>
                <a:ea typeface="Arial"/>
                <a:cs typeface="Arial"/>
              </a:rPr>
              <a:t>Gurobi braucht hier explizite binäre Hilfsvariablen für die Reihenfolge.</a:t>
            </a:r>
          </a:p>
        </p:txBody>
      </p:sp>
      <p:sp>
        <p:nvSpPr>
          <p:cNvPr id="4" name="Rectangle 3">
            <a:extLst>
              <a:ext uri="{FF2B5EF4-FFF2-40B4-BE49-F238E27FC236}">
                <a16:creationId xmlns:a16="http://schemas.microsoft.com/office/drawing/2014/main" id="{18A8CF3D-E14C-4441-9A63-2E95252DEFDD}"/>
              </a:ext>
            </a:extLst>
          </p:cNvPr>
          <p:cNvSpPr>
            <a:spLocks noGrp="1"/>
          </p:cNvSpPr>
          <p:nvPr/>
        </p:nvSpPr>
        <p:spPr>
          <a:xfrm>
            <a:off x="514350" y="971550"/>
            <a:ext cx="10763250" cy="11430"/>
          </a:xfrm>
          <a:prstGeom prst="rect">
            <a:avLst/>
          </a:prstGeom>
          <a:solidFill>
            <a:srgbClr val="222222"/>
          </a:solidFill>
          <a:ln w="0">
            <a:solidFill>
              <a:srgbClr val="000000">
                <a:alpha val="0"/>
              </a:srgbClr>
            </a:solidFill>
            <a:prstDash val="solid"/>
          </a:ln>
        </p:spPr>
        <p:txBody>
          <a:bodyPr/>
          <a:lstStyle/>
          <a:p>
            <a:endParaRPr lang="en-DE"/>
          </a:p>
        </p:txBody>
      </p:sp>
      <p:sp>
        <p:nvSpPr>
          <p:cNvPr id="5" name="Rectangle 4">
            <a:extLst>
              <a:ext uri="{FF2B5EF4-FFF2-40B4-BE49-F238E27FC236}">
                <a16:creationId xmlns:a16="http://schemas.microsoft.com/office/drawing/2014/main" id="{7FDBBE0C-4382-44CD-8FCD-44FA1D94439F}"/>
              </a:ext>
            </a:extLst>
          </p:cNvPr>
          <p:cNvSpPr>
            <a:spLocks noGrp="1"/>
          </p:cNvSpPr>
          <p:nvPr/>
        </p:nvSpPr>
        <p:spPr>
          <a:xfrm>
            <a:off x="552450" y="1276350"/>
            <a:ext cx="3810000" cy="2286000"/>
          </a:xfrm>
          <a:prstGeom prst="rect">
            <a:avLst/>
          </a:prstGeom>
          <a:solidFill>
            <a:srgbClr val="FFFFFF"/>
          </a:solidFill>
          <a:ln w="9525">
            <a:solidFill>
              <a:srgbClr val="D7DDE4"/>
            </a:solidFill>
            <a:prstDash val="solid"/>
          </a:ln>
        </p:spPr>
        <p:txBody>
          <a:bodyPr/>
          <a:lstStyle/>
          <a:p>
            <a:endParaRPr lang="en-DE"/>
          </a:p>
        </p:txBody>
      </p:sp>
      <p:pic>
        <p:nvPicPr>
          <p:cNvPr id="6" name="Picture 5"/>
          <p:cNvPicPr>
            <a:picLocks noChangeAspect="1"/>
          </p:cNvPicPr>
          <p:nvPr/>
        </p:nvPicPr>
        <p:blipFill>
          <a:blip r:embed="rId3"/>
          <a:stretch/>
        </p:blipFill>
        <p:spPr>
          <a:xfrm>
            <a:off x="647700" y="1933392"/>
            <a:ext cx="3619500" cy="876665"/>
          </a:xfrm>
          <a:prstGeom prst="rect">
            <a:avLst/>
          </a:prstGeom>
        </p:spPr>
      </p:pic>
      <p:sp>
        <p:nvSpPr>
          <p:cNvPr id="7" name="Rectangle 6">
            <a:extLst>
              <a:ext uri="{FF2B5EF4-FFF2-40B4-BE49-F238E27FC236}">
                <a16:creationId xmlns:a16="http://schemas.microsoft.com/office/drawing/2014/main" id="{B413FEFC-3590-4161-850C-C17D069AC082}"/>
              </a:ext>
            </a:extLst>
          </p:cNvPr>
          <p:cNvSpPr>
            <a:spLocks noGrp="1"/>
          </p:cNvSpPr>
          <p:nvPr/>
        </p:nvSpPr>
        <p:spPr>
          <a:xfrm>
            <a:off x="647700" y="3390900"/>
            <a:ext cx="3619500" cy="104775"/>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533" b="0">
                <a:solidFill>
                  <a:srgbClr val="565656"/>
                </a:solidFill>
                <a:latin typeface="Arial"/>
                <a:ea typeface="Arial"/>
                <a:cs typeface="Arial"/>
              </a:defRPr>
            </a:pPr>
            <a:r>
              <a:rPr sz="533" b="0">
                <a:solidFill>
                  <a:srgbClr val="565656"/>
                </a:solidFill>
                <a:latin typeface="Arial"/>
                <a:ea typeface="Arial"/>
                <a:cs typeface="Arial"/>
              </a:rPr>
              <a:t>Paper Gl. (2): Ressourcenreihenfolge</a:t>
            </a:r>
          </a:p>
        </p:txBody>
      </p:sp>
      <p:sp>
        <p:nvSpPr>
          <p:cNvPr id="8" name="Rectangle 7">
            <a:extLst>
              <a:ext uri="{FF2B5EF4-FFF2-40B4-BE49-F238E27FC236}">
                <a16:creationId xmlns:a16="http://schemas.microsoft.com/office/drawing/2014/main" id="{C5265A98-D92B-49A9-92AB-ACF06C515383}"/>
              </a:ext>
            </a:extLst>
          </p:cNvPr>
          <p:cNvSpPr>
            <a:spLocks noGrp="1"/>
          </p:cNvSpPr>
          <p:nvPr/>
        </p:nvSpPr>
        <p:spPr>
          <a:xfrm>
            <a:off x="4714875" y="1276350"/>
            <a:ext cx="6572250" cy="1352550"/>
          </a:xfrm>
          <a:prstGeom prst="rect">
            <a:avLst/>
          </a:prstGeom>
          <a:solidFill>
            <a:srgbClr val="F6F8FA"/>
          </a:solidFill>
          <a:ln w="9525">
            <a:solidFill>
              <a:srgbClr val="7FAAD3"/>
            </a:solidFill>
            <a:prstDash val="solid"/>
          </a:ln>
        </p:spPr>
        <p:txBody>
          <a:bodyPr/>
          <a:lstStyle/>
          <a:p>
            <a:endParaRPr lang="en-DE"/>
          </a:p>
        </p:txBody>
      </p:sp>
      <p:sp>
        <p:nvSpPr>
          <p:cNvPr id="9" name="Rectangle 8">
            <a:extLst>
              <a:ext uri="{FF2B5EF4-FFF2-40B4-BE49-F238E27FC236}">
                <a16:creationId xmlns:a16="http://schemas.microsoft.com/office/drawing/2014/main" id="{144BE397-E47E-44DB-BCDF-6AB8203765C1}"/>
              </a:ext>
            </a:extLst>
          </p:cNvPr>
          <p:cNvSpPr>
            <a:spLocks noGrp="1"/>
          </p:cNvSpPr>
          <p:nvPr/>
        </p:nvSpPr>
        <p:spPr>
          <a:xfrm>
            <a:off x="4714875" y="1276350"/>
            <a:ext cx="6572250" cy="228600"/>
          </a:xfrm>
          <a:prstGeom prst="rect">
            <a:avLst/>
          </a:prstGeom>
          <a:solidFill>
            <a:srgbClr val="E7F0FA"/>
          </a:solidFill>
          <a:ln w="9525">
            <a:solidFill>
              <a:srgbClr val="7FAAD3"/>
            </a:solidFill>
            <a:prstDash val="solid"/>
          </a:ln>
        </p:spPr>
        <p:txBody>
          <a:bodyPr/>
          <a:lstStyle/>
          <a:p>
            <a:endParaRPr lang="en-DE"/>
          </a:p>
        </p:txBody>
      </p:sp>
      <p:sp>
        <p:nvSpPr>
          <p:cNvPr id="10" name="Rectangle 9">
            <a:extLst>
              <a:ext uri="{FF2B5EF4-FFF2-40B4-BE49-F238E27FC236}">
                <a16:creationId xmlns:a16="http://schemas.microsoft.com/office/drawing/2014/main" id="{5AB296FD-F843-45E0-9683-59DC684D2687}"/>
              </a:ext>
            </a:extLst>
          </p:cNvPr>
          <p:cNvSpPr>
            <a:spLocks noGrp="1"/>
          </p:cNvSpPr>
          <p:nvPr/>
        </p:nvSpPr>
        <p:spPr>
          <a:xfrm>
            <a:off x="4810125" y="1333500"/>
            <a:ext cx="638175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70" b="1">
                <a:solidFill>
                  <a:srgbClr val="00549F"/>
                </a:solidFill>
                <a:latin typeface="Arial"/>
                <a:ea typeface="Arial"/>
                <a:cs typeface="Arial"/>
              </a:defRPr>
            </a:pPr>
            <a:r>
              <a:rPr sz="570" b="1">
                <a:solidFill>
                  <a:srgbClr val="00549F"/>
                </a:solidFill>
                <a:latin typeface="Arial"/>
                <a:ea typeface="Arial"/>
                <a:cs typeface="Arial"/>
              </a:rPr>
              <a:t>mip_model.py:43-53</a:t>
            </a:r>
          </a:p>
        </p:txBody>
      </p:sp>
      <p:sp>
        <p:nvSpPr>
          <p:cNvPr id="11" name="Rectangle 10">
            <a:extLst>
              <a:ext uri="{FF2B5EF4-FFF2-40B4-BE49-F238E27FC236}">
                <a16:creationId xmlns:a16="http://schemas.microsoft.com/office/drawing/2014/main" id="{44EB81FD-6006-46D6-B16A-1EE58E26BC70}"/>
              </a:ext>
            </a:extLst>
          </p:cNvPr>
          <p:cNvSpPr>
            <a:spLocks noGrp="1"/>
          </p:cNvSpPr>
          <p:nvPr/>
        </p:nvSpPr>
        <p:spPr>
          <a:xfrm>
            <a:off x="4829175" y="1600200"/>
            <a:ext cx="6343650" cy="952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70" b="0">
                <a:solidFill>
                  <a:srgbClr val="111827"/>
                </a:solidFill>
                <a:latin typeface="Consolas"/>
                <a:ea typeface="Consolas"/>
                <a:cs typeface="Consolas"/>
              </a:defRPr>
            </a:pPr>
            <a:r>
              <a:rPr sz="570" b="0">
                <a:solidFill>
                  <a:srgbClr val="111827"/>
                </a:solidFill>
                <a:latin typeface="Consolas"/>
                <a:ea typeface="Consolas"/>
                <a:cs typeface="Consolas"/>
              </a:rPr>
              <a:t>        # Resource Precedence z variables</a:t>
            </a:r>
          </a:p>
          <a:p>
            <a:pPr algn="l">
              <a:defRPr sz="570" b="0">
                <a:solidFill>
                  <a:srgbClr val="111827"/>
                </a:solidFill>
                <a:latin typeface="Consolas"/>
                <a:ea typeface="Consolas"/>
                <a:cs typeface="Consolas"/>
              </a:defRPr>
            </a:pPr>
            <a:r>
              <a:rPr sz="570" b="0">
                <a:solidFill>
                  <a:srgbClr val="111827"/>
                </a:solidFill>
                <a:latin typeface="Consolas"/>
                <a:ea typeface="Consolas"/>
                <a:cs typeface="Consolas"/>
              </a:rPr>
              <a:t>        conflicts = self.instance.find_conflict_pairs()</a:t>
            </a:r>
          </a:p>
          <a:p>
            <a:pPr algn="l">
              <a:defRPr sz="570" b="0">
                <a:solidFill>
                  <a:srgbClr val="111827"/>
                </a:solidFill>
                <a:latin typeface="Consolas"/>
                <a:ea typeface="Consolas"/>
                <a:cs typeface="Consolas"/>
              </a:defRPr>
            </a:pPr>
            <a:r>
              <a:rPr sz="570" b="0">
                <a:solidFill>
                  <a:srgbClr val="111827"/>
                </a:solidFill>
                <a:latin typeface="Consolas"/>
                <a:ea typeface="Consolas"/>
                <a:cs typeface="Consolas"/>
              </a:rPr>
              <a:t>        for c in conflicts:</a:t>
            </a:r>
          </a:p>
          <a:p>
            <a:pPr algn="l">
              <a:defRPr sz="570" b="0">
                <a:solidFill>
                  <a:srgbClr val="111827"/>
                </a:solidFill>
                <a:latin typeface="Consolas"/>
                <a:ea typeface="Consolas"/>
                <a:cs typeface="Consolas"/>
              </a:defRPr>
            </a:pPr>
            <a:r>
              <a:rPr sz="570" b="0">
                <a:solidFill>
                  <a:srgbClr val="111827"/>
                </a:solidFill>
                <a:latin typeface="Consolas"/>
                <a:ea typeface="Consolas"/>
                <a:cs typeface="Consolas"/>
              </a:rPr>
              <a:t>            t1, o1, t2, o2, res, l1, l2 = c</a:t>
            </a:r>
          </a:p>
          <a:p>
            <a:pPr algn="l">
              <a:defRPr sz="570" b="0">
                <a:solidFill>
                  <a:srgbClr val="111827"/>
                </a:solidFill>
                <a:latin typeface="Consolas"/>
                <a:ea typeface="Consolas"/>
                <a:cs typeface="Consolas"/>
              </a:defRPr>
            </a:pPr>
            <a:r>
              <a:rPr sz="570" b="0">
                <a:solidFill>
                  <a:srgbClr val="111827"/>
                </a:solidFill>
                <a:latin typeface="Consolas"/>
                <a:ea typeface="Consolas"/>
                <a:cs typeface="Consolas"/>
              </a:rPr>
              <a:t>            # z_ab (1 if t1_o1 precedes t2_o2)</a:t>
            </a:r>
          </a:p>
          <a:p>
            <a:pPr algn="l">
              <a:defRPr sz="570" b="0">
                <a:solidFill>
                  <a:srgbClr val="111827"/>
                </a:solidFill>
                <a:latin typeface="Consolas"/>
                <a:ea typeface="Consolas"/>
                <a:cs typeface="Consolas"/>
              </a:defRPr>
            </a:pPr>
            <a:r>
              <a:rPr sz="570" b="0">
                <a:solidFill>
                  <a:srgbClr val="111827"/>
                </a:solidFill>
                <a:latin typeface="Consolas"/>
                <a:ea typeface="Consolas"/>
                <a:cs typeface="Consolas"/>
              </a:rPr>
              <a:t>            z_ab = self.model.addVar(vtype=GRB.BINARY, name=f"z_{t1}_{o1}_{t2}_{o2}_r_{res}")</a:t>
            </a:r>
          </a:p>
          <a:p>
            <a:pPr algn="l">
              <a:defRPr sz="570" b="0">
                <a:solidFill>
                  <a:srgbClr val="111827"/>
                </a:solidFill>
                <a:latin typeface="Consolas"/>
                <a:ea typeface="Consolas"/>
                <a:cs typeface="Consolas"/>
              </a:defRPr>
            </a:pPr>
            <a:r>
              <a:rPr sz="570" b="0">
                <a:solidFill>
                  <a:srgbClr val="111827"/>
                </a:solidFill>
                <a:latin typeface="Consolas"/>
                <a:ea typeface="Consolas"/>
                <a:cs typeface="Consolas"/>
              </a:rPr>
              <a:t>            # z_ba (1 if t2_o2 precedes t1_o1)</a:t>
            </a:r>
          </a:p>
          <a:p>
            <a:pPr algn="l">
              <a:defRPr sz="570" b="0">
                <a:solidFill>
                  <a:srgbClr val="111827"/>
                </a:solidFill>
                <a:latin typeface="Consolas"/>
                <a:ea typeface="Consolas"/>
                <a:cs typeface="Consolas"/>
              </a:defRPr>
            </a:pPr>
            <a:r>
              <a:rPr sz="570" b="0">
                <a:solidFill>
                  <a:srgbClr val="111827"/>
                </a:solidFill>
                <a:latin typeface="Consolas"/>
                <a:ea typeface="Consolas"/>
                <a:cs typeface="Consolas"/>
              </a:rPr>
              <a:t>            z_ba = self.model.addVar(vtype=GRB.BINARY, name=f"z_{t2}_{o2}_{t1}_{o1}_r_{res}")</a:t>
            </a:r>
          </a:p>
          <a:p>
            <a:pPr algn="l">
              <a:defRPr sz="570" b="0">
                <a:solidFill>
                  <a:srgbClr val="111827"/>
                </a:solidFill>
                <a:latin typeface="Consolas"/>
                <a:ea typeface="Consolas"/>
                <a:cs typeface="Consolas"/>
              </a:defRPr>
            </a:pPr>
            <a:r>
              <a:rPr sz="570" b="0">
                <a:solidFill>
                  <a:srgbClr val="111827"/>
                </a:solidFill>
                <a:latin typeface="Consolas"/>
                <a:ea typeface="Consolas"/>
                <a:cs typeface="Consolas"/>
              </a:rPr>
              <a:t>            </a:t>
            </a:r>
          </a:p>
          <a:p>
            <a:pPr algn="l">
              <a:defRPr sz="570" b="0">
                <a:solidFill>
                  <a:srgbClr val="111827"/>
                </a:solidFill>
                <a:latin typeface="Consolas"/>
                <a:ea typeface="Consolas"/>
                <a:cs typeface="Consolas"/>
              </a:defRPr>
            </a:pPr>
            <a:r>
              <a:rPr sz="570" b="0">
                <a:solidFill>
                  <a:srgbClr val="111827"/>
                </a:solidFill>
                <a:latin typeface="Consolas"/>
                <a:ea typeface="Consolas"/>
                <a:cs typeface="Consolas"/>
              </a:rPr>
              <a:t>            self.z[t1, o1, t2, o2, res] = z_ab</a:t>
            </a:r>
          </a:p>
          <a:p>
            <a:pPr algn="l">
              <a:defRPr sz="570" b="0">
                <a:solidFill>
                  <a:srgbClr val="111827"/>
                </a:solidFill>
                <a:latin typeface="Consolas"/>
                <a:ea typeface="Consolas"/>
                <a:cs typeface="Consolas"/>
              </a:defRPr>
            </a:pPr>
            <a:r>
              <a:rPr sz="570" b="0">
                <a:solidFill>
                  <a:srgbClr val="111827"/>
                </a:solidFill>
                <a:latin typeface="Consolas"/>
                <a:ea typeface="Consolas"/>
                <a:cs typeface="Consolas"/>
              </a:rPr>
              <a:t>            self.z_ba[t1, o1, t2, o2, res] = z_ba</a:t>
            </a:r>
          </a:p>
        </p:txBody>
      </p:sp>
      <p:sp>
        <p:nvSpPr>
          <p:cNvPr id="12" name="Rectangle 11">
            <a:extLst>
              <a:ext uri="{FF2B5EF4-FFF2-40B4-BE49-F238E27FC236}">
                <a16:creationId xmlns:a16="http://schemas.microsoft.com/office/drawing/2014/main" id="{49F54646-4208-47C8-BA6C-BC2ABFA60390}"/>
              </a:ext>
            </a:extLst>
          </p:cNvPr>
          <p:cNvSpPr>
            <a:spLocks noGrp="1"/>
          </p:cNvSpPr>
          <p:nvPr/>
        </p:nvSpPr>
        <p:spPr>
          <a:xfrm>
            <a:off x="4714875" y="2800350"/>
            <a:ext cx="6572250" cy="2495550"/>
          </a:xfrm>
          <a:prstGeom prst="rect">
            <a:avLst/>
          </a:prstGeom>
          <a:solidFill>
            <a:srgbClr val="F6F8FA"/>
          </a:solidFill>
          <a:ln w="9525">
            <a:solidFill>
              <a:srgbClr val="7FAAD3"/>
            </a:solidFill>
            <a:prstDash val="solid"/>
          </a:ln>
        </p:spPr>
        <p:txBody>
          <a:bodyPr/>
          <a:lstStyle/>
          <a:p>
            <a:endParaRPr lang="en-DE"/>
          </a:p>
        </p:txBody>
      </p:sp>
      <p:sp>
        <p:nvSpPr>
          <p:cNvPr id="13" name="Rectangle 12">
            <a:extLst>
              <a:ext uri="{FF2B5EF4-FFF2-40B4-BE49-F238E27FC236}">
                <a16:creationId xmlns:a16="http://schemas.microsoft.com/office/drawing/2014/main" id="{171BC750-76F2-4D82-BF07-9F1DB11BA314}"/>
              </a:ext>
            </a:extLst>
          </p:cNvPr>
          <p:cNvSpPr>
            <a:spLocks noGrp="1"/>
          </p:cNvSpPr>
          <p:nvPr/>
        </p:nvSpPr>
        <p:spPr>
          <a:xfrm>
            <a:off x="4714875" y="2800350"/>
            <a:ext cx="6572250" cy="228600"/>
          </a:xfrm>
          <a:prstGeom prst="rect">
            <a:avLst/>
          </a:prstGeom>
          <a:solidFill>
            <a:srgbClr val="E7F0FA"/>
          </a:solidFill>
          <a:ln w="9525">
            <a:solidFill>
              <a:srgbClr val="7FAAD3"/>
            </a:solidFill>
            <a:prstDash val="solid"/>
          </a:ln>
        </p:spPr>
        <p:txBody>
          <a:bodyPr/>
          <a:lstStyle/>
          <a:p>
            <a:endParaRPr lang="en-DE"/>
          </a:p>
        </p:txBody>
      </p:sp>
      <p:sp>
        <p:nvSpPr>
          <p:cNvPr id="14" name="Rectangle 13">
            <a:extLst>
              <a:ext uri="{FF2B5EF4-FFF2-40B4-BE49-F238E27FC236}">
                <a16:creationId xmlns:a16="http://schemas.microsoft.com/office/drawing/2014/main" id="{41A840DC-6D34-48EF-ACB5-56EA77EDF206}"/>
              </a:ext>
            </a:extLst>
          </p:cNvPr>
          <p:cNvSpPr>
            <a:spLocks noGrp="1"/>
          </p:cNvSpPr>
          <p:nvPr/>
        </p:nvSpPr>
        <p:spPr>
          <a:xfrm>
            <a:off x="4810125" y="2857500"/>
            <a:ext cx="638175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70" b="1">
                <a:solidFill>
                  <a:srgbClr val="00549F"/>
                </a:solidFill>
                <a:latin typeface="Arial"/>
                <a:ea typeface="Arial"/>
                <a:cs typeface="Arial"/>
              </a:defRPr>
            </a:pPr>
            <a:r>
              <a:rPr sz="570" b="1">
                <a:solidFill>
                  <a:srgbClr val="00549F"/>
                </a:solidFill>
                <a:latin typeface="Arial"/>
                <a:ea typeface="Arial"/>
                <a:cs typeface="Arial"/>
              </a:rPr>
              <a:t>mip_model.py:125-148</a:t>
            </a:r>
          </a:p>
        </p:txBody>
      </p:sp>
      <p:sp>
        <p:nvSpPr>
          <p:cNvPr id="15" name="Rectangle 14">
            <a:extLst>
              <a:ext uri="{FF2B5EF4-FFF2-40B4-BE49-F238E27FC236}">
                <a16:creationId xmlns:a16="http://schemas.microsoft.com/office/drawing/2014/main" id="{5E692AF8-AD4E-42A2-B4F3-1C7D11430831}"/>
              </a:ext>
            </a:extLst>
          </p:cNvPr>
          <p:cNvSpPr>
            <a:spLocks noGrp="1"/>
          </p:cNvSpPr>
          <p:nvPr/>
        </p:nvSpPr>
        <p:spPr>
          <a:xfrm>
            <a:off x="4829175" y="3124200"/>
            <a:ext cx="6343650" cy="2095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self.model.addConstr(x_a &gt;= z_ab + z_ba)</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self.model.addConstr(x_b &gt;= z_ab + z_ba)</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self.model.addConstr(x_a + x_b - 1 &lt;= z_ab + z_ba)</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op_a = self.instance.trains[t1].get_operation(o1)</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op_b = self.instance.trains[t2].get_operation(o2)</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for succ_a in op_a.successors:</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 1. Physical time-blocking: If Train 1 goes before Train 2 (z_ab==1), Train 1 must fully </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 reach its next step (succ_a) before Train 2's timeline is allowed to start.</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self.model.addConstr((z_ab == 1) &gt;&gt; (self.t[t1, succ_a] - self.t[t2, o2] &lt;= -l1))</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 2. Cycle-crushing sequence: If Train 1 goes before Train 2, the topological rank (u-value)</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 assigned to Train 1's next step must be strictly smaller than Train 2's start. This breaks cyclic swapping.</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 --&gt; Corresponds to DISPLIB Paper Eq (3) lower part: u_{a_bar}^i - u_b^j &lt;= -1 + M(1 - z_{a,b}^{i,j})</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     (u_{a_bar}^i &lt;==&gt; self.u[t1, succ_a],  u_b^j &lt;==&gt; self.u[t2, o2], z_{a,b}^{i,j} &lt;==&gt; z_ab)</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self.model.addConstr((z_ab == 1) &gt;&gt; (self.u[t1, succ_a] - self.u[t2, o2] &lt;= -1))</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for succ_b in op_b.successors:</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 Same blocking logic mirrored if Train 2 goes before Train 1 (z_ba==1).</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 --&gt; Corresponds to DISPLIB Paper Eq (3) lower part: u_{b_bar}^j - u_a^i &lt;= -1 + M(1 - z_{b,a}^{i,j})</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     (u_{b_bar}^j &lt;==&gt; self.u[t2, succ_b], u_a^i &lt;==&gt; self.u[t1, o1], z_{b,a}^{i,j} &lt;==&gt; z_ba)</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self.model.addConstr((z_ba == 1) &gt;&gt; (self.t[t2, succ_b] - self.t[t1, o1] &lt;= -l2))</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self.model.addConstr((z_ba == 1) &gt;&gt; (self.u[t2, succ_b] - self.u[t1, o1] &lt;= -1))</a:t>
            </a:r>
          </a:p>
        </p:txBody>
      </p:sp>
      <p:sp>
        <p:nvSpPr>
          <p:cNvPr id="16" name="Rectangle 15">
            <a:extLst>
              <a:ext uri="{FF2B5EF4-FFF2-40B4-BE49-F238E27FC236}">
                <a16:creationId xmlns:a16="http://schemas.microsoft.com/office/drawing/2014/main" id="{7B4284CB-F856-4F19-A80C-29FCC2E41995}"/>
              </a:ext>
            </a:extLst>
          </p:cNvPr>
          <p:cNvSpPr>
            <a:spLocks noGrp="1"/>
          </p:cNvSpPr>
          <p:nvPr/>
        </p:nvSpPr>
        <p:spPr>
          <a:xfrm>
            <a:off x="552450" y="3829050"/>
            <a:ext cx="3810000" cy="857250"/>
          </a:xfrm>
          <a:prstGeom prst="rect">
            <a:avLst/>
          </a:prstGeom>
          <a:solidFill>
            <a:srgbClr val="FFFFFF"/>
          </a:solidFill>
          <a:ln w="10478">
            <a:solidFill>
              <a:srgbClr val="00549F"/>
            </a:solidFill>
            <a:prstDash val="solid"/>
          </a:ln>
        </p:spPr>
        <p:txBody>
          <a:bodyPr/>
          <a:lstStyle/>
          <a:p>
            <a:endParaRPr lang="en-DE"/>
          </a:p>
        </p:txBody>
      </p:sp>
      <p:sp>
        <p:nvSpPr>
          <p:cNvPr id="17" name="Rectangle 16">
            <a:extLst>
              <a:ext uri="{FF2B5EF4-FFF2-40B4-BE49-F238E27FC236}">
                <a16:creationId xmlns:a16="http://schemas.microsoft.com/office/drawing/2014/main" id="{8EDDE341-F2FB-46A1-BC45-403EFCFBB67C}"/>
              </a:ext>
            </a:extLst>
          </p:cNvPr>
          <p:cNvSpPr>
            <a:spLocks noGrp="1"/>
          </p:cNvSpPr>
          <p:nvPr/>
        </p:nvSpPr>
        <p:spPr>
          <a:xfrm>
            <a:off x="666750" y="3924300"/>
            <a:ext cx="35814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1">
                <a:solidFill>
                  <a:srgbClr val="00549F"/>
                </a:solidFill>
                <a:latin typeface="Arial"/>
                <a:ea typeface="Arial"/>
                <a:cs typeface="Arial"/>
              </a:defRPr>
            </a:pPr>
            <a:r>
              <a:rPr sz="563" b="1">
                <a:solidFill>
                  <a:srgbClr val="00549F"/>
                </a:solidFill>
                <a:latin typeface="Arial"/>
                <a:ea typeface="Arial"/>
                <a:cs typeface="Arial"/>
              </a:rPr>
              <a:t>WARUM SO?</a:t>
            </a:r>
          </a:p>
        </p:txBody>
      </p:sp>
      <p:sp>
        <p:nvSpPr>
          <p:cNvPr id="18" name="Rectangle 17">
            <a:extLst>
              <a:ext uri="{FF2B5EF4-FFF2-40B4-BE49-F238E27FC236}">
                <a16:creationId xmlns:a16="http://schemas.microsoft.com/office/drawing/2014/main" id="{9C858A36-AB86-46A1-8FF0-0D53D444E9EB}"/>
              </a:ext>
            </a:extLst>
          </p:cNvPr>
          <p:cNvSpPr>
            <a:spLocks noGrp="1"/>
          </p:cNvSpPr>
          <p:nvPr/>
        </p:nvSpPr>
        <p:spPr>
          <a:xfrm>
            <a:off x="666750" y="4114800"/>
            <a:ext cx="35814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73" b="0">
                <a:solidFill>
                  <a:srgbClr val="111111"/>
                </a:solidFill>
                <a:latin typeface="Arial"/>
                <a:ea typeface="Arial"/>
                <a:cs typeface="Arial"/>
              </a:defRPr>
            </a:pPr>
            <a:r>
              <a:rPr sz="773" b="0">
                <a:solidFill>
                  <a:srgbClr val="111111"/>
                </a:solidFill>
                <a:latin typeface="Arial"/>
                <a:ea typeface="Arial"/>
                <a:cs typeface="Arial"/>
              </a:rPr>
              <a:t>Im MIP muss ich entscheiden: A vor B oder B vor A. Genau dafür stehen `z_ab` und `z_ba`.</a:t>
            </a:r>
          </a:p>
        </p:txBody>
      </p:sp>
      <p:sp>
        <p:nvSpPr>
          <p:cNvPr id="19" name="Rectangle 18">
            <a:extLst>
              <a:ext uri="{FF2B5EF4-FFF2-40B4-BE49-F238E27FC236}">
                <a16:creationId xmlns:a16="http://schemas.microsoft.com/office/drawing/2014/main" id="{B51C0233-AA03-4852-9BFC-C0601FD8D829}"/>
              </a:ext>
            </a:extLst>
          </p:cNvPr>
          <p:cNvSpPr>
            <a:spLocks noGrp="1"/>
          </p:cNvSpPr>
          <p:nvPr/>
        </p:nvSpPr>
        <p:spPr>
          <a:xfrm>
            <a:off x="381000" y="5753100"/>
            <a:ext cx="11430000" cy="11430"/>
          </a:xfrm>
          <a:prstGeom prst="rect">
            <a:avLst/>
          </a:prstGeom>
          <a:solidFill>
            <a:srgbClr val="222222"/>
          </a:solidFill>
          <a:ln w="0">
            <a:solidFill>
              <a:srgbClr val="000000">
                <a:alpha val="0"/>
              </a:srgbClr>
            </a:solidFill>
            <a:prstDash val="solid"/>
          </a:ln>
        </p:spPr>
        <p:txBody>
          <a:bodyPr/>
          <a:lstStyle/>
          <a:p>
            <a:endParaRPr lang="en-DE"/>
          </a:p>
        </p:txBody>
      </p:sp>
      <p:sp>
        <p:nvSpPr>
          <p:cNvPr id="20" name="Rectangle 19">
            <a:extLst>
              <a:ext uri="{FF2B5EF4-FFF2-40B4-BE49-F238E27FC236}">
                <a16:creationId xmlns:a16="http://schemas.microsoft.com/office/drawing/2014/main" id="{448DC514-2EC0-4748-A639-F0DC1BC457CE}"/>
              </a:ext>
            </a:extLst>
          </p:cNvPr>
          <p:cNvSpPr>
            <a:spLocks noGrp="1"/>
          </p:cNvSpPr>
          <p:nvPr/>
        </p:nvSpPr>
        <p:spPr>
          <a:xfrm>
            <a:off x="381000" y="592455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00549F"/>
                </a:solidFill>
                <a:latin typeface="Arial"/>
                <a:ea typeface="Arial"/>
                <a:cs typeface="Arial"/>
              </a:defRPr>
            </a:pPr>
            <a:r>
              <a:rPr sz="675" b="0">
                <a:solidFill>
                  <a:srgbClr val="00549F"/>
                </a:solidFill>
                <a:latin typeface="Arial"/>
                <a:ea typeface="Arial"/>
                <a:cs typeface="Arial"/>
              </a:rPr>
              <a:t>9</a:t>
            </a:r>
          </a:p>
        </p:txBody>
      </p:sp>
      <p:sp>
        <p:nvSpPr>
          <p:cNvPr id="21" name="Rectangle 20">
            <a:extLst>
              <a:ext uri="{FF2B5EF4-FFF2-40B4-BE49-F238E27FC236}">
                <a16:creationId xmlns:a16="http://schemas.microsoft.com/office/drawing/2014/main" id="{494DED27-B066-41E4-B866-B848FCCF39B3}"/>
              </a:ext>
            </a:extLst>
          </p:cNvPr>
          <p:cNvSpPr>
            <a:spLocks noGrp="1"/>
          </p:cNvSpPr>
          <p:nvPr/>
        </p:nvSpPr>
        <p:spPr>
          <a:xfrm>
            <a:off x="1123950" y="5924550"/>
            <a:ext cx="6572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0" b="0">
                <a:solidFill>
                  <a:srgbClr val="00549F"/>
                </a:solidFill>
                <a:latin typeface="Arial"/>
                <a:ea typeface="Arial"/>
                <a:cs typeface="Arial"/>
              </a:defRPr>
            </a:pPr>
            <a:r>
              <a:rPr sz="630" b="0">
                <a:solidFill>
                  <a:srgbClr val="00549F"/>
                </a:solidFill>
                <a:latin typeface="Arial"/>
                <a:ea typeface="Arial"/>
                <a:cs typeface="Arial"/>
              </a:rPr>
              <a:t>Train Dispatching | DISPLIB mathematical model to code | Baseline MIP and Extended CP-SAT</a:t>
            </a:r>
          </a:p>
        </p:txBody>
      </p:sp>
      <p:pic>
        <p:nvPicPr>
          <p:cNvPr id="22" name="Picture 21"/>
          <p:cNvPicPr>
            <a:picLocks noChangeAspect="1"/>
          </p:cNvPicPr>
          <p:nvPr/>
        </p:nvPicPr>
        <p:blipFill>
          <a:blip r:embed="rId4"/>
          <a:stretch/>
        </p:blipFill>
        <p:spPr>
          <a:xfrm>
            <a:off x="8107690" y="5829300"/>
            <a:ext cx="2929870" cy="819150"/>
          </a:xfrm>
          <a:prstGeom prst="rect">
            <a:avLst/>
          </a:prstGeom>
        </p:spPr>
      </p:pic>
    </p:spTree>
    <p:extLst>
      <p:ext uri="{BB962C8B-B14F-4D97-AF65-F5344CB8AC3E}">
        <p14:creationId xmlns:p14="http://schemas.microsoft.com/office/powerpoint/2010/main" val="560677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5D403C63-30A8-4832-87D7-A7250A43648A}"/>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en-DE"/>
          </a:p>
        </p:txBody>
      </p:sp>
      <p:sp>
        <p:nvSpPr>
          <p:cNvPr id="2" name="Rectangle 1">
            <a:extLst>
              <a:ext uri="{FF2B5EF4-FFF2-40B4-BE49-F238E27FC236}">
                <a16:creationId xmlns:a16="http://schemas.microsoft.com/office/drawing/2014/main" id="{48ECE1A7-7803-4345-ABCC-BFCC7DB59FB7}"/>
              </a:ext>
            </a:extLst>
          </p:cNvPr>
          <p:cNvSpPr>
            <a:spLocks noGrp="1"/>
          </p:cNvSpPr>
          <p:nvPr/>
        </p:nvSpPr>
        <p:spPr>
          <a:xfrm>
            <a:off x="514350" y="285750"/>
            <a:ext cx="106680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00549F"/>
                </a:solidFill>
                <a:latin typeface="Arial"/>
                <a:ea typeface="Arial"/>
                <a:cs typeface="Arial"/>
              </a:defRPr>
            </a:pPr>
            <a:r>
              <a:rPr sz="1800" b="1">
                <a:solidFill>
                  <a:srgbClr val="00549F"/>
                </a:solidFill>
                <a:latin typeface="Arial"/>
                <a:ea typeface="Arial"/>
                <a:cs typeface="Arial"/>
              </a:rPr>
              <a:t>Ressourcenkonflikte in CP-SAT: Intervalle und `AddNoOverlap`.</a:t>
            </a:r>
          </a:p>
        </p:txBody>
      </p:sp>
      <p:sp>
        <p:nvSpPr>
          <p:cNvPr id="3" name="Rectangle 2">
            <a:extLst>
              <a:ext uri="{FF2B5EF4-FFF2-40B4-BE49-F238E27FC236}">
                <a16:creationId xmlns:a16="http://schemas.microsoft.com/office/drawing/2014/main" id="{0A1DB2BF-E683-4397-AEDA-8C21D2B25A00}"/>
              </a:ext>
            </a:extLst>
          </p:cNvPr>
          <p:cNvSpPr>
            <a:spLocks noGrp="1"/>
          </p:cNvSpPr>
          <p:nvPr/>
        </p:nvSpPr>
        <p:spPr>
          <a:xfrm>
            <a:off x="514350" y="704850"/>
            <a:ext cx="9715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10" b="0">
                <a:solidFill>
                  <a:srgbClr val="565656"/>
                </a:solidFill>
                <a:latin typeface="Arial"/>
                <a:ea typeface="Arial"/>
                <a:cs typeface="Arial"/>
              </a:defRPr>
            </a:pPr>
            <a:r>
              <a:rPr sz="810" b="0">
                <a:solidFill>
                  <a:srgbClr val="565656"/>
                </a:solidFill>
                <a:latin typeface="Arial"/>
                <a:ea typeface="Arial"/>
                <a:cs typeface="Arial"/>
              </a:rPr>
              <a:t>Dasselbe Ziel wird hier als Scheduling-Constraint formuliert.</a:t>
            </a:r>
          </a:p>
        </p:txBody>
      </p:sp>
      <p:sp>
        <p:nvSpPr>
          <p:cNvPr id="4" name="Rectangle 3">
            <a:extLst>
              <a:ext uri="{FF2B5EF4-FFF2-40B4-BE49-F238E27FC236}">
                <a16:creationId xmlns:a16="http://schemas.microsoft.com/office/drawing/2014/main" id="{D820E153-1EA8-4790-B7DD-9F64A3D9C5DE}"/>
              </a:ext>
            </a:extLst>
          </p:cNvPr>
          <p:cNvSpPr>
            <a:spLocks noGrp="1"/>
          </p:cNvSpPr>
          <p:nvPr/>
        </p:nvSpPr>
        <p:spPr>
          <a:xfrm>
            <a:off x="514350" y="971550"/>
            <a:ext cx="10763250" cy="11430"/>
          </a:xfrm>
          <a:prstGeom prst="rect">
            <a:avLst/>
          </a:prstGeom>
          <a:solidFill>
            <a:srgbClr val="222222"/>
          </a:solidFill>
          <a:ln w="0">
            <a:solidFill>
              <a:srgbClr val="000000">
                <a:alpha val="0"/>
              </a:srgbClr>
            </a:solidFill>
            <a:prstDash val="solid"/>
          </a:ln>
        </p:spPr>
        <p:txBody>
          <a:bodyPr/>
          <a:lstStyle/>
          <a:p>
            <a:endParaRPr lang="en-DE"/>
          </a:p>
        </p:txBody>
      </p:sp>
      <p:sp>
        <p:nvSpPr>
          <p:cNvPr id="5" name="Rectangle 4">
            <a:extLst>
              <a:ext uri="{FF2B5EF4-FFF2-40B4-BE49-F238E27FC236}">
                <a16:creationId xmlns:a16="http://schemas.microsoft.com/office/drawing/2014/main" id="{D0F6C828-CDF9-4364-A5DE-D18C62703E0B}"/>
              </a:ext>
            </a:extLst>
          </p:cNvPr>
          <p:cNvSpPr>
            <a:spLocks noGrp="1"/>
          </p:cNvSpPr>
          <p:nvPr/>
        </p:nvSpPr>
        <p:spPr>
          <a:xfrm>
            <a:off x="552450" y="1276350"/>
            <a:ext cx="3810000" cy="2286000"/>
          </a:xfrm>
          <a:prstGeom prst="rect">
            <a:avLst/>
          </a:prstGeom>
          <a:solidFill>
            <a:srgbClr val="FFFFFF"/>
          </a:solidFill>
          <a:ln w="9525">
            <a:solidFill>
              <a:srgbClr val="D7DDE4"/>
            </a:solidFill>
            <a:prstDash val="solid"/>
          </a:ln>
        </p:spPr>
        <p:txBody>
          <a:bodyPr/>
          <a:lstStyle/>
          <a:p>
            <a:endParaRPr lang="en-DE"/>
          </a:p>
        </p:txBody>
      </p:sp>
      <p:pic>
        <p:nvPicPr>
          <p:cNvPr id="6" name="Picture 5"/>
          <p:cNvPicPr>
            <a:picLocks noChangeAspect="1"/>
          </p:cNvPicPr>
          <p:nvPr/>
        </p:nvPicPr>
        <p:blipFill>
          <a:blip r:embed="rId3"/>
          <a:stretch/>
        </p:blipFill>
        <p:spPr>
          <a:xfrm>
            <a:off x="647700" y="1933392"/>
            <a:ext cx="3619500" cy="876665"/>
          </a:xfrm>
          <a:prstGeom prst="rect">
            <a:avLst/>
          </a:prstGeom>
        </p:spPr>
      </p:pic>
      <p:sp>
        <p:nvSpPr>
          <p:cNvPr id="7" name="Rectangle 6">
            <a:extLst>
              <a:ext uri="{FF2B5EF4-FFF2-40B4-BE49-F238E27FC236}">
                <a16:creationId xmlns:a16="http://schemas.microsoft.com/office/drawing/2014/main" id="{0C0BFE55-FEA5-47B8-AFF5-93818700FDAD}"/>
              </a:ext>
            </a:extLst>
          </p:cNvPr>
          <p:cNvSpPr>
            <a:spLocks noGrp="1"/>
          </p:cNvSpPr>
          <p:nvPr/>
        </p:nvSpPr>
        <p:spPr>
          <a:xfrm>
            <a:off x="647700" y="3390900"/>
            <a:ext cx="3619500" cy="104775"/>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533" b="0">
                <a:solidFill>
                  <a:srgbClr val="565656"/>
                </a:solidFill>
                <a:latin typeface="Arial"/>
                <a:ea typeface="Arial"/>
                <a:cs typeface="Arial"/>
              </a:defRPr>
            </a:pPr>
            <a:r>
              <a:rPr sz="533" b="0">
                <a:solidFill>
                  <a:srgbClr val="565656"/>
                </a:solidFill>
                <a:latin typeface="Arial"/>
                <a:ea typeface="Arial"/>
                <a:cs typeface="Arial"/>
              </a:rPr>
              <a:t>Paper Gl. (2): gleiche Sicherheitsbedingung</a:t>
            </a:r>
          </a:p>
        </p:txBody>
      </p:sp>
      <p:sp>
        <p:nvSpPr>
          <p:cNvPr id="8" name="Rectangle 7">
            <a:extLst>
              <a:ext uri="{FF2B5EF4-FFF2-40B4-BE49-F238E27FC236}">
                <a16:creationId xmlns:a16="http://schemas.microsoft.com/office/drawing/2014/main" id="{12087A4B-9945-448D-8BA1-E9C3EB40E8F7}"/>
              </a:ext>
            </a:extLst>
          </p:cNvPr>
          <p:cNvSpPr>
            <a:spLocks noGrp="1"/>
          </p:cNvSpPr>
          <p:nvPr/>
        </p:nvSpPr>
        <p:spPr>
          <a:xfrm>
            <a:off x="4714875" y="1276350"/>
            <a:ext cx="6572250" cy="2781300"/>
          </a:xfrm>
          <a:prstGeom prst="rect">
            <a:avLst/>
          </a:prstGeom>
          <a:solidFill>
            <a:srgbClr val="F6F8FA"/>
          </a:solidFill>
          <a:ln w="9525">
            <a:solidFill>
              <a:srgbClr val="7FAAD3"/>
            </a:solidFill>
            <a:prstDash val="solid"/>
          </a:ln>
        </p:spPr>
        <p:txBody>
          <a:bodyPr/>
          <a:lstStyle/>
          <a:p>
            <a:endParaRPr lang="en-DE"/>
          </a:p>
        </p:txBody>
      </p:sp>
      <p:sp>
        <p:nvSpPr>
          <p:cNvPr id="9" name="Rectangle 8">
            <a:extLst>
              <a:ext uri="{FF2B5EF4-FFF2-40B4-BE49-F238E27FC236}">
                <a16:creationId xmlns:a16="http://schemas.microsoft.com/office/drawing/2014/main" id="{F5702E39-57AA-4369-BD6F-E0B3D196B254}"/>
              </a:ext>
            </a:extLst>
          </p:cNvPr>
          <p:cNvSpPr>
            <a:spLocks noGrp="1"/>
          </p:cNvSpPr>
          <p:nvPr/>
        </p:nvSpPr>
        <p:spPr>
          <a:xfrm>
            <a:off x="4714875" y="1276350"/>
            <a:ext cx="6572250" cy="228600"/>
          </a:xfrm>
          <a:prstGeom prst="rect">
            <a:avLst/>
          </a:prstGeom>
          <a:solidFill>
            <a:srgbClr val="E7F0FA"/>
          </a:solidFill>
          <a:ln w="9525">
            <a:solidFill>
              <a:srgbClr val="7FAAD3"/>
            </a:solidFill>
            <a:prstDash val="solid"/>
          </a:ln>
        </p:spPr>
        <p:txBody>
          <a:bodyPr/>
          <a:lstStyle/>
          <a:p>
            <a:endParaRPr lang="en-DE"/>
          </a:p>
        </p:txBody>
      </p:sp>
      <p:sp>
        <p:nvSpPr>
          <p:cNvPr id="10" name="Rectangle 9">
            <a:extLst>
              <a:ext uri="{FF2B5EF4-FFF2-40B4-BE49-F238E27FC236}">
                <a16:creationId xmlns:a16="http://schemas.microsoft.com/office/drawing/2014/main" id="{158D4E94-4150-464F-9D9A-A7F228C4E539}"/>
              </a:ext>
            </a:extLst>
          </p:cNvPr>
          <p:cNvSpPr>
            <a:spLocks noGrp="1"/>
          </p:cNvSpPr>
          <p:nvPr/>
        </p:nvSpPr>
        <p:spPr>
          <a:xfrm>
            <a:off x="4810125" y="1333500"/>
            <a:ext cx="638175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70" b="1">
                <a:solidFill>
                  <a:srgbClr val="00549F"/>
                </a:solidFill>
                <a:latin typeface="Arial"/>
                <a:ea typeface="Arial"/>
                <a:cs typeface="Arial"/>
              </a:defRPr>
            </a:pPr>
            <a:r>
              <a:rPr sz="570" b="1">
                <a:solidFill>
                  <a:srgbClr val="00549F"/>
                </a:solidFill>
                <a:latin typeface="Arial"/>
                <a:ea typeface="Arial"/>
                <a:cs typeface="Arial"/>
              </a:rPr>
              <a:t>cp_model.py:69-90</a:t>
            </a:r>
          </a:p>
        </p:txBody>
      </p:sp>
      <p:sp>
        <p:nvSpPr>
          <p:cNvPr id="11" name="Rectangle 10">
            <a:extLst>
              <a:ext uri="{FF2B5EF4-FFF2-40B4-BE49-F238E27FC236}">
                <a16:creationId xmlns:a16="http://schemas.microsoft.com/office/drawing/2014/main" id="{31486572-E663-4B27-A416-6842E8A3F4BC}"/>
              </a:ext>
            </a:extLst>
          </p:cNvPr>
          <p:cNvSpPr>
            <a:spLocks noGrp="1"/>
          </p:cNvSpPr>
          <p:nvPr/>
        </p:nvSpPr>
        <p:spPr>
          <a:xfrm>
            <a:off x="4829175" y="1600200"/>
            <a:ext cx="6343650" cy="2381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25" b="0">
                <a:solidFill>
                  <a:srgbClr val="111827"/>
                </a:solidFill>
                <a:latin typeface="Consolas"/>
                <a:ea typeface="Consolas"/>
                <a:cs typeface="Consolas"/>
              </a:defRPr>
            </a:pPr>
            <a:r>
              <a:rPr sz="525" b="0">
                <a:solidFill>
                  <a:srgbClr val="111827"/>
                </a:solidFill>
                <a:latin typeface="Consolas"/>
                <a:ea typeface="Consolas"/>
                <a:cs typeface="Consolas"/>
              </a:rPr>
              <a:t>                # Process resources for AddNoOverlap</a:t>
            </a:r>
          </a:p>
          <a:p>
            <a:pPr algn="l">
              <a:defRPr sz="525" b="0">
                <a:solidFill>
                  <a:srgbClr val="111827"/>
                </a:solidFill>
                <a:latin typeface="Consolas"/>
                <a:ea typeface="Consolas"/>
                <a:cs typeface="Consolas"/>
              </a:defRPr>
            </a:pPr>
            <a:r>
              <a:rPr sz="525" b="0">
                <a:solidFill>
                  <a:srgbClr val="111827"/>
                </a:solidFill>
                <a:latin typeface="Consolas"/>
                <a:ea typeface="Consolas"/>
                <a:cs typeface="Consolas"/>
              </a:rPr>
              <a:t>                for r_data in op.resources:</a:t>
            </a:r>
          </a:p>
          <a:p>
            <a:pPr algn="l">
              <a:defRPr sz="525" b="0">
                <a:solidFill>
                  <a:srgbClr val="111827"/>
                </a:solidFill>
                <a:latin typeface="Consolas"/>
                <a:ea typeface="Consolas"/>
                <a:cs typeface="Consolas"/>
              </a:defRPr>
            </a:pPr>
            <a:r>
              <a:rPr sz="525" b="0">
                <a:solidFill>
                  <a:srgbClr val="111827"/>
                </a:solidFill>
                <a:latin typeface="Consolas"/>
                <a:ea typeface="Consolas"/>
                <a:cs typeface="Consolas"/>
              </a:rPr>
              <a:t>                    res_name = r_data.resource</a:t>
            </a:r>
          </a:p>
          <a:p>
            <a:pPr algn="l">
              <a:defRPr sz="525" b="0">
                <a:solidFill>
                  <a:srgbClr val="111827"/>
                </a:solidFill>
                <a:latin typeface="Consolas"/>
                <a:ea typeface="Consolas"/>
                <a:cs typeface="Consolas"/>
              </a:defRPr>
            </a:pPr>
            <a:r>
              <a:rPr sz="525" b="0">
                <a:solidFill>
                  <a:srgbClr val="111827"/>
                </a:solidFill>
                <a:latin typeface="Consolas"/>
                <a:ea typeface="Consolas"/>
                <a:cs typeface="Consolas"/>
              </a:rPr>
              <a:t>                    rel_time = int(r_data.release_time)</a:t>
            </a:r>
          </a:p>
          <a:p>
            <a:pPr algn="l">
              <a:defRPr sz="525" b="0">
                <a:solidFill>
                  <a:srgbClr val="111827"/>
                </a:solidFill>
                <a:latin typeface="Consolas"/>
                <a:ea typeface="Consolas"/>
                <a:cs typeface="Consolas"/>
              </a:defRPr>
            </a:pPr>
            <a:r>
              <a:rPr sz="525" b="0">
                <a:solidFill>
                  <a:srgbClr val="111827"/>
                </a:solidFill>
                <a:latin typeface="Consolas"/>
                <a:ea typeface="Consolas"/>
                <a:cs typeface="Consolas"/>
              </a:rPr>
              <a:t>                    </a:t>
            </a:r>
          </a:p>
          <a:p>
            <a:pPr algn="l">
              <a:defRPr sz="525" b="0">
                <a:solidFill>
                  <a:srgbClr val="111827"/>
                </a:solidFill>
                <a:latin typeface="Consolas"/>
                <a:ea typeface="Consolas"/>
                <a:cs typeface="Consolas"/>
              </a:defRPr>
            </a:pPr>
            <a:r>
              <a:rPr sz="525" b="0">
                <a:solidFill>
                  <a:srgbClr val="111827"/>
                </a:solidFill>
                <a:latin typeface="Consolas"/>
                <a:ea typeface="Consolas"/>
                <a:cs typeface="Consolas"/>
              </a:rPr>
              <a:t>                    if res_name not in resource_intervals:</a:t>
            </a:r>
          </a:p>
          <a:p>
            <a:pPr algn="l">
              <a:defRPr sz="525" b="0">
                <a:solidFill>
                  <a:srgbClr val="111827"/>
                </a:solidFill>
                <a:latin typeface="Consolas"/>
                <a:ea typeface="Consolas"/>
                <a:cs typeface="Consolas"/>
              </a:defRPr>
            </a:pPr>
            <a:r>
              <a:rPr sz="525" b="0">
                <a:solidFill>
                  <a:srgbClr val="111827"/>
                </a:solidFill>
                <a:latin typeface="Consolas"/>
                <a:ea typeface="Consolas"/>
                <a:cs typeface="Consolas"/>
              </a:rPr>
              <a:t>                        resource_intervals[res_name] = []</a:t>
            </a:r>
          </a:p>
          <a:p>
            <a:pPr algn="l">
              <a:defRPr sz="525" b="0">
                <a:solidFill>
                  <a:srgbClr val="111827"/>
                </a:solidFill>
                <a:latin typeface="Consolas"/>
                <a:ea typeface="Consolas"/>
                <a:cs typeface="Consolas"/>
              </a:defRPr>
            </a:pPr>
            <a:r>
              <a:rPr sz="525" b="0">
                <a:solidFill>
                  <a:srgbClr val="111827"/>
                </a:solidFill>
                <a:latin typeface="Consolas"/>
                <a:ea typeface="Consolas"/>
                <a:cs typeface="Consolas"/>
              </a:rPr>
              <a:t>                        </a:t>
            </a:r>
          </a:p>
          <a:p>
            <a:pPr algn="l">
              <a:defRPr sz="525" b="0">
                <a:solidFill>
                  <a:srgbClr val="111827"/>
                </a:solidFill>
                <a:latin typeface="Consolas"/>
                <a:ea typeface="Consolas"/>
                <a:cs typeface="Consolas"/>
              </a:defRPr>
            </a:pPr>
            <a:r>
              <a:rPr sz="525" b="0">
                <a:solidFill>
                  <a:srgbClr val="111827"/>
                </a:solidFill>
                <a:latin typeface="Consolas"/>
                <a:ea typeface="Consolas"/>
                <a:cs typeface="Consolas"/>
              </a:rPr>
              <a:t>                    # If there's a headway (release_time), we must artificially extend the block's end.</a:t>
            </a:r>
          </a:p>
          <a:p>
            <a:pPr algn="l">
              <a:defRPr sz="525" b="0">
                <a:solidFill>
                  <a:srgbClr val="111827"/>
                </a:solidFill>
                <a:latin typeface="Consolas"/>
                <a:ea typeface="Consolas"/>
                <a:cs typeface="Consolas"/>
              </a:defRPr>
            </a:pPr>
            <a:r>
              <a:rPr sz="525" b="0">
                <a:solidFill>
                  <a:srgbClr val="111827"/>
                </a:solidFill>
                <a:latin typeface="Consolas"/>
                <a:ea typeface="Consolas"/>
                <a:cs typeface="Consolas"/>
              </a:rPr>
              <a:t>                    if rel_time &gt; 0:</a:t>
            </a:r>
          </a:p>
          <a:p>
            <a:pPr algn="l">
              <a:defRPr sz="525" b="0">
                <a:solidFill>
                  <a:srgbClr val="111827"/>
                </a:solidFill>
                <a:latin typeface="Consolas"/>
                <a:ea typeface="Consolas"/>
                <a:cs typeface="Consolas"/>
              </a:defRPr>
            </a:pPr>
            <a:r>
              <a:rPr sz="525" b="0">
                <a:solidFill>
                  <a:srgbClr val="111827"/>
                </a:solidFill>
                <a:latin typeface="Consolas"/>
                <a:ea typeface="Consolas"/>
                <a:cs typeface="Consolas"/>
              </a:rPr>
              <a:t>                        ext_dur = self.model.NewIntVar(int(op.min_duration) + rel_time, self.horizon + rel_time, f"ext_dur_{t_id}_{o_id}_{res_name}")</a:t>
            </a:r>
          </a:p>
          <a:p>
            <a:pPr algn="l">
              <a:defRPr sz="525" b="0">
                <a:solidFill>
                  <a:srgbClr val="111827"/>
                </a:solidFill>
                <a:latin typeface="Consolas"/>
                <a:ea typeface="Consolas"/>
                <a:cs typeface="Consolas"/>
              </a:defRPr>
            </a:pPr>
            <a:r>
              <a:rPr sz="525" b="0">
                <a:solidFill>
                  <a:srgbClr val="111827"/>
                </a:solidFill>
                <a:latin typeface="Consolas"/>
                <a:ea typeface="Consolas"/>
                <a:cs typeface="Consolas"/>
              </a:rPr>
              <a:t>                        self.model.Add(ext_dur == self.durations[t_id, o_id] + rel_time)</a:t>
            </a:r>
          </a:p>
          <a:p>
            <a:pPr algn="l">
              <a:defRPr sz="525" b="0">
                <a:solidFill>
                  <a:srgbClr val="111827"/>
                </a:solidFill>
                <a:latin typeface="Consolas"/>
                <a:ea typeface="Consolas"/>
                <a:cs typeface="Consolas"/>
              </a:defRPr>
            </a:pPr>
            <a:r>
              <a:rPr sz="525" b="0">
                <a:solidFill>
                  <a:srgbClr val="111827"/>
                </a:solidFill>
                <a:latin typeface="Consolas"/>
                <a:ea typeface="Consolas"/>
                <a:cs typeface="Consolas"/>
              </a:rPr>
              <a:t>                        </a:t>
            </a:r>
          </a:p>
          <a:p>
            <a:pPr algn="l">
              <a:defRPr sz="525" b="0">
                <a:solidFill>
                  <a:srgbClr val="111827"/>
                </a:solidFill>
                <a:latin typeface="Consolas"/>
                <a:ea typeface="Consolas"/>
                <a:cs typeface="Consolas"/>
              </a:defRPr>
            </a:pPr>
            <a:r>
              <a:rPr sz="525" b="0">
                <a:solidFill>
                  <a:srgbClr val="111827"/>
                </a:solidFill>
                <a:latin typeface="Consolas"/>
                <a:ea typeface="Consolas"/>
                <a:cs typeface="Consolas"/>
              </a:rPr>
              <a:t>                        ext_end = self.model.NewIntVar(lb + int(op.min_duration) + rel_time, self.horizon * 2 + rel_time, f"ext_end_{t_id}_{o_id}_{res_name}")</a:t>
            </a:r>
          </a:p>
          <a:p>
            <a:pPr algn="l">
              <a:defRPr sz="525" b="0">
                <a:solidFill>
                  <a:srgbClr val="111827"/>
                </a:solidFill>
                <a:latin typeface="Consolas"/>
                <a:ea typeface="Consolas"/>
                <a:cs typeface="Consolas"/>
              </a:defRPr>
            </a:pPr>
            <a:r>
              <a:rPr sz="525" b="0">
                <a:solidFill>
                  <a:srgbClr val="111827"/>
                </a:solidFill>
                <a:latin typeface="Consolas"/>
                <a:ea typeface="Consolas"/>
                <a:cs typeface="Consolas"/>
              </a:rPr>
              <a:t>                        self.model.Add(ext_end == self.ends[t_id, o_id] + rel_time)</a:t>
            </a:r>
          </a:p>
          <a:p>
            <a:pPr algn="l">
              <a:defRPr sz="525" b="0">
                <a:solidFill>
                  <a:srgbClr val="111827"/>
                </a:solidFill>
                <a:latin typeface="Consolas"/>
                <a:ea typeface="Consolas"/>
                <a:cs typeface="Consolas"/>
              </a:defRPr>
            </a:pPr>
            <a:r>
              <a:rPr sz="525" b="0">
                <a:solidFill>
                  <a:srgbClr val="111827"/>
                </a:solidFill>
                <a:latin typeface="Consolas"/>
                <a:ea typeface="Consolas"/>
                <a:cs typeface="Consolas"/>
              </a:rPr>
              <a:t>                        </a:t>
            </a:r>
          </a:p>
          <a:p>
            <a:pPr algn="l">
              <a:defRPr sz="525" b="0">
                <a:solidFill>
                  <a:srgbClr val="111827"/>
                </a:solidFill>
                <a:latin typeface="Consolas"/>
                <a:ea typeface="Consolas"/>
                <a:cs typeface="Consolas"/>
              </a:defRPr>
            </a:pPr>
            <a:r>
              <a:rPr sz="525" b="0">
                <a:solidFill>
                  <a:srgbClr val="111827"/>
                </a:solidFill>
                <a:latin typeface="Consolas"/>
                <a:ea typeface="Consolas"/>
                <a:cs typeface="Consolas"/>
              </a:rPr>
              <a:t>                        ext_iv = self.model.NewOptionalIntervalVar(</a:t>
            </a:r>
          </a:p>
          <a:p>
            <a:pPr algn="l">
              <a:defRPr sz="525" b="0">
                <a:solidFill>
                  <a:srgbClr val="111827"/>
                </a:solidFill>
                <a:latin typeface="Consolas"/>
                <a:ea typeface="Consolas"/>
                <a:cs typeface="Consolas"/>
              </a:defRPr>
            </a:pPr>
            <a:r>
              <a:rPr sz="525" b="0">
                <a:solidFill>
                  <a:srgbClr val="111827"/>
                </a:solidFill>
                <a:latin typeface="Consolas"/>
                <a:ea typeface="Consolas"/>
                <a:cs typeface="Consolas"/>
              </a:rPr>
              <a:t>                            self.starts[t_id, o_id], ext_dur, ext_end, self.x[t_id, o_id], f"ext_iv_{t_id}_{o_id}_{res_name}"</a:t>
            </a:r>
          </a:p>
          <a:p>
            <a:pPr algn="l">
              <a:defRPr sz="525" b="0">
                <a:solidFill>
                  <a:srgbClr val="111827"/>
                </a:solidFill>
                <a:latin typeface="Consolas"/>
                <a:ea typeface="Consolas"/>
                <a:cs typeface="Consolas"/>
              </a:defRPr>
            </a:pPr>
            <a:r>
              <a:rPr sz="525" b="0">
                <a:solidFill>
                  <a:srgbClr val="111827"/>
                </a:solidFill>
                <a:latin typeface="Consolas"/>
                <a:ea typeface="Consolas"/>
                <a:cs typeface="Consolas"/>
              </a:rPr>
              <a:t>                        )</a:t>
            </a:r>
          </a:p>
          <a:p>
            <a:pPr algn="l">
              <a:defRPr sz="525" b="0">
                <a:solidFill>
                  <a:srgbClr val="111827"/>
                </a:solidFill>
                <a:latin typeface="Consolas"/>
                <a:ea typeface="Consolas"/>
                <a:cs typeface="Consolas"/>
              </a:defRPr>
            </a:pPr>
            <a:r>
              <a:rPr sz="525" b="0">
                <a:solidFill>
                  <a:srgbClr val="111827"/>
                </a:solidFill>
                <a:latin typeface="Consolas"/>
                <a:ea typeface="Consolas"/>
                <a:cs typeface="Consolas"/>
              </a:rPr>
              <a:t>                        resource_intervals[res_name].append(ext_iv)</a:t>
            </a:r>
          </a:p>
          <a:p>
            <a:pPr algn="l">
              <a:defRPr sz="525" b="0">
                <a:solidFill>
                  <a:srgbClr val="111827"/>
                </a:solidFill>
                <a:latin typeface="Consolas"/>
                <a:ea typeface="Consolas"/>
                <a:cs typeface="Consolas"/>
              </a:defRPr>
            </a:pPr>
            <a:r>
              <a:rPr sz="525" b="0">
                <a:solidFill>
                  <a:srgbClr val="111827"/>
                </a:solidFill>
                <a:latin typeface="Consolas"/>
                <a:ea typeface="Consolas"/>
                <a:cs typeface="Consolas"/>
              </a:rPr>
              <a:t>                    else:</a:t>
            </a:r>
          </a:p>
          <a:p>
            <a:pPr algn="l">
              <a:defRPr sz="525" b="0">
                <a:solidFill>
                  <a:srgbClr val="111827"/>
                </a:solidFill>
                <a:latin typeface="Consolas"/>
                <a:ea typeface="Consolas"/>
                <a:cs typeface="Consolas"/>
              </a:defRPr>
            </a:pPr>
            <a:r>
              <a:rPr sz="525" b="0">
                <a:solidFill>
                  <a:srgbClr val="111827"/>
                </a:solidFill>
                <a:latin typeface="Consolas"/>
                <a:ea typeface="Consolas"/>
                <a:cs typeface="Consolas"/>
              </a:rPr>
              <a:t>                        resource_intervals[res_name].append(iv)</a:t>
            </a:r>
          </a:p>
        </p:txBody>
      </p:sp>
      <p:sp>
        <p:nvSpPr>
          <p:cNvPr id="12" name="Rectangle 11">
            <a:extLst>
              <a:ext uri="{FF2B5EF4-FFF2-40B4-BE49-F238E27FC236}">
                <a16:creationId xmlns:a16="http://schemas.microsoft.com/office/drawing/2014/main" id="{69233A28-E00F-471B-9DA2-C7386973AE46}"/>
              </a:ext>
            </a:extLst>
          </p:cNvPr>
          <p:cNvSpPr>
            <a:spLocks noGrp="1"/>
          </p:cNvSpPr>
          <p:nvPr/>
        </p:nvSpPr>
        <p:spPr>
          <a:xfrm>
            <a:off x="4714875" y="4229100"/>
            <a:ext cx="6572250" cy="819150"/>
          </a:xfrm>
          <a:prstGeom prst="rect">
            <a:avLst/>
          </a:prstGeom>
          <a:solidFill>
            <a:srgbClr val="F6F8FA"/>
          </a:solidFill>
          <a:ln w="9525">
            <a:solidFill>
              <a:srgbClr val="7FAAD3"/>
            </a:solidFill>
            <a:prstDash val="solid"/>
          </a:ln>
        </p:spPr>
        <p:txBody>
          <a:bodyPr/>
          <a:lstStyle/>
          <a:p>
            <a:endParaRPr lang="en-DE"/>
          </a:p>
        </p:txBody>
      </p:sp>
      <p:sp>
        <p:nvSpPr>
          <p:cNvPr id="13" name="Rectangle 12">
            <a:extLst>
              <a:ext uri="{FF2B5EF4-FFF2-40B4-BE49-F238E27FC236}">
                <a16:creationId xmlns:a16="http://schemas.microsoft.com/office/drawing/2014/main" id="{7040B149-FB0B-431D-B82D-B24CAF2B5541}"/>
              </a:ext>
            </a:extLst>
          </p:cNvPr>
          <p:cNvSpPr>
            <a:spLocks noGrp="1"/>
          </p:cNvSpPr>
          <p:nvPr/>
        </p:nvSpPr>
        <p:spPr>
          <a:xfrm>
            <a:off x="4714875" y="4229100"/>
            <a:ext cx="6572250" cy="228600"/>
          </a:xfrm>
          <a:prstGeom prst="rect">
            <a:avLst/>
          </a:prstGeom>
          <a:solidFill>
            <a:srgbClr val="E7F0FA"/>
          </a:solidFill>
          <a:ln w="9525">
            <a:solidFill>
              <a:srgbClr val="7FAAD3"/>
            </a:solidFill>
            <a:prstDash val="solid"/>
          </a:ln>
        </p:spPr>
        <p:txBody>
          <a:bodyPr/>
          <a:lstStyle/>
          <a:p>
            <a:endParaRPr lang="en-DE"/>
          </a:p>
        </p:txBody>
      </p:sp>
      <p:sp>
        <p:nvSpPr>
          <p:cNvPr id="14" name="Rectangle 13">
            <a:extLst>
              <a:ext uri="{FF2B5EF4-FFF2-40B4-BE49-F238E27FC236}">
                <a16:creationId xmlns:a16="http://schemas.microsoft.com/office/drawing/2014/main" id="{B612332C-BFCE-49A9-9BDB-4F92380AC7BB}"/>
              </a:ext>
            </a:extLst>
          </p:cNvPr>
          <p:cNvSpPr>
            <a:spLocks noGrp="1"/>
          </p:cNvSpPr>
          <p:nvPr/>
        </p:nvSpPr>
        <p:spPr>
          <a:xfrm>
            <a:off x="4810125" y="4286250"/>
            <a:ext cx="638175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70" b="1">
                <a:solidFill>
                  <a:srgbClr val="00549F"/>
                </a:solidFill>
                <a:latin typeface="Arial"/>
                <a:ea typeface="Arial"/>
                <a:cs typeface="Arial"/>
              </a:defRPr>
            </a:pPr>
            <a:r>
              <a:rPr sz="570" b="1">
                <a:solidFill>
                  <a:srgbClr val="00549F"/>
                </a:solidFill>
                <a:latin typeface="Arial"/>
                <a:ea typeface="Arial"/>
                <a:cs typeface="Arial"/>
              </a:rPr>
              <a:t>cp_model.py:117-119</a:t>
            </a:r>
          </a:p>
        </p:txBody>
      </p:sp>
      <p:sp>
        <p:nvSpPr>
          <p:cNvPr id="15" name="Rectangle 14">
            <a:extLst>
              <a:ext uri="{FF2B5EF4-FFF2-40B4-BE49-F238E27FC236}">
                <a16:creationId xmlns:a16="http://schemas.microsoft.com/office/drawing/2014/main" id="{D8D1F0F5-1C23-41E9-A043-740E620B9952}"/>
              </a:ext>
            </a:extLst>
          </p:cNvPr>
          <p:cNvSpPr>
            <a:spLocks noGrp="1"/>
          </p:cNvSpPr>
          <p:nvPr/>
        </p:nvSpPr>
        <p:spPr>
          <a:xfrm>
            <a:off x="4829175" y="4552950"/>
            <a:ext cx="63436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60" b="0">
                <a:solidFill>
                  <a:srgbClr val="111827"/>
                </a:solidFill>
                <a:latin typeface="Consolas"/>
                <a:ea typeface="Consolas"/>
                <a:cs typeface="Consolas"/>
              </a:defRPr>
            </a:pPr>
            <a:r>
              <a:rPr sz="660" b="0">
                <a:solidFill>
                  <a:srgbClr val="111827"/>
                </a:solidFill>
                <a:latin typeface="Consolas"/>
                <a:ea typeface="Consolas"/>
                <a:cs typeface="Consolas"/>
              </a:rPr>
              <a:t>        # This absolutely annihilates the logic of Big-M!</a:t>
            </a:r>
          </a:p>
          <a:p>
            <a:pPr algn="l">
              <a:defRPr sz="660" b="0">
                <a:solidFill>
                  <a:srgbClr val="111827"/>
                </a:solidFill>
                <a:latin typeface="Consolas"/>
                <a:ea typeface="Consolas"/>
                <a:cs typeface="Consolas"/>
              </a:defRPr>
            </a:pPr>
            <a:r>
              <a:rPr sz="660" b="0">
                <a:solidFill>
                  <a:srgbClr val="111827"/>
                </a:solidFill>
                <a:latin typeface="Consolas"/>
                <a:ea typeface="Consolas"/>
                <a:cs typeface="Consolas"/>
              </a:rPr>
              <a:t>        for res_name, intervals in resource_intervals.items():</a:t>
            </a:r>
          </a:p>
          <a:p>
            <a:pPr algn="l">
              <a:defRPr sz="660" b="0">
                <a:solidFill>
                  <a:srgbClr val="111827"/>
                </a:solidFill>
                <a:latin typeface="Consolas"/>
                <a:ea typeface="Consolas"/>
                <a:cs typeface="Consolas"/>
              </a:defRPr>
            </a:pPr>
            <a:r>
              <a:rPr sz="660" b="0">
                <a:solidFill>
                  <a:srgbClr val="111827"/>
                </a:solidFill>
                <a:latin typeface="Consolas"/>
                <a:ea typeface="Consolas"/>
                <a:cs typeface="Consolas"/>
              </a:rPr>
              <a:t>            self.model.AddNoOverlap(intervals)</a:t>
            </a:r>
          </a:p>
        </p:txBody>
      </p:sp>
      <p:sp>
        <p:nvSpPr>
          <p:cNvPr id="16" name="Rectangle 15">
            <a:extLst>
              <a:ext uri="{FF2B5EF4-FFF2-40B4-BE49-F238E27FC236}">
                <a16:creationId xmlns:a16="http://schemas.microsoft.com/office/drawing/2014/main" id="{7A253748-D478-44B7-8426-6AE8DD7E1C5B}"/>
              </a:ext>
            </a:extLst>
          </p:cNvPr>
          <p:cNvSpPr>
            <a:spLocks noGrp="1"/>
          </p:cNvSpPr>
          <p:nvPr/>
        </p:nvSpPr>
        <p:spPr>
          <a:xfrm>
            <a:off x="552450" y="3829050"/>
            <a:ext cx="3810000" cy="876300"/>
          </a:xfrm>
          <a:prstGeom prst="rect">
            <a:avLst/>
          </a:prstGeom>
          <a:solidFill>
            <a:srgbClr val="FFFFFF"/>
          </a:solidFill>
          <a:ln w="10478">
            <a:solidFill>
              <a:srgbClr val="00A6B2"/>
            </a:solidFill>
            <a:prstDash val="solid"/>
          </a:ln>
        </p:spPr>
        <p:txBody>
          <a:bodyPr/>
          <a:lstStyle/>
          <a:p>
            <a:endParaRPr lang="en-DE"/>
          </a:p>
        </p:txBody>
      </p:sp>
      <p:sp>
        <p:nvSpPr>
          <p:cNvPr id="17" name="Rectangle 16">
            <a:extLst>
              <a:ext uri="{FF2B5EF4-FFF2-40B4-BE49-F238E27FC236}">
                <a16:creationId xmlns:a16="http://schemas.microsoft.com/office/drawing/2014/main" id="{09F2B386-B3BE-47B0-BEB4-FDC64BECB20C}"/>
              </a:ext>
            </a:extLst>
          </p:cNvPr>
          <p:cNvSpPr>
            <a:spLocks noGrp="1"/>
          </p:cNvSpPr>
          <p:nvPr/>
        </p:nvSpPr>
        <p:spPr>
          <a:xfrm>
            <a:off x="666750" y="3924300"/>
            <a:ext cx="35814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1">
                <a:solidFill>
                  <a:srgbClr val="00A6B2"/>
                </a:solidFill>
                <a:latin typeface="Arial"/>
                <a:ea typeface="Arial"/>
                <a:cs typeface="Arial"/>
              </a:defRPr>
            </a:pPr>
            <a:r>
              <a:rPr sz="563" b="1">
                <a:solidFill>
                  <a:srgbClr val="00A6B2"/>
                </a:solidFill>
                <a:latin typeface="Arial"/>
                <a:ea typeface="Arial"/>
                <a:cs typeface="Arial"/>
              </a:rPr>
              <a:t>KERNUNTERSCHIED</a:t>
            </a:r>
          </a:p>
        </p:txBody>
      </p:sp>
      <p:sp>
        <p:nvSpPr>
          <p:cNvPr id="18" name="Rectangle 17">
            <a:extLst>
              <a:ext uri="{FF2B5EF4-FFF2-40B4-BE49-F238E27FC236}">
                <a16:creationId xmlns:a16="http://schemas.microsoft.com/office/drawing/2014/main" id="{6AF156E7-2EAC-4596-A117-A2B568103BF9}"/>
              </a:ext>
            </a:extLst>
          </p:cNvPr>
          <p:cNvSpPr>
            <a:spLocks noGrp="1"/>
          </p:cNvSpPr>
          <p:nvPr/>
        </p:nvSpPr>
        <p:spPr>
          <a:xfrm>
            <a:off x="666750" y="4114800"/>
            <a:ext cx="35814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73" b="0">
                <a:solidFill>
                  <a:srgbClr val="111111"/>
                </a:solidFill>
                <a:latin typeface="Arial"/>
                <a:ea typeface="Arial"/>
                <a:cs typeface="Arial"/>
              </a:defRPr>
            </a:pPr>
            <a:r>
              <a:rPr sz="773" b="0">
                <a:solidFill>
                  <a:srgbClr val="111111"/>
                </a:solidFill>
                <a:latin typeface="Arial"/>
                <a:ea typeface="Arial"/>
                <a:cs typeface="Arial"/>
              </a:rPr>
              <a:t>CP-SAT kann direkt sagen: Diese Intervalle auf derselben Ressource dürfen sich nicht überlappen.</a:t>
            </a:r>
          </a:p>
        </p:txBody>
      </p:sp>
      <p:sp>
        <p:nvSpPr>
          <p:cNvPr id="19" name="Rectangle 18">
            <a:extLst>
              <a:ext uri="{FF2B5EF4-FFF2-40B4-BE49-F238E27FC236}">
                <a16:creationId xmlns:a16="http://schemas.microsoft.com/office/drawing/2014/main" id="{1FDAC8BE-A0FA-4816-9E6C-4A40EF6B11A2}"/>
              </a:ext>
            </a:extLst>
          </p:cNvPr>
          <p:cNvSpPr>
            <a:spLocks noGrp="1"/>
          </p:cNvSpPr>
          <p:nvPr/>
        </p:nvSpPr>
        <p:spPr>
          <a:xfrm>
            <a:off x="381000" y="5753100"/>
            <a:ext cx="11430000" cy="11430"/>
          </a:xfrm>
          <a:prstGeom prst="rect">
            <a:avLst/>
          </a:prstGeom>
          <a:solidFill>
            <a:srgbClr val="222222"/>
          </a:solidFill>
          <a:ln w="0">
            <a:solidFill>
              <a:srgbClr val="000000">
                <a:alpha val="0"/>
              </a:srgbClr>
            </a:solidFill>
            <a:prstDash val="solid"/>
          </a:ln>
        </p:spPr>
        <p:txBody>
          <a:bodyPr/>
          <a:lstStyle/>
          <a:p>
            <a:endParaRPr lang="en-DE"/>
          </a:p>
        </p:txBody>
      </p:sp>
      <p:sp>
        <p:nvSpPr>
          <p:cNvPr id="20" name="Rectangle 19">
            <a:extLst>
              <a:ext uri="{FF2B5EF4-FFF2-40B4-BE49-F238E27FC236}">
                <a16:creationId xmlns:a16="http://schemas.microsoft.com/office/drawing/2014/main" id="{28DB8AAB-ECBD-4E93-9610-C38A8672C783}"/>
              </a:ext>
            </a:extLst>
          </p:cNvPr>
          <p:cNvSpPr>
            <a:spLocks noGrp="1"/>
          </p:cNvSpPr>
          <p:nvPr/>
        </p:nvSpPr>
        <p:spPr>
          <a:xfrm>
            <a:off x="381000" y="592455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00549F"/>
                </a:solidFill>
                <a:latin typeface="Arial"/>
                <a:ea typeface="Arial"/>
                <a:cs typeface="Arial"/>
              </a:defRPr>
            </a:pPr>
            <a:r>
              <a:rPr sz="675" b="0">
                <a:solidFill>
                  <a:srgbClr val="00549F"/>
                </a:solidFill>
                <a:latin typeface="Arial"/>
                <a:ea typeface="Arial"/>
                <a:cs typeface="Arial"/>
              </a:rPr>
              <a:t>10</a:t>
            </a:r>
          </a:p>
        </p:txBody>
      </p:sp>
      <p:sp>
        <p:nvSpPr>
          <p:cNvPr id="21" name="Rectangle 20">
            <a:extLst>
              <a:ext uri="{FF2B5EF4-FFF2-40B4-BE49-F238E27FC236}">
                <a16:creationId xmlns:a16="http://schemas.microsoft.com/office/drawing/2014/main" id="{BF4811F1-B98E-43F0-91D9-D293C10DBAEC}"/>
              </a:ext>
            </a:extLst>
          </p:cNvPr>
          <p:cNvSpPr>
            <a:spLocks noGrp="1"/>
          </p:cNvSpPr>
          <p:nvPr/>
        </p:nvSpPr>
        <p:spPr>
          <a:xfrm>
            <a:off x="1123950" y="5924550"/>
            <a:ext cx="6572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0" b="0">
                <a:solidFill>
                  <a:srgbClr val="00549F"/>
                </a:solidFill>
                <a:latin typeface="Arial"/>
                <a:ea typeface="Arial"/>
                <a:cs typeface="Arial"/>
              </a:defRPr>
            </a:pPr>
            <a:r>
              <a:rPr sz="630" b="0">
                <a:solidFill>
                  <a:srgbClr val="00549F"/>
                </a:solidFill>
                <a:latin typeface="Arial"/>
                <a:ea typeface="Arial"/>
                <a:cs typeface="Arial"/>
              </a:rPr>
              <a:t>Train Dispatching | DISPLIB mathematical model to code | Baseline MIP and Extended CP-SAT</a:t>
            </a:r>
          </a:p>
        </p:txBody>
      </p:sp>
      <p:pic>
        <p:nvPicPr>
          <p:cNvPr id="22" name="Picture 21"/>
          <p:cNvPicPr>
            <a:picLocks noChangeAspect="1"/>
          </p:cNvPicPr>
          <p:nvPr/>
        </p:nvPicPr>
        <p:blipFill>
          <a:blip r:embed="rId4"/>
          <a:stretch/>
        </p:blipFill>
        <p:spPr>
          <a:xfrm>
            <a:off x="8107690" y="5829300"/>
            <a:ext cx="2929870" cy="819150"/>
          </a:xfrm>
          <a:prstGeom prst="rect">
            <a:avLst/>
          </a:prstGeom>
        </p:spPr>
      </p:pic>
    </p:spTree>
    <p:extLst>
      <p:ext uri="{BB962C8B-B14F-4D97-AF65-F5344CB8AC3E}">
        <p14:creationId xmlns:p14="http://schemas.microsoft.com/office/powerpoint/2010/main" val="16170535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3636FAF7-1C30-4982-98AC-E618396819DC}"/>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en-DE"/>
          </a:p>
        </p:txBody>
      </p:sp>
      <p:sp>
        <p:nvSpPr>
          <p:cNvPr id="2" name="Rectangle 1">
            <a:extLst>
              <a:ext uri="{FF2B5EF4-FFF2-40B4-BE49-F238E27FC236}">
                <a16:creationId xmlns:a16="http://schemas.microsoft.com/office/drawing/2014/main" id="{B7387239-1B25-41C2-A718-8FC38EAD69C1}"/>
              </a:ext>
            </a:extLst>
          </p:cNvPr>
          <p:cNvSpPr>
            <a:spLocks noGrp="1"/>
          </p:cNvSpPr>
          <p:nvPr/>
        </p:nvSpPr>
        <p:spPr>
          <a:xfrm>
            <a:off x="514350" y="285750"/>
            <a:ext cx="106680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00549F"/>
                </a:solidFill>
                <a:latin typeface="Arial"/>
                <a:ea typeface="Arial"/>
                <a:cs typeface="Arial"/>
              </a:defRPr>
            </a:pPr>
            <a:r>
              <a:rPr sz="1800" b="1">
                <a:solidFill>
                  <a:srgbClr val="00549F"/>
                </a:solidFill>
                <a:latin typeface="Arial"/>
                <a:ea typeface="Arial"/>
                <a:cs typeface="Arial"/>
              </a:rPr>
              <a:t>`u` gibt der Lösung eine robuste Ereignisreihenfolge.</a:t>
            </a:r>
          </a:p>
        </p:txBody>
      </p:sp>
      <p:sp>
        <p:nvSpPr>
          <p:cNvPr id="3" name="Rectangle 2">
            <a:extLst>
              <a:ext uri="{FF2B5EF4-FFF2-40B4-BE49-F238E27FC236}">
                <a16:creationId xmlns:a16="http://schemas.microsoft.com/office/drawing/2014/main" id="{8988D4C5-9E64-48C2-97CE-8AD365C1304D}"/>
              </a:ext>
            </a:extLst>
          </p:cNvPr>
          <p:cNvSpPr>
            <a:spLocks noGrp="1"/>
          </p:cNvSpPr>
          <p:nvPr/>
        </p:nvSpPr>
        <p:spPr>
          <a:xfrm>
            <a:off x="514350" y="704850"/>
            <a:ext cx="9715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10" b="0">
                <a:solidFill>
                  <a:srgbClr val="565656"/>
                </a:solidFill>
                <a:latin typeface="Arial"/>
                <a:ea typeface="Arial"/>
                <a:cs typeface="Arial"/>
              </a:defRPr>
            </a:pPr>
            <a:r>
              <a:rPr sz="810" b="0">
                <a:solidFill>
                  <a:srgbClr val="565656"/>
                </a:solidFill>
                <a:latin typeface="Arial"/>
                <a:ea typeface="Arial"/>
                <a:cs typeface="Arial"/>
              </a:rPr>
              <a:t>Die Startzeit allein reicht nicht immer, deshalb sortiert der Code zusätzlich über den Rang.</a:t>
            </a:r>
          </a:p>
        </p:txBody>
      </p:sp>
      <p:sp>
        <p:nvSpPr>
          <p:cNvPr id="4" name="Rectangle 3">
            <a:extLst>
              <a:ext uri="{FF2B5EF4-FFF2-40B4-BE49-F238E27FC236}">
                <a16:creationId xmlns:a16="http://schemas.microsoft.com/office/drawing/2014/main" id="{D71FB313-B72D-4B3F-BAF6-04FEC277A7F8}"/>
              </a:ext>
            </a:extLst>
          </p:cNvPr>
          <p:cNvSpPr>
            <a:spLocks noGrp="1"/>
          </p:cNvSpPr>
          <p:nvPr/>
        </p:nvSpPr>
        <p:spPr>
          <a:xfrm>
            <a:off x="514350" y="971550"/>
            <a:ext cx="10763250" cy="11430"/>
          </a:xfrm>
          <a:prstGeom prst="rect">
            <a:avLst/>
          </a:prstGeom>
          <a:solidFill>
            <a:srgbClr val="222222"/>
          </a:solidFill>
          <a:ln w="0">
            <a:solidFill>
              <a:srgbClr val="000000">
                <a:alpha val="0"/>
              </a:srgbClr>
            </a:solidFill>
            <a:prstDash val="solid"/>
          </a:ln>
        </p:spPr>
        <p:txBody>
          <a:bodyPr/>
          <a:lstStyle/>
          <a:p>
            <a:endParaRPr lang="en-DE"/>
          </a:p>
        </p:txBody>
      </p:sp>
      <p:sp>
        <p:nvSpPr>
          <p:cNvPr id="5" name="Rectangle 4">
            <a:extLst>
              <a:ext uri="{FF2B5EF4-FFF2-40B4-BE49-F238E27FC236}">
                <a16:creationId xmlns:a16="http://schemas.microsoft.com/office/drawing/2014/main" id="{3A20A7E6-EAA2-4671-B128-2F23529BB3D1}"/>
              </a:ext>
            </a:extLst>
          </p:cNvPr>
          <p:cNvSpPr>
            <a:spLocks noGrp="1"/>
          </p:cNvSpPr>
          <p:nvPr/>
        </p:nvSpPr>
        <p:spPr>
          <a:xfrm>
            <a:off x="552450" y="1276350"/>
            <a:ext cx="4000500" cy="1762125"/>
          </a:xfrm>
          <a:prstGeom prst="rect">
            <a:avLst/>
          </a:prstGeom>
          <a:solidFill>
            <a:srgbClr val="FFFFFF"/>
          </a:solidFill>
          <a:ln w="9525">
            <a:solidFill>
              <a:srgbClr val="D7DDE4"/>
            </a:solidFill>
            <a:prstDash val="solid"/>
          </a:ln>
        </p:spPr>
        <p:txBody>
          <a:bodyPr/>
          <a:lstStyle/>
          <a:p>
            <a:endParaRPr lang="en-DE"/>
          </a:p>
        </p:txBody>
      </p:sp>
      <p:pic>
        <p:nvPicPr>
          <p:cNvPr id="6" name="Picture 5"/>
          <p:cNvPicPr>
            <a:picLocks noChangeAspect="1"/>
          </p:cNvPicPr>
          <p:nvPr/>
        </p:nvPicPr>
        <p:blipFill>
          <a:blip r:embed="rId3"/>
          <a:stretch/>
        </p:blipFill>
        <p:spPr>
          <a:xfrm>
            <a:off x="647700" y="1807075"/>
            <a:ext cx="3810000" cy="605425"/>
          </a:xfrm>
          <a:prstGeom prst="rect">
            <a:avLst/>
          </a:prstGeom>
        </p:spPr>
      </p:pic>
      <p:sp>
        <p:nvSpPr>
          <p:cNvPr id="7" name="Rectangle 6">
            <a:extLst>
              <a:ext uri="{FF2B5EF4-FFF2-40B4-BE49-F238E27FC236}">
                <a16:creationId xmlns:a16="http://schemas.microsoft.com/office/drawing/2014/main" id="{7DD8D9D5-B044-4BD3-977E-6D3E2E22A0D4}"/>
              </a:ext>
            </a:extLst>
          </p:cNvPr>
          <p:cNvSpPr>
            <a:spLocks noGrp="1"/>
          </p:cNvSpPr>
          <p:nvPr/>
        </p:nvSpPr>
        <p:spPr>
          <a:xfrm>
            <a:off x="647700" y="2867025"/>
            <a:ext cx="3810000" cy="104775"/>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533" b="0">
                <a:solidFill>
                  <a:srgbClr val="565656"/>
                </a:solidFill>
                <a:latin typeface="Arial"/>
                <a:ea typeface="Arial"/>
                <a:cs typeface="Arial"/>
              </a:defRPr>
            </a:pPr>
            <a:r>
              <a:rPr sz="533" b="0">
                <a:solidFill>
                  <a:srgbClr val="565656"/>
                </a:solidFill>
                <a:latin typeface="Arial"/>
                <a:ea typeface="Arial"/>
                <a:cs typeface="Arial"/>
              </a:rPr>
              <a:t>Paper Gl. (3): Ordnungsbedingungen</a:t>
            </a:r>
          </a:p>
        </p:txBody>
      </p:sp>
      <p:sp>
        <p:nvSpPr>
          <p:cNvPr id="8" name="Rectangle 7">
            <a:extLst>
              <a:ext uri="{FF2B5EF4-FFF2-40B4-BE49-F238E27FC236}">
                <a16:creationId xmlns:a16="http://schemas.microsoft.com/office/drawing/2014/main" id="{EFAFECEB-47DE-4A9A-A56A-CA2D0F31ADED}"/>
              </a:ext>
            </a:extLst>
          </p:cNvPr>
          <p:cNvSpPr>
            <a:spLocks noGrp="1"/>
          </p:cNvSpPr>
          <p:nvPr/>
        </p:nvSpPr>
        <p:spPr>
          <a:xfrm>
            <a:off x="4905375" y="1276350"/>
            <a:ext cx="6334125" cy="1219200"/>
          </a:xfrm>
          <a:prstGeom prst="rect">
            <a:avLst/>
          </a:prstGeom>
          <a:solidFill>
            <a:srgbClr val="F6F8FA"/>
          </a:solidFill>
          <a:ln w="9525">
            <a:solidFill>
              <a:srgbClr val="7FAAD3"/>
            </a:solidFill>
            <a:prstDash val="solid"/>
          </a:ln>
        </p:spPr>
        <p:txBody>
          <a:bodyPr/>
          <a:lstStyle/>
          <a:p>
            <a:endParaRPr lang="en-DE"/>
          </a:p>
        </p:txBody>
      </p:sp>
      <p:sp>
        <p:nvSpPr>
          <p:cNvPr id="9" name="Rectangle 8">
            <a:extLst>
              <a:ext uri="{FF2B5EF4-FFF2-40B4-BE49-F238E27FC236}">
                <a16:creationId xmlns:a16="http://schemas.microsoft.com/office/drawing/2014/main" id="{246EC4D7-37C9-4F59-8E5D-2E94B3F6CF73}"/>
              </a:ext>
            </a:extLst>
          </p:cNvPr>
          <p:cNvSpPr>
            <a:spLocks noGrp="1"/>
          </p:cNvSpPr>
          <p:nvPr/>
        </p:nvSpPr>
        <p:spPr>
          <a:xfrm>
            <a:off x="4905375" y="1276350"/>
            <a:ext cx="6334125" cy="228600"/>
          </a:xfrm>
          <a:prstGeom prst="rect">
            <a:avLst/>
          </a:prstGeom>
          <a:solidFill>
            <a:srgbClr val="E7F0FA"/>
          </a:solidFill>
          <a:ln w="9525">
            <a:solidFill>
              <a:srgbClr val="7FAAD3"/>
            </a:solidFill>
            <a:prstDash val="solid"/>
          </a:ln>
        </p:spPr>
        <p:txBody>
          <a:bodyPr/>
          <a:lstStyle/>
          <a:p>
            <a:endParaRPr lang="en-DE"/>
          </a:p>
        </p:txBody>
      </p:sp>
      <p:sp>
        <p:nvSpPr>
          <p:cNvPr id="10" name="Rectangle 9">
            <a:extLst>
              <a:ext uri="{FF2B5EF4-FFF2-40B4-BE49-F238E27FC236}">
                <a16:creationId xmlns:a16="http://schemas.microsoft.com/office/drawing/2014/main" id="{60A87399-7523-4217-950D-0D780E8A03E6}"/>
              </a:ext>
            </a:extLst>
          </p:cNvPr>
          <p:cNvSpPr>
            <a:spLocks noGrp="1"/>
          </p:cNvSpPr>
          <p:nvPr/>
        </p:nvSpPr>
        <p:spPr>
          <a:xfrm>
            <a:off x="5000625" y="1333500"/>
            <a:ext cx="6143625"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70" b="1">
                <a:solidFill>
                  <a:srgbClr val="00549F"/>
                </a:solidFill>
                <a:latin typeface="Arial"/>
                <a:ea typeface="Arial"/>
                <a:cs typeface="Arial"/>
              </a:defRPr>
            </a:pPr>
            <a:r>
              <a:rPr sz="570" b="1">
                <a:solidFill>
                  <a:srgbClr val="00549F"/>
                </a:solidFill>
                <a:latin typeface="Arial"/>
                <a:ea typeface="Arial"/>
                <a:cs typeface="Arial"/>
              </a:rPr>
              <a:t>mip_model.py:157-164</a:t>
            </a:r>
          </a:p>
        </p:txBody>
      </p:sp>
      <p:sp>
        <p:nvSpPr>
          <p:cNvPr id="11" name="Rectangle 10">
            <a:extLst>
              <a:ext uri="{FF2B5EF4-FFF2-40B4-BE49-F238E27FC236}">
                <a16:creationId xmlns:a16="http://schemas.microsoft.com/office/drawing/2014/main" id="{E9E5D83E-8CDD-41D4-8F70-ECA978B7C7EC}"/>
              </a:ext>
            </a:extLst>
          </p:cNvPr>
          <p:cNvSpPr>
            <a:spLocks noGrp="1"/>
          </p:cNvSpPr>
          <p:nvPr/>
        </p:nvSpPr>
        <p:spPr>
          <a:xfrm>
            <a:off x="5019675" y="1600200"/>
            <a:ext cx="6105525"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85" b="0">
                <a:solidFill>
                  <a:srgbClr val="111827"/>
                </a:solidFill>
                <a:latin typeface="Consolas"/>
                <a:ea typeface="Consolas"/>
                <a:cs typeface="Consolas"/>
              </a:defRPr>
            </a:pPr>
            <a:r>
              <a:rPr sz="585" b="0">
                <a:solidFill>
                  <a:srgbClr val="111827"/>
                </a:solidFill>
                <a:latin typeface="Consolas"/>
                <a:ea typeface="Consolas"/>
                <a:cs typeface="Consolas"/>
              </a:rPr>
              <a:t>        for train in self.instance.trains:</a:t>
            </a:r>
          </a:p>
          <a:p>
            <a:pPr algn="l">
              <a:defRPr sz="585" b="0">
                <a:solidFill>
                  <a:srgbClr val="111827"/>
                </a:solidFill>
                <a:latin typeface="Consolas"/>
                <a:ea typeface="Consolas"/>
                <a:cs typeface="Consolas"/>
              </a:defRPr>
            </a:pPr>
            <a:r>
              <a:rPr sz="585" b="0">
                <a:solidFill>
                  <a:srgbClr val="111827"/>
                </a:solidFill>
                <a:latin typeface="Consolas"/>
                <a:ea typeface="Consolas"/>
                <a:cs typeface="Consolas"/>
              </a:rPr>
              <a:t>            for op in train.operations:</a:t>
            </a:r>
          </a:p>
          <a:p>
            <a:pPr algn="l">
              <a:defRPr sz="585" b="0">
                <a:solidFill>
                  <a:srgbClr val="111827"/>
                </a:solidFill>
                <a:latin typeface="Consolas"/>
                <a:ea typeface="Consolas"/>
                <a:cs typeface="Consolas"/>
              </a:defRPr>
            </a:pPr>
            <a:r>
              <a:rPr sz="585" b="0">
                <a:solidFill>
                  <a:srgbClr val="111827"/>
                </a:solidFill>
                <a:latin typeface="Consolas"/>
                <a:ea typeface="Consolas"/>
                <a:cs typeface="Consolas"/>
              </a:rPr>
              <a:t>                for succ in op.successors:</a:t>
            </a:r>
          </a:p>
          <a:p>
            <a:pPr algn="l">
              <a:defRPr sz="585" b="0">
                <a:solidFill>
                  <a:srgbClr val="111827"/>
                </a:solidFill>
                <a:latin typeface="Consolas"/>
                <a:ea typeface="Consolas"/>
                <a:cs typeface="Consolas"/>
              </a:defRPr>
            </a:pPr>
            <a:r>
              <a:rPr sz="585" b="0">
                <a:solidFill>
                  <a:srgbClr val="111827"/>
                </a:solidFill>
                <a:latin typeface="Consolas"/>
                <a:ea typeface="Consolas"/>
                <a:cs typeface="Consolas"/>
              </a:rPr>
              <a:t>                    # Enforce strictly increasing topological sequence (u-values) </a:t>
            </a:r>
          </a:p>
          <a:p>
            <a:pPr algn="l">
              <a:defRPr sz="585" b="0">
                <a:solidFill>
                  <a:srgbClr val="111827"/>
                </a:solidFill>
                <a:latin typeface="Consolas"/>
                <a:ea typeface="Consolas"/>
                <a:cs typeface="Consolas"/>
              </a:defRPr>
            </a:pPr>
            <a:r>
              <a:rPr sz="585" b="0">
                <a:solidFill>
                  <a:srgbClr val="111827"/>
                </a:solidFill>
                <a:latin typeface="Consolas"/>
                <a:ea typeface="Consolas"/>
                <a:cs typeface="Consolas"/>
              </a:rPr>
              <a:t>                    # as the train progresses forward through its route.</a:t>
            </a:r>
          </a:p>
          <a:p>
            <a:pPr algn="l">
              <a:defRPr sz="585" b="0">
                <a:solidFill>
                  <a:srgbClr val="111827"/>
                </a:solidFill>
                <a:latin typeface="Consolas"/>
                <a:ea typeface="Consolas"/>
                <a:cs typeface="Consolas"/>
              </a:defRPr>
            </a:pPr>
            <a:r>
              <a:rPr sz="585" b="0">
                <a:solidFill>
                  <a:srgbClr val="111827"/>
                </a:solidFill>
                <a:latin typeface="Consolas"/>
                <a:ea typeface="Consolas"/>
                <a:cs typeface="Consolas"/>
              </a:rPr>
              <a:t>                    # --&gt; Corresponds to DISPLIB Paper Eq (3) upper part: u_a^i - u_b^i &lt;= -1 + M(1 - y_{a,b}^i)</a:t>
            </a:r>
          </a:p>
          <a:p>
            <a:pPr algn="l">
              <a:defRPr sz="585" b="0">
                <a:solidFill>
                  <a:srgbClr val="111827"/>
                </a:solidFill>
                <a:latin typeface="Consolas"/>
                <a:ea typeface="Consolas"/>
                <a:cs typeface="Consolas"/>
              </a:defRPr>
            </a:pPr>
            <a:r>
              <a:rPr sz="585" b="0">
                <a:solidFill>
                  <a:srgbClr val="111827"/>
                </a:solidFill>
                <a:latin typeface="Consolas"/>
                <a:ea typeface="Consolas"/>
                <a:cs typeface="Consolas"/>
              </a:rPr>
              <a:t>                    #     (u_a^i &lt;==&gt; self.u[..op.id], u_b^i &lt;==&gt; self.u[..succ])</a:t>
            </a:r>
          </a:p>
          <a:p>
            <a:pPr algn="l">
              <a:defRPr sz="585" b="0">
                <a:solidFill>
                  <a:srgbClr val="111827"/>
                </a:solidFill>
                <a:latin typeface="Consolas"/>
                <a:ea typeface="Consolas"/>
                <a:cs typeface="Consolas"/>
              </a:defRPr>
            </a:pPr>
            <a:r>
              <a:rPr sz="585" b="0">
                <a:solidFill>
                  <a:srgbClr val="111827"/>
                </a:solidFill>
                <a:latin typeface="Consolas"/>
                <a:ea typeface="Consolas"/>
                <a:cs typeface="Consolas"/>
              </a:rPr>
              <a:t>                    self.model.addConstr((self.y[train.id, op.id, succ] == 1) &gt;&gt; (self.u[train.id, op.id] - self.u[train.id, succ] &lt;= -1))</a:t>
            </a:r>
          </a:p>
        </p:txBody>
      </p:sp>
      <p:sp>
        <p:nvSpPr>
          <p:cNvPr id="12" name="Rectangle 11">
            <a:extLst>
              <a:ext uri="{FF2B5EF4-FFF2-40B4-BE49-F238E27FC236}">
                <a16:creationId xmlns:a16="http://schemas.microsoft.com/office/drawing/2014/main" id="{86FEF575-51F6-4B94-9980-FE0BF4F56E25}"/>
              </a:ext>
            </a:extLst>
          </p:cNvPr>
          <p:cNvSpPr>
            <a:spLocks noGrp="1"/>
          </p:cNvSpPr>
          <p:nvPr/>
        </p:nvSpPr>
        <p:spPr>
          <a:xfrm>
            <a:off x="4905375" y="2667000"/>
            <a:ext cx="6334125" cy="1276350"/>
          </a:xfrm>
          <a:prstGeom prst="rect">
            <a:avLst/>
          </a:prstGeom>
          <a:solidFill>
            <a:srgbClr val="F6F8FA"/>
          </a:solidFill>
          <a:ln w="9525">
            <a:solidFill>
              <a:srgbClr val="7FAAD3"/>
            </a:solidFill>
            <a:prstDash val="solid"/>
          </a:ln>
        </p:spPr>
        <p:txBody>
          <a:bodyPr/>
          <a:lstStyle/>
          <a:p>
            <a:endParaRPr lang="en-DE"/>
          </a:p>
        </p:txBody>
      </p:sp>
      <p:sp>
        <p:nvSpPr>
          <p:cNvPr id="13" name="Rectangle 12">
            <a:extLst>
              <a:ext uri="{FF2B5EF4-FFF2-40B4-BE49-F238E27FC236}">
                <a16:creationId xmlns:a16="http://schemas.microsoft.com/office/drawing/2014/main" id="{74199F93-CC1D-44F4-B161-D3E1EF80EADB}"/>
              </a:ext>
            </a:extLst>
          </p:cNvPr>
          <p:cNvSpPr>
            <a:spLocks noGrp="1"/>
          </p:cNvSpPr>
          <p:nvPr/>
        </p:nvSpPr>
        <p:spPr>
          <a:xfrm>
            <a:off x="4905375" y="2667000"/>
            <a:ext cx="6334125" cy="228600"/>
          </a:xfrm>
          <a:prstGeom prst="rect">
            <a:avLst/>
          </a:prstGeom>
          <a:solidFill>
            <a:srgbClr val="E7F0FA"/>
          </a:solidFill>
          <a:ln w="9525">
            <a:solidFill>
              <a:srgbClr val="7FAAD3"/>
            </a:solidFill>
            <a:prstDash val="solid"/>
          </a:ln>
        </p:spPr>
        <p:txBody>
          <a:bodyPr/>
          <a:lstStyle/>
          <a:p>
            <a:endParaRPr lang="en-DE"/>
          </a:p>
        </p:txBody>
      </p:sp>
      <p:sp>
        <p:nvSpPr>
          <p:cNvPr id="14" name="Rectangle 13">
            <a:extLst>
              <a:ext uri="{FF2B5EF4-FFF2-40B4-BE49-F238E27FC236}">
                <a16:creationId xmlns:a16="http://schemas.microsoft.com/office/drawing/2014/main" id="{6F293D12-62A7-4C59-9B53-342865747728}"/>
              </a:ext>
            </a:extLst>
          </p:cNvPr>
          <p:cNvSpPr>
            <a:spLocks noGrp="1"/>
          </p:cNvSpPr>
          <p:nvPr/>
        </p:nvSpPr>
        <p:spPr>
          <a:xfrm>
            <a:off x="5000625" y="2724150"/>
            <a:ext cx="6143625"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70" b="1">
                <a:solidFill>
                  <a:srgbClr val="00549F"/>
                </a:solidFill>
                <a:latin typeface="Arial"/>
                <a:ea typeface="Arial"/>
                <a:cs typeface="Arial"/>
              </a:defRPr>
            </a:pPr>
            <a:r>
              <a:rPr sz="570" b="1">
                <a:solidFill>
                  <a:srgbClr val="00549F"/>
                </a:solidFill>
                <a:latin typeface="Arial"/>
                <a:ea typeface="Arial"/>
                <a:cs typeface="Arial"/>
              </a:rPr>
              <a:t>cp_model.py:146-153</a:t>
            </a:r>
          </a:p>
        </p:txBody>
      </p:sp>
      <p:sp>
        <p:nvSpPr>
          <p:cNvPr id="15" name="Rectangle 14">
            <a:extLst>
              <a:ext uri="{FF2B5EF4-FFF2-40B4-BE49-F238E27FC236}">
                <a16:creationId xmlns:a16="http://schemas.microsoft.com/office/drawing/2014/main" id="{10DFC83D-18E6-4574-9E63-1E829925DDE4}"/>
              </a:ext>
            </a:extLst>
          </p:cNvPr>
          <p:cNvSpPr>
            <a:spLocks noGrp="1"/>
          </p:cNvSpPr>
          <p:nvPr/>
        </p:nvSpPr>
        <p:spPr>
          <a:xfrm>
            <a:off x="5019675" y="2990850"/>
            <a:ext cx="6105525" cy="876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78" b="0">
                <a:solidFill>
                  <a:srgbClr val="111827"/>
                </a:solidFill>
                <a:latin typeface="Consolas"/>
                <a:ea typeface="Consolas"/>
                <a:cs typeface="Consolas"/>
              </a:defRPr>
            </a:pPr>
            <a:r>
              <a:rPr sz="578" b="0">
                <a:solidFill>
                  <a:srgbClr val="111827"/>
                </a:solidFill>
                <a:latin typeface="Consolas"/>
                <a:ea typeface="Consolas"/>
                <a:cs typeface="Consolas"/>
              </a:rPr>
              <a:t>            for succ_a in op_a.successors:</a:t>
            </a:r>
          </a:p>
          <a:p>
            <a:pPr algn="l">
              <a:defRPr sz="578" b="0">
                <a:solidFill>
                  <a:srgbClr val="111827"/>
                </a:solidFill>
                <a:latin typeface="Consolas"/>
                <a:ea typeface="Consolas"/>
                <a:cs typeface="Consolas"/>
              </a:defRPr>
            </a:pPr>
            <a:r>
              <a:rPr sz="578" b="0">
                <a:solidFill>
                  <a:srgbClr val="111827"/>
                </a:solidFill>
                <a:latin typeface="Consolas"/>
                <a:ea typeface="Consolas"/>
                <a:cs typeface="Consolas"/>
              </a:rPr>
              <a:t>                # If Train 1 goes before Train 2 (z_ab==1), Train 1 must reach succ_a before Train 2 starts o2.</a:t>
            </a:r>
          </a:p>
          <a:p>
            <a:pPr algn="l">
              <a:defRPr sz="578" b="0">
                <a:solidFill>
                  <a:srgbClr val="111827"/>
                </a:solidFill>
                <a:latin typeface="Consolas"/>
                <a:ea typeface="Consolas"/>
                <a:cs typeface="Consolas"/>
              </a:defRPr>
            </a:pPr>
            <a:r>
              <a:rPr sz="578" b="0">
                <a:solidFill>
                  <a:srgbClr val="111827"/>
                </a:solidFill>
                <a:latin typeface="Consolas"/>
                <a:ea typeface="Consolas"/>
                <a:cs typeface="Consolas"/>
              </a:rPr>
              <a:t>                self.model.Add(self.starts[t2, o2] &gt;= self.starts[t1, succ_a] + l1).OnlyEnforceIf([z_ab, self.y[t1, o1, succ_a]])</a:t>
            </a:r>
          </a:p>
          <a:p>
            <a:pPr algn="l">
              <a:defRPr sz="578" b="0">
                <a:solidFill>
                  <a:srgbClr val="111827"/>
                </a:solidFill>
                <a:latin typeface="Consolas"/>
                <a:ea typeface="Consolas"/>
                <a:cs typeface="Consolas"/>
              </a:defRPr>
            </a:pPr>
            <a:r>
              <a:rPr sz="578" b="0">
                <a:solidFill>
                  <a:srgbClr val="111827"/>
                </a:solidFill>
                <a:latin typeface="Consolas"/>
                <a:ea typeface="Consolas"/>
                <a:cs typeface="Consolas"/>
              </a:rPr>
              <a:t>                self.model.Add(self.u[t2, o2] &gt;= self.u[t1, succ_a] + 1).OnlyEnforceIf([z_ab, self.y[t1, o1, succ_a]])</a:t>
            </a:r>
          </a:p>
          <a:p>
            <a:pPr algn="l">
              <a:defRPr sz="578" b="0">
                <a:solidFill>
                  <a:srgbClr val="111827"/>
                </a:solidFill>
                <a:latin typeface="Consolas"/>
                <a:ea typeface="Consolas"/>
                <a:cs typeface="Consolas"/>
              </a:defRPr>
            </a:pPr>
            <a:r>
              <a:rPr sz="578" b="0">
                <a:solidFill>
                  <a:srgbClr val="111827"/>
                </a:solidFill>
                <a:latin typeface="Consolas"/>
                <a:ea typeface="Consolas"/>
                <a:cs typeface="Consolas"/>
              </a:rPr>
              <a:t>            </a:t>
            </a:r>
          </a:p>
          <a:p>
            <a:pPr algn="l">
              <a:defRPr sz="578" b="0">
                <a:solidFill>
                  <a:srgbClr val="111827"/>
                </a:solidFill>
                <a:latin typeface="Consolas"/>
                <a:ea typeface="Consolas"/>
                <a:cs typeface="Consolas"/>
              </a:defRPr>
            </a:pPr>
            <a:r>
              <a:rPr sz="578" b="0">
                <a:solidFill>
                  <a:srgbClr val="111827"/>
                </a:solidFill>
                <a:latin typeface="Consolas"/>
                <a:ea typeface="Consolas"/>
                <a:cs typeface="Consolas"/>
              </a:rPr>
              <a:t>            for succ_b in op_b.successors:</a:t>
            </a:r>
          </a:p>
          <a:p>
            <a:pPr algn="l">
              <a:defRPr sz="578" b="0">
                <a:solidFill>
                  <a:srgbClr val="111827"/>
                </a:solidFill>
                <a:latin typeface="Consolas"/>
                <a:ea typeface="Consolas"/>
                <a:cs typeface="Consolas"/>
              </a:defRPr>
            </a:pPr>
            <a:r>
              <a:rPr sz="578" b="0">
                <a:solidFill>
                  <a:srgbClr val="111827"/>
                </a:solidFill>
                <a:latin typeface="Consolas"/>
                <a:ea typeface="Consolas"/>
                <a:cs typeface="Consolas"/>
              </a:rPr>
              <a:t>                self.model.Add(self.starts[t1, o1] &gt;= self.starts[t2, succ_b] + l2).OnlyEnforceIf([z_ba, self.y[t2, o2, succ_b]])</a:t>
            </a:r>
          </a:p>
          <a:p>
            <a:pPr algn="l">
              <a:defRPr sz="578" b="0">
                <a:solidFill>
                  <a:srgbClr val="111827"/>
                </a:solidFill>
                <a:latin typeface="Consolas"/>
                <a:ea typeface="Consolas"/>
                <a:cs typeface="Consolas"/>
              </a:defRPr>
            </a:pPr>
            <a:r>
              <a:rPr sz="578" b="0">
                <a:solidFill>
                  <a:srgbClr val="111827"/>
                </a:solidFill>
                <a:latin typeface="Consolas"/>
                <a:ea typeface="Consolas"/>
                <a:cs typeface="Consolas"/>
              </a:rPr>
              <a:t>                self.model.Add(self.u[t1, o1] &gt;= self.u[t2, succ_b] + 1).OnlyEnforceIf([z_ba, self.y[t2, o2, succ_b]])</a:t>
            </a:r>
          </a:p>
        </p:txBody>
      </p:sp>
      <p:sp>
        <p:nvSpPr>
          <p:cNvPr id="16" name="Rectangle 15">
            <a:extLst>
              <a:ext uri="{FF2B5EF4-FFF2-40B4-BE49-F238E27FC236}">
                <a16:creationId xmlns:a16="http://schemas.microsoft.com/office/drawing/2014/main" id="{51720B0F-C7B1-4985-819E-6D20A5EB2E79}"/>
              </a:ext>
            </a:extLst>
          </p:cNvPr>
          <p:cNvSpPr>
            <a:spLocks noGrp="1"/>
          </p:cNvSpPr>
          <p:nvPr/>
        </p:nvSpPr>
        <p:spPr>
          <a:xfrm>
            <a:off x="4905375" y="4114800"/>
            <a:ext cx="6334125" cy="1162050"/>
          </a:xfrm>
          <a:prstGeom prst="rect">
            <a:avLst/>
          </a:prstGeom>
          <a:solidFill>
            <a:srgbClr val="F6F8FA"/>
          </a:solidFill>
          <a:ln w="9525">
            <a:solidFill>
              <a:srgbClr val="7FAAD3"/>
            </a:solidFill>
            <a:prstDash val="solid"/>
          </a:ln>
        </p:spPr>
        <p:txBody>
          <a:bodyPr/>
          <a:lstStyle/>
          <a:p>
            <a:endParaRPr lang="en-DE"/>
          </a:p>
        </p:txBody>
      </p:sp>
      <p:sp>
        <p:nvSpPr>
          <p:cNvPr id="17" name="Rectangle 16">
            <a:extLst>
              <a:ext uri="{FF2B5EF4-FFF2-40B4-BE49-F238E27FC236}">
                <a16:creationId xmlns:a16="http://schemas.microsoft.com/office/drawing/2014/main" id="{C379E48B-228C-487B-8446-7040AE572B94}"/>
              </a:ext>
            </a:extLst>
          </p:cNvPr>
          <p:cNvSpPr>
            <a:spLocks noGrp="1"/>
          </p:cNvSpPr>
          <p:nvPr/>
        </p:nvSpPr>
        <p:spPr>
          <a:xfrm>
            <a:off x="4905375" y="4114800"/>
            <a:ext cx="6334125" cy="228600"/>
          </a:xfrm>
          <a:prstGeom prst="rect">
            <a:avLst/>
          </a:prstGeom>
          <a:solidFill>
            <a:srgbClr val="E7F0FA"/>
          </a:solidFill>
          <a:ln w="9525">
            <a:solidFill>
              <a:srgbClr val="7FAAD3"/>
            </a:solidFill>
            <a:prstDash val="solid"/>
          </a:ln>
        </p:spPr>
        <p:txBody>
          <a:bodyPr/>
          <a:lstStyle/>
          <a:p>
            <a:endParaRPr lang="en-DE"/>
          </a:p>
        </p:txBody>
      </p:sp>
      <p:sp>
        <p:nvSpPr>
          <p:cNvPr id="18" name="Rectangle 17">
            <a:extLst>
              <a:ext uri="{FF2B5EF4-FFF2-40B4-BE49-F238E27FC236}">
                <a16:creationId xmlns:a16="http://schemas.microsoft.com/office/drawing/2014/main" id="{FB0BDFF4-4ED2-4619-A063-CFDADE54BA90}"/>
              </a:ext>
            </a:extLst>
          </p:cNvPr>
          <p:cNvSpPr>
            <a:spLocks noGrp="1"/>
          </p:cNvSpPr>
          <p:nvPr/>
        </p:nvSpPr>
        <p:spPr>
          <a:xfrm>
            <a:off x="5000625" y="4171950"/>
            <a:ext cx="6143625"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70" b="1">
                <a:solidFill>
                  <a:srgbClr val="00549F"/>
                </a:solidFill>
                <a:latin typeface="Arial"/>
                <a:ea typeface="Arial"/>
                <a:cs typeface="Arial"/>
              </a:defRPr>
            </a:pPr>
            <a:r>
              <a:rPr sz="570" b="1">
                <a:solidFill>
                  <a:srgbClr val="00549F"/>
                </a:solidFill>
                <a:latin typeface="Arial"/>
                <a:ea typeface="Arial"/>
                <a:cs typeface="Arial"/>
              </a:rPr>
              <a:t>cp_model.py:190-197</a:t>
            </a:r>
          </a:p>
        </p:txBody>
      </p:sp>
      <p:sp>
        <p:nvSpPr>
          <p:cNvPr id="19" name="Rectangle 18">
            <a:extLst>
              <a:ext uri="{FF2B5EF4-FFF2-40B4-BE49-F238E27FC236}">
                <a16:creationId xmlns:a16="http://schemas.microsoft.com/office/drawing/2014/main" id="{A8659381-240B-48BC-BC85-3BB838CA39AF}"/>
              </a:ext>
            </a:extLst>
          </p:cNvPr>
          <p:cNvSpPr>
            <a:spLocks noGrp="1"/>
          </p:cNvSpPr>
          <p:nvPr/>
        </p:nvSpPr>
        <p:spPr>
          <a:xfrm>
            <a:off x="5019675" y="4438650"/>
            <a:ext cx="6105525" cy="762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78" b="0">
                <a:solidFill>
                  <a:srgbClr val="111827"/>
                </a:solidFill>
                <a:latin typeface="Consolas"/>
                <a:ea typeface="Consolas"/>
                <a:cs typeface="Consolas"/>
              </a:defRPr>
            </a:pPr>
            <a:r>
              <a:rPr sz="578" b="0">
                <a:solidFill>
                  <a:srgbClr val="111827"/>
                </a:solidFill>
                <a:latin typeface="Consolas"/>
                <a:ea typeface="Consolas"/>
                <a:cs typeface="Consolas"/>
              </a:rPr>
              <a:t>                # Precedences Time Logic</a:t>
            </a:r>
          </a:p>
          <a:p>
            <a:pPr algn="l">
              <a:defRPr sz="578" b="0">
                <a:solidFill>
                  <a:srgbClr val="111827"/>
                </a:solidFill>
                <a:latin typeface="Consolas"/>
                <a:ea typeface="Consolas"/>
                <a:cs typeface="Consolas"/>
              </a:defRPr>
            </a:pPr>
            <a:r>
              <a:rPr sz="578" b="0">
                <a:solidFill>
                  <a:srgbClr val="111827"/>
                </a:solidFill>
                <a:latin typeface="Consolas"/>
                <a:ea typeface="Consolas"/>
                <a:cs typeface="Consolas"/>
              </a:rPr>
              <a:t>                for succ in op.successors:</a:t>
            </a:r>
          </a:p>
          <a:p>
            <a:pPr algn="l">
              <a:defRPr sz="578" b="0">
                <a:solidFill>
                  <a:srgbClr val="111827"/>
                </a:solidFill>
                <a:latin typeface="Consolas"/>
                <a:ea typeface="Consolas"/>
                <a:cs typeface="Consolas"/>
              </a:defRPr>
            </a:pPr>
            <a:r>
              <a:rPr sz="578" b="0">
                <a:solidFill>
                  <a:srgbClr val="111827"/>
                </a:solidFill>
                <a:latin typeface="Consolas"/>
                <a:ea typeface="Consolas"/>
                <a:cs typeface="Consolas"/>
              </a:rPr>
              <a:t>                    # IF y[op-&gt;succ] is true =&gt; start(succ) == end(op)</a:t>
            </a:r>
          </a:p>
          <a:p>
            <a:pPr algn="l">
              <a:defRPr sz="578" b="0">
                <a:solidFill>
                  <a:srgbClr val="111827"/>
                </a:solidFill>
                <a:latin typeface="Consolas"/>
                <a:ea typeface="Consolas"/>
                <a:cs typeface="Consolas"/>
              </a:defRPr>
            </a:pPr>
            <a:r>
              <a:rPr sz="578" b="0">
                <a:solidFill>
                  <a:srgbClr val="111827"/>
                </a:solidFill>
                <a:latin typeface="Consolas"/>
                <a:ea typeface="Consolas"/>
                <a:cs typeface="Consolas"/>
              </a:rPr>
              <a:t>                    # This is critical: the train occupies the resource until it physically starts the next operation!</a:t>
            </a:r>
          </a:p>
          <a:p>
            <a:pPr algn="l">
              <a:defRPr sz="578" b="0">
                <a:solidFill>
                  <a:srgbClr val="111827"/>
                </a:solidFill>
                <a:latin typeface="Consolas"/>
                <a:ea typeface="Consolas"/>
                <a:cs typeface="Consolas"/>
              </a:defRPr>
            </a:pPr>
            <a:r>
              <a:rPr sz="578" b="0">
                <a:solidFill>
                  <a:srgbClr val="111827"/>
                </a:solidFill>
                <a:latin typeface="Consolas"/>
                <a:ea typeface="Consolas"/>
                <a:cs typeface="Consolas"/>
              </a:rPr>
              <a:t>                    self.model.Add(self.starts[t_id, succ] == self.ends[t_id, o_id]).OnlyEnforceIf(self.y[t_id, o_id, succ])</a:t>
            </a:r>
          </a:p>
          <a:p>
            <a:pPr algn="l">
              <a:defRPr sz="578" b="0">
                <a:solidFill>
                  <a:srgbClr val="111827"/>
                </a:solidFill>
                <a:latin typeface="Consolas"/>
                <a:ea typeface="Consolas"/>
                <a:cs typeface="Consolas"/>
              </a:defRPr>
            </a:pPr>
            <a:r>
              <a:rPr sz="578" b="0">
                <a:solidFill>
                  <a:srgbClr val="111827"/>
                </a:solidFill>
                <a:latin typeface="Consolas"/>
                <a:ea typeface="Consolas"/>
                <a:cs typeface="Consolas"/>
              </a:rPr>
              <a:t>                    </a:t>
            </a:r>
          </a:p>
          <a:p>
            <a:pPr algn="l">
              <a:defRPr sz="578" b="0">
                <a:solidFill>
                  <a:srgbClr val="111827"/>
                </a:solidFill>
                <a:latin typeface="Consolas"/>
                <a:ea typeface="Consolas"/>
                <a:cs typeface="Consolas"/>
              </a:defRPr>
            </a:pPr>
            <a:r>
              <a:rPr sz="578" b="0">
                <a:solidFill>
                  <a:srgbClr val="111827"/>
                </a:solidFill>
                <a:latin typeface="Consolas"/>
                <a:ea typeface="Consolas"/>
                <a:cs typeface="Consolas"/>
              </a:rPr>
              <a:t>                    # Strict topological rank progression</a:t>
            </a:r>
          </a:p>
          <a:p>
            <a:pPr algn="l">
              <a:defRPr sz="578" b="0">
                <a:solidFill>
                  <a:srgbClr val="111827"/>
                </a:solidFill>
                <a:latin typeface="Consolas"/>
                <a:ea typeface="Consolas"/>
                <a:cs typeface="Consolas"/>
              </a:defRPr>
            </a:pPr>
            <a:r>
              <a:rPr sz="578" b="0">
                <a:solidFill>
                  <a:srgbClr val="111827"/>
                </a:solidFill>
                <a:latin typeface="Consolas"/>
                <a:ea typeface="Consolas"/>
                <a:cs typeface="Consolas"/>
              </a:rPr>
              <a:t>                    self.model.Add(self.u[t_id, succ] &gt;= self.u[t_id, o_id] + 1).OnlyEnforceIf(self.y[t_id, o_id, succ])</a:t>
            </a:r>
          </a:p>
        </p:txBody>
      </p:sp>
      <p:sp>
        <p:nvSpPr>
          <p:cNvPr id="20" name="Rectangle 19">
            <a:extLst>
              <a:ext uri="{FF2B5EF4-FFF2-40B4-BE49-F238E27FC236}">
                <a16:creationId xmlns:a16="http://schemas.microsoft.com/office/drawing/2014/main" id="{D9CF7679-BCE3-4168-89E4-8C247BB975C0}"/>
              </a:ext>
            </a:extLst>
          </p:cNvPr>
          <p:cNvSpPr>
            <a:spLocks noGrp="1"/>
          </p:cNvSpPr>
          <p:nvPr/>
        </p:nvSpPr>
        <p:spPr>
          <a:xfrm>
            <a:off x="552450" y="3333750"/>
            <a:ext cx="4000500" cy="914400"/>
          </a:xfrm>
          <a:prstGeom prst="rect">
            <a:avLst/>
          </a:prstGeom>
          <a:solidFill>
            <a:srgbClr val="FFFFFF"/>
          </a:solidFill>
          <a:ln w="10478">
            <a:solidFill>
              <a:srgbClr val="00549F"/>
            </a:solidFill>
            <a:prstDash val="solid"/>
          </a:ln>
        </p:spPr>
        <p:txBody>
          <a:bodyPr/>
          <a:lstStyle/>
          <a:p>
            <a:endParaRPr lang="en-DE"/>
          </a:p>
        </p:txBody>
      </p:sp>
      <p:sp>
        <p:nvSpPr>
          <p:cNvPr id="21" name="Rectangle 20">
            <a:extLst>
              <a:ext uri="{FF2B5EF4-FFF2-40B4-BE49-F238E27FC236}">
                <a16:creationId xmlns:a16="http://schemas.microsoft.com/office/drawing/2014/main" id="{8010F23E-CFE2-44A8-AEFD-1E52D9EE6682}"/>
              </a:ext>
            </a:extLst>
          </p:cNvPr>
          <p:cNvSpPr>
            <a:spLocks noGrp="1"/>
          </p:cNvSpPr>
          <p:nvPr/>
        </p:nvSpPr>
        <p:spPr>
          <a:xfrm>
            <a:off x="666750" y="3429000"/>
            <a:ext cx="37719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1">
                <a:solidFill>
                  <a:srgbClr val="00549F"/>
                </a:solidFill>
                <a:latin typeface="Arial"/>
                <a:ea typeface="Arial"/>
                <a:cs typeface="Arial"/>
              </a:defRPr>
            </a:pPr>
            <a:r>
              <a:rPr sz="563" b="1">
                <a:solidFill>
                  <a:srgbClr val="00549F"/>
                </a:solidFill>
                <a:latin typeface="Arial"/>
                <a:ea typeface="Arial"/>
                <a:cs typeface="Arial"/>
              </a:rPr>
              <a:t>SPRECHPUNKT</a:t>
            </a:r>
          </a:p>
        </p:txBody>
      </p:sp>
      <p:sp>
        <p:nvSpPr>
          <p:cNvPr id="22" name="Rectangle 21">
            <a:extLst>
              <a:ext uri="{FF2B5EF4-FFF2-40B4-BE49-F238E27FC236}">
                <a16:creationId xmlns:a16="http://schemas.microsoft.com/office/drawing/2014/main" id="{5D7D1657-CB73-47ED-8C95-C851DFE3BE1E}"/>
              </a:ext>
            </a:extLst>
          </p:cNvPr>
          <p:cNvSpPr>
            <a:spLocks noGrp="1"/>
          </p:cNvSpPr>
          <p:nvPr/>
        </p:nvSpPr>
        <p:spPr>
          <a:xfrm>
            <a:off x="666750" y="3619500"/>
            <a:ext cx="37719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73" b="0">
                <a:solidFill>
                  <a:srgbClr val="111111"/>
                </a:solidFill>
                <a:latin typeface="Arial"/>
                <a:ea typeface="Arial"/>
                <a:cs typeface="Arial"/>
              </a:defRPr>
            </a:pPr>
            <a:r>
              <a:rPr sz="773" b="0">
                <a:solidFill>
                  <a:srgbClr val="111111"/>
                </a:solidFill>
                <a:latin typeface="Arial"/>
                <a:ea typeface="Arial"/>
                <a:cs typeface="Arial"/>
              </a:rPr>
              <a:t>`u` funktioniert wie ein topologischer Rang. Wenn Operation A vor B liegt, muss der Rang von A kleiner sein.</a:t>
            </a:r>
          </a:p>
        </p:txBody>
      </p:sp>
      <p:sp>
        <p:nvSpPr>
          <p:cNvPr id="23" name="Rectangle 22">
            <a:extLst>
              <a:ext uri="{FF2B5EF4-FFF2-40B4-BE49-F238E27FC236}">
                <a16:creationId xmlns:a16="http://schemas.microsoft.com/office/drawing/2014/main" id="{1FC30E8A-E2DA-4E85-AFF6-D2081B244A47}"/>
              </a:ext>
            </a:extLst>
          </p:cNvPr>
          <p:cNvSpPr>
            <a:spLocks noGrp="1"/>
          </p:cNvSpPr>
          <p:nvPr/>
        </p:nvSpPr>
        <p:spPr>
          <a:xfrm>
            <a:off x="552450" y="4438650"/>
            <a:ext cx="4000500" cy="723900"/>
          </a:xfrm>
          <a:prstGeom prst="rect">
            <a:avLst/>
          </a:prstGeom>
          <a:solidFill>
            <a:srgbClr val="FFFFFF"/>
          </a:solidFill>
          <a:ln w="10478">
            <a:solidFill>
              <a:srgbClr val="FDB515"/>
            </a:solidFill>
            <a:prstDash val="solid"/>
          </a:ln>
        </p:spPr>
        <p:txBody>
          <a:bodyPr/>
          <a:lstStyle/>
          <a:p>
            <a:endParaRPr lang="en-DE"/>
          </a:p>
        </p:txBody>
      </p:sp>
      <p:sp>
        <p:nvSpPr>
          <p:cNvPr id="24" name="Rectangle 23">
            <a:extLst>
              <a:ext uri="{FF2B5EF4-FFF2-40B4-BE49-F238E27FC236}">
                <a16:creationId xmlns:a16="http://schemas.microsoft.com/office/drawing/2014/main" id="{81C2A597-7B71-414A-8896-827367950026}"/>
              </a:ext>
            </a:extLst>
          </p:cNvPr>
          <p:cNvSpPr>
            <a:spLocks noGrp="1"/>
          </p:cNvSpPr>
          <p:nvPr/>
        </p:nvSpPr>
        <p:spPr>
          <a:xfrm>
            <a:off x="666750" y="4533900"/>
            <a:ext cx="37719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1">
                <a:solidFill>
                  <a:srgbClr val="FDB515"/>
                </a:solidFill>
                <a:latin typeface="Arial"/>
                <a:ea typeface="Arial"/>
                <a:cs typeface="Arial"/>
              </a:defRPr>
            </a:pPr>
            <a:r>
              <a:rPr sz="563" b="1">
                <a:solidFill>
                  <a:srgbClr val="FDB515"/>
                </a:solidFill>
                <a:latin typeface="Arial"/>
                <a:ea typeface="Arial"/>
                <a:cs typeface="Arial"/>
              </a:rPr>
              <a:t>EHRLICH SAGEN</a:t>
            </a:r>
          </a:p>
        </p:txBody>
      </p:sp>
      <p:sp>
        <p:nvSpPr>
          <p:cNvPr id="25" name="Rectangle 24">
            <a:extLst>
              <a:ext uri="{FF2B5EF4-FFF2-40B4-BE49-F238E27FC236}">
                <a16:creationId xmlns:a16="http://schemas.microsoft.com/office/drawing/2014/main" id="{A856A017-83BE-4F24-8255-3D08BBD81B2C}"/>
              </a:ext>
            </a:extLst>
          </p:cNvPr>
          <p:cNvSpPr>
            <a:spLocks noGrp="1"/>
          </p:cNvSpPr>
          <p:nvPr/>
        </p:nvSpPr>
        <p:spPr>
          <a:xfrm>
            <a:off x="666750" y="4724400"/>
            <a:ext cx="37719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73" b="0">
                <a:solidFill>
                  <a:srgbClr val="111111"/>
                </a:solidFill>
                <a:latin typeface="Arial"/>
                <a:ea typeface="Arial"/>
                <a:cs typeface="Arial"/>
              </a:defRPr>
            </a:pPr>
            <a:r>
              <a:rPr sz="773" b="0">
                <a:solidFill>
                  <a:srgbClr val="111111"/>
                </a:solidFill>
                <a:latin typeface="Arial"/>
                <a:ea typeface="Arial"/>
                <a:cs typeface="Arial"/>
              </a:rPr>
              <a:t>Im Paper ist `u` ganzzahlig; in der Baseline ist `u` als kontinuierliche Variable angelegt.</a:t>
            </a:r>
          </a:p>
        </p:txBody>
      </p:sp>
      <p:sp>
        <p:nvSpPr>
          <p:cNvPr id="26" name="Rectangle 25">
            <a:extLst>
              <a:ext uri="{FF2B5EF4-FFF2-40B4-BE49-F238E27FC236}">
                <a16:creationId xmlns:a16="http://schemas.microsoft.com/office/drawing/2014/main" id="{B6956C8A-F236-4031-9CD2-8915F89F76B7}"/>
              </a:ext>
            </a:extLst>
          </p:cNvPr>
          <p:cNvSpPr>
            <a:spLocks noGrp="1"/>
          </p:cNvSpPr>
          <p:nvPr/>
        </p:nvSpPr>
        <p:spPr>
          <a:xfrm>
            <a:off x="381000" y="5753100"/>
            <a:ext cx="11430000" cy="11430"/>
          </a:xfrm>
          <a:prstGeom prst="rect">
            <a:avLst/>
          </a:prstGeom>
          <a:solidFill>
            <a:srgbClr val="222222"/>
          </a:solidFill>
          <a:ln w="0">
            <a:solidFill>
              <a:srgbClr val="000000">
                <a:alpha val="0"/>
              </a:srgbClr>
            </a:solidFill>
            <a:prstDash val="solid"/>
          </a:ln>
        </p:spPr>
        <p:txBody>
          <a:bodyPr/>
          <a:lstStyle/>
          <a:p>
            <a:endParaRPr lang="en-DE"/>
          </a:p>
        </p:txBody>
      </p:sp>
      <p:sp>
        <p:nvSpPr>
          <p:cNvPr id="27" name="Rectangle 26">
            <a:extLst>
              <a:ext uri="{FF2B5EF4-FFF2-40B4-BE49-F238E27FC236}">
                <a16:creationId xmlns:a16="http://schemas.microsoft.com/office/drawing/2014/main" id="{A4BF30D1-5378-4AC0-8C22-3512B361B0ED}"/>
              </a:ext>
            </a:extLst>
          </p:cNvPr>
          <p:cNvSpPr>
            <a:spLocks noGrp="1"/>
          </p:cNvSpPr>
          <p:nvPr/>
        </p:nvSpPr>
        <p:spPr>
          <a:xfrm>
            <a:off x="381000" y="592455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00549F"/>
                </a:solidFill>
                <a:latin typeface="Arial"/>
                <a:ea typeface="Arial"/>
                <a:cs typeface="Arial"/>
              </a:defRPr>
            </a:pPr>
            <a:r>
              <a:rPr sz="675" b="0">
                <a:solidFill>
                  <a:srgbClr val="00549F"/>
                </a:solidFill>
                <a:latin typeface="Arial"/>
                <a:ea typeface="Arial"/>
                <a:cs typeface="Arial"/>
              </a:rPr>
              <a:t>11</a:t>
            </a:r>
          </a:p>
        </p:txBody>
      </p:sp>
      <p:sp>
        <p:nvSpPr>
          <p:cNvPr id="28" name="Rectangle 27">
            <a:extLst>
              <a:ext uri="{FF2B5EF4-FFF2-40B4-BE49-F238E27FC236}">
                <a16:creationId xmlns:a16="http://schemas.microsoft.com/office/drawing/2014/main" id="{D4BE2365-28F4-455E-AF6C-A8F4DF7C4A12}"/>
              </a:ext>
            </a:extLst>
          </p:cNvPr>
          <p:cNvSpPr>
            <a:spLocks noGrp="1"/>
          </p:cNvSpPr>
          <p:nvPr/>
        </p:nvSpPr>
        <p:spPr>
          <a:xfrm>
            <a:off x="1123950" y="5924550"/>
            <a:ext cx="6572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0" b="0">
                <a:solidFill>
                  <a:srgbClr val="00549F"/>
                </a:solidFill>
                <a:latin typeface="Arial"/>
                <a:ea typeface="Arial"/>
                <a:cs typeface="Arial"/>
              </a:defRPr>
            </a:pPr>
            <a:r>
              <a:rPr sz="630" b="0">
                <a:solidFill>
                  <a:srgbClr val="00549F"/>
                </a:solidFill>
                <a:latin typeface="Arial"/>
                <a:ea typeface="Arial"/>
                <a:cs typeface="Arial"/>
              </a:rPr>
              <a:t>Train Dispatching | DISPLIB mathematical model to code | Baseline MIP and Extended CP-SAT</a:t>
            </a:r>
          </a:p>
        </p:txBody>
      </p:sp>
      <p:pic>
        <p:nvPicPr>
          <p:cNvPr id="29" name="Picture 28"/>
          <p:cNvPicPr>
            <a:picLocks noChangeAspect="1"/>
          </p:cNvPicPr>
          <p:nvPr/>
        </p:nvPicPr>
        <p:blipFill>
          <a:blip r:embed="rId4"/>
          <a:stretch/>
        </p:blipFill>
        <p:spPr>
          <a:xfrm>
            <a:off x="8107690" y="5829300"/>
            <a:ext cx="2929870" cy="819150"/>
          </a:xfrm>
          <a:prstGeom prst="rect">
            <a:avLst/>
          </a:prstGeom>
        </p:spPr>
      </p:pic>
    </p:spTree>
    <p:extLst>
      <p:ext uri="{BB962C8B-B14F-4D97-AF65-F5344CB8AC3E}">
        <p14:creationId xmlns:p14="http://schemas.microsoft.com/office/powerpoint/2010/main" val="14459755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C014EEF4-C543-4109-A248-0636AFB16D3C}"/>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en-DE"/>
          </a:p>
        </p:txBody>
      </p:sp>
      <p:sp>
        <p:nvSpPr>
          <p:cNvPr id="2" name="Rectangle 1">
            <a:extLst>
              <a:ext uri="{FF2B5EF4-FFF2-40B4-BE49-F238E27FC236}">
                <a16:creationId xmlns:a16="http://schemas.microsoft.com/office/drawing/2014/main" id="{BF31223B-BF5A-4D62-9EFA-0EC9A76F74A7}"/>
              </a:ext>
            </a:extLst>
          </p:cNvPr>
          <p:cNvSpPr>
            <a:spLocks noGrp="1"/>
          </p:cNvSpPr>
          <p:nvPr/>
        </p:nvSpPr>
        <p:spPr>
          <a:xfrm>
            <a:off x="514350" y="285750"/>
            <a:ext cx="106680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00549F"/>
                </a:solidFill>
                <a:latin typeface="Arial"/>
                <a:ea typeface="Arial"/>
                <a:cs typeface="Arial"/>
              </a:defRPr>
            </a:pPr>
            <a:r>
              <a:rPr sz="1800" b="1">
                <a:solidFill>
                  <a:srgbClr val="00549F"/>
                </a:solidFill>
                <a:latin typeface="Arial"/>
                <a:ea typeface="Arial"/>
                <a:cs typeface="Arial"/>
              </a:rPr>
              <a:t>Die Zielfunktion minimiert im Code die gewichtete Verspätung.</a:t>
            </a:r>
          </a:p>
        </p:txBody>
      </p:sp>
      <p:sp>
        <p:nvSpPr>
          <p:cNvPr id="3" name="Rectangle 2">
            <a:extLst>
              <a:ext uri="{FF2B5EF4-FFF2-40B4-BE49-F238E27FC236}">
                <a16:creationId xmlns:a16="http://schemas.microsoft.com/office/drawing/2014/main" id="{8AC5C74C-E96D-4CAF-9AD6-D78234263902}"/>
              </a:ext>
            </a:extLst>
          </p:cNvPr>
          <p:cNvSpPr>
            <a:spLocks noGrp="1"/>
          </p:cNvSpPr>
          <p:nvPr/>
        </p:nvSpPr>
        <p:spPr>
          <a:xfrm>
            <a:off x="514350" y="704850"/>
            <a:ext cx="9715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10" b="0">
                <a:solidFill>
                  <a:srgbClr val="565656"/>
                </a:solidFill>
                <a:latin typeface="Arial"/>
                <a:ea typeface="Arial"/>
                <a:cs typeface="Arial"/>
              </a:defRPr>
            </a:pPr>
            <a:r>
              <a:rPr sz="810" b="0">
                <a:solidFill>
                  <a:srgbClr val="565656"/>
                </a:solidFill>
                <a:latin typeface="Arial"/>
                <a:ea typeface="Arial"/>
                <a:cs typeface="Arial"/>
              </a:rPr>
              <a:t>Hier sieht man auch klar die Grenze der aktuellen Implementierung.</a:t>
            </a:r>
          </a:p>
        </p:txBody>
      </p:sp>
      <p:sp>
        <p:nvSpPr>
          <p:cNvPr id="4" name="Rectangle 3">
            <a:extLst>
              <a:ext uri="{FF2B5EF4-FFF2-40B4-BE49-F238E27FC236}">
                <a16:creationId xmlns:a16="http://schemas.microsoft.com/office/drawing/2014/main" id="{F2A2D421-5CB4-4254-891D-9810F86728DF}"/>
              </a:ext>
            </a:extLst>
          </p:cNvPr>
          <p:cNvSpPr>
            <a:spLocks noGrp="1"/>
          </p:cNvSpPr>
          <p:nvPr/>
        </p:nvSpPr>
        <p:spPr>
          <a:xfrm>
            <a:off x="514350" y="971550"/>
            <a:ext cx="10763250" cy="11430"/>
          </a:xfrm>
          <a:prstGeom prst="rect">
            <a:avLst/>
          </a:prstGeom>
          <a:solidFill>
            <a:srgbClr val="222222"/>
          </a:solidFill>
          <a:ln w="0">
            <a:solidFill>
              <a:srgbClr val="000000">
                <a:alpha val="0"/>
              </a:srgbClr>
            </a:solidFill>
            <a:prstDash val="solid"/>
          </a:ln>
        </p:spPr>
        <p:txBody>
          <a:bodyPr/>
          <a:lstStyle/>
          <a:p>
            <a:endParaRPr lang="en-DE"/>
          </a:p>
        </p:txBody>
      </p:sp>
      <p:sp>
        <p:nvSpPr>
          <p:cNvPr id="5" name="Rectangle 4">
            <a:extLst>
              <a:ext uri="{FF2B5EF4-FFF2-40B4-BE49-F238E27FC236}">
                <a16:creationId xmlns:a16="http://schemas.microsoft.com/office/drawing/2014/main" id="{431A9675-1FC4-4353-B58F-D546C7CADC31}"/>
              </a:ext>
            </a:extLst>
          </p:cNvPr>
          <p:cNvSpPr>
            <a:spLocks noGrp="1"/>
          </p:cNvSpPr>
          <p:nvPr/>
        </p:nvSpPr>
        <p:spPr>
          <a:xfrm>
            <a:off x="552450" y="1276350"/>
            <a:ext cx="3733800" cy="1352550"/>
          </a:xfrm>
          <a:prstGeom prst="rect">
            <a:avLst/>
          </a:prstGeom>
          <a:solidFill>
            <a:srgbClr val="FFFFFF"/>
          </a:solidFill>
          <a:ln w="9525">
            <a:solidFill>
              <a:srgbClr val="D7DDE4"/>
            </a:solidFill>
            <a:prstDash val="solid"/>
          </a:ln>
        </p:spPr>
        <p:txBody>
          <a:bodyPr/>
          <a:lstStyle/>
          <a:p>
            <a:endParaRPr lang="en-DE"/>
          </a:p>
        </p:txBody>
      </p:sp>
      <p:pic>
        <p:nvPicPr>
          <p:cNvPr id="6" name="Picture 5"/>
          <p:cNvPicPr>
            <a:picLocks noChangeAspect="1"/>
          </p:cNvPicPr>
          <p:nvPr/>
        </p:nvPicPr>
        <p:blipFill>
          <a:blip r:embed="rId3"/>
          <a:stretch/>
        </p:blipFill>
        <p:spPr>
          <a:xfrm>
            <a:off x="1027652" y="1390650"/>
            <a:ext cx="2783396" cy="1028700"/>
          </a:xfrm>
          <a:prstGeom prst="rect">
            <a:avLst/>
          </a:prstGeom>
        </p:spPr>
      </p:pic>
      <p:sp>
        <p:nvSpPr>
          <p:cNvPr id="7" name="Rectangle 6">
            <a:extLst>
              <a:ext uri="{FF2B5EF4-FFF2-40B4-BE49-F238E27FC236}">
                <a16:creationId xmlns:a16="http://schemas.microsoft.com/office/drawing/2014/main" id="{EA4F2541-BC1D-45B7-80B7-FDA4BACF7ED3}"/>
              </a:ext>
            </a:extLst>
          </p:cNvPr>
          <p:cNvSpPr>
            <a:spLocks noGrp="1"/>
          </p:cNvSpPr>
          <p:nvPr/>
        </p:nvSpPr>
        <p:spPr>
          <a:xfrm>
            <a:off x="647700" y="2457450"/>
            <a:ext cx="3543300" cy="104775"/>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533" b="0">
                <a:solidFill>
                  <a:srgbClr val="565656"/>
                </a:solidFill>
                <a:latin typeface="Arial"/>
                <a:ea typeface="Arial"/>
                <a:cs typeface="Arial"/>
              </a:defRPr>
            </a:pPr>
            <a:r>
              <a:rPr sz="533" b="0">
                <a:solidFill>
                  <a:srgbClr val="565656"/>
                </a:solidFill>
                <a:latin typeface="Arial"/>
                <a:ea typeface="Arial"/>
                <a:cs typeface="Arial"/>
              </a:rPr>
              <a:t>Problemdefinition: Verspätungskosten</a:t>
            </a:r>
          </a:p>
        </p:txBody>
      </p:sp>
      <p:sp>
        <p:nvSpPr>
          <p:cNvPr id="8" name="Rectangle 7">
            <a:extLst>
              <a:ext uri="{FF2B5EF4-FFF2-40B4-BE49-F238E27FC236}">
                <a16:creationId xmlns:a16="http://schemas.microsoft.com/office/drawing/2014/main" id="{A7EC99DD-D7C7-4AEA-87F9-295827AF086A}"/>
              </a:ext>
            </a:extLst>
          </p:cNvPr>
          <p:cNvSpPr>
            <a:spLocks noGrp="1"/>
          </p:cNvSpPr>
          <p:nvPr/>
        </p:nvSpPr>
        <p:spPr>
          <a:xfrm>
            <a:off x="552450" y="2819400"/>
            <a:ext cx="3733800" cy="1066800"/>
          </a:xfrm>
          <a:prstGeom prst="rect">
            <a:avLst/>
          </a:prstGeom>
          <a:solidFill>
            <a:srgbClr val="FFFFFF"/>
          </a:solidFill>
          <a:ln w="9525">
            <a:solidFill>
              <a:srgbClr val="D7DDE4"/>
            </a:solidFill>
            <a:prstDash val="solid"/>
          </a:ln>
        </p:spPr>
        <p:txBody>
          <a:bodyPr/>
          <a:lstStyle/>
          <a:p>
            <a:endParaRPr lang="en-DE"/>
          </a:p>
        </p:txBody>
      </p:sp>
      <p:pic>
        <p:nvPicPr>
          <p:cNvPr id="9" name="Picture 8"/>
          <p:cNvPicPr>
            <a:picLocks noChangeAspect="1"/>
          </p:cNvPicPr>
          <p:nvPr/>
        </p:nvPicPr>
        <p:blipFill>
          <a:blip r:embed="rId4"/>
          <a:stretch/>
        </p:blipFill>
        <p:spPr>
          <a:xfrm>
            <a:off x="647700" y="3093877"/>
            <a:ext cx="3543300" cy="422595"/>
          </a:xfrm>
          <a:prstGeom prst="rect">
            <a:avLst/>
          </a:prstGeom>
        </p:spPr>
      </p:pic>
      <p:sp>
        <p:nvSpPr>
          <p:cNvPr id="10" name="Rectangle 9">
            <a:extLst>
              <a:ext uri="{FF2B5EF4-FFF2-40B4-BE49-F238E27FC236}">
                <a16:creationId xmlns:a16="http://schemas.microsoft.com/office/drawing/2014/main" id="{4C5CF9AF-1ABD-4CC7-9723-89775D362C0A}"/>
              </a:ext>
            </a:extLst>
          </p:cNvPr>
          <p:cNvSpPr>
            <a:spLocks noGrp="1"/>
          </p:cNvSpPr>
          <p:nvPr/>
        </p:nvSpPr>
        <p:spPr>
          <a:xfrm>
            <a:off x="647700" y="3714750"/>
            <a:ext cx="3543300" cy="104775"/>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533" b="0">
                <a:solidFill>
                  <a:srgbClr val="565656"/>
                </a:solidFill>
                <a:latin typeface="Arial"/>
                <a:ea typeface="Arial"/>
                <a:cs typeface="Arial"/>
              </a:defRPr>
            </a:pPr>
            <a:r>
              <a:rPr sz="533" b="0">
                <a:solidFill>
                  <a:srgbClr val="565656"/>
                </a:solidFill>
                <a:latin typeface="Arial"/>
                <a:ea typeface="Arial"/>
                <a:cs typeface="Arial"/>
              </a:rPr>
              <a:t>Paper Gl. (4): Objective-Constraints</a:t>
            </a:r>
          </a:p>
        </p:txBody>
      </p:sp>
      <p:sp>
        <p:nvSpPr>
          <p:cNvPr id="11" name="Rectangle 10">
            <a:extLst>
              <a:ext uri="{FF2B5EF4-FFF2-40B4-BE49-F238E27FC236}">
                <a16:creationId xmlns:a16="http://schemas.microsoft.com/office/drawing/2014/main" id="{A3D987FE-520C-4E7B-BED8-0FBC33E02BF3}"/>
              </a:ext>
            </a:extLst>
          </p:cNvPr>
          <p:cNvSpPr>
            <a:spLocks noGrp="1"/>
          </p:cNvSpPr>
          <p:nvPr/>
        </p:nvSpPr>
        <p:spPr>
          <a:xfrm>
            <a:off x="4619625" y="1276350"/>
            <a:ext cx="3200400" cy="2857500"/>
          </a:xfrm>
          <a:prstGeom prst="rect">
            <a:avLst/>
          </a:prstGeom>
          <a:solidFill>
            <a:srgbClr val="F6F8FA"/>
          </a:solidFill>
          <a:ln w="9525">
            <a:solidFill>
              <a:srgbClr val="7FAAD3"/>
            </a:solidFill>
            <a:prstDash val="solid"/>
          </a:ln>
        </p:spPr>
        <p:txBody>
          <a:bodyPr/>
          <a:lstStyle/>
          <a:p>
            <a:endParaRPr lang="en-DE"/>
          </a:p>
        </p:txBody>
      </p:sp>
      <p:sp>
        <p:nvSpPr>
          <p:cNvPr id="12" name="Rectangle 11">
            <a:extLst>
              <a:ext uri="{FF2B5EF4-FFF2-40B4-BE49-F238E27FC236}">
                <a16:creationId xmlns:a16="http://schemas.microsoft.com/office/drawing/2014/main" id="{F8486E19-50CD-4D6A-AA18-E0CD616D573E}"/>
              </a:ext>
            </a:extLst>
          </p:cNvPr>
          <p:cNvSpPr>
            <a:spLocks noGrp="1"/>
          </p:cNvSpPr>
          <p:nvPr/>
        </p:nvSpPr>
        <p:spPr>
          <a:xfrm>
            <a:off x="4619625" y="1276350"/>
            <a:ext cx="3200400" cy="228600"/>
          </a:xfrm>
          <a:prstGeom prst="rect">
            <a:avLst/>
          </a:prstGeom>
          <a:solidFill>
            <a:srgbClr val="E7F0FA"/>
          </a:solidFill>
          <a:ln w="9525">
            <a:solidFill>
              <a:srgbClr val="7FAAD3"/>
            </a:solidFill>
            <a:prstDash val="solid"/>
          </a:ln>
        </p:spPr>
        <p:txBody>
          <a:bodyPr/>
          <a:lstStyle/>
          <a:p>
            <a:endParaRPr lang="en-DE"/>
          </a:p>
        </p:txBody>
      </p:sp>
      <p:sp>
        <p:nvSpPr>
          <p:cNvPr id="13" name="Rectangle 12">
            <a:extLst>
              <a:ext uri="{FF2B5EF4-FFF2-40B4-BE49-F238E27FC236}">
                <a16:creationId xmlns:a16="http://schemas.microsoft.com/office/drawing/2014/main" id="{B698D68B-8C34-4E2D-9FD9-611A23639E84}"/>
              </a:ext>
            </a:extLst>
          </p:cNvPr>
          <p:cNvSpPr>
            <a:spLocks noGrp="1"/>
          </p:cNvSpPr>
          <p:nvPr/>
        </p:nvSpPr>
        <p:spPr>
          <a:xfrm>
            <a:off x="4714875" y="1333500"/>
            <a:ext cx="30099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70" b="1">
                <a:solidFill>
                  <a:srgbClr val="00549F"/>
                </a:solidFill>
                <a:latin typeface="Arial"/>
                <a:ea typeface="Arial"/>
                <a:cs typeface="Arial"/>
              </a:defRPr>
            </a:pPr>
            <a:r>
              <a:rPr sz="570" b="1">
                <a:solidFill>
                  <a:srgbClr val="00549F"/>
                </a:solidFill>
                <a:latin typeface="Arial"/>
                <a:ea typeface="Arial"/>
                <a:cs typeface="Arial"/>
              </a:rPr>
              <a:t>mip_model.py:166-183</a:t>
            </a:r>
          </a:p>
        </p:txBody>
      </p:sp>
      <p:sp>
        <p:nvSpPr>
          <p:cNvPr id="14" name="Rectangle 13">
            <a:extLst>
              <a:ext uri="{FF2B5EF4-FFF2-40B4-BE49-F238E27FC236}">
                <a16:creationId xmlns:a16="http://schemas.microsoft.com/office/drawing/2014/main" id="{52B30C50-C475-40D9-AFAF-DEF3DF37E025}"/>
              </a:ext>
            </a:extLst>
          </p:cNvPr>
          <p:cNvSpPr>
            <a:spLocks noGrp="1"/>
          </p:cNvSpPr>
          <p:nvPr/>
        </p:nvSpPr>
        <p:spPr>
          <a:xfrm>
            <a:off x="4733925" y="1600200"/>
            <a:ext cx="2971800" cy="2457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 D) Objective Cost Component</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obj_expr = gp.LinExpr()</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for c_idx, comp in enumerate(self.instance.objective):</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if comp.train == -1 or comp.operation == -1:</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continue</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w_c = self.w[c_idx]</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v_c = self.v[c_idx]</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t_a = self.t[comp.train, comp.operation]</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x_a = self.x[comp.train, comp.operation]</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 Indicators for computing penalty exactly when x_a == 1</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self.model.addConstr((x_a == 1) &gt;&gt; (t_a - comp.threshold &lt;= self.M * v_c))</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self.model.addConstr((x_a == 1) &gt;&gt; (w_c &gt;= comp.coeff * (t_a - comp.threshold)))</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obj_expr += w_c</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a:t>
            </a:r>
          </a:p>
          <a:p>
            <a:pPr algn="l">
              <a:defRPr sz="518" b="0">
                <a:solidFill>
                  <a:srgbClr val="111827"/>
                </a:solidFill>
                <a:latin typeface="Consolas"/>
                <a:ea typeface="Consolas"/>
                <a:cs typeface="Consolas"/>
              </a:defRPr>
            </a:pPr>
            <a:r>
              <a:rPr sz="518" b="0">
                <a:solidFill>
                  <a:srgbClr val="111827"/>
                </a:solidFill>
                <a:latin typeface="Consolas"/>
                <a:ea typeface="Consolas"/>
                <a:cs typeface="Consolas"/>
              </a:rPr>
              <a:t>        self.model.setObjective(obj_expr, GRB.MINIMIZE)</a:t>
            </a:r>
          </a:p>
        </p:txBody>
      </p:sp>
      <p:sp>
        <p:nvSpPr>
          <p:cNvPr id="15" name="Rectangle 14">
            <a:extLst>
              <a:ext uri="{FF2B5EF4-FFF2-40B4-BE49-F238E27FC236}">
                <a16:creationId xmlns:a16="http://schemas.microsoft.com/office/drawing/2014/main" id="{C3F0BE4B-5532-439F-8B15-3A51E4EFA50C}"/>
              </a:ext>
            </a:extLst>
          </p:cNvPr>
          <p:cNvSpPr>
            <a:spLocks noGrp="1"/>
          </p:cNvSpPr>
          <p:nvPr/>
        </p:nvSpPr>
        <p:spPr>
          <a:xfrm>
            <a:off x="8048625" y="1276350"/>
            <a:ext cx="3238500" cy="3790950"/>
          </a:xfrm>
          <a:prstGeom prst="rect">
            <a:avLst/>
          </a:prstGeom>
          <a:solidFill>
            <a:srgbClr val="F6F8FA"/>
          </a:solidFill>
          <a:ln w="9525">
            <a:solidFill>
              <a:srgbClr val="7FAAD3"/>
            </a:solidFill>
            <a:prstDash val="solid"/>
          </a:ln>
        </p:spPr>
        <p:txBody>
          <a:bodyPr/>
          <a:lstStyle/>
          <a:p>
            <a:endParaRPr lang="en-DE"/>
          </a:p>
        </p:txBody>
      </p:sp>
      <p:sp>
        <p:nvSpPr>
          <p:cNvPr id="16" name="Rectangle 15">
            <a:extLst>
              <a:ext uri="{FF2B5EF4-FFF2-40B4-BE49-F238E27FC236}">
                <a16:creationId xmlns:a16="http://schemas.microsoft.com/office/drawing/2014/main" id="{400243EA-60A0-4FAA-A48A-7B02A0C463E7}"/>
              </a:ext>
            </a:extLst>
          </p:cNvPr>
          <p:cNvSpPr>
            <a:spLocks noGrp="1"/>
          </p:cNvSpPr>
          <p:nvPr/>
        </p:nvSpPr>
        <p:spPr>
          <a:xfrm>
            <a:off x="8048625" y="1276350"/>
            <a:ext cx="3238500" cy="228600"/>
          </a:xfrm>
          <a:prstGeom prst="rect">
            <a:avLst/>
          </a:prstGeom>
          <a:solidFill>
            <a:srgbClr val="E7F0FA"/>
          </a:solidFill>
          <a:ln w="9525">
            <a:solidFill>
              <a:srgbClr val="7FAAD3"/>
            </a:solidFill>
            <a:prstDash val="solid"/>
          </a:ln>
        </p:spPr>
        <p:txBody>
          <a:bodyPr/>
          <a:lstStyle/>
          <a:p>
            <a:endParaRPr lang="en-DE"/>
          </a:p>
        </p:txBody>
      </p:sp>
      <p:sp>
        <p:nvSpPr>
          <p:cNvPr id="17" name="Rectangle 16">
            <a:extLst>
              <a:ext uri="{FF2B5EF4-FFF2-40B4-BE49-F238E27FC236}">
                <a16:creationId xmlns:a16="http://schemas.microsoft.com/office/drawing/2014/main" id="{2BA8C659-B549-4347-AFFB-4C2B8877039C}"/>
              </a:ext>
            </a:extLst>
          </p:cNvPr>
          <p:cNvSpPr>
            <a:spLocks noGrp="1"/>
          </p:cNvSpPr>
          <p:nvPr/>
        </p:nvSpPr>
        <p:spPr>
          <a:xfrm>
            <a:off x="8143875" y="1333500"/>
            <a:ext cx="3048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70" b="1">
                <a:solidFill>
                  <a:srgbClr val="00549F"/>
                </a:solidFill>
                <a:latin typeface="Arial"/>
                <a:ea typeface="Arial"/>
                <a:cs typeface="Arial"/>
              </a:defRPr>
            </a:pPr>
            <a:r>
              <a:rPr sz="570" b="1">
                <a:solidFill>
                  <a:srgbClr val="00549F"/>
                </a:solidFill>
                <a:latin typeface="Arial"/>
                <a:ea typeface="Arial"/>
                <a:cs typeface="Arial"/>
              </a:rPr>
              <a:t>cp_model.py:200-229</a:t>
            </a:r>
          </a:p>
        </p:txBody>
      </p:sp>
      <p:sp>
        <p:nvSpPr>
          <p:cNvPr id="18" name="Rectangle 17">
            <a:extLst>
              <a:ext uri="{FF2B5EF4-FFF2-40B4-BE49-F238E27FC236}">
                <a16:creationId xmlns:a16="http://schemas.microsoft.com/office/drawing/2014/main" id="{2336FFED-1491-44F4-81F2-9D92534570B1}"/>
              </a:ext>
            </a:extLst>
          </p:cNvPr>
          <p:cNvSpPr>
            <a:spLocks noGrp="1"/>
          </p:cNvSpPr>
          <p:nvPr/>
        </p:nvSpPr>
        <p:spPr>
          <a:xfrm>
            <a:off x="8162925" y="1600200"/>
            <a:ext cx="3009900" cy="3390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465" b="0">
                <a:solidFill>
                  <a:srgbClr val="111827"/>
                </a:solidFill>
                <a:latin typeface="Consolas"/>
                <a:ea typeface="Consolas"/>
                <a:cs typeface="Consolas"/>
              </a:defRPr>
            </a:pPr>
            <a:r>
              <a:rPr sz="465" b="0">
                <a:solidFill>
                  <a:srgbClr val="111827"/>
                </a:solidFill>
                <a:latin typeface="Consolas"/>
                <a:ea typeface="Consolas"/>
                <a:cs typeface="Consolas"/>
              </a:rPr>
              <a:t>        # 4. Objective Costs Calculation (Penalty)</a:t>
            </a:r>
          </a:p>
          <a:p>
            <a:pPr algn="l">
              <a:defRPr sz="465" b="0">
                <a:solidFill>
                  <a:srgbClr val="111827"/>
                </a:solidFill>
                <a:latin typeface="Consolas"/>
                <a:ea typeface="Consolas"/>
                <a:cs typeface="Consolas"/>
              </a:defRPr>
            </a:pPr>
            <a:r>
              <a:rPr sz="465" b="0">
                <a:solidFill>
                  <a:srgbClr val="111827"/>
                </a:solidFill>
                <a:latin typeface="Consolas"/>
                <a:ea typeface="Consolas"/>
                <a:cs typeface="Consolas"/>
              </a:rPr>
              <a:t>        # -----------------------------------------------------</a:t>
            </a:r>
          </a:p>
          <a:p>
            <a:pPr algn="l">
              <a:defRPr sz="465" b="0">
                <a:solidFill>
                  <a:srgbClr val="111827"/>
                </a:solidFill>
                <a:latin typeface="Consolas"/>
                <a:ea typeface="Consolas"/>
                <a:cs typeface="Consolas"/>
              </a:defRPr>
            </a:pPr>
            <a:r>
              <a:rPr sz="465" b="0">
                <a:solidFill>
                  <a:srgbClr val="111827"/>
                </a:solidFill>
                <a:latin typeface="Consolas"/>
                <a:ea typeface="Consolas"/>
                <a:cs typeface="Consolas"/>
              </a:rPr>
              <a:t>        for c_idx, comp in enumerate(self.instance.objective):</a:t>
            </a:r>
          </a:p>
          <a:p>
            <a:pPr algn="l">
              <a:defRPr sz="465" b="0">
                <a:solidFill>
                  <a:srgbClr val="111827"/>
                </a:solidFill>
                <a:latin typeface="Consolas"/>
                <a:ea typeface="Consolas"/>
                <a:cs typeface="Consolas"/>
              </a:defRPr>
            </a:pPr>
            <a:r>
              <a:rPr sz="465" b="0">
                <a:solidFill>
                  <a:srgbClr val="111827"/>
                </a:solidFill>
                <a:latin typeface="Consolas"/>
                <a:ea typeface="Consolas"/>
                <a:cs typeface="Consolas"/>
              </a:rPr>
              <a:t>            if comp.train == -1 or comp.operation == -1: </a:t>
            </a:r>
          </a:p>
          <a:p>
            <a:pPr algn="l">
              <a:defRPr sz="465" b="0">
                <a:solidFill>
                  <a:srgbClr val="111827"/>
                </a:solidFill>
                <a:latin typeface="Consolas"/>
                <a:ea typeface="Consolas"/>
                <a:cs typeface="Consolas"/>
              </a:defRPr>
            </a:pPr>
            <a:r>
              <a:rPr sz="465" b="0">
                <a:solidFill>
                  <a:srgbClr val="111827"/>
                </a:solidFill>
                <a:latin typeface="Consolas"/>
                <a:ea typeface="Consolas"/>
                <a:cs typeface="Consolas"/>
              </a:rPr>
              <a:t>                continue</a:t>
            </a:r>
          </a:p>
          <a:p>
            <a:pPr algn="l">
              <a:defRPr sz="465" b="0">
                <a:solidFill>
                  <a:srgbClr val="111827"/>
                </a:solidFill>
                <a:latin typeface="Consolas"/>
                <a:ea typeface="Consolas"/>
                <a:cs typeface="Consolas"/>
              </a:defRPr>
            </a:pPr>
            <a:r>
              <a:rPr sz="465" b="0">
                <a:solidFill>
                  <a:srgbClr val="111827"/>
                </a:solidFill>
                <a:latin typeface="Consolas"/>
                <a:ea typeface="Consolas"/>
                <a:cs typeface="Consolas"/>
              </a:rPr>
              <a:t>            </a:t>
            </a:r>
          </a:p>
          <a:p>
            <a:pPr algn="l">
              <a:defRPr sz="465" b="0">
                <a:solidFill>
                  <a:srgbClr val="111827"/>
                </a:solidFill>
                <a:latin typeface="Consolas"/>
                <a:ea typeface="Consolas"/>
                <a:cs typeface="Consolas"/>
              </a:defRPr>
            </a:pPr>
            <a:r>
              <a:rPr sz="465" b="0">
                <a:solidFill>
                  <a:srgbClr val="111827"/>
                </a:solidFill>
                <a:latin typeface="Consolas"/>
                <a:ea typeface="Consolas"/>
                <a:cs typeface="Consolas"/>
              </a:rPr>
              <a:t>            t_id = comp.train</a:t>
            </a:r>
          </a:p>
          <a:p>
            <a:pPr algn="l">
              <a:defRPr sz="465" b="0">
                <a:solidFill>
                  <a:srgbClr val="111827"/>
                </a:solidFill>
                <a:latin typeface="Consolas"/>
                <a:ea typeface="Consolas"/>
                <a:cs typeface="Consolas"/>
              </a:defRPr>
            </a:pPr>
            <a:r>
              <a:rPr sz="465" b="0">
                <a:solidFill>
                  <a:srgbClr val="111827"/>
                </a:solidFill>
                <a:latin typeface="Consolas"/>
                <a:ea typeface="Consolas"/>
                <a:cs typeface="Consolas"/>
              </a:rPr>
              <a:t>            o_id = comp.operation</a:t>
            </a:r>
          </a:p>
          <a:p>
            <a:pPr algn="l">
              <a:defRPr sz="465" b="0">
                <a:solidFill>
                  <a:srgbClr val="111827"/>
                </a:solidFill>
                <a:latin typeface="Consolas"/>
                <a:ea typeface="Consolas"/>
                <a:cs typeface="Consolas"/>
              </a:defRPr>
            </a:pPr>
            <a:r>
              <a:rPr sz="465" b="0">
                <a:solidFill>
                  <a:srgbClr val="111827"/>
                </a:solidFill>
                <a:latin typeface="Consolas"/>
                <a:ea typeface="Consolas"/>
                <a:cs typeface="Consolas"/>
              </a:rPr>
              <a:t>            th = int(comp.threshold)</a:t>
            </a:r>
          </a:p>
          <a:p>
            <a:pPr algn="l">
              <a:defRPr sz="465" b="0">
                <a:solidFill>
                  <a:srgbClr val="111827"/>
                </a:solidFill>
                <a:latin typeface="Consolas"/>
                <a:ea typeface="Consolas"/>
                <a:cs typeface="Consolas"/>
              </a:defRPr>
            </a:pPr>
            <a:r>
              <a:rPr sz="465" b="0">
                <a:solidFill>
                  <a:srgbClr val="111827"/>
                </a:solidFill>
                <a:latin typeface="Consolas"/>
                <a:ea typeface="Consolas"/>
                <a:cs typeface="Consolas"/>
              </a:rPr>
              <a:t>            cf = comp.coeff</a:t>
            </a:r>
          </a:p>
          <a:p>
            <a:pPr algn="l">
              <a:defRPr sz="465" b="0">
                <a:solidFill>
                  <a:srgbClr val="111827"/>
                </a:solidFill>
                <a:latin typeface="Consolas"/>
                <a:ea typeface="Consolas"/>
                <a:cs typeface="Consolas"/>
              </a:defRPr>
            </a:pPr>
            <a:r>
              <a:rPr sz="465" b="0">
                <a:solidFill>
                  <a:srgbClr val="111827"/>
                </a:solidFill>
                <a:latin typeface="Consolas"/>
                <a:ea typeface="Consolas"/>
                <a:cs typeface="Consolas"/>
              </a:rPr>
              <a:t>            scaled_cf = int(cf * self.COEFF_SCALE)</a:t>
            </a:r>
          </a:p>
          <a:p>
            <a:pPr algn="l">
              <a:defRPr sz="465" b="0">
                <a:solidFill>
                  <a:srgbClr val="111827"/>
                </a:solidFill>
                <a:latin typeface="Consolas"/>
                <a:ea typeface="Consolas"/>
                <a:cs typeface="Consolas"/>
              </a:defRPr>
            </a:pPr>
            <a:r>
              <a:rPr sz="465" b="0">
                <a:solidFill>
                  <a:srgbClr val="111827"/>
                </a:solidFill>
                <a:latin typeface="Consolas"/>
                <a:ea typeface="Consolas"/>
                <a:cs typeface="Consolas"/>
              </a:rPr>
              <a:t>            </a:t>
            </a:r>
          </a:p>
          <a:p>
            <a:pPr algn="l">
              <a:defRPr sz="465" b="0">
                <a:solidFill>
                  <a:srgbClr val="111827"/>
                </a:solidFill>
                <a:latin typeface="Consolas"/>
                <a:ea typeface="Consolas"/>
                <a:cs typeface="Consolas"/>
              </a:defRPr>
            </a:pPr>
            <a:r>
              <a:rPr sz="465" b="0">
                <a:solidFill>
                  <a:srgbClr val="111827"/>
                </a:solidFill>
                <a:latin typeface="Consolas"/>
                <a:ea typeface="Consolas"/>
                <a:cs typeface="Consolas"/>
              </a:rPr>
              <a:t>            x_a = self.x.get((t_id, o_id))</a:t>
            </a:r>
          </a:p>
          <a:p>
            <a:pPr algn="l">
              <a:defRPr sz="465" b="0">
                <a:solidFill>
                  <a:srgbClr val="111827"/>
                </a:solidFill>
                <a:latin typeface="Consolas"/>
                <a:ea typeface="Consolas"/>
                <a:cs typeface="Consolas"/>
              </a:defRPr>
            </a:pPr>
            <a:r>
              <a:rPr sz="465" b="0">
                <a:solidFill>
                  <a:srgbClr val="111827"/>
                </a:solidFill>
                <a:latin typeface="Consolas"/>
                <a:ea typeface="Consolas"/>
                <a:cs typeface="Consolas"/>
              </a:rPr>
              <a:t>            if x_a is None: </a:t>
            </a:r>
          </a:p>
          <a:p>
            <a:pPr algn="l">
              <a:defRPr sz="465" b="0">
                <a:solidFill>
                  <a:srgbClr val="111827"/>
                </a:solidFill>
                <a:latin typeface="Consolas"/>
                <a:ea typeface="Consolas"/>
                <a:cs typeface="Consolas"/>
              </a:defRPr>
            </a:pPr>
            <a:r>
              <a:rPr sz="465" b="0">
                <a:solidFill>
                  <a:srgbClr val="111827"/>
                </a:solidFill>
                <a:latin typeface="Consolas"/>
                <a:ea typeface="Consolas"/>
                <a:cs typeface="Consolas"/>
              </a:rPr>
              <a:t>                continue</a:t>
            </a:r>
          </a:p>
          <a:p>
            <a:pPr algn="l">
              <a:defRPr sz="465" b="0">
                <a:solidFill>
                  <a:srgbClr val="111827"/>
                </a:solidFill>
                <a:latin typeface="Consolas"/>
                <a:ea typeface="Consolas"/>
                <a:cs typeface="Consolas"/>
              </a:defRPr>
            </a:pPr>
            <a:r>
              <a:rPr sz="465" b="0">
                <a:solidFill>
                  <a:srgbClr val="111827"/>
                </a:solidFill>
                <a:latin typeface="Consolas"/>
                <a:ea typeface="Consolas"/>
                <a:cs typeface="Consolas"/>
              </a:rPr>
              <a:t>            </a:t>
            </a:r>
          </a:p>
          <a:p>
            <a:pPr algn="l">
              <a:defRPr sz="465" b="0">
                <a:solidFill>
                  <a:srgbClr val="111827"/>
                </a:solidFill>
                <a:latin typeface="Consolas"/>
                <a:ea typeface="Consolas"/>
                <a:cs typeface="Consolas"/>
              </a:defRPr>
            </a:pPr>
            <a:r>
              <a:rPr sz="465" b="0">
                <a:solidFill>
                  <a:srgbClr val="111827"/>
                </a:solidFill>
                <a:latin typeface="Consolas"/>
                <a:ea typeface="Consolas"/>
                <a:cs typeface="Consolas"/>
              </a:rPr>
              <a:t>            over_time = self.model.NewIntVar(0, self.horizon * 2, f"ov_{c_idx}")</a:t>
            </a:r>
          </a:p>
          <a:p>
            <a:pPr algn="l">
              <a:defRPr sz="465" b="0">
                <a:solidFill>
                  <a:srgbClr val="111827"/>
                </a:solidFill>
                <a:latin typeface="Consolas"/>
                <a:ea typeface="Consolas"/>
                <a:cs typeface="Consolas"/>
              </a:defRPr>
            </a:pPr>
            <a:r>
              <a:rPr sz="465" b="0">
                <a:solidFill>
                  <a:srgbClr val="111827"/>
                </a:solidFill>
                <a:latin typeface="Consolas"/>
                <a:ea typeface="Consolas"/>
                <a:cs typeface="Consolas"/>
              </a:rPr>
              <a:t>            self.model.Add(over_time &gt;= self.starts[t_id, o_id] - th).OnlyEnforceIf(x_a)</a:t>
            </a:r>
          </a:p>
          <a:p>
            <a:pPr algn="l">
              <a:defRPr sz="465" b="0">
                <a:solidFill>
                  <a:srgbClr val="111827"/>
                </a:solidFill>
                <a:latin typeface="Consolas"/>
                <a:ea typeface="Consolas"/>
                <a:cs typeface="Consolas"/>
              </a:defRPr>
            </a:pPr>
            <a:r>
              <a:rPr sz="465" b="0">
                <a:solidFill>
                  <a:srgbClr val="111827"/>
                </a:solidFill>
                <a:latin typeface="Consolas"/>
                <a:ea typeface="Consolas"/>
                <a:cs typeface="Consolas"/>
              </a:rPr>
              <a:t>            </a:t>
            </a:r>
          </a:p>
          <a:p>
            <a:pPr algn="l">
              <a:defRPr sz="465" b="0">
                <a:solidFill>
                  <a:srgbClr val="111827"/>
                </a:solidFill>
                <a:latin typeface="Consolas"/>
                <a:ea typeface="Consolas"/>
                <a:cs typeface="Consolas"/>
              </a:defRPr>
            </a:pPr>
            <a:r>
              <a:rPr sz="465" b="0">
                <a:solidFill>
                  <a:srgbClr val="111827"/>
                </a:solidFill>
                <a:latin typeface="Consolas"/>
                <a:ea typeface="Consolas"/>
                <a:cs typeface="Consolas"/>
              </a:rPr>
              <a:t>            cost_var = self.model.NewIntVar(0, int(self.horizon * 2 * max(1, scaled_cf)), f"cost_{c_idx}")</a:t>
            </a:r>
          </a:p>
          <a:p>
            <a:pPr algn="l">
              <a:defRPr sz="465" b="0">
                <a:solidFill>
                  <a:srgbClr val="111827"/>
                </a:solidFill>
                <a:latin typeface="Consolas"/>
                <a:ea typeface="Consolas"/>
                <a:cs typeface="Consolas"/>
              </a:defRPr>
            </a:pPr>
            <a:r>
              <a:rPr sz="465" b="0">
                <a:solidFill>
                  <a:srgbClr val="111827"/>
                </a:solidFill>
                <a:latin typeface="Consolas"/>
                <a:ea typeface="Consolas"/>
                <a:cs typeface="Consolas"/>
              </a:rPr>
              <a:t>            self.model.Add(cost_var == over_time * scaled_cf).OnlyEnforceIf(x_a)</a:t>
            </a:r>
          </a:p>
          <a:p>
            <a:pPr algn="l">
              <a:defRPr sz="465" b="0">
                <a:solidFill>
                  <a:srgbClr val="111827"/>
                </a:solidFill>
                <a:latin typeface="Consolas"/>
                <a:ea typeface="Consolas"/>
                <a:cs typeface="Consolas"/>
              </a:defRPr>
            </a:pPr>
            <a:r>
              <a:rPr sz="465" b="0">
                <a:solidFill>
                  <a:srgbClr val="111827"/>
                </a:solidFill>
                <a:latin typeface="Consolas"/>
                <a:ea typeface="Consolas"/>
                <a:cs typeface="Consolas"/>
              </a:rPr>
              <a:t>            self.model.Add(cost_var == 0).OnlyEnforceIf(x_a.Not())</a:t>
            </a:r>
          </a:p>
          <a:p>
            <a:pPr algn="l">
              <a:defRPr sz="465" b="0">
                <a:solidFill>
                  <a:srgbClr val="111827"/>
                </a:solidFill>
                <a:latin typeface="Consolas"/>
                <a:ea typeface="Consolas"/>
                <a:cs typeface="Consolas"/>
              </a:defRPr>
            </a:pPr>
            <a:r>
              <a:rPr sz="465" b="0">
                <a:solidFill>
                  <a:srgbClr val="111827"/>
                </a:solidFill>
                <a:latin typeface="Consolas"/>
                <a:ea typeface="Consolas"/>
                <a:cs typeface="Consolas"/>
              </a:rPr>
              <a:t>            </a:t>
            </a:r>
          </a:p>
          <a:p>
            <a:pPr algn="l">
              <a:defRPr sz="465" b="0">
                <a:solidFill>
                  <a:srgbClr val="111827"/>
                </a:solidFill>
                <a:latin typeface="Consolas"/>
                <a:ea typeface="Consolas"/>
                <a:cs typeface="Consolas"/>
              </a:defRPr>
            </a:pPr>
            <a:r>
              <a:rPr sz="465" b="0">
                <a:solidFill>
                  <a:srgbClr val="111827"/>
                </a:solidFill>
                <a:latin typeface="Consolas"/>
                <a:ea typeface="Consolas"/>
                <a:cs typeface="Consolas"/>
              </a:rPr>
              <a:t>            obj_costs.append(cost_var)</a:t>
            </a:r>
          </a:p>
          <a:p>
            <a:endParaRPr sz="465" b="0">
              <a:solidFill>
                <a:srgbClr val="111827"/>
              </a:solidFill>
              <a:latin typeface="Consolas"/>
              <a:ea typeface="Consolas"/>
              <a:cs typeface="Consolas"/>
            </a:endParaRPr>
          </a:p>
          <a:p>
            <a:pPr algn="l">
              <a:defRPr sz="465" b="0">
                <a:solidFill>
                  <a:srgbClr val="111827"/>
                </a:solidFill>
                <a:latin typeface="Consolas"/>
                <a:ea typeface="Consolas"/>
                <a:cs typeface="Consolas"/>
              </a:defRPr>
            </a:pPr>
            <a:r>
              <a:rPr sz="465" b="0">
                <a:solidFill>
                  <a:srgbClr val="111827"/>
                </a:solidFill>
                <a:latin typeface="Consolas"/>
                <a:ea typeface="Consolas"/>
                <a:cs typeface="Consolas"/>
              </a:rPr>
              <a:t>        # -----------------------------------------------------</a:t>
            </a:r>
          </a:p>
          <a:p>
            <a:pPr algn="l">
              <a:defRPr sz="465" b="0">
                <a:solidFill>
                  <a:srgbClr val="111827"/>
                </a:solidFill>
                <a:latin typeface="Consolas"/>
                <a:ea typeface="Consolas"/>
                <a:cs typeface="Consolas"/>
              </a:defRPr>
            </a:pPr>
            <a:r>
              <a:rPr sz="465" b="0">
                <a:solidFill>
                  <a:srgbClr val="111827"/>
                </a:solidFill>
                <a:latin typeface="Consolas"/>
                <a:ea typeface="Consolas"/>
                <a:cs typeface="Consolas"/>
              </a:rPr>
              <a:t>        # 5. Set Objective</a:t>
            </a:r>
          </a:p>
          <a:p>
            <a:pPr algn="l">
              <a:defRPr sz="465" b="0">
                <a:solidFill>
                  <a:srgbClr val="111827"/>
                </a:solidFill>
                <a:latin typeface="Consolas"/>
                <a:ea typeface="Consolas"/>
                <a:cs typeface="Consolas"/>
              </a:defRPr>
            </a:pPr>
            <a:r>
              <a:rPr sz="465" b="0">
                <a:solidFill>
                  <a:srgbClr val="111827"/>
                </a:solidFill>
                <a:latin typeface="Consolas"/>
                <a:ea typeface="Consolas"/>
                <a:cs typeface="Consolas"/>
              </a:rPr>
              <a:t>        # -----------------------------------------------------</a:t>
            </a:r>
          </a:p>
          <a:p>
            <a:pPr algn="l">
              <a:defRPr sz="465" b="0">
                <a:solidFill>
                  <a:srgbClr val="111827"/>
                </a:solidFill>
                <a:latin typeface="Consolas"/>
                <a:ea typeface="Consolas"/>
                <a:cs typeface="Consolas"/>
              </a:defRPr>
            </a:pPr>
            <a:r>
              <a:rPr sz="465" b="0">
                <a:solidFill>
                  <a:srgbClr val="111827"/>
                </a:solidFill>
                <a:latin typeface="Consolas"/>
                <a:ea typeface="Consolas"/>
                <a:cs typeface="Consolas"/>
              </a:rPr>
              <a:t>        if len(obj_costs) &gt; 0:</a:t>
            </a:r>
          </a:p>
          <a:p>
            <a:pPr algn="l">
              <a:defRPr sz="465" b="0">
                <a:solidFill>
                  <a:srgbClr val="111827"/>
                </a:solidFill>
                <a:latin typeface="Consolas"/>
                <a:ea typeface="Consolas"/>
                <a:cs typeface="Consolas"/>
              </a:defRPr>
            </a:pPr>
            <a:r>
              <a:rPr sz="465" b="0">
                <a:solidFill>
                  <a:srgbClr val="111827"/>
                </a:solidFill>
                <a:latin typeface="Consolas"/>
                <a:ea typeface="Consolas"/>
                <a:cs typeface="Consolas"/>
              </a:rPr>
              <a:t>            self.model.Minimize(sum(obj_costs))</a:t>
            </a:r>
          </a:p>
        </p:txBody>
      </p:sp>
      <p:sp>
        <p:nvSpPr>
          <p:cNvPr id="19" name="Rectangle 18">
            <a:extLst>
              <a:ext uri="{FF2B5EF4-FFF2-40B4-BE49-F238E27FC236}">
                <a16:creationId xmlns:a16="http://schemas.microsoft.com/office/drawing/2014/main" id="{C8B13E89-4796-4B4C-AAB2-A0D996EB45B3}"/>
              </a:ext>
            </a:extLst>
          </p:cNvPr>
          <p:cNvSpPr>
            <a:spLocks noGrp="1"/>
          </p:cNvSpPr>
          <p:nvPr/>
        </p:nvSpPr>
        <p:spPr>
          <a:xfrm>
            <a:off x="552450" y="4114800"/>
            <a:ext cx="3733800" cy="876300"/>
          </a:xfrm>
          <a:prstGeom prst="rect">
            <a:avLst/>
          </a:prstGeom>
          <a:solidFill>
            <a:srgbClr val="FFFFFF"/>
          </a:solidFill>
          <a:ln w="10478">
            <a:solidFill>
              <a:srgbClr val="FDB515"/>
            </a:solidFill>
            <a:prstDash val="solid"/>
          </a:ln>
        </p:spPr>
        <p:txBody>
          <a:bodyPr/>
          <a:lstStyle/>
          <a:p>
            <a:endParaRPr lang="en-DE"/>
          </a:p>
        </p:txBody>
      </p:sp>
      <p:sp>
        <p:nvSpPr>
          <p:cNvPr id="20" name="Rectangle 19">
            <a:extLst>
              <a:ext uri="{FF2B5EF4-FFF2-40B4-BE49-F238E27FC236}">
                <a16:creationId xmlns:a16="http://schemas.microsoft.com/office/drawing/2014/main" id="{B241E5F6-004F-4EDA-A66E-DD9C5A8348B4}"/>
              </a:ext>
            </a:extLst>
          </p:cNvPr>
          <p:cNvSpPr>
            <a:spLocks noGrp="1"/>
          </p:cNvSpPr>
          <p:nvPr/>
        </p:nvSpPr>
        <p:spPr>
          <a:xfrm>
            <a:off x="666750" y="4210050"/>
            <a:ext cx="35052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1">
                <a:solidFill>
                  <a:srgbClr val="FDB515"/>
                </a:solidFill>
                <a:latin typeface="Arial"/>
                <a:ea typeface="Arial"/>
                <a:cs typeface="Arial"/>
              </a:defRPr>
            </a:pPr>
            <a:r>
              <a:rPr sz="563" b="1">
                <a:solidFill>
                  <a:srgbClr val="FDB515"/>
                </a:solidFill>
                <a:latin typeface="Arial"/>
                <a:ea typeface="Arial"/>
                <a:cs typeface="Arial"/>
              </a:rPr>
              <a:t>EHRLICHER HINWEIS</a:t>
            </a:r>
          </a:p>
        </p:txBody>
      </p:sp>
      <p:sp>
        <p:nvSpPr>
          <p:cNvPr id="21" name="Rectangle 20">
            <a:extLst>
              <a:ext uri="{FF2B5EF4-FFF2-40B4-BE49-F238E27FC236}">
                <a16:creationId xmlns:a16="http://schemas.microsoft.com/office/drawing/2014/main" id="{60812738-4ECD-4122-8C00-3210CCF312A8}"/>
              </a:ext>
            </a:extLst>
          </p:cNvPr>
          <p:cNvSpPr>
            <a:spLocks noGrp="1"/>
          </p:cNvSpPr>
          <p:nvPr/>
        </p:nvSpPr>
        <p:spPr>
          <a:xfrm>
            <a:off x="666750" y="4400550"/>
            <a:ext cx="35052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73" b="0">
                <a:solidFill>
                  <a:srgbClr val="111111"/>
                </a:solidFill>
                <a:latin typeface="Arial"/>
                <a:ea typeface="Arial"/>
                <a:cs typeface="Arial"/>
              </a:defRPr>
            </a:pPr>
            <a:r>
              <a:rPr sz="773" b="0">
                <a:solidFill>
                  <a:srgbClr val="111111"/>
                </a:solidFill>
                <a:latin typeface="Arial"/>
                <a:ea typeface="Arial"/>
                <a:cs typeface="Arial"/>
              </a:rPr>
              <a:t>Der Code implementiert `coeff * delay`. Die feste Step-Penalty aus der vollen DISPLIB-Definition ist nicht vollständig umgesetzt.</a:t>
            </a:r>
          </a:p>
        </p:txBody>
      </p:sp>
      <p:sp>
        <p:nvSpPr>
          <p:cNvPr id="22" name="Rectangle 21">
            <a:extLst>
              <a:ext uri="{FF2B5EF4-FFF2-40B4-BE49-F238E27FC236}">
                <a16:creationId xmlns:a16="http://schemas.microsoft.com/office/drawing/2014/main" id="{4F45E97F-29D7-4C3A-9C55-EB38CF47DA45}"/>
              </a:ext>
            </a:extLst>
          </p:cNvPr>
          <p:cNvSpPr>
            <a:spLocks noGrp="1"/>
          </p:cNvSpPr>
          <p:nvPr/>
        </p:nvSpPr>
        <p:spPr>
          <a:xfrm>
            <a:off x="381000" y="5753100"/>
            <a:ext cx="11430000" cy="11430"/>
          </a:xfrm>
          <a:prstGeom prst="rect">
            <a:avLst/>
          </a:prstGeom>
          <a:solidFill>
            <a:srgbClr val="222222"/>
          </a:solidFill>
          <a:ln w="0">
            <a:solidFill>
              <a:srgbClr val="000000">
                <a:alpha val="0"/>
              </a:srgbClr>
            </a:solidFill>
            <a:prstDash val="solid"/>
          </a:ln>
        </p:spPr>
        <p:txBody>
          <a:bodyPr/>
          <a:lstStyle/>
          <a:p>
            <a:endParaRPr lang="en-DE"/>
          </a:p>
        </p:txBody>
      </p:sp>
      <p:sp>
        <p:nvSpPr>
          <p:cNvPr id="23" name="Rectangle 22">
            <a:extLst>
              <a:ext uri="{FF2B5EF4-FFF2-40B4-BE49-F238E27FC236}">
                <a16:creationId xmlns:a16="http://schemas.microsoft.com/office/drawing/2014/main" id="{A1478DCE-51AC-473B-B4DA-C2915029C40B}"/>
              </a:ext>
            </a:extLst>
          </p:cNvPr>
          <p:cNvSpPr>
            <a:spLocks noGrp="1"/>
          </p:cNvSpPr>
          <p:nvPr/>
        </p:nvSpPr>
        <p:spPr>
          <a:xfrm>
            <a:off x="381000" y="592455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00549F"/>
                </a:solidFill>
                <a:latin typeface="Arial"/>
                <a:ea typeface="Arial"/>
                <a:cs typeface="Arial"/>
              </a:defRPr>
            </a:pPr>
            <a:r>
              <a:rPr sz="675" b="0">
                <a:solidFill>
                  <a:srgbClr val="00549F"/>
                </a:solidFill>
                <a:latin typeface="Arial"/>
                <a:ea typeface="Arial"/>
                <a:cs typeface="Arial"/>
              </a:rPr>
              <a:t>12</a:t>
            </a:r>
          </a:p>
        </p:txBody>
      </p:sp>
      <p:sp>
        <p:nvSpPr>
          <p:cNvPr id="24" name="Rectangle 23">
            <a:extLst>
              <a:ext uri="{FF2B5EF4-FFF2-40B4-BE49-F238E27FC236}">
                <a16:creationId xmlns:a16="http://schemas.microsoft.com/office/drawing/2014/main" id="{FFDCF3C1-5B70-4230-B495-2D6733922D26}"/>
              </a:ext>
            </a:extLst>
          </p:cNvPr>
          <p:cNvSpPr>
            <a:spLocks noGrp="1"/>
          </p:cNvSpPr>
          <p:nvPr/>
        </p:nvSpPr>
        <p:spPr>
          <a:xfrm>
            <a:off x="1123950" y="5924550"/>
            <a:ext cx="6572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0" b="0">
                <a:solidFill>
                  <a:srgbClr val="00549F"/>
                </a:solidFill>
                <a:latin typeface="Arial"/>
                <a:ea typeface="Arial"/>
                <a:cs typeface="Arial"/>
              </a:defRPr>
            </a:pPr>
            <a:r>
              <a:rPr sz="630" b="0">
                <a:solidFill>
                  <a:srgbClr val="00549F"/>
                </a:solidFill>
                <a:latin typeface="Arial"/>
                <a:ea typeface="Arial"/>
                <a:cs typeface="Arial"/>
              </a:rPr>
              <a:t>Train Dispatching | DISPLIB mathematical model to code | Baseline MIP and Extended CP-SAT</a:t>
            </a:r>
          </a:p>
        </p:txBody>
      </p:sp>
      <p:pic>
        <p:nvPicPr>
          <p:cNvPr id="25" name="Picture 24"/>
          <p:cNvPicPr>
            <a:picLocks noChangeAspect="1"/>
          </p:cNvPicPr>
          <p:nvPr/>
        </p:nvPicPr>
        <p:blipFill>
          <a:blip r:embed="rId5"/>
          <a:stretch/>
        </p:blipFill>
        <p:spPr>
          <a:xfrm>
            <a:off x="8107690" y="5829300"/>
            <a:ext cx="2929870" cy="819150"/>
          </a:xfrm>
          <a:prstGeom prst="rect">
            <a:avLst/>
          </a:prstGeom>
        </p:spPr>
      </p:pic>
    </p:spTree>
    <p:extLst>
      <p:ext uri="{BB962C8B-B14F-4D97-AF65-F5344CB8AC3E}">
        <p14:creationId xmlns:p14="http://schemas.microsoft.com/office/powerpoint/2010/main" val="8427975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45192FA1-3FD3-420A-B2DE-58171FA25F45}"/>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en-DE"/>
          </a:p>
        </p:txBody>
      </p:sp>
      <p:sp>
        <p:nvSpPr>
          <p:cNvPr id="2" name="Rectangle 1">
            <a:extLst>
              <a:ext uri="{FF2B5EF4-FFF2-40B4-BE49-F238E27FC236}">
                <a16:creationId xmlns:a16="http://schemas.microsoft.com/office/drawing/2014/main" id="{2CE245EC-8BEB-41BB-8D92-8D603263AF41}"/>
              </a:ext>
            </a:extLst>
          </p:cNvPr>
          <p:cNvSpPr>
            <a:spLocks noGrp="1"/>
          </p:cNvSpPr>
          <p:nvPr/>
        </p:nvSpPr>
        <p:spPr>
          <a:xfrm>
            <a:off x="514350" y="285750"/>
            <a:ext cx="106680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00549F"/>
                </a:solidFill>
                <a:latin typeface="Arial"/>
                <a:ea typeface="Arial"/>
                <a:cs typeface="Arial"/>
              </a:defRPr>
            </a:pPr>
            <a:r>
              <a:rPr sz="1800" b="1">
                <a:solidFill>
                  <a:srgbClr val="00549F"/>
                </a:solidFill>
                <a:latin typeface="Arial"/>
                <a:ea typeface="Arial"/>
                <a:cs typeface="Arial"/>
              </a:rPr>
              <a:t>Der Output ist eine geordnete Event-Liste im DISPLIB-Format.</a:t>
            </a:r>
          </a:p>
        </p:txBody>
      </p:sp>
      <p:sp>
        <p:nvSpPr>
          <p:cNvPr id="3" name="Rectangle 2">
            <a:extLst>
              <a:ext uri="{FF2B5EF4-FFF2-40B4-BE49-F238E27FC236}">
                <a16:creationId xmlns:a16="http://schemas.microsoft.com/office/drawing/2014/main" id="{B2127CD5-4357-4EF0-A447-BB78CBAC7BE0}"/>
              </a:ext>
            </a:extLst>
          </p:cNvPr>
          <p:cNvSpPr>
            <a:spLocks noGrp="1"/>
          </p:cNvSpPr>
          <p:nvPr/>
        </p:nvSpPr>
        <p:spPr>
          <a:xfrm>
            <a:off x="514350" y="704850"/>
            <a:ext cx="9715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10" b="0">
                <a:solidFill>
                  <a:srgbClr val="565656"/>
                </a:solidFill>
                <a:latin typeface="Arial"/>
                <a:ea typeface="Arial"/>
                <a:cs typeface="Arial"/>
              </a:defRPr>
            </a:pPr>
            <a:r>
              <a:rPr sz="810" b="0">
                <a:solidFill>
                  <a:srgbClr val="565656"/>
                </a:solidFill>
                <a:latin typeface="Arial"/>
                <a:ea typeface="Arial"/>
                <a:cs typeface="Arial"/>
              </a:rPr>
              <a:t>Nach dem Solver werden die gewählten Operationen gesammelt, sortiert und als JSON geschrieben.</a:t>
            </a:r>
          </a:p>
        </p:txBody>
      </p:sp>
      <p:sp>
        <p:nvSpPr>
          <p:cNvPr id="4" name="Rectangle 3">
            <a:extLst>
              <a:ext uri="{FF2B5EF4-FFF2-40B4-BE49-F238E27FC236}">
                <a16:creationId xmlns:a16="http://schemas.microsoft.com/office/drawing/2014/main" id="{874B276F-4A49-42DE-AEBB-1A55CA9BB23C}"/>
              </a:ext>
            </a:extLst>
          </p:cNvPr>
          <p:cNvSpPr>
            <a:spLocks noGrp="1"/>
          </p:cNvSpPr>
          <p:nvPr/>
        </p:nvSpPr>
        <p:spPr>
          <a:xfrm>
            <a:off x="514350" y="971550"/>
            <a:ext cx="10763250" cy="11430"/>
          </a:xfrm>
          <a:prstGeom prst="rect">
            <a:avLst/>
          </a:prstGeom>
          <a:solidFill>
            <a:srgbClr val="222222"/>
          </a:solidFill>
          <a:ln w="0">
            <a:solidFill>
              <a:srgbClr val="000000">
                <a:alpha val="0"/>
              </a:srgbClr>
            </a:solidFill>
            <a:prstDash val="solid"/>
          </a:ln>
        </p:spPr>
        <p:txBody>
          <a:bodyPr/>
          <a:lstStyle/>
          <a:p>
            <a:endParaRPr lang="en-DE"/>
          </a:p>
        </p:txBody>
      </p:sp>
      <p:sp>
        <p:nvSpPr>
          <p:cNvPr id="5" name="Rectangle 4">
            <a:extLst>
              <a:ext uri="{FF2B5EF4-FFF2-40B4-BE49-F238E27FC236}">
                <a16:creationId xmlns:a16="http://schemas.microsoft.com/office/drawing/2014/main" id="{BC4304AC-3CFC-4D46-B51D-6010F70D39B9}"/>
              </a:ext>
            </a:extLst>
          </p:cNvPr>
          <p:cNvSpPr>
            <a:spLocks noGrp="1"/>
          </p:cNvSpPr>
          <p:nvPr/>
        </p:nvSpPr>
        <p:spPr>
          <a:xfrm>
            <a:off x="552450" y="1276350"/>
            <a:ext cx="3619500" cy="1666875"/>
          </a:xfrm>
          <a:prstGeom prst="rect">
            <a:avLst/>
          </a:prstGeom>
          <a:solidFill>
            <a:srgbClr val="FFFFFF"/>
          </a:solidFill>
          <a:ln w="9525">
            <a:solidFill>
              <a:srgbClr val="D7DDE4"/>
            </a:solidFill>
            <a:prstDash val="solid"/>
          </a:ln>
        </p:spPr>
        <p:txBody>
          <a:bodyPr/>
          <a:lstStyle/>
          <a:p>
            <a:endParaRPr lang="en-DE"/>
          </a:p>
        </p:txBody>
      </p:sp>
      <p:pic>
        <p:nvPicPr>
          <p:cNvPr id="6" name="Picture 5"/>
          <p:cNvPicPr>
            <a:picLocks noChangeAspect="1"/>
          </p:cNvPicPr>
          <p:nvPr/>
        </p:nvPicPr>
        <p:blipFill>
          <a:blip r:embed="rId3"/>
          <a:stretch/>
        </p:blipFill>
        <p:spPr>
          <a:xfrm>
            <a:off x="647700" y="1478503"/>
            <a:ext cx="3429000" cy="1167319"/>
          </a:xfrm>
          <a:prstGeom prst="rect">
            <a:avLst/>
          </a:prstGeom>
        </p:spPr>
      </p:pic>
      <p:sp>
        <p:nvSpPr>
          <p:cNvPr id="7" name="Rectangle 6">
            <a:extLst>
              <a:ext uri="{FF2B5EF4-FFF2-40B4-BE49-F238E27FC236}">
                <a16:creationId xmlns:a16="http://schemas.microsoft.com/office/drawing/2014/main" id="{14E4AA61-03C2-4111-903F-905527BA76F5}"/>
              </a:ext>
            </a:extLst>
          </p:cNvPr>
          <p:cNvSpPr>
            <a:spLocks noGrp="1"/>
          </p:cNvSpPr>
          <p:nvPr/>
        </p:nvSpPr>
        <p:spPr>
          <a:xfrm>
            <a:off x="647700" y="2771775"/>
            <a:ext cx="3429000" cy="104775"/>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533" b="0">
                <a:solidFill>
                  <a:srgbClr val="565656"/>
                </a:solidFill>
                <a:latin typeface="Arial"/>
                <a:ea typeface="Arial"/>
                <a:cs typeface="Arial"/>
              </a:defRPr>
            </a:pPr>
            <a:r>
              <a:rPr sz="533" b="0">
                <a:solidFill>
                  <a:srgbClr val="565656"/>
                </a:solidFill>
                <a:latin typeface="Arial"/>
                <a:ea typeface="Arial"/>
                <a:cs typeface="Arial"/>
              </a:rPr>
              <a:t>Problemdefinition: Event-Sequenz und Freigabezeiten</a:t>
            </a:r>
          </a:p>
        </p:txBody>
      </p:sp>
      <p:sp>
        <p:nvSpPr>
          <p:cNvPr id="8" name="Rectangle 7">
            <a:extLst>
              <a:ext uri="{FF2B5EF4-FFF2-40B4-BE49-F238E27FC236}">
                <a16:creationId xmlns:a16="http://schemas.microsoft.com/office/drawing/2014/main" id="{58334E83-8D8C-46B1-89E8-624C9A18B3CD}"/>
              </a:ext>
            </a:extLst>
          </p:cNvPr>
          <p:cNvSpPr>
            <a:spLocks noGrp="1"/>
          </p:cNvSpPr>
          <p:nvPr/>
        </p:nvSpPr>
        <p:spPr>
          <a:xfrm>
            <a:off x="4476750" y="1276350"/>
            <a:ext cx="3333750" cy="4000500"/>
          </a:xfrm>
          <a:prstGeom prst="rect">
            <a:avLst/>
          </a:prstGeom>
          <a:solidFill>
            <a:srgbClr val="F6F8FA"/>
          </a:solidFill>
          <a:ln w="9525">
            <a:solidFill>
              <a:srgbClr val="7FAAD3"/>
            </a:solidFill>
            <a:prstDash val="solid"/>
          </a:ln>
        </p:spPr>
        <p:txBody>
          <a:bodyPr/>
          <a:lstStyle/>
          <a:p>
            <a:endParaRPr lang="en-DE"/>
          </a:p>
        </p:txBody>
      </p:sp>
      <p:sp>
        <p:nvSpPr>
          <p:cNvPr id="9" name="Rectangle 8">
            <a:extLst>
              <a:ext uri="{FF2B5EF4-FFF2-40B4-BE49-F238E27FC236}">
                <a16:creationId xmlns:a16="http://schemas.microsoft.com/office/drawing/2014/main" id="{CFA4E9CC-3980-44A5-B479-58622250D87A}"/>
              </a:ext>
            </a:extLst>
          </p:cNvPr>
          <p:cNvSpPr>
            <a:spLocks noGrp="1"/>
          </p:cNvSpPr>
          <p:nvPr/>
        </p:nvSpPr>
        <p:spPr>
          <a:xfrm>
            <a:off x="4476750" y="1276350"/>
            <a:ext cx="3333750" cy="228600"/>
          </a:xfrm>
          <a:prstGeom prst="rect">
            <a:avLst/>
          </a:prstGeom>
          <a:solidFill>
            <a:srgbClr val="E7F0FA"/>
          </a:solidFill>
          <a:ln w="9525">
            <a:solidFill>
              <a:srgbClr val="7FAAD3"/>
            </a:solidFill>
            <a:prstDash val="solid"/>
          </a:ln>
        </p:spPr>
        <p:txBody>
          <a:bodyPr/>
          <a:lstStyle/>
          <a:p>
            <a:endParaRPr lang="en-DE"/>
          </a:p>
        </p:txBody>
      </p:sp>
      <p:sp>
        <p:nvSpPr>
          <p:cNvPr id="10" name="Rectangle 9">
            <a:extLst>
              <a:ext uri="{FF2B5EF4-FFF2-40B4-BE49-F238E27FC236}">
                <a16:creationId xmlns:a16="http://schemas.microsoft.com/office/drawing/2014/main" id="{1091F39B-F030-4C55-BA29-09F0F8B02271}"/>
              </a:ext>
            </a:extLst>
          </p:cNvPr>
          <p:cNvSpPr>
            <a:spLocks noGrp="1"/>
          </p:cNvSpPr>
          <p:nvPr/>
        </p:nvSpPr>
        <p:spPr>
          <a:xfrm>
            <a:off x="4572000" y="1333500"/>
            <a:ext cx="314325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70" b="1">
                <a:solidFill>
                  <a:srgbClr val="00549F"/>
                </a:solidFill>
                <a:latin typeface="Arial"/>
                <a:ea typeface="Arial"/>
                <a:cs typeface="Arial"/>
              </a:defRPr>
            </a:pPr>
            <a:r>
              <a:rPr sz="570" b="1">
                <a:solidFill>
                  <a:srgbClr val="00549F"/>
                </a:solidFill>
                <a:latin typeface="Arial"/>
                <a:ea typeface="Arial"/>
                <a:cs typeface="Arial"/>
              </a:rPr>
              <a:t>mip_model.py:189-218</a:t>
            </a:r>
          </a:p>
        </p:txBody>
      </p:sp>
      <p:sp>
        <p:nvSpPr>
          <p:cNvPr id="11" name="Rectangle 10">
            <a:extLst>
              <a:ext uri="{FF2B5EF4-FFF2-40B4-BE49-F238E27FC236}">
                <a16:creationId xmlns:a16="http://schemas.microsoft.com/office/drawing/2014/main" id="{D5597AE5-3B9F-4AF3-A426-94CAEFA752F8}"/>
              </a:ext>
            </a:extLst>
          </p:cNvPr>
          <p:cNvSpPr>
            <a:spLocks noGrp="1"/>
          </p:cNvSpPr>
          <p:nvPr/>
        </p:nvSpPr>
        <p:spPr>
          <a:xfrm>
            <a:off x="4591050" y="1600200"/>
            <a:ext cx="3105150" cy="3600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def export_solution(self, filename: str):</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if self.model.status not in (GRB.OPTIMAL, GRB.TIME_LIMIT, GRB.SUBOPTIMAL):</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print("No valid solution to export!")</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return</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events = []</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for train in self.instance.trains:</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for op in train.operations:</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val_x = self.x[train.id, op.id].X</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if val_x &gt; 0.5: # Operation is selected</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val_t = self.t[train.id, op.id].X</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events.append({</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"operation": op.id,</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"time": int(round(val_t)),</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"train": train.id</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 ---------------------------------------------------------</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 ROBUST TOPOLOGICAL SORT FOR VERIFIER</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 ---------------------------------------------------------</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 We can directly use the topological rank `u` calculated by the Gurobi solver!</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 This completely guarantees no cyclic dependencies and matches the physical causality.</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events.sort(key=lambda x: (x["time"], self.u[x["train"], x["operation"]].X))</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final_events = events</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 ---------------------------------------------------------</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output = {</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"events": events,</a:t>
            </a:r>
          </a:p>
          <a:p>
            <a:pPr algn="l">
              <a:defRPr sz="472" b="0">
                <a:solidFill>
                  <a:srgbClr val="111827"/>
                </a:solidFill>
                <a:latin typeface="Consolas"/>
                <a:ea typeface="Consolas"/>
                <a:cs typeface="Consolas"/>
              </a:defRPr>
            </a:pPr>
            <a:r>
              <a:rPr sz="472" b="0">
                <a:solidFill>
                  <a:srgbClr val="111827"/>
                </a:solidFill>
                <a:latin typeface="Consolas"/>
                <a:ea typeface="Consolas"/>
                <a:cs typeface="Consolas"/>
              </a:rPr>
              <a:t>            "objective_value": int(round(self.model.ObjVal))</a:t>
            </a:r>
          </a:p>
        </p:txBody>
      </p:sp>
      <p:sp>
        <p:nvSpPr>
          <p:cNvPr id="12" name="Rectangle 11">
            <a:extLst>
              <a:ext uri="{FF2B5EF4-FFF2-40B4-BE49-F238E27FC236}">
                <a16:creationId xmlns:a16="http://schemas.microsoft.com/office/drawing/2014/main" id="{0DF4962D-E961-4821-BFE3-33A280A34AF6}"/>
              </a:ext>
            </a:extLst>
          </p:cNvPr>
          <p:cNvSpPr>
            <a:spLocks noGrp="1"/>
          </p:cNvSpPr>
          <p:nvPr/>
        </p:nvSpPr>
        <p:spPr>
          <a:xfrm>
            <a:off x="8001000" y="1276350"/>
            <a:ext cx="3333750" cy="4000500"/>
          </a:xfrm>
          <a:prstGeom prst="rect">
            <a:avLst/>
          </a:prstGeom>
          <a:solidFill>
            <a:srgbClr val="F6F8FA"/>
          </a:solidFill>
          <a:ln w="9525">
            <a:solidFill>
              <a:srgbClr val="7FAAD3"/>
            </a:solidFill>
            <a:prstDash val="solid"/>
          </a:ln>
        </p:spPr>
        <p:txBody>
          <a:bodyPr/>
          <a:lstStyle/>
          <a:p>
            <a:endParaRPr lang="en-DE"/>
          </a:p>
        </p:txBody>
      </p:sp>
      <p:sp>
        <p:nvSpPr>
          <p:cNvPr id="13" name="Rectangle 12">
            <a:extLst>
              <a:ext uri="{FF2B5EF4-FFF2-40B4-BE49-F238E27FC236}">
                <a16:creationId xmlns:a16="http://schemas.microsoft.com/office/drawing/2014/main" id="{7076C5EB-F853-4D75-96F6-A15A99B0A6C3}"/>
              </a:ext>
            </a:extLst>
          </p:cNvPr>
          <p:cNvSpPr>
            <a:spLocks noGrp="1"/>
          </p:cNvSpPr>
          <p:nvPr/>
        </p:nvSpPr>
        <p:spPr>
          <a:xfrm>
            <a:off x="8001000" y="1276350"/>
            <a:ext cx="3333750" cy="228600"/>
          </a:xfrm>
          <a:prstGeom prst="rect">
            <a:avLst/>
          </a:prstGeom>
          <a:solidFill>
            <a:srgbClr val="E7F0FA"/>
          </a:solidFill>
          <a:ln w="9525">
            <a:solidFill>
              <a:srgbClr val="7FAAD3"/>
            </a:solidFill>
            <a:prstDash val="solid"/>
          </a:ln>
        </p:spPr>
        <p:txBody>
          <a:bodyPr/>
          <a:lstStyle/>
          <a:p>
            <a:endParaRPr lang="en-DE"/>
          </a:p>
        </p:txBody>
      </p:sp>
      <p:sp>
        <p:nvSpPr>
          <p:cNvPr id="14" name="Rectangle 13">
            <a:extLst>
              <a:ext uri="{FF2B5EF4-FFF2-40B4-BE49-F238E27FC236}">
                <a16:creationId xmlns:a16="http://schemas.microsoft.com/office/drawing/2014/main" id="{A6519295-8D31-4785-8962-6EC95506BCD0}"/>
              </a:ext>
            </a:extLst>
          </p:cNvPr>
          <p:cNvSpPr>
            <a:spLocks noGrp="1"/>
          </p:cNvSpPr>
          <p:nvPr/>
        </p:nvSpPr>
        <p:spPr>
          <a:xfrm>
            <a:off x="8096250" y="1333500"/>
            <a:ext cx="314325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70" b="1">
                <a:solidFill>
                  <a:srgbClr val="00549F"/>
                </a:solidFill>
                <a:latin typeface="Arial"/>
                <a:ea typeface="Arial"/>
                <a:cs typeface="Arial"/>
              </a:defRPr>
            </a:pPr>
            <a:r>
              <a:rPr sz="570" b="1">
                <a:solidFill>
                  <a:srgbClr val="00549F"/>
                </a:solidFill>
                <a:latin typeface="Arial"/>
                <a:ea typeface="Arial"/>
                <a:cs typeface="Arial"/>
              </a:rPr>
              <a:t>cp_model.py:250-282</a:t>
            </a:r>
          </a:p>
        </p:txBody>
      </p:sp>
      <p:sp>
        <p:nvSpPr>
          <p:cNvPr id="15" name="Rectangle 14">
            <a:extLst>
              <a:ext uri="{FF2B5EF4-FFF2-40B4-BE49-F238E27FC236}">
                <a16:creationId xmlns:a16="http://schemas.microsoft.com/office/drawing/2014/main" id="{247D28AA-B3BA-4BC5-A8F8-08B2BC2E179A}"/>
              </a:ext>
            </a:extLst>
          </p:cNvPr>
          <p:cNvSpPr>
            <a:spLocks noGrp="1"/>
          </p:cNvSpPr>
          <p:nvPr/>
        </p:nvSpPr>
        <p:spPr>
          <a:xfrm>
            <a:off x="8115300" y="1600200"/>
            <a:ext cx="3105150" cy="3600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450" b="0">
                <a:solidFill>
                  <a:srgbClr val="111827"/>
                </a:solidFill>
                <a:latin typeface="Consolas"/>
                <a:ea typeface="Consolas"/>
                <a:cs typeface="Consolas"/>
              </a:defRPr>
            </a:pPr>
            <a:r>
              <a:rPr sz="450" b="0">
                <a:solidFill>
                  <a:srgbClr val="111827"/>
                </a:solidFill>
                <a:latin typeface="Consolas"/>
                <a:ea typeface="Consolas"/>
                <a:cs typeface="Consolas"/>
              </a:rPr>
              <a:t>    def export_solution(self, filename: str):</a:t>
            </a:r>
          </a:p>
          <a:p>
            <a:pPr algn="l">
              <a:defRPr sz="450" b="0">
                <a:solidFill>
                  <a:srgbClr val="111827"/>
                </a:solidFill>
                <a:latin typeface="Consolas"/>
                <a:ea typeface="Consolas"/>
                <a:cs typeface="Consolas"/>
              </a:defRPr>
            </a:pPr>
            <a:r>
              <a:rPr sz="450" b="0">
                <a:solidFill>
                  <a:srgbClr val="111827"/>
                </a:solidFill>
                <a:latin typeface="Consolas"/>
                <a:ea typeface="Consolas"/>
                <a:cs typeface="Consolas"/>
              </a:rPr>
              <a:t>        if self.status not in ["OPTIMAL", "FEASIBLE"]:</a:t>
            </a:r>
          </a:p>
          <a:p>
            <a:pPr algn="l">
              <a:defRPr sz="450" b="0">
                <a:solidFill>
                  <a:srgbClr val="111827"/>
                </a:solidFill>
                <a:latin typeface="Consolas"/>
                <a:ea typeface="Consolas"/>
                <a:cs typeface="Consolas"/>
              </a:defRPr>
            </a:pPr>
            <a:r>
              <a:rPr sz="450" b="0">
                <a:solidFill>
                  <a:srgbClr val="111827"/>
                </a:solidFill>
                <a:latin typeface="Consolas"/>
                <a:ea typeface="Consolas"/>
                <a:cs typeface="Consolas"/>
              </a:rPr>
              <a:t>            print("Cannot export: No feasible solution available.")</a:t>
            </a:r>
          </a:p>
          <a:p>
            <a:pPr algn="l">
              <a:defRPr sz="450" b="0">
                <a:solidFill>
                  <a:srgbClr val="111827"/>
                </a:solidFill>
                <a:latin typeface="Consolas"/>
                <a:ea typeface="Consolas"/>
                <a:cs typeface="Consolas"/>
              </a:defRPr>
            </a:pPr>
            <a:r>
              <a:rPr sz="450" b="0">
                <a:solidFill>
                  <a:srgbClr val="111827"/>
                </a:solidFill>
                <a:latin typeface="Consolas"/>
                <a:ea typeface="Consolas"/>
                <a:cs typeface="Consolas"/>
              </a:rPr>
              <a:t>            return</a:t>
            </a:r>
          </a:p>
          <a:p>
            <a:endParaRPr sz="450" b="0">
              <a:solidFill>
                <a:srgbClr val="111827"/>
              </a:solidFill>
              <a:latin typeface="Consolas"/>
              <a:ea typeface="Consolas"/>
              <a:cs typeface="Consolas"/>
            </a:endParaRPr>
          </a:p>
          <a:p>
            <a:pPr algn="l">
              <a:defRPr sz="450" b="0">
                <a:solidFill>
                  <a:srgbClr val="111827"/>
                </a:solidFill>
                <a:latin typeface="Consolas"/>
                <a:ea typeface="Consolas"/>
                <a:cs typeface="Consolas"/>
              </a:defRPr>
            </a:pPr>
            <a:r>
              <a:rPr sz="450" b="0">
                <a:solidFill>
                  <a:srgbClr val="111827"/>
                </a:solidFill>
                <a:latin typeface="Consolas"/>
                <a:ea typeface="Consolas"/>
                <a:cs typeface="Consolas"/>
              </a:rPr>
              <a:t>        events = []</a:t>
            </a:r>
          </a:p>
          <a:p>
            <a:pPr algn="l">
              <a:defRPr sz="450" b="0">
                <a:solidFill>
                  <a:srgbClr val="111827"/>
                </a:solidFill>
                <a:latin typeface="Consolas"/>
                <a:ea typeface="Consolas"/>
                <a:cs typeface="Consolas"/>
              </a:defRPr>
            </a:pPr>
            <a:r>
              <a:rPr sz="450" b="0">
                <a:solidFill>
                  <a:srgbClr val="111827"/>
                </a:solidFill>
                <a:latin typeface="Consolas"/>
                <a:ea typeface="Consolas"/>
                <a:cs typeface="Consolas"/>
              </a:rPr>
              <a:t>        for train in self.instance.trains:</a:t>
            </a:r>
          </a:p>
          <a:p>
            <a:pPr algn="l">
              <a:defRPr sz="450" b="0">
                <a:solidFill>
                  <a:srgbClr val="111827"/>
                </a:solidFill>
                <a:latin typeface="Consolas"/>
                <a:ea typeface="Consolas"/>
                <a:cs typeface="Consolas"/>
              </a:defRPr>
            </a:pPr>
            <a:r>
              <a:rPr sz="450" b="0">
                <a:solidFill>
                  <a:srgbClr val="111827"/>
                </a:solidFill>
                <a:latin typeface="Consolas"/>
                <a:ea typeface="Consolas"/>
                <a:cs typeface="Consolas"/>
              </a:rPr>
              <a:t>            t_id = train.id</a:t>
            </a:r>
          </a:p>
          <a:p>
            <a:pPr algn="l">
              <a:defRPr sz="450" b="0">
                <a:solidFill>
                  <a:srgbClr val="111827"/>
                </a:solidFill>
                <a:latin typeface="Consolas"/>
                <a:ea typeface="Consolas"/>
                <a:cs typeface="Consolas"/>
              </a:defRPr>
            </a:pPr>
            <a:r>
              <a:rPr sz="450" b="0">
                <a:solidFill>
                  <a:srgbClr val="111827"/>
                </a:solidFill>
                <a:latin typeface="Consolas"/>
                <a:ea typeface="Consolas"/>
                <a:cs typeface="Consolas"/>
              </a:rPr>
              <a:t>            for op in train.operations:</a:t>
            </a:r>
          </a:p>
          <a:p>
            <a:pPr algn="l">
              <a:defRPr sz="450" b="0">
                <a:solidFill>
                  <a:srgbClr val="111827"/>
                </a:solidFill>
                <a:latin typeface="Consolas"/>
                <a:ea typeface="Consolas"/>
                <a:cs typeface="Consolas"/>
              </a:defRPr>
            </a:pPr>
            <a:r>
              <a:rPr sz="450" b="0">
                <a:solidFill>
                  <a:srgbClr val="111827"/>
                </a:solidFill>
                <a:latin typeface="Consolas"/>
                <a:ea typeface="Consolas"/>
                <a:cs typeface="Consolas"/>
              </a:rPr>
              <a:t>                o_id = op.id</a:t>
            </a:r>
          </a:p>
          <a:p>
            <a:pPr algn="l">
              <a:defRPr sz="450" b="0">
                <a:solidFill>
                  <a:srgbClr val="111827"/>
                </a:solidFill>
                <a:latin typeface="Consolas"/>
                <a:ea typeface="Consolas"/>
                <a:cs typeface="Consolas"/>
              </a:defRPr>
            </a:pPr>
            <a:r>
              <a:rPr sz="450" b="0">
                <a:solidFill>
                  <a:srgbClr val="111827"/>
                </a:solidFill>
                <a:latin typeface="Consolas"/>
                <a:ea typeface="Consolas"/>
                <a:cs typeface="Consolas"/>
              </a:rPr>
              <a:t>                if self.solver.BooleanValue(self.x[t_id, o_id]):</a:t>
            </a:r>
          </a:p>
          <a:p>
            <a:pPr algn="l">
              <a:defRPr sz="450" b="0">
                <a:solidFill>
                  <a:srgbClr val="111827"/>
                </a:solidFill>
                <a:latin typeface="Consolas"/>
                <a:ea typeface="Consolas"/>
                <a:cs typeface="Consolas"/>
              </a:defRPr>
            </a:pPr>
            <a:r>
              <a:rPr sz="450" b="0">
                <a:solidFill>
                  <a:srgbClr val="111827"/>
                </a:solidFill>
                <a:latin typeface="Consolas"/>
                <a:ea typeface="Consolas"/>
                <a:cs typeface="Consolas"/>
              </a:rPr>
              <a:t>                    st = self.solver.Value(self.starts[t_id, o_id])</a:t>
            </a:r>
          </a:p>
          <a:p>
            <a:pPr algn="l">
              <a:defRPr sz="450" b="0">
                <a:solidFill>
                  <a:srgbClr val="111827"/>
                </a:solidFill>
                <a:latin typeface="Consolas"/>
                <a:ea typeface="Consolas"/>
                <a:cs typeface="Consolas"/>
              </a:defRPr>
            </a:pPr>
            <a:r>
              <a:rPr sz="450" b="0">
                <a:solidFill>
                  <a:srgbClr val="111827"/>
                </a:solidFill>
                <a:latin typeface="Consolas"/>
                <a:ea typeface="Consolas"/>
                <a:cs typeface="Consolas"/>
              </a:rPr>
              <a:t>                    events.append({</a:t>
            </a:r>
          </a:p>
          <a:p>
            <a:pPr algn="l">
              <a:defRPr sz="450" b="0">
                <a:solidFill>
                  <a:srgbClr val="111827"/>
                </a:solidFill>
                <a:latin typeface="Consolas"/>
                <a:ea typeface="Consolas"/>
                <a:cs typeface="Consolas"/>
              </a:defRPr>
            </a:pPr>
            <a:r>
              <a:rPr sz="450" b="0">
                <a:solidFill>
                  <a:srgbClr val="111827"/>
                </a:solidFill>
                <a:latin typeface="Consolas"/>
                <a:ea typeface="Consolas"/>
                <a:cs typeface="Consolas"/>
              </a:rPr>
              <a:t>                        "operation": o_id,</a:t>
            </a:r>
          </a:p>
          <a:p>
            <a:pPr algn="l">
              <a:defRPr sz="450" b="0">
                <a:solidFill>
                  <a:srgbClr val="111827"/>
                </a:solidFill>
                <a:latin typeface="Consolas"/>
                <a:ea typeface="Consolas"/>
                <a:cs typeface="Consolas"/>
              </a:defRPr>
            </a:pPr>
            <a:r>
              <a:rPr sz="450" b="0">
                <a:solidFill>
                  <a:srgbClr val="111827"/>
                </a:solidFill>
                <a:latin typeface="Consolas"/>
                <a:ea typeface="Consolas"/>
                <a:cs typeface="Consolas"/>
              </a:rPr>
              <a:t>                        "time": int(st),</a:t>
            </a:r>
          </a:p>
          <a:p>
            <a:pPr algn="l">
              <a:defRPr sz="450" b="0">
                <a:solidFill>
                  <a:srgbClr val="111827"/>
                </a:solidFill>
                <a:latin typeface="Consolas"/>
                <a:ea typeface="Consolas"/>
                <a:cs typeface="Consolas"/>
              </a:defRPr>
            </a:pPr>
            <a:r>
              <a:rPr sz="450" b="0">
                <a:solidFill>
                  <a:srgbClr val="111827"/>
                </a:solidFill>
                <a:latin typeface="Consolas"/>
                <a:ea typeface="Consolas"/>
                <a:cs typeface="Consolas"/>
              </a:rPr>
              <a:t>                        "train": t_id</a:t>
            </a:r>
          </a:p>
          <a:p>
            <a:pPr algn="l">
              <a:defRPr sz="450" b="0">
                <a:solidFill>
                  <a:srgbClr val="111827"/>
                </a:solidFill>
                <a:latin typeface="Consolas"/>
                <a:ea typeface="Consolas"/>
                <a:cs typeface="Consolas"/>
              </a:defRPr>
            </a:pPr>
            <a:r>
              <a:rPr sz="450" b="0">
                <a:solidFill>
                  <a:srgbClr val="111827"/>
                </a:solidFill>
                <a:latin typeface="Consolas"/>
                <a:ea typeface="Consolas"/>
                <a:cs typeface="Consolas"/>
              </a:rPr>
              <a:t>                    })</a:t>
            </a:r>
          </a:p>
          <a:p>
            <a:endParaRPr sz="450" b="0">
              <a:solidFill>
                <a:srgbClr val="111827"/>
              </a:solidFill>
              <a:latin typeface="Consolas"/>
              <a:ea typeface="Consolas"/>
              <a:cs typeface="Consolas"/>
            </a:endParaRPr>
          </a:p>
          <a:p>
            <a:pPr algn="l">
              <a:defRPr sz="450" b="0">
                <a:solidFill>
                  <a:srgbClr val="111827"/>
                </a:solidFill>
                <a:latin typeface="Consolas"/>
                <a:ea typeface="Consolas"/>
                <a:cs typeface="Consolas"/>
              </a:defRPr>
            </a:pPr>
            <a:r>
              <a:rPr sz="450" b="0">
                <a:solidFill>
                  <a:srgbClr val="111827"/>
                </a:solidFill>
                <a:latin typeface="Consolas"/>
                <a:ea typeface="Consolas"/>
                <a:cs typeface="Consolas"/>
              </a:rPr>
              <a:t>        # ---------------------------------------------------------</a:t>
            </a:r>
          </a:p>
          <a:p>
            <a:pPr algn="l">
              <a:defRPr sz="450" b="0">
                <a:solidFill>
                  <a:srgbClr val="111827"/>
                </a:solidFill>
                <a:latin typeface="Consolas"/>
                <a:ea typeface="Consolas"/>
                <a:cs typeface="Consolas"/>
              </a:defRPr>
            </a:pPr>
            <a:r>
              <a:rPr sz="450" b="0">
                <a:solidFill>
                  <a:srgbClr val="111827"/>
                </a:solidFill>
                <a:latin typeface="Consolas"/>
                <a:ea typeface="Consolas"/>
                <a:cs typeface="Consolas"/>
              </a:rPr>
              <a:t>        # ROBUST TOPOLOGICAL SORT FOR VERIFIER</a:t>
            </a:r>
          </a:p>
          <a:p>
            <a:pPr algn="l">
              <a:defRPr sz="450" b="0">
                <a:solidFill>
                  <a:srgbClr val="111827"/>
                </a:solidFill>
                <a:latin typeface="Consolas"/>
                <a:ea typeface="Consolas"/>
                <a:cs typeface="Consolas"/>
              </a:defRPr>
            </a:pPr>
            <a:r>
              <a:rPr sz="450" b="0">
                <a:solidFill>
                  <a:srgbClr val="111827"/>
                </a:solidFill>
                <a:latin typeface="Consolas"/>
                <a:ea typeface="Consolas"/>
                <a:cs typeface="Consolas"/>
              </a:rPr>
              <a:t>        # ---------------------------------------------------------</a:t>
            </a:r>
          </a:p>
          <a:p>
            <a:pPr algn="l">
              <a:defRPr sz="450" b="0">
                <a:solidFill>
                  <a:srgbClr val="111827"/>
                </a:solidFill>
                <a:latin typeface="Consolas"/>
                <a:ea typeface="Consolas"/>
                <a:cs typeface="Consolas"/>
              </a:defRPr>
            </a:pPr>
            <a:r>
              <a:rPr sz="450" b="0">
                <a:solidFill>
                  <a:srgbClr val="111827"/>
                </a:solidFill>
                <a:latin typeface="Consolas"/>
                <a:ea typeface="Consolas"/>
                <a:cs typeface="Consolas"/>
              </a:rPr>
              <a:t>        # We can directly use the topological rank `u` calculated by the CP-SAT solver!</a:t>
            </a:r>
          </a:p>
          <a:p>
            <a:pPr algn="l">
              <a:defRPr sz="450" b="0">
                <a:solidFill>
                  <a:srgbClr val="111827"/>
                </a:solidFill>
                <a:latin typeface="Consolas"/>
                <a:ea typeface="Consolas"/>
                <a:cs typeface="Consolas"/>
              </a:defRPr>
            </a:pPr>
            <a:r>
              <a:rPr sz="450" b="0">
                <a:solidFill>
                  <a:srgbClr val="111827"/>
                </a:solidFill>
                <a:latin typeface="Consolas"/>
                <a:ea typeface="Consolas"/>
                <a:cs typeface="Consolas"/>
              </a:rPr>
              <a:t>        # This completely guarantees no cyclic dependencies and matches the physical causality.</a:t>
            </a:r>
          </a:p>
          <a:p>
            <a:pPr algn="l">
              <a:defRPr sz="450" b="0">
                <a:solidFill>
                  <a:srgbClr val="111827"/>
                </a:solidFill>
                <a:latin typeface="Consolas"/>
                <a:ea typeface="Consolas"/>
                <a:cs typeface="Consolas"/>
              </a:defRPr>
            </a:pPr>
            <a:r>
              <a:rPr sz="450" b="0">
                <a:solidFill>
                  <a:srgbClr val="111827"/>
                </a:solidFill>
                <a:latin typeface="Consolas"/>
                <a:ea typeface="Consolas"/>
                <a:cs typeface="Consolas"/>
              </a:rPr>
              <a:t>        events.sort(key=lambda x: (x["time"], self.solver.Value(self.u[x["train"], x["operation"]])))</a:t>
            </a:r>
          </a:p>
          <a:p>
            <a:pPr algn="l">
              <a:defRPr sz="450" b="0">
                <a:solidFill>
                  <a:srgbClr val="111827"/>
                </a:solidFill>
                <a:latin typeface="Consolas"/>
                <a:ea typeface="Consolas"/>
                <a:cs typeface="Consolas"/>
              </a:defRPr>
            </a:pPr>
            <a:r>
              <a:rPr sz="450" b="0">
                <a:solidFill>
                  <a:srgbClr val="111827"/>
                </a:solidFill>
                <a:latin typeface="Consolas"/>
                <a:ea typeface="Consolas"/>
                <a:cs typeface="Consolas"/>
              </a:rPr>
              <a:t>        </a:t>
            </a:r>
          </a:p>
          <a:p>
            <a:pPr algn="l">
              <a:defRPr sz="450" b="0">
                <a:solidFill>
                  <a:srgbClr val="111827"/>
                </a:solidFill>
                <a:latin typeface="Consolas"/>
                <a:ea typeface="Consolas"/>
                <a:cs typeface="Consolas"/>
              </a:defRPr>
            </a:pPr>
            <a:r>
              <a:rPr sz="450" b="0">
                <a:solidFill>
                  <a:srgbClr val="111827"/>
                </a:solidFill>
                <a:latin typeface="Consolas"/>
                <a:ea typeface="Consolas"/>
                <a:cs typeface="Consolas"/>
              </a:rPr>
              <a:t>        final_events = events</a:t>
            </a:r>
          </a:p>
          <a:p>
            <a:pPr algn="l">
              <a:defRPr sz="450" b="0">
                <a:solidFill>
                  <a:srgbClr val="111827"/>
                </a:solidFill>
                <a:latin typeface="Consolas"/>
                <a:ea typeface="Consolas"/>
                <a:cs typeface="Consolas"/>
              </a:defRPr>
            </a:pPr>
            <a:r>
              <a:rPr sz="450" b="0">
                <a:solidFill>
                  <a:srgbClr val="111827"/>
                </a:solidFill>
                <a:latin typeface="Consolas"/>
                <a:ea typeface="Consolas"/>
                <a:cs typeface="Consolas"/>
              </a:rPr>
              <a:t>                </a:t>
            </a:r>
          </a:p>
          <a:p>
            <a:pPr algn="l">
              <a:defRPr sz="450" b="0">
                <a:solidFill>
                  <a:srgbClr val="111827"/>
                </a:solidFill>
                <a:latin typeface="Consolas"/>
                <a:ea typeface="Consolas"/>
                <a:cs typeface="Consolas"/>
              </a:defRPr>
            </a:pPr>
            <a:r>
              <a:rPr sz="450" b="0">
                <a:solidFill>
                  <a:srgbClr val="111827"/>
                </a:solidFill>
                <a:latin typeface="Consolas"/>
                <a:ea typeface="Consolas"/>
                <a:cs typeface="Consolas"/>
              </a:rPr>
              <a:t>        events = final_events</a:t>
            </a:r>
          </a:p>
          <a:p>
            <a:pPr algn="l">
              <a:defRPr sz="450" b="0">
                <a:solidFill>
                  <a:srgbClr val="111827"/>
                </a:solidFill>
                <a:latin typeface="Consolas"/>
                <a:ea typeface="Consolas"/>
                <a:cs typeface="Consolas"/>
              </a:defRPr>
            </a:pPr>
            <a:r>
              <a:rPr sz="450" b="0">
                <a:solidFill>
                  <a:srgbClr val="111827"/>
                </a:solidFill>
                <a:latin typeface="Consolas"/>
                <a:ea typeface="Consolas"/>
                <a:cs typeface="Consolas"/>
              </a:rPr>
              <a:t>        # ---------------------------------------------------------</a:t>
            </a:r>
          </a:p>
          <a:p>
            <a:pPr algn="l">
              <a:defRPr sz="450" b="0">
                <a:solidFill>
                  <a:srgbClr val="111827"/>
                </a:solidFill>
                <a:latin typeface="Consolas"/>
                <a:ea typeface="Consolas"/>
                <a:cs typeface="Consolas"/>
              </a:defRPr>
            </a:pPr>
            <a:r>
              <a:rPr sz="450" b="0">
                <a:solidFill>
                  <a:srgbClr val="111827"/>
                </a:solidFill>
                <a:latin typeface="Consolas"/>
                <a:ea typeface="Consolas"/>
                <a:cs typeface="Consolas"/>
              </a:rPr>
              <a:t>        </a:t>
            </a:r>
          </a:p>
          <a:p>
            <a:pPr algn="l">
              <a:defRPr sz="450" b="0">
                <a:solidFill>
                  <a:srgbClr val="111827"/>
                </a:solidFill>
                <a:latin typeface="Consolas"/>
                <a:ea typeface="Consolas"/>
                <a:cs typeface="Consolas"/>
              </a:defRPr>
            </a:pPr>
            <a:r>
              <a:rPr sz="450" b="0">
                <a:solidFill>
                  <a:srgbClr val="111827"/>
                </a:solidFill>
                <a:latin typeface="Consolas"/>
                <a:ea typeface="Consolas"/>
                <a:cs typeface="Consolas"/>
              </a:rPr>
              <a:t>        output = {</a:t>
            </a:r>
          </a:p>
          <a:p>
            <a:pPr algn="l">
              <a:defRPr sz="450" b="0">
                <a:solidFill>
                  <a:srgbClr val="111827"/>
                </a:solidFill>
                <a:latin typeface="Consolas"/>
                <a:ea typeface="Consolas"/>
                <a:cs typeface="Consolas"/>
              </a:defRPr>
            </a:pPr>
            <a:r>
              <a:rPr sz="450" b="0">
                <a:solidFill>
                  <a:srgbClr val="111827"/>
                </a:solidFill>
                <a:latin typeface="Consolas"/>
                <a:ea typeface="Consolas"/>
                <a:cs typeface="Consolas"/>
              </a:rPr>
              <a:t>            "events": events,</a:t>
            </a:r>
          </a:p>
          <a:p>
            <a:pPr algn="l">
              <a:defRPr sz="450" b="0">
                <a:solidFill>
                  <a:srgbClr val="111827"/>
                </a:solidFill>
                <a:latin typeface="Consolas"/>
                <a:ea typeface="Consolas"/>
                <a:cs typeface="Consolas"/>
              </a:defRPr>
            </a:pPr>
            <a:r>
              <a:rPr sz="450" b="0">
                <a:solidFill>
                  <a:srgbClr val="111827"/>
                </a:solidFill>
                <a:latin typeface="Consolas"/>
                <a:ea typeface="Consolas"/>
                <a:cs typeface="Consolas"/>
              </a:rPr>
              <a:t>            "objective_value": int(round(self.obj_val))</a:t>
            </a:r>
          </a:p>
        </p:txBody>
      </p:sp>
      <p:sp>
        <p:nvSpPr>
          <p:cNvPr id="16" name="Rectangle 15">
            <a:extLst>
              <a:ext uri="{FF2B5EF4-FFF2-40B4-BE49-F238E27FC236}">
                <a16:creationId xmlns:a16="http://schemas.microsoft.com/office/drawing/2014/main" id="{D7BF04EA-ADCF-4AFA-AB08-D6A3F9476F41}"/>
              </a:ext>
            </a:extLst>
          </p:cNvPr>
          <p:cNvSpPr>
            <a:spLocks noGrp="1"/>
          </p:cNvSpPr>
          <p:nvPr/>
        </p:nvSpPr>
        <p:spPr>
          <a:xfrm>
            <a:off x="552450" y="3238500"/>
            <a:ext cx="3619500" cy="819150"/>
          </a:xfrm>
          <a:prstGeom prst="rect">
            <a:avLst/>
          </a:prstGeom>
          <a:solidFill>
            <a:srgbClr val="FFFFFF"/>
          </a:solidFill>
          <a:ln w="10478">
            <a:solidFill>
              <a:srgbClr val="00549F"/>
            </a:solidFill>
            <a:prstDash val="solid"/>
          </a:ln>
        </p:spPr>
        <p:txBody>
          <a:bodyPr/>
          <a:lstStyle/>
          <a:p>
            <a:endParaRPr lang="en-DE"/>
          </a:p>
        </p:txBody>
      </p:sp>
      <p:sp>
        <p:nvSpPr>
          <p:cNvPr id="17" name="Rectangle 16">
            <a:extLst>
              <a:ext uri="{FF2B5EF4-FFF2-40B4-BE49-F238E27FC236}">
                <a16:creationId xmlns:a16="http://schemas.microsoft.com/office/drawing/2014/main" id="{D83A67EB-B456-4689-9158-EB8CDE4B2EED}"/>
              </a:ext>
            </a:extLst>
          </p:cNvPr>
          <p:cNvSpPr>
            <a:spLocks noGrp="1"/>
          </p:cNvSpPr>
          <p:nvPr/>
        </p:nvSpPr>
        <p:spPr>
          <a:xfrm>
            <a:off x="666750" y="3333750"/>
            <a:ext cx="33909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1">
                <a:solidFill>
                  <a:srgbClr val="00549F"/>
                </a:solidFill>
                <a:latin typeface="Arial"/>
                <a:ea typeface="Arial"/>
                <a:cs typeface="Arial"/>
              </a:defRPr>
            </a:pPr>
            <a:r>
              <a:rPr sz="563" b="1">
                <a:solidFill>
                  <a:srgbClr val="00549F"/>
                </a:solidFill>
                <a:latin typeface="Arial"/>
                <a:ea typeface="Arial"/>
                <a:cs typeface="Arial"/>
              </a:rPr>
              <a:t>SPRECHPUNKT</a:t>
            </a:r>
          </a:p>
        </p:txBody>
      </p:sp>
      <p:sp>
        <p:nvSpPr>
          <p:cNvPr id="18" name="Rectangle 17">
            <a:extLst>
              <a:ext uri="{FF2B5EF4-FFF2-40B4-BE49-F238E27FC236}">
                <a16:creationId xmlns:a16="http://schemas.microsoft.com/office/drawing/2014/main" id="{D9A68BEE-6AF5-4A42-9366-A2651CB3E30C}"/>
              </a:ext>
            </a:extLst>
          </p:cNvPr>
          <p:cNvSpPr>
            <a:spLocks noGrp="1"/>
          </p:cNvSpPr>
          <p:nvPr/>
        </p:nvSpPr>
        <p:spPr>
          <a:xfrm>
            <a:off x="666750" y="3524250"/>
            <a:ext cx="339090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73" b="0">
                <a:solidFill>
                  <a:srgbClr val="111111"/>
                </a:solidFill>
                <a:latin typeface="Arial"/>
                <a:ea typeface="Arial"/>
                <a:cs typeface="Arial"/>
              </a:defRPr>
            </a:pPr>
            <a:r>
              <a:rPr sz="773" b="0">
                <a:solidFill>
                  <a:srgbClr val="111111"/>
                </a:solidFill>
                <a:latin typeface="Arial"/>
                <a:ea typeface="Arial"/>
                <a:cs typeface="Arial"/>
              </a:rPr>
              <a:t>Die Lösung ist nicht nur ein Objective-Wert. Beide Modelle erzeugen am Ende eine sortierte Event-Liste.</a:t>
            </a:r>
          </a:p>
        </p:txBody>
      </p:sp>
      <p:sp>
        <p:nvSpPr>
          <p:cNvPr id="19" name="Rectangle 18">
            <a:extLst>
              <a:ext uri="{FF2B5EF4-FFF2-40B4-BE49-F238E27FC236}">
                <a16:creationId xmlns:a16="http://schemas.microsoft.com/office/drawing/2014/main" id="{720B7CAD-EC1F-4E73-9B79-0C7CCEA4B67B}"/>
              </a:ext>
            </a:extLst>
          </p:cNvPr>
          <p:cNvSpPr>
            <a:spLocks noGrp="1"/>
          </p:cNvSpPr>
          <p:nvPr/>
        </p:nvSpPr>
        <p:spPr>
          <a:xfrm>
            <a:off x="552450" y="4229100"/>
            <a:ext cx="3619500" cy="742950"/>
          </a:xfrm>
          <a:prstGeom prst="rect">
            <a:avLst/>
          </a:prstGeom>
          <a:solidFill>
            <a:srgbClr val="FFFFFF"/>
          </a:solidFill>
          <a:ln w="10478">
            <a:solidFill>
              <a:srgbClr val="00A6B2"/>
            </a:solidFill>
            <a:prstDash val="solid"/>
          </a:ln>
        </p:spPr>
        <p:txBody>
          <a:bodyPr/>
          <a:lstStyle/>
          <a:p>
            <a:endParaRPr lang="en-DE"/>
          </a:p>
        </p:txBody>
      </p:sp>
      <p:sp>
        <p:nvSpPr>
          <p:cNvPr id="20" name="Rectangle 19">
            <a:extLst>
              <a:ext uri="{FF2B5EF4-FFF2-40B4-BE49-F238E27FC236}">
                <a16:creationId xmlns:a16="http://schemas.microsoft.com/office/drawing/2014/main" id="{98A3E4E1-05E9-4DC6-B8D0-1FA0A9462B23}"/>
              </a:ext>
            </a:extLst>
          </p:cNvPr>
          <p:cNvSpPr>
            <a:spLocks noGrp="1"/>
          </p:cNvSpPr>
          <p:nvPr/>
        </p:nvSpPr>
        <p:spPr>
          <a:xfrm>
            <a:off x="666750" y="4324350"/>
            <a:ext cx="33909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1">
                <a:solidFill>
                  <a:srgbClr val="00A6B2"/>
                </a:solidFill>
                <a:latin typeface="Arial"/>
                <a:ea typeface="Arial"/>
                <a:cs typeface="Arial"/>
              </a:defRPr>
            </a:pPr>
            <a:r>
              <a:rPr sz="563" b="1">
                <a:solidFill>
                  <a:srgbClr val="00A6B2"/>
                </a:solidFill>
                <a:latin typeface="Arial"/>
                <a:ea typeface="Arial"/>
                <a:cs typeface="Arial"/>
              </a:rPr>
              <a:t>SORTIERUNG</a:t>
            </a:r>
          </a:p>
        </p:txBody>
      </p:sp>
      <p:sp>
        <p:nvSpPr>
          <p:cNvPr id="21" name="Rectangle 20">
            <a:extLst>
              <a:ext uri="{FF2B5EF4-FFF2-40B4-BE49-F238E27FC236}">
                <a16:creationId xmlns:a16="http://schemas.microsoft.com/office/drawing/2014/main" id="{9ED0ABCE-B2AF-4EF0-85C6-B2940522332F}"/>
              </a:ext>
            </a:extLst>
          </p:cNvPr>
          <p:cNvSpPr>
            <a:spLocks noGrp="1"/>
          </p:cNvSpPr>
          <p:nvPr/>
        </p:nvSpPr>
        <p:spPr>
          <a:xfrm>
            <a:off x="666750" y="4514850"/>
            <a:ext cx="33909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73" b="0">
                <a:solidFill>
                  <a:srgbClr val="111111"/>
                </a:solidFill>
                <a:latin typeface="Arial"/>
                <a:ea typeface="Arial"/>
                <a:cs typeface="Arial"/>
              </a:defRPr>
            </a:pPr>
            <a:r>
              <a:rPr sz="773" b="0">
                <a:solidFill>
                  <a:srgbClr val="111111"/>
                </a:solidFill>
                <a:latin typeface="Arial"/>
                <a:ea typeface="Arial"/>
                <a:cs typeface="Arial"/>
              </a:rPr>
              <a:t>Sortiert wird nach Zeit und zusätzlich nach `u`, damit die Reihenfolge verifier-kompatibel bleibt.</a:t>
            </a:r>
          </a:p>
        </p:txBody>
      </p:sp>
      <p:sp>
        <p:nvSpPr>
          <p:cNvPr id="22" name="Rectangle 21">
            <a:extLst>
              <a:ext uri="{FF2B5EF4-FFF2-40B4-BE49-F238E27FC236}">
                <a16:creationId xmlns:a16="http://schemas.microsoft.com/office/drawing/2014/main" id="{A99B8DF5-ACBA-4055-95D8-F781DDECB879}"/>
              </a:ext>
            </a:extLst>
          </p:cNvPr>
          <p:cNvSpPr>
            <a:spLocks noGrp="1"/>
          </p:cNvSpPr>
          <p:nvPr/>
        </p:nvSpPr>
        <p:spPr>
          <a:xfrm>
            <a:off x="381000" y="5753100"/>
            <a:ext cx="11430000" cy="11430"/>
          </a:xfrm>
          <a:prstGeom prst="rect">
            <a:avLst/>
          </a:prstGeom>
          <a:solidFill>
            <a:srgbClr val="222222"/>
          </a:solidFill>
          <a:ln w="0">
            <a:solidFill>
              <a:srgbClr val="000000">
                <a:alpha val="0"/>
              </a:srgbClr>
            </a:solidFill>
            <a:prstDash val="solid"/>
          </a:ln>
        </p:spPr>
        <p:txBody>
          <a:bodyPr/>
          <a:lstStyle/>
          <a:p>
            <a:endParaRPr lang="en-DE"/>
          </a:p>
        </p:txBody>
      </p:sp>
      <p:sp>
        <p:nvSpPr>
          <p:cNvPr id="23" name="Rectangle 22">
            <a:extLst>
              <a:ext uri="{FF2B5EF4-FFF2-40B4-BE49-F238E27FC236}">
                <a16:creationId xmlns:a16="http://schemas.microsoft.com/office/drawing/2014/main" id="{4B9A8FFF-B1F1-41BD-BBB9-2505E9F3F3BB}"/>
              </a:ext>
            </a:extLst>
          </p:cNvPr>
          <p:cNvSpPr>
            <a:spLocks noGrp="1"/>
          </p:cNvSpPr>
          <p:nvPr/>
        </p:nvSpPr>
        <p:spPr>
          <a:xfrm>
            <a:off x="381000" y="592455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00549F"/>
                </a:solidFill>
                <a:latin typeface="Arial"/>
                <a:ea typeface="Arial"/>
                <a:cs typeface="Arial"/>
              </a:defRPr>
            </a:pPr>
            <a:r>
              <a:rPr sz="675" b="0">
                <a:solidFill>
                  <a:srgbClr val="00549F"/>
                </a:solidFill>
                <a:latin typeface="Arial"/>
                <a:ea typeface="Arial"/>
                <a:cs typeface="Arial"/>
              </a:rPr>
              <a:t>13</a:t>
            </a:r>
          </a:p>
        </p:txBody>
      </p:sp>
      <p:sp>
        <p:nvSpPr>
          <p:cNvPr id="24" name="Rectangle 23">
            <a:extLst>
              <a:ext uri="{FF2B5EF4-FFF2-40B4-BE49-F238E27FC236}">
                <a16:creationId xmlns:a16="http://schemas.microsoft.com/office/drawing/2014/main" id="{F4D0D17C-D7D4-48A3-BF1B-76AB117E70F5}"/>
              </a:ext>
            </a:extLst>
          </p:cNvPr>
          <p:cNvSpPr>
            <a:spLocks noGrp="1"/>
          </p:cNvSpPr>
          <p:nvPr/>
        </p:nvSpPr>
        <p:spPr>
          <a:xfrm>
            <a:off x="1123950" y="5924550"/>
            <a:ext cx="6572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0" b="0">
                <a:solidFill>
                  <a:srgbClr val="00549F"/>
                </a:solidFill>
                <a:latin typeface="Arial"/>
                <a:ea typeface="Arial"/>
                <a:cs typeface="Arial"/>
              </a:defRPr>
            </a:pPr>
            <a:r>
              <a:rPr sz="630" b="0">
                <a:solidFill>
                  <a:srgbClr val="00549F"/>
                </a:solidFill>
                <a:latin typeface="Arial"/>
                <a:ea typeface="Arial"/>
                <a:cs typeface="Arial"/>
              </a:rPr>
              <a:t>Train Dispatching | DISPLIB mathematical model to code | Baseline MIP and Extended CP-SAT</a:t>
            </a:r>
          </a:p>
        </p:txBody>
      </p:sp>
      <p:pic>
        <p:nvPicPr>
          <p:cNvPr id="25" name="Picture 24"/>
          <p:cNvPicPr>
            <a:picLocks noChangeAspect="1"/>
          </p:cNvPicPr>
          <p:nvPr/>
        </p:nvPicPr>
        <p:blipFill>
          <a:blip r:embed="rId4"/>
          <a:stretch/>
        </p:blipFill>
        <p:spPr>
          <a:xfrm>
            <a:off x="8107690" y="5829300"/>
            <a:ext cx="2929870" cy="819150"/>
          </a:xfrm>
          <a:prstGeom prst="rect">
            <a:avLst/>
          </a:prstGeom>
        </p:spPr>
      </p:pic>
    </p:spTree>
    <p:extLst>
      <p:ext uri="{BB962C8B-B14F-4D97-AF65-F5344CB8AC3E}">
        <p14:creationId xmlns:p14="http://schemas.microsoft.com/office/powerpoint/2010/main" val="6047473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E9E60B68-AC0D-4FD5-88D2-02BC1837562E}"/>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en-DE"/>
          </a:p>
        </p:txBody>
      </p:sp>
      <p:sp>
        <p:nvSpPr>
          <p:cNvPr id="2" name="Rectangle 1">
            <a:extLst>
              <a:ext uri="{FF2B5EF4-FFF2-40B4-BE49-F238E27FC236}">
                <a16:creationId xmlns:a16="http://schemas.microsoft.com/office/drawing/2014/main" id="{48C4B472-7A07-4547-BD8D-68FD1796F522}"/>
              </a:ext>
            </a:extLst>
          </p:cNvPr>
          <p:cNvSpPr>
            <a:spLocks noGrp="1"/>
          </p:cNvSpPr>
          <p:nvPr/>
        </p:nvSpPr>
        <p:spPr>
          <a:xfrm>
            <a:off x="514350" y="285750"/>
            <a:ext cx="106680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00549F"/>
                </a:solidFill>
                <a:latin typeface="Arial"/>
                <a:ea typeface="Arial"/>
                <a:cs typeface="Arial"/>
              </a:defRPr>
            </a:pPr>
            <a:r>
              <a:rPr sz="1800" b="1">
                <a:solidFill>
                  <a:srgbClr val="00549F"/>
                </a:solidFill>
                <a:latin typeface="Arial"/>
                <a:ea typeface="Arial"/>
                <a:cs typeface="Arial"/>
              </a:rPr>
              <a:t>Take-away: Baseline ist algebraischer, CP-SAT ist scheduling-näher.</a:t>
            </a:r>
          </a:p>
        </p:txBody>
      </p:sp>
      <p:sp>
        <p:nvSpPr>
          <p:cNvPr id="3" name="Rectangle 2">
            <a:extLst>
              <a:ext uri="{FF2B5EF4-FFF2-40B4-BE49-F238E27FC236}">
                <a16:creationId xmlns:a16="http://schemas.microsoft.com/office/drawing/2014/main" id="{976AE8A6-903C-4D91-810B-5A87217C0505}"/>
              </a:ext>
            </a:extLst>
          </p:cNvPr>
          <p:cNvSpPr>
            <a:spLocks noGrp="1"/>
          </p:cNvSpPr>
          <p:nvPr/>
        </p:nvSpPr>
        <p:spPr>
          <a:xfrm>
            <a:off x="514350" y="704850"/>
            <a:ext cx="9715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10" b="0">
                <a:solidFill>
                  <a:srgbClr val="565656"/>
                </a:solidFill>
                <a:latin typeface="Arial"/>
                <a:ea typeface="Arial"/>
                <a:cs typeface="Arial"/>
              </a:defRPr>
            </a:pPr>
            <a:r>
              <a:rPr sz="810" b="0">
                <a:solidFill>
                  <a:srgbClr val="565656"/>
                </a:solidFill>
                <a:latin typeface="Arial"/>
                <a:ea typeface="Arial"/>
                <a:cs typeface="Arial"/>
              </a:rPr>
              <a:t>Beide Modelle beschreiben dieselbe Dispatching-Logik, aber mit verschiedenen Solver-Primitiven.</a:t>
            </a:r>
          </a:p>
        </p:txBody>
      </p:sp>
      <p:sp>
        <p:nvSpPr>
          <p:cNvPr id="4" name="Rectangle 3">
            <a:extLst>
              <a:ext uri="{FF2B5EF4-FFF2-40B4-BE49-F238E27FC236}">
                <a16:creationId xmlns:a16="http://schemas.microsoft.com/office/drawing/2014/main" id="{3D33FA92-7888-4684-8F6E-BA3594674FB0}"/>
              </a:ext>
            </a:extLst>
          </p:cNvPr>
          <p:cNvSpPr>
            <a:spLocks noGrp="1"/>
          </p:cNvSpPr>
          <p:nvPr/>
        </p:nvSpPr>
        <p:spPr>
          <a:xfrm>
            <a:off x="514350" y="971550"/>
            <a:ext cx="10763250" cy="11430"/>
          </a:xfrm>
          <a:prstGeom prst="rect">
            <a:avLst/>
          </a:prstGeom>
          <a:solidFill>
            <a:srgbClr val="222222"/>
          </a:solidFill>
          <a:ln w="0">
            <a:solidFill>
              <a:srgbClr val="000000">
                <a:alpha val="0"/>
              </a:srgbClr>
            </a:solidFill>
            <a:prstDash val="solid"/>
          </a:ln>
        </p:spPr>
        <p:txBody>
          <a:bodyPr/>
          <a:lstStyle/>
          <a:p>
            <a:endParaRPr lang="en-DE"/>
          </a:p>
        </p:txBody>
      </p:sp>
      <p:sp>
        <p:nvSpPr>
          <p:cNvPr id="5" name="Rectangle 4">
            <a:extLst>
              <a:ext uri="{FF2B5EF4-FFF2-40B4-BE49-F238E27FC236}">
                <a16:creationId xmlns:a16="http://schemas.microsoft.com/office/drawing/2014/main" id="{1B7381F2-A93B-4E5F-80B3-364CA30C9A47}"/>
              </a:ext>
            </a:extLst>
          </p:cNvPr>
          <p:cNvSpPr>
            <a:spLocks noGrp="1"/>
          </p:cNvSpPr>
          <p:nvPr/>
        </p:nvSpPr>
        <p:spPr>
          <a:xfrm>
            <a:off x="876300" y="1333500"/>
            <a:ext cx="1714500" cy="342900"/>
          </a:xfrm>
          <a:prstGeom prst="rect">
            <a:avLst/>
          </a:prstGeom>
          <a:solidFill>
            <a:srgbClr val="1A1A1A"/>
          </a:solidFill>
          <a:ln w="0">
            <a:solidFill>
              <a:srgbClr val="000000">
                <a:alpha val="0"/>
              </a:srgbClr>
            </a:solidFill>
            <a:prstDash val="solid"/>
          </a:ln>
        </p:spPr>
        <p:txBody>
          <a:bodyPr/>
          <a:lstStyle/>
          <a:p>
            <a:endParaRPr lang="en-DE"/>
          </a:p>
        </p:txBody>
      </p:sp>
      <p:sp>
        <p:nvSpPr>
          <p:cNvPr id="6" name="Rectangle 5">
            <a:extLst>
              <a:ext uri="{FF2B5EF4-FFF2-40B4-BE49-F238E27FC236}">
                <a16:creationId xmlns:a16="http://schemas.microsoft.com/office/drawing/2014/main" id="{EDDC95E4-42B5-442A-A71A-027A92F94F5B}"/>
              </a:ext>
            </a:extLst>
          </p:cNvPr>
          <p:cNvSpPr>
            <a:spLocks noGrp="1"/>
          </p:cNvSpPr>
          <p:nvPr/>
        </p:nvSpPr>
        <p:spPr>
          <a:xfrm>
            <a:off x="2590800" y="1333500"/>
            <a:ext cx="4048125" cy="342900"/>
          </a:xfrm>
          <a:prstGeom prst="rect">
            <a:avLst/>
          </a:prstGeom>
          <a:solidFill>
            <a:srgbClr val="00549F"/>
          </a:solidFill>
          <a:ln w="0">
            <a:solidFill>
              <a:srgbClr val="000000">
                <a:alpha val="0"/>
              </a:srgbClr>
            </a:solidFill>
            <a:prstDash val="solid"/>
          </a:ln>
        </p:spPr>
        <p:txBody>
          <a:bodyPr/>
          <a:lstStyle/>
          <a:p>
            <a:endParaRPr lang="en-DE"/>
          </a:p>
        </p:txBody>
      </p:sp>
      <p:sp>
        <p:nvSpPr>
          <p:cNvPr id="7" name="Rectangle 6">
            <a:extLst>
              <a:ext uri="{FF2B5EF4-FFF2-40B4-BE49-F238E27FC236}">
                <a16:creationId xmlns:a16="http://schemas.microsoft.com/office/drawing/2014/main" id="{64FC5836-B930-467C-81C4-FA9EAFFD3DF8}"/>
              </a:ext>
            </a:extLst>
          </p:cNvPr>
          <p:cNvSpPr>
            <a:spLocks noGrp="1"/>
          </p:cNvSpPr>
          <p:nvPr/>
        </p:nvSpPr>
        <p:spPr>
          <a:xfrm>
            <a:off x="6638925" y="1333500"/>
            <a:ext cx="4048125" cy="342900"/>
          </a:xfrm>
          <a:prstGeom prst="rect">
            <a:avLst/>
          </a:prstGeom>
          <a:solidFill>
            <a:srgbClr val="00A6B2"/>
          </a:solidFill>
          <a:ln w="0">
            <a:solidFill>
              <a:srgbClr val="000000">
                <a:alpha val="0"/>
              </a:srgbClr>
            </a:solidFill>
            <a:prstDash val="solid"/>
          </a:ln>
        </p:spPr>
        <p:txBody>
          <a:bodyPr/>
          <a:lstStyle/>
          <a:p>
            <a:endParaRPr lang="en-DE"/>
          </a:p>
        </p:txBody>
      </p:sp>
      <p:sp>
        <p:nvSpPr>
          <p:cNvPr id="8" name="Rectangle 7">
            <a:extLst>
              <a:ext uri="{FF2B5EF4-FFF2-40B4-BE49-F238E27FC236}">
                <a16:creationId xmlns:a16="http://schemas.microsoft.com/office/drawing/2014/main" id="{9BD5A53A-7CED-489D-B010-3A9C100AC3B9}"/>
              </a:ext>
            </a:extLst>
          </p:cNvPr>
          <p:cNvSpPr>
            <a:spLocks noGrp="1"/>
          </p:cNvSpPr>
          <p:nvPr/>
        </p:nvSpPr>
        <p:spPr>
          <a:xfrm>
            <a:off x="971550" y="1428750"/>
            <a:ext cx="1524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FFFFFF"/>
                </a:solidFill>
                <a:latin typeface="Arial"/>
                <a:ea typeface="Arial"/>
                <a:cs typeface="Arial"/>
              </a:defRPr>
            </a:pPr>
            <a:r>
              <a:rPr sz="750" b="1">
                <a:solidFill>
                  <a:srgbClr val="FFFFFF"/>
                </a:solidFill>
                <a:latin typeface="Arial"/>
                <a:ea typeface="Arial"/>
                <a:cs typeface="Arial"/>
              </a:rPr>
              <a:t>Aspekt</a:t>
            </a:r>
          </a:p>
        </p:txBody>
      </p:sp>
      <p:sp>
        <p:nvSpPr>
          <p:cNvPr id="9" name="Rectangle 8">
            <a:extLst>
              <a:ext uri="{FF2B5EF4-FFF2-40B4-BE49-F238E27FC236}">
                <a16:creationId xmlns:a16="http://schemas.microsoft.com/office/drawing/2014/main" id="{258078FA-1506-4E4E-9B86-B7A43835FBB4}"/>
              </a:ext>
            </a:extLst>
          </p:cNvPr>
          <p:cNvSpPr>
            <a:spLocks noGrp="1"/>
          </p:cNvSpPr>
          <p:nvPr/>
        </p:nvSpPr>
        <p:spPr>
          <a:xfrm>
            <a:off x="2686050" y="1428750"/>
            <a:ext cx="3857625"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FFFFFF"/>
                </a:solidFill>
                <a:latin typeface="Arial"/>
                <a:ea typeface="Arial"/>
                <a:cs typeface="Arial"/>
              </a:defRPr>
            </a:pPr>
            <a:r>
              <a:rPr sz="750" b="1">
                <a:solidFill>
                  <a:srgbClr val="FFFFFF"/>
                </a:solidFill>
                <a:latin typeface="Arial"/>
                <a:ea typeface="Arial"/>
                <a:cs typeface="Arial"/>
              </a:rPr>
              <a:t>Gurobi / Baseline MIP</a:t>
            </a:r>
          </a:p>
        </p:txBody>
      </p:sp>
      <p:sp>
        <p:nvSpPr>
          <p:cNvPr id="10" name="Rectangle 9">
            <a:extLst>
              <a:ext uri="{FF2B5EF4-FFF2-40B4-BE49-F238E27FC236}">
                <a16:creationId xmlns:a16="http://schemas.microsoft.com/office/drawing/2014/main" id="{8A817BDD-1CD6-4DA0-B93B-D67DD051FCE9}"/>
              </a:ext>
            </a:extLst>
          </p:cNvPr>
          <p:cNvSpPr>
            <a:spLocks noGrp="1"/>
          </p:cNvSpPr>
          <p:nvPr/>
        </p:nvSpPr>
        <p:spPr>
          <a:xfrm>
            <a:off x="6734175" y="1428750"/>
            <a:ext cx="3857625"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FFFFFF"/>
                </a:solidFill>
                <a:latin typeface="Arial"/>
                <a:ea typeface="Arial"/>
                <a:cs typeface="Arial"/>
              </a:defRPr>
            </a:pPr>
            <a:r>
              <a:rPr sz="750" b="1">
                <a:solidFill>
                  <a:srgbClr val="FFFFFF"/>
                </a:solidFill>
                <a:latin typeface="Arial"/>
                <a:ea typeface="Arial"/>
                <a:cs typeface="Arial"/>
              </a:rPr>
              <a:t>CP-SAT / Extended Modell</a:t>
            </a:r>
          </a:p>
        </p:txBody>
      </p:sp>
      <p:sp>
        <p:nvSpPr>
          <p:cNvPr id="11" name="Rectangle 10">
            <a:extLst>
              <a:ext uri="{FF2B5EF4-FFF2-40B4-BE49-F238E27FC236}">
                <a16:creationId xmlns:a16="http://schemas.microsoft.com/office/drawing/2014/main" id="{80E4A7D9-BE96-4EC3-8E25-C90F912D8CC2}"/>
              </a:ext>
            </a:extLst>
          </p:cNvPr>
          <p:cNvSpPr>
            <a:spLocks noGrp="1"/>
          </p:cNvSpPr>
          <p:nvPr/>
        </p:nvSpPr>
        <p:spPr>
          <a:xfrm>
            <a:off x="876300" y="1676400"/>
            <a:ext cx="9810750" cy="552450"/>
          </a:xfrm>
          <a:prstGeom prst="rect">
            <a:avLst/>
          </a:prstGeom>
          <a:solidFill>
            <a:srgbClr val="FFFFFF"/>
          </a:solidFill>
          <a:ln w="4763">
            <a:solidFill>
              <a:srgbClr val="D7DDE4"/>
            </a:solidFill>
            <a:prstDash val="solid"/>
          </a:ln>
        </p:spPr>
        <p:txBody>
          <a:bodyPr/>
          <a:lstStyle/>
          <a:p>
            <a:endParaRPr lang="en-DE"/>
          </a:p>
        </p:txBody>
      </p:sp>
      <p:sp>
        <p:nvSpPr>
          <p:cNvPr id="12" name="Rectangle 11">
            <a:extLst>
              <a:ext uri="{FF2B5EF4-FFF2-40B4-BE49-F238E27FC236}">
                <a16:creationId xmlns:a16="http://schemas.microsoft.com/office/drawing/2014/main" id="{5277EFCD-2F5F-43B6-B64D-65302F12FC48}"/>
              </a:ext>
            </a:extLst>
          </p:cNvPr>
          <p:cNvSpPr>
            <a:spLocks noGrp="1"/>
          </p:cNvSpPr>
          <p:nvPr/>
        </p:nvSpPr>
        <p:spPr>
          <a:xfrm>
            <a:off x="971550" y="1781175"/>
            <a:ext cx="1524000" cy="3143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68" b="1">
                <a:solidFill>
                  <a:srgbClr val="111111"/>
                </a:solidFill>
                <a:latin typeface="Arial"/>
                <a:ea typeface="Arial"/>
                <a:cs typeface="Arial"/>
              </a:defRPr>
            </a:pPr>
            <a:r>
              <a:rPr sz="668" b="1">
                <a:solidFill>
                  <a:srgbClr val="111111"/>
                </a:solidFill>
                <a:latin typeface="Arial"/>
                <a:ea typeface="Arial"/>
                <a:cs typeface="Arial"/>
              </a:rPr>
              <a:t>Modelltyp</a:t>
            </a:r>
          </a:p>
        </p:txBody>
      </p:sp>
      <p:sp>
        <p:nvSpPr>
          <p:cNvPr id="13" name="Rectangle 12">
            <a:extLst>
              <a:ext uri="{FF2B5EF4-FFF2-40B4-BE49-F238E27FC236}">
                <a16:creationId xmlns:a16="http://schemas.microsoft.com/office/drawing/2014/main" id="{E59781D5-DBA6-47CA-A455-521133B23C43}"/>
              </a:ext>
            </a:extLst>
          </p:cNvPr>
          <p:cNvSpPr>
            <a:spLocks noGrp="1"/>
          </p:cNvSpPr>
          <p:nvPr/>
        </p:nvSpPr>
        <p:spPr>
          <a:xfrm>
            <a:off x="2686050" y="1781175"/>
            <a:ext cx="3857625" cy="3143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68" b="0">
                <a:solidFill>
                  <a:srgbClr val="111111"/>
                </a:solidFill>
                <a:latin typeface="Arial"/>
                <a:ea typeface="Arial"/>
                <a:cs typeface="Arial"/>
              </a:defRPr>
            </a:pPr>
            <a:r>
              <a:rPr sz="668" b="0">
                <a:solidFill>
                  <a:srgbClr val="111111"/>
                </a:solidFill>
                <a:latin typeface="Arial"/>
                <a:ea typeface="Arial"/>
                <a:cs typeface="Arial"/>
              </a:rPr>
              <a:t>gemischt-ganzzahliges lineares Modell</a:t>
            </a:r>
          </a:p>
        </p:txBody>
      </p:sp>
      <p:sp>
        <p:nvSpPr>
          <p:cNvPr id="14" name="Rectangle 13">
            <a:extLst>
              <a:ext uri="{FF2B5EF4-FFF2-40B4-BE49-F238E27FC236}">
                <a16:creationId xmlns:a16="http://schemas.microsoft.com/office/drawing/2014/main" id="{C425A4DA-6291-44E1-87F2-80222704A496}"/>
              </a:ext>
            </a:extLst>
          </p:cNvPr>
          <p:cNvSpPr>
            <a:spLocks noGrp="1"/>
          </p:cNvSpPr>
          <p:nvPr/>
        </p:nvSpPr>
        <p:spPr>
          <a:xfrm>
            <a:off x="6734175" y="1781175"/>
            <a:ext cx="3857625" cy="3143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68" b="0">
                <a:solidFill>
                  <a:srgbClr val="111111"/>
                </a:solidFill>
                <a:latin typeface="Arial"/>
                <a:ea typeface="Arial"/>
                <a:cs typeface="Arial"/>
              </a:defRPr>
            </a:pPr>
            <a:r>
              <a:rPr sz="668" b="0">
                <a:solidFill>
                  <a:srgbClr val="111111"/>
                </a:solidFill>
                <a:latin typeface="Arial"/>
                <a:ea typeface="Arial"/>
                <a:cs typeface="Arial"/>
              </a:rPr>
              <a:t>Constraint Programming plus SAT-basierte Suche</a:t>
            </a:r>
          </a:p>
        </p:txBody>
      </p:sp>
      <p:sp>
        <p:nvSpPr>
          <p:cNvPr id="15" name="Rectangle 14">
            <a:extLst>
              <a:ext uri="{FF2B5EF4-FFF2-40B4-BE49-F238E27FC236}">
                <a16:creationId xmlns:a16="http://schemas.microsoft.com/office/drawing/2014/main" id="{3B99BDA5-A912-431F-AACD-2EFF69301B18}"/>
              </a:ext>
            </a:extLst>
          </p:cNvPr>
          <p:cNvSpPr>
            <a:spLocks noGrp="1"/>
          </p:cNvSpPr>
          <p:nvPr/>
        </p:nvSpPr>
        <p:spPr>
          <a:xfrm>
            <a:off x="876300" y="2228850"/>
            <a:ext cx="9810750" cy="552450"/>
          </a:xfrm>
          <a:prstGeom prst="rect">
            <a:avLst/>
          </a:prstGeom>
          <a:solidFill>
            <a:srgbClr val="EEF2F5"/>
          </a:solidFill>
          <a:ln w="4763">
            <a:solidFill>
              <a:srgbClr val="D7DDE4"/>
            </a:solidFill>
            <a:prstDash val="solid"/>
          </a:ln>
        </p:spPr>
        <p:txBody>
          <a:bodyPr/>
          <a:lstStyle/>
          <a:p>
            <a:endParaRPr lang="en-DE"/>
          </a:p>
        </p:txBody>
      </p:sp>
      <p:sp>
        <p:nvSpPr>
          <p:cNvPr id="16" name="Rectangle 15">
            <a:extLst>
              <a:ext uri="{FF2B5EF4-FFF2-40B4-BE49-F238E27FC236}">
                <a16:creationId xmlns:a16="http://schemas.microsoft.com/office/drawing/2014/main" id="{8EF42DBB-5D61-467B-92E2-94AAFFDD0A51}"/>
              </a:ext>
            </a:extLst>
          </p:cNvPr>
          <p:cNvSpPr>
            <a:spLocks noGrp="1"/>
          </p:cNvSpPr>
          <p:nvPr/>
        </p:nvSpPr>
        <p:spPr>
          <a:xfrm>
            <a:off x="971550" y="2333625"/>
            <a:ext cx="1524000" cy="3143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68" b="1">
                <a:solidFill>
                  <a:srgbClr val="111111"/>
                </a:solidFill>
                <a:latin typeface="Arial"/>
                <a:ea typeface="Arial"/>
                <a:cs typeface="Arial"/>
              </a:defRPr>
            </a:pPr>
            <a:r>
              <a:rPr sz="668" b="1">
                <a:solidFill>
                  <a:srgbClr val="111111"/>
                </a:solidFill>
                <a:latin typeface="Arial"/>
                <a:ea typeface="Arial"/>
                <a:cs typeface="Arial"/>
              </a:rPr>
              <a:t>Ressourcen</a:t>
            </a:r>
          </a:p>
        </p:txBody>
      </p:sp>
      <p:sp>
        <p:nvSpPr>
          <p:cNvPr id="17" name="Rectangle 16">
            <a:extLst>
              <a:ext uri="{FF2B5EF4-FFF2-40B4-BE49-F238E27FC236}">
                <a16:creationId xmlns:a16="http://schemas.microsoft.com/office/drawing/2014/main" id="{FAEC3E17-EC4C-457C-9B88-E1D9B9DF94C2}"/>
              </a:ext>
            </a:extLst>
          </p:cNvPr>
          <p:cNvSpPr>
            <a:spLocks noGrp="1"/>
          </p:cNvSpPr>
          <p:nvPr/>
        </p:nvSpPr>
        <p:spPr>
          <a:xfrm>
            <a:off x="2686050" y="2333625"/>
            <a:ext cx="3857625" cy="3143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68" b="0">
                <a:solidFill>
                  <a:srgbClr val="111111"/>
                </a:solidFill>
                <a:latin typeface="Arial"/>
                <a:ea typeface="Arial"/>
                <a:cs typeface="Arial"/>
              </a:defRPr>
            </a:pPr>
            <a:r>
              <a:rPr sz="668" b="0">
                <a:solidFill>
                  <a:srgbClr val="111111"/>
                </a:solidFill>
                <a:latin typeface="Arial"/>
                <a:ea typeface="Arial"/>
                <a:cs typeface="Arial"/>
              </a:rPr>
              <a:t>paarweise Reihenfolge mit `z_ab` und `z_ba`</a:t>
            </a:r>
          </a:p>
        </p:txBody>
      </p:sp>
      <p:sp>
        <p:nvSpPr>
          <p:cNvPr id="18" name="Rectangle 17">
            <a:extLst>
              <a:ext uri="{FF2B5EF4-FFF2-40B4-BE49-F238E27FC236}">
                <a16:creationId xmlns:a16="http://schemas.microsoft.com/office/drawing/2014/main" id="{51A1583A-8406-43AC-ADE3-94143948240D}"/>
              </a:ext>
            </a:extLst>
          </p:cNvPr>
          <p:cNvSpPr>
            <a:spLocks noGrp="1"/>
          </p:cNvSpPr>
          <p:nvPr/>
        </p:nvSpPr>
        <p:spPr>
          <a:xfrm>
            <a:off x="6734175" y="2333625"/>
            <a:ext cx="3857625" cy="3143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68" b="0">
                <a:solidFill>
                  <a:srgbClr val="111111"/>
                </a:solidFill>
                <a:latin typeface="Arial"/>
                <a:ea typeface="Arial"/>
                <a:cs typeface="Arial"/>
              </a:defRPr>
            </a:pPr>
            <a:r>
              <a:rPr sz="668" b="0">
                <a:solidFill>
                  <a:srgbClr val="111111"/>
                </a:solidFill>
                <a:latin typeface="Arial"/>
                <a:ea typeface="Arial"/>
                <a:cs typeface="Arial"/>
              </a:rPr>
              <a:t>Intervalle pro Ressource und globale `AddNoOverlap` Constraint</a:t>
            </a:r>
          </a:p>
        </p:txBody>
      </p:sp>
      <p:sp>
        <p:nvSpPr>
          <p:cNvPr id="19" name="Rectangle 18">
            <a:extLst>
              <a:ext uri="{FF2B5EF4-FFF2-40B4-BE49-F238E27FC236}">
                <a16:creationId xmlns:a16="http://schemas.microsoft.com/office/drawing/2014/main" id="{1F4A55DD-4B2D-4686-AF06-5C0EBE487B37}"/>
              </a:ext>
            </a:extLst>
          </p:cNvPr>
          <p:cNvSpPr>
            <a:spLocks noGrp="1"/>
          </p:cNvSpPr>
          <p:nvPr/>
        </p:nvSpPr>
        <p:spPr>
          <a:xfrm>
            <a:off x="876300" y="2781300"/>
            <a:ext cx="9810750" cy="552450"/>
          </a:xfrm>
          <a:prstGeom prst="rect">
            <a:avLst/>
          </a:prstGeom>
          <a:solidFill>
            <a:srgbClr val="FFFFFF"/>
          </a:solidFill>
          <a:ln w="4763">
            <a:solidFill>
              <a:srgbClr val="D7DDE4"/>
            </a:solidFill>
            <a:prstDash val="solid"/>
          </a:ln>
        </p:spPr>
        <p:txBody>
          <a:bodyPr/>
          <a:lstStyle/>
          <a:p>
            <a:endParaRPr lang="en-DE"/>
          </a:p>
        </p:txBody>
      </p:sp>
      <p:sp>
        <p:nvSpPr>
          <p:cNvPr id="20" name="Rectangle 19">
            <a:extLst>
              <a:ext uri="{FF2B5EF4-FFF2-40B4-BE49-F238E27FC236}">
                <a16:creationId xmlns:a16="http://schemas.microsoft.com/office/drawing/2014/main" id="{930C9178-7CA8-4AE2-8AC7-4D3E5C9CA616}"/>
              </a:ext>
            </a:extLst>
          </p:cNvPr>
          <p:cNvSpPr>
            <a:spLocks noGrp="1"/>
          </p:cNvSpPr>
          <p:nvPr/>
        </p:nvSpPr>
        <p:spPr>
          <a:xfrm>
            <a:off x="971550" y="2886075"/>
            <a:ext cx="1524000" cy="3143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68" b="1">
                <a:solidFill>
                  <a:srgbClr val="111111"/>
                </a:solidFill>
                <a:latin typeface="Arial"/>
                <a:ea typeface="Arial"/>
                <a:cs typeface="Arial"/>
              </a:defRPr>
            </a:pPr>
            <a:r>
              <a:rPr sz="668" b="1">
                <a:solidFill>
                  <a:srgbClr val="111111"/>
                </a:solidFill>
                <a:latin typeface="Arial"/>
                <a:ea typeface="Arial"/>
                <a:cs typeface="Arial"/>
              </a:rPr>
              <a:t>Suchidee</a:t>
            </a:r>
          </a:p>
        </p:txBody>
      </p:sp>
      <p:sp>
        <p:nvSpPr>
          <p:cNvPr id="21" name="Rectangle 20">
            <a:extLst>
              <a:ext uri="{FF2B5EF4-FFF2-40B4-BE49-F238E27FC236}">
                <a16:creationId xmlns:a16="http://schemas.microsoft.com/office/drawing/2014/main" id="{39377222-A689-41D1-AF2E-D4DC97866381}"/>
              </a:ext>
            </a:extLst>
          </p:cNvPr>
          <p:cNvSpPr>
            <a:spLocks noGrp="1"/>
          </p:cNvSpPr>
          <p:nvPr/>
        </p:nvSpPr>
        <p:spPr>
          <a:xfrm>
            <a:off x="2686050" y="2886075"/>
            <a:ext cx="3857625" cy="3143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68" b="0">
                <a:solidFill>
                  <a:srgbClr val="111111"/>
                </a:solidFill>
                <a:latin typeface="Arial"/>
                <a:ea typeface="Arial"/>
                <a:cs typeface="Arial"/>
              </a:defRPr>
            </a:pPr>
            <a:r>
              <a:rPr sz="668" b="0">
                <a:solidFill>
                  <a:srgbClr val="111111"/>
                </a:solidFill>
                <a:latin typeface="Arial"/>
                <a:ea typeface="Arial"/>
                <a:cs typeface="Arial"/>
              </a:rPr>
              <a:t>LP-Relaxationen, Branch-and-Bound und Cuts</a:t>
            </a:r>
          </a:p>
        </p:txBody>
      </p:sp>
      <p:sp>
        <p:nvSpPr>
          <p:cNvPr id="22" name="Rectangle 21">
            <a:extLst>
              <a:ext uri="{FF2B5EF4-FFF2-40B4-BE49-F238E27FC236}">
                <a16:creationId xmlns:a16="http://schemas.microsoft.com/office/drawing/2014/main" id="{DD48C004-E366-4CA1-83F3-1C5535A27E27}"/>
              </a:ext>
            </a:extLst>
          </p:cNvPr>
          <p:cNvSpPr>
            <a:spLocks noGrp="1"/>
          </p:cNvSpPr>
          <p:nvPr/>
        </p:nvSpPr>
        <p:spPr>
          <a:xfrm>
            <a:off x="6734175" y="2886075"/>
            <a:ext cx="3857625" cy="3143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68" b="0">
                <a:solidFill>
                  <a:srgbClr val="111111"/>
                </a:solidFill>
                <a:latin typeface="Arial"/>
                <a:ea typeface="Arial"/>
                <a:cs typeface="Arial"/>
              </a:defRPr>
            </a:pPr>
            <a:r>
              <a:rPr sz="668" b="0">
                <a:solidFill>
                  <a:srgbClr val="111111"/>
                </a:solidFill>
                <a:latin typeface="Arial"/>
                <a:ea typeface="Arial"/>
                <a:cs typeface="Arial"/>
              </a:rPr>
              <a:t>Constraint Propagation, SAT-Lernen und kombinatorische Suche</a:t>
            </a:r>
          </a:p>
        </p:txBody>
      </p:sp>
      <p:sp>
        <p:nvSpPr>
          <p:cNvPr id="23" name="Rectangle 22">
            <a:extLst>
              <a:ext uri="{FF2B5EF4-FFF2-40B4-BE49-F238E27FC236}">
                <a16:creationId xmlns:a16="http://schemas.microsoft.com/office/drawing/2014/main" id="{0B9D39D6-35E5-499E-8FFB-DF614C2C295A}"/>
              </a:ext>
            </a:extLst>
          </p:cNvPr>
          <p:cNvSpPr>
            <a:spLocks noGrp="1"/>
          </p:cNvSpPr>
          <p:nvPr/>
        </p:nvSpPr>
        <p:spPr>
          <a:xfrm>
            <a:off x="876300" y="3333750"/>
            <a:ext cx="9810750" cy="552450"/>
          </a:xfrm>
          <a:prstGeom prst="rect">
            <a:avLst/>
          </a:prstGeom>
          <a:solidFill>
            <a:srgbClr val="EEF2F5"/>
          </a:solidFill>
          <a:ln w="4763">
            <a:solidFill>
              <a:srgbClr val="D7DDE4"/>
            </a:solidFill>
            <a:prstDash val="solid"/>
          </a:ln>
        </p:spPr>
        <p:txBody>
          <a:bodyPr/>
          <a:lstStyle/>
          <a:p>
            <a:endParaRPr lang="en-DE"/>
          </a:p>
        </p:txBody>
      </p:sp>
      <p:sp>
        <p:nvSpPr>
          <p:cNvPr id="24" name="Rectangle 23">
            <a:extLst>
              <a:ext uri="{FF2B5EF4-FFF2-40B4-BE49-F238E27FC236}">
                <a16:creationId xmlns:a16="http://schemas.microsoft.com/office/drawing/2014/main" id="{F238FEA2-66C9-474D-B78A-436D8AA2B2DB}"/>
              </a:ext>
            </a:extLst>
          </p:cNvPr>
          <p:cNvSpPr>
            <a:spLocks noGrp="1"/>
          </p:cNvSpPr>
          <p:nvPr/>
        </p:nvSpPr>
        <p:spPr>
          <a:xfrm>
            <a:off x="971550" y="3438525"/>
            <a:ext cx="1524000" cy="3143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68" b="1">
                <a:solidFill>
                  <a:srgbClr val="111111"/>
                </a:solidFill>
                <a:latin typeface="Arial"/>
                <a:ea typeface="Arial"/>
                <a:cs typeface="Arial"/>
              </a:defRPr>
            </a:pPr>
            <a:r>
              <a:rPr sz="668" b="1">
                <a:solidFill>
                  <a:srgbClr val="111111"/>
                </a:solidFill>
                <a:latin typeface="Arial"/>
                <a:ea typeface="Arial"/>
                <a:cs typeface="Arial"/>
              </a:rPr>
              <a:t>Starker Satz</a:t>
            </a:r>
          </a:p>
        </p:txBody>
      </p:sp>
      <p:sp>
        <p:nvSpPr>
          <p:cNvPr id="25" name="Rectangle 24">
            <a:extLst>
              <a:ext uri="{FF2B5EF4-FFF2-40B4-BE49-F238E27FC236}">
                <a16:creationId xmlns:a16="http://schemas.microsoft.com/office/drawing/2014/main" id="{7DF63345-D2E7-4021-B275-F0B5C7DC9319}"/>
              </a:ext>
            </a:extLst>
          </p:cNvPr>
          <p:cNvSpPr>
            <a:spLocks noGrp="1"/>
          </p:cNvSpPr>
          <p:nvPr/>
        </p:nvSpPr>
        <p:spPr>
          <a:xfrm>
            <a:off x="2686050" y="3438525"/>
            <a:ext cx="3857625" cy="3143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68" b="0">
                <a:solidFill>
                  <a:srgbClr val="111111"/>
                </a:solidFill>
                <a:latin typeface="Arial"/>
                <a:ea typeface="Arial"/>
                <a:cs typeface="Arial"/>
              </a:defRPr>
            </a:pPr>
            <a:r>
              <a:rPr sz="668" b="0">
                <a:solidFill>
                  <a:srgbClr val="111111"/>
                </a:solidFill>
                <a:latin typeface="Arial"/>
                <a:ea typeface="Arial"/>
                <a:cs typeface="Arial"/>
              </a:rPr>
              <a:t>nah an der mathematischen MILP-Formulierung</a:t>
            </a:r>
          </a:p>
        </p:txBody>
      </p:sp>
      <p:sp>
        <p:nvSpPr>
          <p:cNvPr id="26" name="Rectangle 25">
            <a:extLst>
              <a:ext uri="{FF2B5EF4-FFF2-40B4-BE49-F238E27FC236}">
                <a16:creationId xmlns:a16="http://schemas.microsoft.com/office/drawing/2014/main" id="{880B0BAD-37C1-449F-A751-BFCC281839E7}"/>
              </a:ext>
            </a:extLst>
          </p:cNvPr>
          <p:cNvSpPr>
            <a:spLocks noGrp="1"/>
          </p:cNvSpPr>
          <p:nvPr/>
        </p:nvSpPr>
        <p:spPr>
          <a:xfrm>
            <a:off x="6734175" y="3438525"/>
            <a:ext cx="3857625" cy="3143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68" b="0">
                <a:solidFill>
                  <a:srgbClr val="111111"/>
                </a:solidFill>
                <a:latin typeface="Arial"/>
                <a:ea typeface="Arial"/>
                <a:cs typeface="Arial"/>
              </a:defRPr>
            </a:pPr>
            <a:r>
              <a:rPr sz="668" b="0">
                <a:solidFill>
                  <a:srgbClr val="111111"/>
                </a:solidFill>
                <a:latin typeface="Arial"/>
                <a:ea typeface="Arial"/>
                <a:cs typeface="Arial"/>
              </a:rPr>
              <a:t>drückt Scheduling-Konflikte direkter aus</a:t>
            </a:r>
          </a:p>
        </p:txBody>
      </p:sp>
      <p:sp>
        <p:nvSpPr>
          <p:cNvPr id="27" name="Rectangle 26">
            <a:extLst>
              <a:ext uri="{FF2B5EF4-FFF2-40B4-BE49-F238E27FC236}">
                <a16:creationId xmlns:a16="http://schemas.microsoft.com/office/drawing/2014/main" id="{2620A2F4-400B-4B47-ACEA-6A9A43795585}"/>
              </a:ext>
            </a:extLst>
          </p:cNvPr>
          <p:cNvSpPr>
            <a:spLocks noGrp="1"/>
          </p:cNvSpPr>
          <p:nvPr/>
        </p:nvSpPr>
        <p:spPr>
          <a:xfrm>
            <a:off x="876300" y="4171950"/>
            <a:ext cx="4781550" cy="819150"/>
          </a:xfrm>
          <a:prstGeom prst="rect">
            <a:avLst/>
          </a:prstGeom>
          <a:solidFill>
            <a:srgbClr val="FFFFFF"/>
          </a:solidFill>
          <a:ln w="10478">
            <a:solidFill>
              <a:srgbClr val="00549F"/>
            </a:solidFill>
            <a:prstDash val="solid"/>
          </a:ln>
        </p:spPr>
        <p:txBody>
          <a:bodyPr/>
          <a:lstStyle/>
          <a:p>
            <a:endParaRPr lang="en-DE"/>
          </a:p>
        </p:txBody>
      </p:sp>
      <p:sp>
        <p:nvSpPr>
          <p:cNvPr id="28" name="Rectangle 27">
            <a:extLst>
              <a:ext uri="{FF2B5EF4-FFF2-40B4-BE49-F238E27FC236}">
                <a16:creationId xmlns:a16="http://schemas.microsoft.com/office/drawing/2014/main" id="{40EBBC12-CD58-4367-A868-2F98CD1C25E0}"/>
              </a:ext>
            </a:extLst>
          </p:cNvPr>
          <p:cNvSpPr>
            <a:spLocks noGrp="1"/>
          </p:cNvSpPr>
          <p:nvPr/>
        </p:nvSpPr>
        <p:spPr>
          <a:xfrm>
            <a:off x="990600" y="4267200"/>
            <a:ext cx="45529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1">
                <a:solidFill>
                  <a:srgbClr val="00549F"/>
                </a:solidFill>
                <a:latin typeface="Arial"/>
                <a:ea typeface="Arial"/>
                <a:cs typeface="Arial"/>
              </a:defRPr>
            </a:pPr>
            <a:r>
              <a:rPr sz="563" b="1">
                <a:solidFill>
                  <a:srgbClr val="00549F"/>
                </a:solidFill>
                <a:latin typeface="Arial"/>
                <a:ea typeface="Arial"/>
                <a:cs typeface="Arial"/>
              </a:rPr>
              <a:t>EIN SATZ ZUM SCHLUSS</a:t>
            </a:r>
          </a:p>
        </p:txBody>
      </p:sp>
      <p:sp>
        <p:nvSpPr>
          <p:cNvPr id="29" name="Rectangle 28">
            <a:extLst>
              <a:ext uri="{FF2B5EF4-FFF2-40B4-BE49-F238E27FC236}">
                <a16:creationId xmlns:a16="http://schemas.microsoft.com/office/drawing/2014/main" id="{C776DF12-66A6-45DF-9DB0-B9F389D52DDF}"/>
              </a:ext>
            </a:extLst>
          </p:cNvPr>
          <p:cNvSpPr>
            <a:spLocks noGrp="1"/>
          </p:cNvSpPr>
          <p:nvPr/>
        </p:nvSpPr>
        <p:spPr>
          <a:xfrm>
            <a:off x="990600" y="4457700"/>
            <a:ext cx="455295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73" b="0">
                <a:solidFill>
                  <a:srgbClr val="111111"/>
                </a:solidFill>
                <a:latin typeface="Arial"/>
                <a:ea typeface="Arial"/>
                <a:cs typeface="Arial"/>
              </a:defRPr>
            </a:pPr>
            <a:r>
              <a:rPr sz="773" b="0">
                <a:solidFill>
                  <a:srgbClr val="111111"/>
                </a:solidFill>
                <a:latin typeface="Arial"/>
                <a:ea typeface="Arial"/>
                <a:cs typeface="Arial"/>
              </a:rPr>
              <a:t>Die Codes sehen nicht deshalb anders aus, weil sie unterschiedliche Probleme lösen, sondern weil die Solver unterschiedliche Sprachen sprechen.</a:t>
            </a:r>
          </a:p>
        </p:txBody>
      </p:sp>
      <p:sp>
        <p:nvSpPr>
          <p:cNvPr id="30" name="Rectangle 29">
            <a:extLst>
              <a:ext uri="{FF2B5EF4-FFF2-40B4-BE49-F238E27FC236}">
                <a16:creationId xmlns:a16="http://schemas.microsoft.com/office/drawing/2014/main" id="{468C957F-7930-4622-81C1-BDA8958720D2}"/>
              </a:ext>
            </a:extLst>
          </p:cNvPr>
          <p:cNvSpPr>
            <a:spLocks noGrp="1"/>
          </p:cNvSpPr>
          <p:nvPr/>
        </p:nvSpPr>
        <p:spPr>
          <a:xfrm>
            <a:off x="6048375" y="4171950"/>
            <a:ext cx="4781550" cy="819150"/>
          </a:xfrm>
          <a:prstGeom prst="rect">
            <a:avLst/>
          </a:prstGeom>
          <a:solidFill>
            <a:srgbClr val="FFFFFF"/>
          </a:solidFill>
          <a:ln w="10478">
            <a:solidFill>
              <a:srgbClr val="FDB515"/>
            </a:solidFill>
            <a:prstDash val="solid"/>
          </a:ln>
        </p:spPr>
        <p:txBody>
          <a:bodyPr/>
          <a:lstStyle/>
          <a:p>
            <a:endParaRPr lang="en-DE"/>
          </a:p>
        </p:txBody>
      </p:sp>
      <p:sp>
        <p:nvSpPr>
          <p:cNvPr id="31" name="Rectangle 30">
            <a:extLst>
              <a:ext uri="{FF2B5EF4-FFF2-40B4-BE49-F238E27FC236}">
                <a16:creationId xmlns:a16="http://schemas.microsoft.com/office/drawing/2014/main" id="{95E93ECC-7EF1-4942-AE24-650CA39F9485}"/>
              </a:ext>
            </a:extLst>
          </p:cNvPr>
          <p:cNvSpPr>
            <a:spLocks noGrp="1"/>
          </p:cNvSpPr>
          <p:nvPr/>
        </p:nvSpPr>
        <p:spPr>
          <a:xfrm>
            <a:off x="6162675" y="4267200"/>
            <a:ext cx="45529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1">
                <a:solidFill>
                  <a:srgbClr val="FDB515"/>
                </a:solidFill>
                <a:latin typeface="Arial"/>
                <a:ea typeface="Arial"/>
                <a:cs typeface="Arial"/>
              </a:defRPr>
            </a:pPr>
            <a:r>
              <a:rPr sz="563" b="1">
                <a:solidFill>
                  <a:srgbClr val="FDB515"/>
                </a:solidFill>
                <a:latin typeface="Arial"/>
                <a:ea typeface="Arial"/>
                <a:cs typeface="Arial"/>
              </a:rPr>
              <a:t>CAVEAT</a:t>
            </a:r>
          </a:p>
        </p:txBody>
      </p:sp>
      <p:sp>
        <p:nvSpPr>
          <p:cNvPr id="32" name="Rectangle 31">
            <a:extLst>
              <a:ext uri="{FF2B5EF4-FFF2-40B4-BE49-F238E27FC236}">
                <a16:creationId xmlns:a16="http://schemas.microsoft.com/office/drawing/2014/main" id="{231D41CD-70D9-4691-8F9C-73CB8F0E6D11}"/>
              </a:ext>
            </a:extLst>
          </p:cNvPr>
          <p:cNvSpPr>
            <a:spLocks noGrp="1"/>
          </p:cNvSpPr>
          <p:nvPr/>
        </p:nvSpPr>
        <p:spPr>
          <a:xfrm>
            <a:off x="6162675" y="4457700"/>
            <a:ext cx="455295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73" b="0">
                <a:solidFill>
                  <a:srgbClr val="111111"/>
                </a:solidFill>
                <a:latin typeface="Arial"/>
                <a:ea typeface="Arial"/>
                <a:cs typeface="Arial"/>
              </a:defRPr>
            </a:pPr>
            <a:r>
              <a:rPr sz="773" b="0">
                <a:solidFill>
                  <a:srgbClr val="111111"/>
                </a:solidFill>
                <a:latin typeface="Arial"/>
                <a:ea typeface="Arial"/>
                <a:cs typeface="Arial"/>
              </a:rPr>
              <a:t>Für strikte Genauigkeit erwähnen: Step-Penalty nicht vollständig, und `u` ist in der Baseline kontinuierlich.</a:t>
            </a:r>
          </a:p>
        </p:txBody>
      </p:sp>
      <p:sp>
        <p:nvSpPr>
          <p:cNvPr id="33" name="Rectangle 32">
            <a:extLst>
              <a:ext uri="{FF2B5EF4-FFF2-40B4-BE49-F238E27FC236}">
                <a16:creationId xmlns:a16="http://schemas.microsoft.com/office/drawing/2014/main" id="{AD7221B8-9440-4D46-BD46-65D6F5F5E856}"/>
              </a:ext>
            </a:extLst>
          </p:cNvPr>
          <p:cNvSpPr>
            <a:spLocks noGrp="1"/>
          </p:cNvSpPr>
          <p:nvPr/>
        </p:nvSpPr>
        <p:spPr>
          <a:xfrm>
            <a:off x="381000" y="5753100"/>
            <a:ext cx="11430000" cy="11430"/>
          </a:xfrm>
          <a:prstGeom prst="rect">
            <a:avLst/>
          </a:prstGeom>
          <a:solidFill>
            <a:srgbClr val="222222"/>
          </a:solidFill>
          <a:ln w="0">
            <a:solidFill>
              <a:srgbClr val="000000">
                <a:alpha val="0"/>
              </a:srgbClr>
            </a:solidFill>
            <a:prstDash val="solid"/>
          </a:ln>
        </p:spPr>
        <p:txBody>
          <a:bodyPr/>
          <a:lstStyle/>
          <a:p>
            <a:endParaRPr lang="en-DE"/>
          </a:p>
        </p:txBody>
      </p:sp>
      <p:sp>
        <p:nvSpPr>
          <p:cNvPr id="34" name="Rectangle 33">
            <a:extLst>
              <a:ext uri="{FF2B5EF4-FFF2-40B4-BE49-F238E27FC236}">
                <a16:creationId xmlns:a16="http://schemas.microsoft.com/office/drawing/2014/main" id="{A80417FA-B812-4B6A-B930-AA128B400FF2}"/>
              </a:ext>
            </a:extLst>
          </p:cNvPr>
          <p:cNvSpPr>
            <a:spLocks noGrp="1"/>
          </p:cNvSpPr>
          <p:nvPr/>
        </p:nvSpPr>
        <p:spPr>
          <a:xfrm>
            <a:off x="381000" y="5924550"/>
            <a:ext cx="400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00549F"/>
                </a:solidFill>
                <a:latin typeface="Arial"/>
                <a:ea typeface="Arial"/>
                <a:cs typeface="Arial"/>
              </a:defRPr>
            </a:pPr>
            <a:r>
              <a:rPr sz="675" b="0">
                <a:solidFill>
                  <a:srgbClr val="00549F"/>
                </a:solidFill>
                <a:latin typeface="Arial"/>
                <a:ea typeface="Arial"/>
                <a:cs typeface="Arial"/>
              </a:rPr>
              <a:t>14</a:t>
            </a:r>
          </a:p>
        </p:txBody>
      </p:sp>
      <p:sp>
        <p:nvSpPr>
          <p:cNvPr id="35" name="Rectangle 34">
            <a:extLst>
              <a:ext uri="{FF2B5EF4-FFF2-40B4-BE49-F238E27FC236}">
                <a16:creationId xmlns:a16="http://schemas.microsoft.com/office/drawing/2014/main" id="{BFA5D7B1-1180-49E1-A4CC-8D2A83B2ED77}"/>
              </a:ext>
            </a:extLst>
          </p:cNvPr>
          <p:cNvSpPr>
            <a:spLocks noGrp="1"/>
          </p:cNvSpPr>
          <p:nvPr/>
        </p:nvSpPr>
        <p:spPr>
          <a:xfrm>
            <a:off x="1123950" y="5924550"/>
            <a:ext cx="6572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0" b="0">
                <a:solidFill>
                  <a:srgbClr val="00549F"/>
                </a:solidFill>
                <a:latin typeface="Arial"/>
                <a:ea typeface="Arial"/>
                <a:cs typeface="Arial"/>
              </a:defRPr>
            </a:pPr>
            <a:r>
              <a:rPr sz="630" b="0">
                <a:solidFill>
                  <a:srgbClr val="00549F"/>
                </a:solidFill>
                <a:latin typeface="Arial"/>
                <a:ea typeface="Arial"/>
                <a:cs typeface="Arial"/>
              </a:rPr>
              <a:t>Train Dispatching | DISPLIB mathematical model to code | Baseline MIP and Extended CP-SAT</a:t>
            </a:r>
          </a:p>
        </p:txBody>
      </p:sp>
      <p:pic>
        <p:nvPicPr>
          <p:cNvPr id="36" name="Picture 35"/>
          <p:cNvPicPr>
            <a:picLocks noChangeAspect="1"/>
          </p:cNvPicPr>
          <p:nvPr/>
        </p:nvPicPr>
        <p:blipFill>
          <a:blip r:embed="rId3"/>
          <a:stretch/>
        </p:blipFill>
        <p:spPr>
          <a:xfrm>
            <a:off x="8107690" y="5829300"/>
            <a:ext cx="2929870" cy="819150"/>
          </a:xfrm>
          <a:prstGeom prst="rect">
            <a:avLst/>
          </a:prstGeom>
        </p:spPr>
      </p:pic>
    </p:spTree>
    <p:extLst>
      <p:ext uri="{BB962C8B-B14F-4D97-AF65-F5344CB8AC3E}">
        <p14:creationId xmlns:p14="http://schemas.microsoft.com/office/powerpoint/2010/main" val="6018845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7905</Words>
  <Application>Microsoft Office PowerPoint</Application>
  <DocSecurity>0</DocSecurity>
  <PresentationFormat>Widescreen</PresentationFormat>
  <Paragraphs>571</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Consolas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Tianyang Bai</cp:lastModifiedBy>
  <cp:revision>2</cp:revision>
  <dcterms:created xsi:type="dcterms:W3CDTF">2026-05-17T20:25:44Z</dcterms:created>
  <dcterms:modified xsi:type="dcterms:W3CDTF">2026-05-17T20:30:00Z</dcterms:modified>
</cp:coreProperties>
</file>