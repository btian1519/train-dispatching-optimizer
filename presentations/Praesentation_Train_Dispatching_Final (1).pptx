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19B25D-8618-0ED1-0EB7-06BCAFA0FCF2}" v="2" dt="2026-05-14T19:57:54.697"/>
    <p1510:client id="{5F99A104-CA88-9B8F-6C2A-1A4287B59F05}" v="74" dt="2026-05-15T21:17:00.1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DF0A73D3-FBC1-4D47-8543-A11BA3B4DC28}"/>
              </a:ext>
            </a:extLst>
          </p:cNvPr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F4CBBA1-954F-4A35-A14D-1D851EF8E326}"/>
              </a:ext>
            </a:extLst>
          </p:cNvPr>
          <p:cNvSpPr txBox="1"/>
          <p:nvPr/>
        </p:nvSpPr>
        <p:spPr>
          <a:xfrm>
            <a:off x="-1776413" y="479425"/>
            <a:ext cx="1576388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Institutslogo: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Dateiformat: PNG in RGB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Skalieren auf</a:t>
            </a:r>
          </a:p>
          <a:p>
            <a:pPr eaLnBrk="1" hangingPunct="1">
              <a:defRPr/>
            </a:pPr>
            <a:r>
              <a:rPr lang="de-DE" altLang="de-DE" sz="1000"/>
              <a:t>     Höhe: 2,26 cm</a:t>
            </a:r>
          </a:p>
          <a:p>
            <a:pPr eaLnBrk="1" hangingPunct="1">
              <a:defRPr/>
            </a:pPr>
            <a:r>
              <a:rPr lang="de-DE" altLang="de-DE" sz="1000"/>
              <a:t>     (Breite variiert je nach   </a:t>
            </a:r>
          </a:p>
          <a:p>
            <a:pPr eaLnBrk="1" hangingPunct="1">
              <a:defRPr/>
            </a:pPr>
            <a:r>
              <a:rPr lang="de-DE" altLang="de-DE" sz="1000"/>
              <a:t>     Schutzraum)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fik 7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19A859E0-99BD-4462-A66E-7FFF62E40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0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1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>
            <a:extLst>
              <a:ext uri="{FF2B5EF4-FFF2-40B4-BE49-F238E27FC236}">
                <a16:creationId xmlns:a16="http://schemas.microsoft.com/office/drawing/2014/main" id="{965939E9-23E5-4822-9F20-1E5729CD1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C54D22BF-B1FC-40F1-832A-3AB19A24FBCE}"/>
              </a:ext>
            </a:extLst>
          </p:cNvPr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err="1">
                <a:latin typeface="+mn-lt"/>
                <a:ea typeface="+mn-ea"/>
              </a:rPr>
              <a:t>Zuschneidewerkzeug</a:t>
            </a:r>
            <a:r>
              <a:rPr lang="de-DE" sz="1000">
                <a:latin typeface="+mn-lt"/>
                <a:ea typeface="+mn-ea"/>
              </a:rPr>
              <a:t> horizontal bis zur ersten oder zweiten Linie ziehen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Grafik 6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CCAD97C0-27D9-4A7C-82D4-A17FE9DE9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1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690C6E24-94B2-4220-99A9-3818B4A91586}"/>
              </a:ext>
            </a:extLst>
          </p:cNvPr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err="1">
                <a:latin typeface="+mn-lt"/>
                <a:ea typeface="+mn-ea"/>
              </a:rPr>
              <a:t>Zuschneidewerkzeug</a:t>
            </a:r>
            <a:r>
              <a:rPr lang="de-DE" sz="1000">
                <a:latin typeface="+mn-lt"/>
                <a:ea typeface="+mn-ea"/>
              </a:rPr>
              <a:t> horizontal bis zur ersten oder zweiten Linie ziehen</a:t>
            </a:r>
          </a:p>
        </p:txBody>
      </p:sp>
      <p:pic>
        <p:nvPicPr>
          <p:cNvPr id="5" name="Grafik 9">
            <a:extLst>
              <a:ext uri="{FF2B5EF4-FFF2-40B4-BE49-F238E27FC236}">
                <a16:creationId xmlns:a16="http://schemas.microsoft.com/office/drawing/2014/main" id="{E3EF9CEB-A41E-45D4-A833-3E2B3393F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84000" y="5230801"/>
            <a:ext cx="1148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Grafik 6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75A3AB05-F813-4AC6-9044-5F0DA7A3C8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29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FCEC0078-E1D4-4A54-B33E-F7A0F4720198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fik 5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D05B0B5C-83F5-4414-B2AA-037B41B9C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319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7">
            <a:extLst>
              <a:ext uri="{FF2B5EF4-FFF2-40B4-BE49-F238E27FC236}">
                <a16:creationId xmlns:a16="http://schemas.microsoft.com/office/drawing/2014/main" id="{D5D0E2FC-3DC5-4EA0-A175-0B1CC51FC78A}"/>
              </a:ext>
            </a:extLst>
          </p:cNvPr>
          <p:cNvCxnSpPr/>
          <p:nvPr/>
        </p:nvCxnSpPr>
        <p:spPr>
          <a:xfrm>
            <a:off x="392113" y="30368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fik 5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813E6BA0-BACC-4066-A4A7-81433711D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378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373038" y="1684800"/>
            <a:ext cx="11484000" cy="3193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9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383117" y="1684801"/>
            <a:ext cx="11484000" cy="3751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4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7">
            <a:extLst>
              <a:ext uri="{FF2B5EF4-FFF2-40B4-BE49-F238E27FC236}">
                <a16:creationId xmlns:a16="http://schemas.microsoft.com/office/drawing/2014/main" id="{25821BAF-A998-441B-8191-CE326EE1E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1684338"/>
            <a:ext cx="3635375" cy="398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platzhalter 11"/>
          <p:cNvSpPr>
            <a:spLocks noGrp="1"/>
          </p:cNvSpPr>
          <p:nvPr>
            <p:ph type="body" sz="quarter" idx="14"/>
          </p:nvPr>
        </p:nvSpPr>
        <p:spPr>
          <a:xfrm>
            <a:off x="383117" y="1684800"/>
            <a:ext cx="7560000" cy="398595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154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>
            <a:extLst>
              <a:ext uri="{FF2B5EF4-FFF2-40B4-BE49-F238E27FC236}">
                <a16:creationId xmlns:a16="http://schemas.microsoft.com/office/drawing/2014/main" id="{668FF3C9-89D1-4793-A0F8-160C43D2C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152525"/>
            <a:ext cx="11480800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83117" y="5359401"/>
            <a:ext cx="11484000" cy="499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9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1878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383117" y="1684800"/>
            <a:ext cx="11484000" cy="3632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noProof="0"/>
              <a:t>Click icon to add chart</a:t>
            </a:r>
            <a:endParaRPr lang="de-DE" noProof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6468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C3FBA6D-D185-4E65-BA58-F6D60A8CDCD2}"/>
              </a:ext>
            </a:extLst>
          </p:cNvPr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>
                <a:solidFill>
                  <a:schemeClr val="tx2"/>
                </a:solidFill>
              </a:rPr>
              <a:t>Vielen Dank</a:t>
            </a:r>
            <a:br>
              <a:rPr lang="de-DE" altLang="de-DE" sz="3200" b="1">
                <a:solidFill>
                  <a:schemeClr val="tx2"/>
                </a:solidFill>
              </a:rPr>
            </a:br>
            <a:r>
              <a:rPr lang="de-DE" altLang="de-DE" sz="3200" b="1">
                <a:solidFill>
                  <a:schemeClr val="tx2"/>
                </a:solidFill>
              </a:rPr>
              <a:t>für Ihre Aufmerksamkeit</a:t>
            </a:r>
            <a:endParaRPr lang="en-US" altLang="de-DE" sz="3200" b="1">
              <a:solidFill>
                <a:schemeClr val="tx2"/>
              </a:solidFill>
            </a:endParaRPr>
          </a:p>
        </p:txBody>
      </p:sp>
      <p:cxnSp>
        <p:nvCxnSpPr>
          <p:cNvPr id="5" name="Gerader Verbinder 11">
            <a:extLst>
              <a:ext uri="{FF2B5EF4-FFF2-40B4-BE49-F238E27FC236}">
                <a16:creationId xmlns:a16="http://schemas.microsoft.com/office/drawing/2014/main" id="{7EAD0A55-458C-461C-8A98-FB757E9F4A7E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fik 5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BF6B2EA4-A7DF-477E-A555-153DA86B2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168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926CE-F9EE-BF3D-2A2E-1911B5493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DAD42-091A-D2B5-BD4F-7F527F7EB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306EB-FB49-CB5A-8484-EA061946B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5A80C-4252-4477-8AC9-3985050A38FC}" type="datetimeFigureOut">
              <a:rPr lang="en-DE" smtClean="0"/>
              <a:t>05/17/2026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B4696-78C0-B4B7-5964-9B824CCAB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F26C3-C462-BC2E-D9FC-F48B796A0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4D59F-9EAF-44A0-9EC7-CCBBDCCFF17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984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8CBF0E6-97C3-473E-A6E8-CB800563BB33}"/>
              </a:ext>
            </a:extLst>
          </p:cNvPr>
          <p:cNvSpPr txBox="1">
            <a:spLocks/>
          </p:cNvSpPr>
          <p:nvPr/>
        </p:nvSpPr>
        <p:spPr>
          <a:xfrm>
            <a:off x="1195388" y="6227763"/>
            <a:ext cx="700246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900">
                <a:solidFill>
                  <a:schemeClr val="tx2"/>
                </a:solidFill>
              </a:rPr>
              <a:t>Titel der Präsentation  |  Name des Vortragenden  |  Organisationseinheit  |  00.00.2000  |  Die Fußzeile bietet Platz für einen Text über 3 Zeilen  |  Die Fußzeile bietet Platz für einen Text über 3 Zeilen  |  Die Fußzeile bietet Platz für 3 Zeilen  |  Die Fußzeile bietet Platz für 3 Zeilen  |  Die Fußzeile bietet Platz für 3 Zeilen  |  Die Fußzeile bietet Platz für 3 Zeilen</a:t>
            </a:r>
          </a:p>
          <a:p>
            <a:pPr eaLnBrk="1" hangingPunct="1">
              <a:defRPr/>
            </a:pPr>
            <a:endParaRPr lang="de-DE" altLang="de-DE" sz="900">
              <a:solidFill>
                <a:schemeClr val="tx2"/>
              </a:solidFill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03F14107-F8A8-4432-ADBA-17617EB7E0D5}"/>
              </a:ext>
            </a:extLst>
          </p:cNvPr>
          <p:cNvCxnSpPr/>
          <p:nvPr/>
        </p:nvCxnSpPr>
        <p:spPr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A4433757-720D-4347-908D-4390B2080B31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feld 6">
            <a:extLst>
              <a:ext uri="{FF2B5EF4-FFF2-40B4-BE49-F238E27FC236}">
                <a16:creationId xmlns:a16="http://schemas.microsoft.com/office/drawing/2014/main" id="{1EFD7C95-1B86-405C-AB6F-F43FD0AF2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784350" y="5073650"/>
            <a:ext cx="1668462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Fußzeile anpassen:</a:t>
            </a:r>
            <a:endParaRPr lang="de-DE" altLang="de-DE" sz="1000"/>
          </a:p>
          <a:p>
            <a:pPr eaLnBrk="1" hangingPunct="1">
              <a:defRPr/>
            </a:pPr>
            <a:r>
              <a:rPr lang="de-DE" altLang="de-DE" sz="1000"/>
              <a:t>Zum Anpassen der Fußzeile unter Karteireiter Ansicht &gt; auf Folienmaster klicken. Links in der Übersicht auf die oberste Folie scrollen und dort in die Fußzeile klicken. So wird der Text automatisch auf allen Seiten angepasst.</a:t>
            </a:r>
            <a:endParaRPr lang="de-DE" altLang="de-DE" sz="1000" b="1"/>
          </a:p>
        </p:txBody>
      </p:sp>
      <p:sp>
        <p:nvSpPr>
          <p:cNvPr id="1031" name="Textfeld 13">
            <a:extLst>
              <a:ext uri="{FF2B5EF4-FFF2-40B4-BE49-F238E27FC236}">
                <a16:creationId xmlns:a16="http://schemas.microsoft.com/office/drawing/2014/main" id="{6F5E163A-F32F-4307-A238-CBCE094AF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96AFAB6-A7B6-45C5-B5AC-8B3CADFAAA85}" type="slidenum">
              <a:rPr lang="de-DE" altLang="de-DE" sz="900">
                <a:solidFill>
                  <a:schemeClr val="tx2"/>
                </a:solidFill>
              </a:rPr>
              <a:pPr eaLnBrk="1" hangingPunct="1"/>
              <a:t>‹#›</a:t>
            </a:fld>
            <a:endParaRPr lang="de-DE" altLang="de-DE" sz="900">
              <a:solidFill>
                <a:schemeClr val="tx2"/>
              </a:solidFill>
            </a:endParaRPr>
          </a:p>
        </p:txBody>
      </p:sp>
      <p:pic>
        <p:nvPicPr>
          <p:cNvPr id="3" name="Grafik 2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9A65EF06-F076-4140-B064-D92FFD5FE32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212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46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6341724-AA7A-7643-5484-DEFE07CAB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00" y="4737600"/>
            <a:ext cx="11484000" cy="5400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0E28D7B-B42A-D1A0-DA66-D1D2A84DF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00" y="5230801"/>
            <a:ext cx="11484000" cy="81281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20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9DEAE-3F61-CA6A-99AF-3573C7F72D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1AC59-996D-7754-6721-65C2E887F0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50979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549F531-2BE8-45F9-B1D5-21B7BEE93AD5}"/>
              </a:ext>
            </a:extLst>
          </p:cNvPr>
          <p:cNvSpPr/>
          <p:nvPr/>
        </p:nvSpPr>
        <p:spPr>
          <a:xfrm>
            <a:off x="0" y="6045200"/>
            <a:ext cx="12192000" cy="812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588EA3-7744-494C-8310-67B412BE4315}"/>
              </a:ext>
            </a:extLst>
          </p:cNvPr>
          <p:cNvSpPr txBox="1"/>
          <p:nvPr/>
        </p:nvSpPr>
        <p:spPr>
          <a:xfrm>
            <a:off x="381000" y="62230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r>
              <a:rPr lang="en-US" sz="1100">
                <a:solidFill>
                  <a:srgbClr val="4D4D4D"/>
                </a:solidFill>
              </a:rPr>
              <a:t>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sz="2600">
                <a:solidFill>
                  <a:srgbClr val="16324F"/>
                </a:solidFill>
              </a:rPr>
              <a:t>Das Train Dispatching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10000" cy="3447098"/>
          </a:xfrm>
          <a:prstGeom prst="rect">
            <a:avLst/>
          </a:prstGeom>
          <a:solidFill>
            <a:srgbClr val="F5F7FA"/>
          </a:solidFill>
          <a:ln w="15875">
            <a:solidFill>
              <a:srgbClr val="C9D2DC"/>
            </a:solidFill>
          </a:ln>
        </p:spPr>
        <p:txBody>
          <a:bodyPr wrap="square" lIns="177800" tIns="152400" rIns="177800" bIns="152400" anchor="t" anchorCtr="0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af-ZA" sz="1700">
                <a:solidFill>
                  <a:srgbClr val="1F1F1F"/>
                </a:solidFill>
              </a:rPr>
              <a:t>Zielsetzung</a:t>
            </a:r>
          </a:p>
          <a:p>
            <a:pPr>
              <a:defRPr sz="1600"/>
            </a:pPr>
            <a:r>
              <a:rPr lang="af-ZA" sz="1700">
                <a:solidFill>
                  <a:srgbClr val="1F1F1F"/>
                </a:solidFill>
              </a:rPr>
              <a:t>• Zuweisung von Streckenressourcen, z. B. Gleisen, an Züge.</a:t>
            </a:r>
          </a:p>
          <a:p>
            <a:pPr>
              <a:defRPr sz="1600"/>
            </a:pPr>
            <a:r>
              <a:rPr lang="af-ZA" sz="1700">
                <a:solidFill>
                  <a:srgbClr val="1F1F1F"/>
                </a:solidFill>
              </a:rPr>
              <a:t>• Einhaltung strikter Sicherheitsabstände im Betrieb.</a:t>
            </a:r>
          </a:p>
          <a:p>
            <a:r>
              <a:rPr lang="af-ZA" sz="1700" b="1">
                <a:solidFill>
                  <a:srgbClr val="1F1F1F"/>
                </a:solidFill>
              </a:rPr>
              <a:t>Herausforderung</a:t>
            </a:r>
          </a:p>
          <a:p>
            <a:pPr>
              <a:defRPr sz="1600"/>
            </a:pPr>
            <a:r>
              <a:rPr lang="af-ZA" sz="1700">
                <a:solidFill>
                  <a:srgbClr val="1F1F1F"/>
                </a:solidFill>
              </a:rPr>
              <a:t>• Simultane Optimierung von Zugpfaden und Belegungszeiten.</a:t>
            </a:r>
          </a:p>
          <a:p>
            <a:pPr>
              <a:defRPr sz="1600"/>
            </a:pPr>
            <a:r>
              <a:rPr lang="af-ZA" sz="1700">
                <a:solidFill>
                  <a:srgbClr val="1F1F1F"/>
                </a:solidFill>
              </a:rPr>
              <a:t>• Abstimmung von Routing und Scheduling für exakte Belegungszeiten.</a:t>
            </a:r>
          </a:p>
        </p:txBody>
      </p:sp>
      <p:pic>
        <p:nvPicPr>
          <p:cNvPr id="6" name="Picture 5" descr="intro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0" y="1371600"/>
            <a:ext cx="6592711" cy="3708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sz="2600">
                <a:solidFill>
                  <a:srgbClr val="16324F"/>
                </a:solidFill>
              </a:rPr>
              <a:t>Variablen-Mapping: Math vs.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  <a:ln>
            <a:solidFill>
              <a:schemeClr val="tx1">
                <a:alpha val="0"/>
              </a:scheme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noFill/>
          <a:ln>
            <a:solidFill>
              <a:schemeClr val="tx1">
                <a:alpha val="0"/>
              </a:schemeClr>
            </a:solidFill>
          </a:ln>
        </p:spPr>
        <p:txBody>
          <a:bodyPr/>
          <a:lstStyle/>
          <a:p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lang="af-ZA" sz="1600" b="1">
                          <a:solidFill>
                            <a:srgbClr val="16324F"/>
                          </a:solidFill>
                        </a:rPr>
                        <a:t>Logik</a:t>
                      </a:r>
                    </a:p>
                  </a:txBody>
                  <a:tcPr>
                    <a:lnL w="12700">
                      <a:solidFill>
                        <a:srgbClr val="B8C4D3"/>
                      </a:solidFill>
                    </a:lnL>
                    <a:lnR w="12700">
                      <a:solidFill>
                        <a:srgbClr val="B8C4D3"/>
                      </a:solidFill>
                    </a:lnR>
                    <a:lnT w="12700">
                      <a:solidFill>
                        <a:srgbClr val="B8C4D3"/>
                      </a:solidFill>
                    </a:lnT>
                    <a:lnB w="12700">
                      <a:solidFill>
                        <a:srgbClr val="B8C4D3"/>
                      </a:solidFill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f-ZA" sz="1600" b="1">
                          <a:solidFill>
                            <a:srgbClr val="16324F"/>
                          </a:solidFill>
                        </a:rPr>
                        <a:t>Math. Modell (Paper)</a:t>
                      </a:r>
                    </a:p>
                  </a:txBody>
                  <a:tcPr>
                    <a:lnL w="12700">
                      <a:solidFill>
                        <a:srgbClr val="B8C4D3"/>
                      </a:solidFill>
                    </a:lnL>
                    <a:lnR w="12700">
                      <a:solidFill>
                        <a:srgbClr val="B8C4D3"/>
                      </a:solidFill>
                    </a:lnR>
                    <a:lnT w="12700">
                      <a:solidFill>
                        <a:srgbClr val="B8C4D3"/>
                      </a:solidFill>
                    </a:lnT>
                    <a:lnB w="12700">
                      <a:solidFill>
                        <a:srgbClr val="B8C4D3"/>
                      </a:solidFill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f-ZA" sz="1600" b="1">
                          <a:solidFill>
                            <a:srgbClr val="16324F"/>
                          </a:solidFill>
                        </a:rPr>
                        <a:t>Baseline (Gurobi)</a:t>
                      </a:r>
                    </a:p>
                  </a:txBody>
                  <a:tcPr>
                    <a:lnL w="12700">
                      <a:solidFill>
                        <a:srgbClr val="B8C4D3"/>
                      </a:solidFill>
                    </a:lnL>
                    <a:lnR w="12700">
                      <a:solidFill>
                        <a:srgbClr val="B8C4D3"/>
                      </a:solidFill>
                    </a:lnR>
                    <a:lnT w="12700">
                      <a:solidFill>
                        <a:srgbClr val="B8C4D3"/>
                      </a:solidFill>
                    </a:lnT>
                    <a:lnB w="12700">
                      <a:solidFill>
                        <a:srgbClr val="B8C4D3"/>
                      </a:solidFill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f-ZA" sz="1600" b="1">
                          <a:solidFill>
                            <a:srgbClr val="16324F"/>
                          </a:solidFill>
                        </a:rPr>
                        <a:t>Extend (CP-SAT)</a:t>
                      </a:r>
                    </a:p>
                  </a:txBody>
                  <a:tcPr>
                    <a:lnL w="12700">
                      <a:solidFill>
                        <a:srgbClr val="B8C4D3"/>
                      </a:solidFill>
                    </a:lnL>
                    <a:lnR w="12700">
                      <a:solidFill>
                        <a:srgbClr val="B8C4D3"/>
                      </a:solidFill>
                    </a:lnR>
                    <a:lnT w="12700">
                      <a:solidFill>
                        <a:srgbClr val="B8C4D3"/>
                      </a:solidFill>
                    </a:lnT>
                    <a:lnB w="12700">
                      <a:solidFill>
                        <a:srgbClr val="B8C4D3"/>
                      </a:solidFill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af-ZA" sz="1400">
                          <a:solidFill>
                            <a:srgbClr val="1F1F1F"/>
                          </a:solidFill>
                        </a:rPr>
                        <a:t>Ausführung</a:t>
                      </a:r>
                    </a:p>
                  </a:txBody>
                  <a:tcPr>
                    <a:lnL w="12700">
                      <a:solidFill>
                        <a:srgbClr val="B8C4D3"/>
                      </a:solidFill>
                    </a:lnL>
                    <a:lnR w="12700">
                      <a:solidFill>
                        <a:srgbClr val="B8C4D3"/>
                      </a:solidFill>
                    </a:lnR>
                    <a:lnT w="12700">
                      <a:solidFill>
                        <a:srgbClr val="B8C4D3"/>
                      </a:solidFill>
                    </a:lnT>
                    <a:lnB w="12700">
                      <a:solidFill>
                        <a:srgbClr val="B8C4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f-ZA" sz="1400">
                          <a:solidFill>
                            <a:srgbClr val="1F1F1F"/>
                          </a:solidFill>
                        </a:rPr>
                        <a:t>x_a ∈ {0, 1}</a:t>
                      </a:r>
                    </a:p>
                  </a:txBody>
                  <a:tcPr>
                    <a:lnL w="12700">
                      <a:solidFill>
                        <a:srgbClr val="B8C4D3"/>
                      </a:solidFill>
                    </a:lnL>
                    <a:lnR w="12700">
                      <a:solidFill>
                        <a:srgbClr val="B8C4D3"/>
                      </a:solidFill>
                    </a:lnR>
                    <a:lnT w="12700">
                      <a:solidFill>
                        <a:srgbClr val="B8C4D3"/>
                      </a:solidFill>
                    </a:lnT>
                    <a:lnB w="12700">
                      <a:solidFill>
                        <a:srgbClr val="B8C4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f-ZA" sz="1400">
                          <a:solidFill>
                            <a:srgbClr val="1F1F1F"/>
                          </a:solidFill>
                          <a:latin typeface="Courier New"/>
                        </a:rPr>
                        <a:t>x[train_id, op_id]</a:t>
                      </a:r>
                    </a:p>
                  </a:txBody>
                  <a:tcPr>
                    <a:lnL w="12700">
                      <a:solidFill>
                        <a:srgbClr val="B8C4D3"/>
                      </a:solidFill>
                    </a:lnL>
                    <a:lnR w="12700">
                      <a:solidFill>
                        <a:srgbClr val="B8C4D3"/>
                      </a:solidFill>
                    </a:lnR>
                    <a:lnT w="12700">
                      <a:solidFill>
                        <a:srgbClr val="B8C4D3"/>
                      </a:solidFill>
                    </a:lnT>
                    <a:lnB w="12700">
                      <a:solidFill>
                        <a:srgbClr val="B8C4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f-ZA" sz="1400">
                          <a:solidFill>
                            <a:srgbClr val="1F1F1F"/>
                          </a:solidFill>
                          <a:latin typeface="Courier New"/>
                        </a:rPr>
                        <a:t>x[t_id, o_id]</a:t>
                      </a:r>
                    </a:p>
                  </a:txBody>
                  <a:tcPr>
                    <a:lnL w="12700">
                      <a:solidFill>
                        <a:srgbClr val="B8C4D3"/>
                      </a:solidFill>
                    </a:lnL>
                    <a:lnR w="12700">
                      <a:solidFill>
                        <a:srgbClr val="B8C4D3"/>
                      </a:solidFill>
                    </a:lnR>
                    <a:lnT w="12700">
                      <a:solidFill>
                        <a:srgbClr val="B8C4D3"/>
                      </a:solidFill>
                    </a:lnT>
                    <a:lnB w="12700">
                      <a:solidFill>
                        <a:srgbClr val="B8C4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af-ZA" sz="1400">
                          <a:solidFill>
                            <a:srgbClr val="1F1F1F"/>
                          </a:solidFill>
                        </a:rPr>
                        <a:t>Pfad / Fluss</a:t>
                      </a:r>
                    </a:p>
                  </a:txBody>
                  <a:tcPr>
                    <a:lnL w="12700">
                      <a:solidFill>
                        <a:srgbClr val="B8C4D3"/>
                      </a:solidFill>
                    </a:lnL>
                    <a:lnR w="12700">
                      <a:solidFill>
                        <a:srgbClr val="B8C4D3"/>
                      </a:solidFill>
                    </a:lnR>
                    <a:lnT w="12700">
                      <a:solidFill>
                        <a:srgbClr val="B8C4D3"/>
                      </a:solidFill>
                    </a:lnT>
                    <a:lnB w="12700">
                      <a:solidFill>
                        <a:srgbClr val="B8C4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f-ZA" sz="1400">
                          <a:solidFill>
                            <a:srgbClr val="1F1F1F"/>
                          </a:solidFill>
                        </a:rPr>
                        <a:t>y_ab ∈ {0, 1}</a:t>
                      </a:r>
                    </a:p>
                  </a:txBody>
                  <a:tcPr>
                    <a:lnL w="12700">
                      <a:solidFill>
                        <a:srgbClr val="B8C4D3"/>
                      </a:solidFill>
                    </a:lnL>
                    <a:lnR w="12700">
                      <a:solidFill>
                        <a:srgbClr val="B8C4D3"/>
                      </a:solidFill>
                    </a:lnR>
                    <a:lnT w="12700">
                      <a:solidFill>
                        <a:srgbClr val="B8C4D3"/>
                      </a:solidFill>
                    </a:lnT>
                    <a:lnB w="12700">
                      <a:solidFill>
                        <a:srgbClr val="B8C4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f-ZA" sz="1400">
                          <a:solidFill>
                            <a:srgbClr val="1F1F1F"/>
                          </a:solidFill>
                          <a:latin typeface="Courier New"/>
                        </a:rPr>
                        <a:t>y[train_id, op_a, op_b]</a:t>
                      </a:r>
                    </a:p>
                  </a:txBody>
                  <a:tcPr>
                    <a:lnL w="12700">
                      <a:solidFill>
                        <a:srgbClr val="B8C4D3"/>
                      </a:solidFill>
                    </a:lnL>
                    <a:lnR w="12700">
                      <a:solidFill>
                        <a:srgbClr val="B8C4D3"/>
                      </a:solidFill>
                    </a:lnR>
                    <a:lnT w="12700">
                      <a:solidFill>
                        <a:srgbClr val="B8C4D3"/>
                      </a:solidFill>
                    </a:lnT>
                    <a:lnB w="12700">
                      <a:solidFill>
                        <a:srgbClr val="B8C4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f-ZA" sz="1400">
                          <a:solidFill>
                            <a:srgbClr val="1F1F1F"/>
                          </a:solidFill>
                          <a:latin typeface="Courier New"/>
                        </a:rPr>
                        <a:t>y[t_id, o_id, succ]</a:t>
                      </a:r>
                    </a:p>
                  </a:txBody>
                  <a:tcPr>
                    <a:lnL w="12700">
                      <a:solidFill>
                        <a:srgbClr val="B8C4D3"/>
                      </a:solidFill>
                    </a:lnL>
                    <a:lnR w="12700">
                      <a:solidFill>
                        <a:srgbClr val="B8C4D3"/>
                      </a:solidFill>
                    </a:lnR>
                    <a:lnT w="12700">
                      <a:solidFill>
                        <a:srgbClr val="B8C4D3"/>
                      </a:solidFill>
                    </a:lnT>
                    <a:lnB w="12700">
                      <a:solidFill>
                        <a:srgbClr val="B8C4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af-ZA" sz="1400">
                          <a:solidFill>
                            <a:srgbClr val="1F1F1F"/>
                          </a:solidFill>
                        </a:rPr>
                        <a:t>Zeit</a:t>
                      </a:r>
                    </a:p>
                  </a:txBody>
                  <a:tcPr>
                    <a:lnL w="12700">
                      <a:solidFill>
                        <a:srgbClr val="B8C4D3"/>
                      </a:solidFill>
                    </a:lnL>
                    <a:lnR w="12700">
                      <a:solidFill>
                        <a:srgbClr val="B8C4D3"/>
                      </a:solidFill>
                    </a:lnR>
                    <a:lnT w="12700">
                      <a:solidFill>
                        <a:srgbClr val="B8C4D3"/>
                      </a:solidFill>
                    </a:lnT>
                    <a:lnB w="12700">
                      <a:solidFill>
                        <a:srgbClr val="B8C4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f-ZA" sz="1400">
                          <a:solidFill>
                            <a:srgbClr val="1F1F1F"/>
                          </a:solidFill>
                        </a:rPr>
                        <a:t>t_a ≥ 0 (Startzeit)</a:t>
                      </a:r>
                    </a:p>
                  </a:txBody>
                  <a:tcPr>
                    <a:lnL w="12700">
                      <a:solidFill>
                        <a:srgbClr val="B8C4D3"/>
                      </a:solidFill>
                    </a:lnL>
                    <a:lnR w="12700">
                      <a:solidFill>
                        <a:srgbClr val="B8C4D3"/>
                      </a:solidFill>
                    </a:lnR>
                    <a:lnT w="12700">
                      <a:solidFill>
                        <a:srgbClr val="B8C4D3"/>
                      </a:solidFill>
                    </a:lnT>
                    <a:lnB w="12700">
                      <a:solidFill>
                        <a:srgbClr val="B8C4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f-ZA" sz="1400">
                          <a:solidFill>
                            <a:srgbClr val="1F1F1F"/>
                          </a:solidFill>
                          <a:latin typeface="Courier New"/>
                        </a:rPr>
                        <a:t>t[train_id, op_id] (Kontinuierlich)</a:t>
                      </a:r>
                    </a:p>
                  </a:txBody>
                  <a:tcPr>
                    <a:lnL w="12700">
                      <a:solidFill>
                        <a:srgbClr val="B8C4D3"/>
                      </a:solidFill>
                    </a:lnL>
                    <a:lnR w="12700">
                      <a:solidFill>
                        <a:srgbClr val="B8C4D3"/>
                      </a:solidFill>
                    </a:lnR>
                    <a:lnT w="12700">
                      <a:solidFill>
                        <a:srgbClr val="B8C4D3"/>
                      </a:solidFill>
                    </a:lnT>
                    <a:lnB w="12700">
                      <a:solidFill>
                        <a:srgbClr val="B8C4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f-ZA" sz="1400">
                          <a:solidFill>
                            <a:srgbClr val="1F1F1F"/>
                          </a:solidFill>
                          <a:latin typeface="Courier New"/>
                        </a:rPr>
                        <a:t>IntervalVar (Start, Dauer, Ende)</a:t>
                      </a:r>
                    </a:p>
                  </a:txBody>
                  <a:tcPr>
                    <a:lnL w="12700">
                      <a:solidFill>
                        <a:srgbClr val="B8C4D3"/>
                      </a:solidFill>
                    </a:lnL>
                    <a:lnR w="12700">
                      <a:solidFill>
                        <a:srgbClr val="B8C4D3"/>
                      </a:solidFill>
                    </a:lnR>
                    <a:lnT w="12700">
                      <a:solidFill>
                        <a:srgbClr val="B8C4D3"/>
                      </a:solidFill>
                    </a:lnT>
                    <a:lnB w="12700">
                      <a:solidFill>
                        <a:srgbClr val="B8C4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af-ZA" sz="1400">
                          <a:solidFill>
                            <a:srgbClr val="1F1F1F"/>
                          </a:solidFill>
                        </a:rPr>
                        <a:t>Kollision</a:t>
                      </a:r>
                    </a:p>
                  </a:txBody>
                  <a:tcPr>
                    <a:lnL w="12700">
                      <a:solidFill>
                        <a:srgbClr val="B8C4D3"/>
                      </a:solidFill>
                    </a:lnL>
                    <a:lnR w="12700">
                      <a:solidFill>
                        <a:srgbClr val="B8C4D3"/>
                      </a:solidFill>
                    </a:lnR>
                    <a:lnT w="12700">
                      <a:solidFill>
                        <a:srgbClr val="B8C4D3"/>
                      </a:solidFill>
                    </a:lnT>
                    <a:lnB w="12700">
                      <a:solidFill>
                        <a:srgbClr val="B8C4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f-ZA" sz="1400">
                          <a:solidFill>
                            <a:srgbClr val="1F1F1F"/>
                          </a:solidFill>
                        </a:rPr>
                        <a:t>z_ab ∈ {0, 1}</a:t>
                      </a:r>
                    </a:p>
                  </a:txBody>
                  <a:tcPr>
                    <a:lnL w="12700">
                      <a:solidFill>
                        <a:srgbClr val="B8C4D3"/>
                      </a:solidFill>
                    </a:lnL>
                    <a:lnR w="12700">
                      <a:solidFill>
                        <a:srgbClr val="B8C4D3"/>
                      </a:solidFill>
                    </a:lnR>
                    <a:lnT w="12700">
                      <a:solidFill>
                        <a:srgbClr val="B8C4D3"/>
                      </a:solidFill>
                    </a:lnT>
                    <a:lnB w="12700">
                      <a:solidFill>
                        <a:srgbClr val="B8C4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f-ZA" sz="1400">
                          <a:solidFill>
                            <a:srgbClr val="1F1F1F"/>
                          </a:solidFill>
                          <a:latin typeface="Courier New"/>
                        </a:rPr>
                        <a:t>Keine extra Variable (Big-M Logik)</a:t>
                      </a:r>
                    </a:p>
                  </a:txBody>
                  <a:tcPr>
                    <a:lnL w="12700">
                      <a:solidFill>
                        <a:srgbClr val="B8C4D3"/>
                      </a:solidFill>
                    </a:lnL>
                    <a:lnR w="12700">
                      <a:solidFill>
                        <a:srgbClr val="B8C4D3"/>
                      </a:solidFill>
                    </a:lnR>
                    <a:lnT w="12700">
                      <a:solidFill>
                        <a:srgbClr val="B8C4D3"/>
                      </a:solidFill>
                    </a:lnT>
                    <a:lnB w="12700">
                      <a:solidFill>
                        <a:srgbClr val="B8C4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f-ZA" sz="1400">
                          <a:solidFill>
                            <a:srgbClr val="1F1F1F"/>
                          </a:solidFill>
                          <a:latin typeface="Courier New"/>
                        </a:rPr>
                        <a:t>Keine Variable (Globale Constraint)</a:t>
                      </a:r>
                    </a:p>
                  </a:txBody>
                  <a:tcPr>
                    <a:lnL w="12700">
                      <a:solidFill>
                        <a:srgbClr val="B8C4D3"/>
                      </a:solidFill>
                    </a:lnL>
                    <a:lnR w="12700">
                      <a:solidFill>
                        <a:srgbClr val="B8C4D3"/>
                      </a:solidFill>
                    </a:lnR>
                    <a:lnT w="12700">
                      <a:solidFill>
                        <a:srgbClr val="B8C4D3"/>
                      </a:solidFill>
                    </a:lnT>
                    <a:lnB w="12700">
                      <a:solidFill>
                        <a:srgbClr val="B8C4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af-ZA" sz="1400">
                          <a:solidFill>
                            <a:srgbClr val="1F1F1F"/>
                          </a:solidFill>
                        </a:rPr>
                        <a:t>Topologie</a:t>
                      </a:r>
                    </a:p>
                  </a:txBody>
                  <a:tcPr>
                    <a:lnL w="12700">
                      <a:solidFill>
                        <a:srgbClr val="B8C4D3"/>
                      </a:solidFill>
                    </a:lnL>
                    <a:lnR w="12700">
                      <a:solidFill>
                        <a:srgbClr val="B8C4D3"/>
                      </a:solidFill>
                    </a:lnR>
                    <a:lnT w="12700">
                      <a:solidFill>
                        <a:srgbClr val="B8C4D3"/>
                      </a:solidFill>
                    </a:lnT>
                    <a:lnB w="12700">
                      <a:solidFill>
                        <a:srgbClr val="B8C4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f-ZA" sz="1400">
                          <a:solidFill>
                            <a:srgbClr val="1F1F1F"/>
                          </a:solidFill>
                        </a:rPr>
                        <a:t>u_a ≥ 0 (Rang)</a:t>
                      </a:r>
                    </a:p>
                  </a:txBody>
                  <a:tcPr>
                    <a:lnL w="12700">
                      <a:solidFill>
                        <a:srgbClr val="B8C4D3"/>
                      </a:solidFill>
                    </a:lnL>
                    <a:lnR w="12700">
                      <a:solidFill>
                        <a:srgbClr val="B8C4D3"/>
                      </a:solidFill>
                    </a:lnR>
                    <a:lnT w="12700">
                      <a:solidFill>
                        <a:srgbClr val="B8C4D3"/>
                      </a:solidFill>
                    </a:lnT>
                    <a:lnB w="12700">
                      <a:solidFill>
                        <a:srgbClr val="B8C4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f-ZA" sz="1400">
                          <a:solidFill>
                            <a:srgbClr val="1F1F1F"/>
                          </a:solidFill>
                          <a:latin typeface="Courier New"/>
                        </a:rPr>
                        <a:t>u[train_id, op_id] (Kontinuierlich)</a:t>
                      </a:r>
                    </a:p>
                  </a:txBody>
                  <a:tcPr>
                    <a:lnL w="12700">
                      <a:solidFill>
                        <a:srgbClr val="B8C4D3"/>
                      </a:solidFill>
                    </a:lnL>
                    <a:lnR w="12700">
                      <a:solidFill>
                        <a:srgbClr val="B8C4D3"/>
                      </a:solidFill>
                    </a:lnR>
                    <a:lnT w="12700">
                      <a:solidFill>
                        <a:srgbClr val="B8C4D3"/>
                      </a:solidFill>
                    </a:lnT>
                    <a:lnB w="12700">
                      <a:solidFill>
                        <a:srgbClr val="B8C4D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f-ZA" sz="1400">
                          <a:solidFill>
                            <a:srgbClr val="1F1F1F"/>
                          </a:solidFill>
                          <a:latin typeface="Courier New"/>
                        </a:rPr>
                        <a:t>u[t_id, o_id] (Integer)</a:t>
                      </a:r>
                    </a:p>
                  </a:txBody>
                  <a:tcPr>
                    <a:lnL w="12700">
                      <a:solidFill>
                        <a:srgbClr val="B8C4D3"/>
                      </a:solidFill>
                    </a:lnL>
                    <a:lnR w="12700">
                      <a:solidFill>
                        <a:srgbClr val="B8C4D3"/>
                      </a:solidFill>
                    </a:lnR>
                    <a:lnT w="12700">
                      <a:solidFill>
                        <a:srgbClr val="B8C4D3"/>
                      </a:solidFill>
                    </a:lnT>
                    <a:lnB w="12700">
                      <a:solidFill>
                        <a:srgbClr val="B8C4D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th_obj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040" y="1283803"/>
            <a:ext cx="7216213" cy="266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sz="2600">
                <a:solidFill>
                  <a:srgbClr val="16324F"/>
                </a:solidFill>
              </a:rPr>
              <a:t>Vergleich: Zielfunktion (Makespan)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  <a:ln>
            <a:solidFill>
              <a:schemeClr val="tx1">
                <a:alpha val="0"/>
              </a:scheme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2368" y="4106980"/>
            <a:ext cx="4819311" cy="365245"/>
          </a:xfrm>
          <a:prstGeom prst="roundRect">
            <a:avLst/>
          </a:prstGeom>
          <a:solidFill>
            <a:srgbClr val="1F4E79"/>
          </a:solidFill>
          <a:ln w="12700" cap="flat" cmpd="sng" algn="ctr">
            <a:solidFill>
              <a:srgbClr val="1F4E79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25400" rIns="127000" bIns="25400" rtlCol="0" anchor="ctr" anchorCtr="0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rPr lang="af-ZA" b="1">
                <a:solidFill>
                  <a:srgbClr val="FFFFFF"/>
                </a:solidFill>
              </a:rPr>
              <a:t>Baseline (Gurobi)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226" y="4476707"/>
            <a:ext cx="4796359" cy="1128404"/>
          </a:xfrm>
          <a:prstGeom prst="rect">
            <a:avLst/>
          </a:prstGeom>
          <a:solidFill>
            <a:srgbClr val="F3F5F7"/>
          </a:solidFill>
          <a:ln w="12700" cap="flat" cmpd="sng" algn="ctr">
            <a:solidFill>
              <a:srgbClr val="C9D1D9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t" anchorCtr="0"/>
          <a:lstStyle/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rPr lang="af-ZA" sz="1000" err="1">
                <a:solidFill>
                  <a:srgbClr val="1F1F1F"/>
                </a:solidFill>
              </a:rPr>
              <a:t>makespan</a:t>
            </a:r>
            <a:r>
              <a:rPr lang="af-ZA" sz="1000">
                <a:solidFill>
                  <a:srgbClr val="1F1F1F"/>
                </a:solidFill>
              </a:rPr>
              <a:t> = </a:t>
            </a:r>
            <a:r>
              <a:rPr lang="af-ZA" sz="1000" err="1">
                <a:solidFill>
                  <a:srgbClr val="1F1F1F"/>
                </a:solidFill>
              </a:rPr>
              <a:t>model.addVar</a:t>
            </a:r>
            <a:r>
              <a:rPr lang="af-ZA" sz="1000">
                <a:solidFill>
                  <a:srgbClr val="1F1F1F"/>
                </a:solidFill>
              </a:rPr>
              <a:t>(</a:t>
            </a:r>
            <a:r>
              <a:rPr lang="af-ZA" sz="1000" err="1">
                <a:solidFill>
                  <a:srgbClr val="1F1F1F"/>
                </a:solidFill>
              </a:rPr>
              <a:t>vtype</a:t>
            </a:r>
            <a:r>
              <a:rPr lang="af-ZA" sz="1000">
                <a:solidFill>
                  <a:srgbClr val="1F1F1F"/>
                </a:solidFill>
              </a:rPr>
              <a:t>=GRB.CONTINUOUS, name='</a:t>
            </a:r>
            <a:r>
              <a:rPr lang="af-ZA" sz="1000" err="1">
                <a:solidFill>
                  <a:srgbClr val="1F1F1F"/>
                </a:solidFill>
              </a:rPr>
              <a:t>makespan</a:t>
            </a:r>
            <a:r>
              <a:rPr lang="af-ZA" sz="1000">
                <a:solidFill>
                  <a:srgbClr val="1F1F1F"/>
                </a:solidFill>
              </a:rPr>
              <a:t>')</a:t>
            </a:r>
            <a:br>
              <a:rPr lang="af-ZA" sz="1000">
                <a:solidFill>
                  <a:srgbClr val="1F1F1F"/>
                </a:solidFill>
              </a:rPr>
            </a:br>
            <a:r>
              <a:rPr lang="af-ZA" sz="1000">
                <a:solidFill>
                  <a:srgbClr val="1F1F1F"/>
                </a:solidFill>
              </a:rPr>
              <a:t>for </a:t>
            </a:r>
            <a:r>
              <a:rPr lang="af-ZA" sz="1000" err="1">
                <a:solidFill>
                  <a:srgbClr val="1F1F1F"/>
                </a:solidFill>
              </a:rPr>
              <a:t>t_id</a:t>
            </a:r>
            <a:r>
              <a:rPr lang="af-ZA" sz="1000">
                <a:solidFill>
                  <a:srgbClr val="1F1F1F"/>
                </a:solidFill>
              </a:rPr>
              <a:t>, </a:t>
            </a:r>
            <a:r>
              <a:rPr lang="af-ZA" sz="1000" err="1">
                <a:solidFill>
                  <a:srgbClr val="1F1F1F"/>
                </a:solidFill>
              </a:rPr>
              <a:t>o_id</a:t>
            </a:r>
            <a:r>
              <a:rPr lang="af-ZA" sz="1000">
                <a:solidFill>
                  <a:srgbClr val="1F1F1F"/>
                </a:solidFill>
              </a:rPr>
              <a:t> in ...:</a:t>
            </a:r>
            <a:br>
              <a:rPr lang="af-ZA" sz="1000">
                <a:solidFill>
                  <a:srgbClr val="1F1F1F"/>
                </a:solidFill>
              </a:rPr>
            </a:br>
            <a:r>
              <a:rPr lang="af-ZA" sz="1000">
                <a:solidFill>
                  <a:srgbClr val="1F1F1F"/>
                </a:solidFill>
              </a:rPr>
              <a:t>    </a:t>
            </a:r>
            <a:r>
              <a:rPr lang="af-ZA" sz="1000" err="1">
                <a:solidFill>
                  <a:srgbClr val="1F1F1F"/>
                </a:solidFill>
              </a:rPr>
              <a:t>model.addConstr</a:t>
            </a:r>
            <a:r>
              <a:rPr lang="af-ZA" sz="1000">
                <a:solidFill>
                  <a:srgbClr val="1F1F1F"/>
                </a:solidFill>
              </a:rPr>
              <a:t>(</a:t>
            </a:r>
            <a:r>
              <a:rPr lang="af-ZA" sz="1000" err="1">
                <a:solidFill>
                  <a:srgbClr val="1F1F1F"/>
                </a:solidFill>
              </a:rPr>
              <a:t>makespan</a:t>
            </a:r>
            <a:r>
              <a:rPr lang="af-ZA" sz="1000">
                <a:solidFill>
                  <a:srgbClr val="1F1F1F"/>
                </a:solidFill>
              </a:rPr>
              <a:t> &gt;= self.t[</a:t>
            </a:r>
            <a:r>
              <a:rPr lang="af-ZA" sz="1000" err="1">
                <a:solidFill>
                  <a:srgbClr val="1F1F1F"/>
                </a:solidFill>
              </a:rPr>
              <a:t>t_id</a:t>
            </a:r>
            <a:r>
              <a:rPr lang="af-ZA" sz="1000">
                <a:solidFill>
                  <a:srgbClr val="1F1F1F"/>
                </a:solidFill>
              </a:rPr>
              <a:t>, </a:t>
            </a:r>
            <a:r>
              <a:rPr lang="af-ZA" sz="1000" err="1">
                <a:solidFill>
                  <a:srgbClr val="1F1F1F"/>
                </a:solidFill>
              </a:rPr>
              <a:t>o_id</a:t>
            </a:r>
            <a:r>
              <a:rPr lang="af-ZA" sz="1000">
                <a:solidFill>
                  <a:srgbClr val="1F1F1F"/>
                </a:solidFill>
              </a:rPr>
              <a:t>] + duration)</a:t>
            </a:r>
            <a:br>
              <a:rPr lang="af-ZA" sz="1000">
                <a:solidFill>
                  <a:srgbClr val="1F1F1F"/>
                </a:solidFill>
              </a:rPr>
            </a:br>
            <a:r>
              <a:rPr lang="af-ZA" sz="1000" err="1">
                <a:solidFill>
                  <a:srgbClr val="1F1F1F"/>
                </a:solidFill>
              </a:rPr>
              <a:t>model.setObjective</a:t>
            </a:r>
            <a:r>
              <a:rPr lang="af-ZA" sz="1000">
                <a:solidFill>
                  <a:srgbClr val="1F1F1F"/>
                </a:solidFill>
              </a:rPr>
              <a:t>(</a:t>
            </a:r>
            <a:r>
              <a:rPr lang="af-ZA" sz="1000" err="1">
                <a:solidFill>
                  <a:srgbClr val="1F1F1F"/>
                </a:solidFill>
              </a:rPr>
              <a:t>makespan</a:t>
            </a:r>
            <a:r>
              <a:rPr lang="af-ZA" sz="1000">
                <a:solidFill>
                  <a:srgbClr val="1F1F1F"/>
                </a:solidFill>
              </a:rPr>
              <a:t>, GRB.MINIMIZE)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6471" y="4082065"/>
            <a:ext cx="4790375" cy="355600"/>
          </a:xfrm>
          <a:prstGeom prst="roundRect">
            <a:avLst/>
          </a:prstGeom>
          <a:solidFill>
            <a:srgbClr val="1F4E79"/>
          </a:solidFill>
          <a:ln w="12700" cap="flat" cmpd="sng" algn="ctr">
            <a:solidFill>
              <a:srgbClr val="1F4E79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25400" rIns="127000" bIns="25400" rtlCol="0" anchor="ctr" anchorCtr="0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rPr lang="af-ZA" b="1">
                <a:solidFill>
                  <a:srgbClr val="FFFFFF"/>
                </a:solidFill>
              </a:rPr>
              <a:t>Extend (CP-SAT)</a:t>
            </a:r>
          </a:p>
        </p:txBody>
      </p:sp>
      <p:sp>
        <p:nvSpPr>
          <p:cNvPr id="9" name="Rectangle 8"/>
          <p:cNvSpPr/>
          <p:nvPr/>
        </p:nvSpPr>
        <p:spPr>
          <a:xfrm>
            <a:off x="7006471" y="4437665"/>
            <a:ext cx="4790375" cy="1206500"/>
          </a:xfrm>
          <a:prstGeom prst="rect">
            <a:avLst/>
          </a:prstGeom>
          <a:solidFill>
            <a:srgbClr val="F3F5F7"/>
          </a:solidFill>
          <a:ln w="12700" cap="flat" cmpd="sng" algn="ctr">
            <a:solidFill>
              <a:srgbClr val="C9D1D9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1600" tIns="76200" rIns="101600" bIns="76200" rtlCol="0" anchor="t" anchorCtr="0"/>
          <a:lstStyle/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rPr lang="af-ZA">
                <a:solidFill>
                  <a:srgbClr val="1F1F1F"/>
                </a:solidFill>
              </a:rPr>
              <a:t>makespan = model.NewIntVar(0, horizon, 'makespan')</a:t>
            </a:r>
            <a:br>
              <a:rPr lang="af-ZA">
                <a:solidFill>
                  <a:srgbClr val="1F1F1F"/>
                </a:solidFill>
              </a:rPr>
            </a:br>
            <a:r>
              <a:rPr lang="af-ZA">
                <a:solidFill>
                  <a:srgbClr val="1F1F1F"/>
                </a:solidFill>
              </a:rPr>
              <a:t>for t_id in trains:</a:t>
            </a:r>
            <a:br>
              <a:rPr lang="af-ZA">
                <a:solidFill>
                  <a:srgbClr val="1F1F1F"/>
                </a:solidFill>
              </a:rPr>
            </a:br>
            <a:r>
              <a:rPr lang="af-ZA">
                <a:solidFill>
                  <a:srgbClr val="1F1F1F"/>
                </a:solidFill>
              </a:rPr>
              <a:t>    end_vars = [self.ends[t_id, o_id] for o_id in ...]</a:t>
            </a:r>
            <a:br>
              <a:rPr lang="af-ZA">
                <a:solidFill>
                  <a:srgbClr val="1F1F1F"/>
                </a:solidFill>
              </a:rPr>
            </a:br>
            <a:r>
              <a:rPr lang="af-ZA">
                <a:solidFill>
                  <a:srgbClr val="1F1F1F"/>
                </a:solidFill>
              </a:rPr>
              <a:t>    model.AddMaxEquality(makespan, end_vars)</a:t>
            </a:r>
            <a:br>
              <a:rPr lang="af-ZA">
                <a:solidFill>
                  <a:srgbClr val="1F1F1F"/>
                </a:solidFill>
              </a:rPr>
            </a:br>
            <a:r>
              <a:rPr lang="af-ZA">
                <a:solidFill>
                  <a:srgbClr val="1F1F1F"/>
                </a:solidFill>
              </a:rPr>
              <a:t>model.Minimize(makespan)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sz="2600">
                <a:solidFill>
                  <a:srgbClr val="16324F"/>
                </a:solidFill>
              </a:rPr>
              <a:t>Vergleich: Flow &amp; Precedence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  <a:ln>
            <a:solidFill>
              <a:schemeClr val="tx1">
                <a:alpha val="0"/>
              </a:scheme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noFill/>
          <a:ln>
            <a:solidFill>
              <a:schemeClr val="tx1">
                <a:alpha val="0"/>
              </a:schemeClr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5" name="Picture 4" descr="math_prece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634" y="1499846"/>
            <a:ext cx="8229600" cy="2175641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F5E83F90-1B63-1EB1-BF99-CE25C8A58C05}"/>
              </a:ext>
            </a:extLst>
          </p:cNvPr>
          <p:cNvGrpSpPr/>
          <p:nvPr/>
        </p:nvGrpSpPr>
        <p:grpSpPr>
          <a:xfrm>
            <a:off x="385313" y="3679721"/>
            <a:ext cx="3931920" cy="1989252"/>
            <a:chOff x="457200" y="3679721"/>
            <a:chExt cx="3931920" cy="1989252"/>
          </a:xfrm>
        </p:grpSpPr>
        <p:sp>
          <p:nvSpPr>
            <p:cNvPr id="6" name="Rounded Rectangle 5"/>
            <p:cNvSpPr/>
            <p:nvPr/>
          </p:nvSpPr>
          <p:spPr>
            <a:xfrm>
              <a:off x="457200" y="3679721"/>
              <a:ext cx="3931920" cy="365760"/>
            </a:xfrm>
            <a:prstGeom prst="roundRect">
              <a:avLst/>
            </a:prstGeom>
            <a:solidFill>
              <a:srgbClr val="1F4E79"/>
            </a:solidFill>
            <a:ln w="15875" cap="flat" cmpd="sng" algn="ctr">
              <a:solidFill>
                <a:srgbClr val="1F4E79"/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27000" rIns="127000" rtlCol="0" anchor="ctr" anchorCtr="0"/>
            <a:lstStyle/>
            <a:p>
              <a:pPr algn="ctr">
                <a:defRPr b="1">
                  <a:solidFill>
                    <a:srgbClr val="FFFFFF"/>
                  </a:solidFill>
                </a:defRPr>
              </a:pPr>
              <a:r>
                <a:rPr lang="af-ZA" b="1">
                  <a:solidFill>
                    <a:srgbClr val="FFFFFF"/>
                  </a:solidFill>
                </a:rPr>
                <a:t>Baseline (Gurobi)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57200" y="4002349"/>
              <a:ext cx="3931920" cy="1666624"/>
            </a:xfrm>
            <a:prstGeom prst="rect">
              <a:avLst/>
            </a:prstGeom>
            <a:solidFill>
              <a:srgbClr val="F8F9FB"/>
            </a:solidFill>
            <a:ln w="20320" cap="flat" cmpd="sng" algn="ctr">
              <a:solidFill>
                <a:srgbClr val="C9D2DC"/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52400" tIns="127000" rIns="152400" bIns="127000" rtlCol="0" anchor="t" anchorCtr="0"/>
            <a:lstStyle/>
            <a:p>
              <a:pPr algn="l">
                <a:defRPr sz="1200">
                  <a:solidFill>
                    <a:srgbClr val="1E1E1E"/>
                  </a:solidFill>
                  <a:latin typeface="Consolas"/>
                </a:defRPr>
              </a:pPr>
              <a:r>
                <a:rPr lang="af-ZA">
                  <a:solidFill>
                    <a:srgbClr val="1F1F1F"/>
                  </a:solidFill>
                </a:rPr>
                <a:t># Flow Conservation</a:t>
              </a:r>
              <a:br>
                <a:rPr lang="af-ZA">
                  <a:solidFill>
                    <a:srgbClr val="1F1F1F"/>
                  </a:solidFill>
                </a:rPr>
              </a:br>
              <a:r>
                <a:rPr lang="af-ZA" err="1">
                  <a:solidFill>
                    <a:srgbClr val="1F1F1F"/>
                  </a:solidFill>
                </a:rPr>
                <a:t>model.addConstr</a:t>
              </a:r>
              <a:r>
                <a:rPr lang="af-ZA">
                  <a:solidFill>
                    <a:srgbClr val="1F1F1F"/>
                  </a:solidFill>
                </a:rPr>
                <a:t>(</a:t>
              </a:r>
              <a:r>
                <a:rPr lang="af-ZA" err="1">
                  <a:solidFill>
                    <a:srgbClr val="1F1F1F"/>
                  </a:solidFill>
                </a:rPr>
                <a:t>quicksum</a:t>
              </a:r>
              <a:r>
                <a:rPr lang="af-ZA">
                  <a:solidFill>
                    <a:srgbClr val="1F1F1F"/>
                  </a:solidFill>
                </a:rPr>
                <a:t>(y[t, a, b]) == x[t, a])</a:t>
              </a:r>
              <a:br>
                <a:rPr lang="af-ZA">
                  <a:solidFill>
                    <a:srgbClr val="1F1F1F"/>
                  </a:solidFill>
                </a:rPr>
              </a:br>
              <a:br>
                <a:rPr lang="af-ZA">
                  <a:solidFill>
                    <a:srgbClr val="1F1F1F"/>
                  </a:solidFill>
                </a:rPr>
              </a:br>
              <a:r>
                <a:rPr lang="af-ZA">
                  <a:solidFill>
                    <a:srgbClr val="1F1F1F"/>
                  </a:solidFill>
                </a:rPr>
                <a:t># Precedence (Indicator Constraint)</a:t>
              </a:r>
              <a:br>
                <a:rPr lang="af-ZA">
                  <a:solidFill>
                    <a:srgbClr val="1F1F1F"/>
                  </a:solidFill>
                </a:rPr>
              </a:br>
              <a:r>
                <a:rPr lang="af-ZA" err="1">
                  <a:solidFill>
                    <a:srgbClr val="1F1F1F"/>
                  </a:solidFill>
                </a:rPr>
                <a:t>model.addConstr</a:t>
              </a:r>
              <a:r>
                <a:rPr lang="af-ZA">
                  <a:solidFill>
                    <a:srgbClr val="1F1F1F"/>
                  </a:solidFill>
                </a:rPr>
                <a:t>((y[t, a, b] == 1) &gt;&gt; </a:t>
              </a:r>
              <a:br>
                <a:rPr lang="af-ZA">
                  <a:solidFill>
                    <a:srgbClr val="1F1F1F"/>
                  </a:solidFill>
                </a:rPr>
              </a:br>
              <a:r>
                <a:rPr lang="af-ZA">
                  <a:solidFill>
                    <a:srgbClr val="1F1F1F"/>
                  </a:solidFill>
                </a:rPr>
                <a:t>                (t[t, b] &gt;= t[t, a] + </a:t>
              </a:r>
              <a:r>
                <a:rPr lang="af-ZA" err="1">
                  <a:solidFill>
                    <a:srgbClr val="1F1F1F"/>
                  </a:solidFill>
                </a:rPr>
                <a:t>d_a</a:t>
              </a:r>
              <a:r>
                <a:rPr lang="af-ZA">
                  <a:solidFill>
                    <a:srgbClr val="1F1F1F"/>
                  </a:solidFill>
                </a:rPr>
                <a:t>))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03A7C4C-74E6-844D-71B5-D3EB1BF78AB5}"/>
              </a:ext>
            </a:extLst>
          </p:cNvPr>
          <p:cNvGrpSpPr/>
          <p:nvPr/>
        </p:nvGrpSpPr>
        <p:grpSpPr>
          <a:xfrm>
            <a:off x="7932276" y="3679721"/>
            <a:ext cx="3931920" cy="2018007"/>
            <a:chOff x="4754880" y="3679721"/>
            <a:chExt cx="3931920" cy="2018007"/>
          </a:xfrm>
        </p:grpSpPr>
        <p:sp>
          <p:nvSpPr>
            <p:cNvPr id="8" name="Rounded Rectangle 7"/>
            <p:cNvSpPr/>
            <p:nvPr/>
          </p:nvSpPr>
          <p:spPr>
            <a:xfrm>
              <a:off x="4754880" y="3679721"/>
              <a:ext cx="3931920" cy="365760"/>
            </a:xfrm>
            <a:prstGeom prst="roundRect">
              <a:avLst/>
            </a:prstGeom>
            <a:solidFill>
              <a:srgbClr val="1F4E79"/>
            </a:solidFill>
            <a:ln w="15875" cap="flat" cmpd="sng" algn="ctr">
              <a:solidFill>
                <a:srgbClr val="1F4E79"/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27000" rIns="127000" rtlCol="0" anchor="ctr" anchorCtr="0"/>
            <a:lstStyle/>
            <a:p>
              <a:pPr algn="ctr">
                <a:defRPr b="1">
                  <a:solidFill>
                    <a:srgbClr val="FFFFFF"/>
                  </a:solidFill>
                </a:defRPr>
              </a:pPr>
              <a:r>
                <a:rPr lang="af-ZA" b="1">
                  <a:solidFill>
                    <a:srgbClr val="FFFFFF"/>
                  </a:solidFill>
                </a:rPr>
                <a:t>Extend (CP-SAT)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754880" y="3959217"/>
              <a:ext cx="3931920" cy="1738511"/>
            </a:xfrm>
            <a:prstGeom prst="rect">
              <a:avLst/>
            </a:prstGeom>
            <a:solidFill>
              <a:srgbClr val="F8F9FB"/>
            </a:solidFill>
            <a:ln w="20320" cap="flat" cmpd="sng" algn="ctr">
              <a:solidFill>
                <a:srgbClr val="C9D2DC"/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52400" tIns="127000" rIns="152400" bIns="127000" rtlCol="0" anchor="t" anchorCtr="0"/>
            <a:lstStyle/>
            <a:p>
              <a:pPr algn="l">
                <a:defRPr sz="1200">
                  <a:solidFill>
                    <a:srgbClr val="1E1E1E"/>
                  </a:solidFill>
                  <a:latin typeface="Consolas"/>
                </a:defRPr>
              </a:pPr>
              <a:r>
                <a:rPr lang="af-ZA">
                  <a:solidFill>
                    <a:srgbClr val="1F1F1F"/>
                  </a:solidFill>
                </a:rPr>
                <a:t># Flow Conservation</a:t>
              </a:r>
              <a:br>
                <a:rPr lang="af-ZA">
                  <a:solidFill>
                    <a:srgbClr val="1F1F1F"/>
                  </a:solidFill>
                </a:rPr>
              </a:br>
              <a:r>
                <a:rPr lang="af-ZA">
                  <a:solidFill>
                    <a:srgbClr val="1F1F1F"/>
                  </a:solidFill>
                </a:rPr>
                <a:t>model.AddExactlyOne([y[t, a, b] for b in ...])</a:t>
              </a:r>
              <a:br>
                <a:rPr lang="af-ZA">
                  <a:solidFill>
                    <a:srgbClr val="1F1F1F"/>
                  </a:solidFill>
                </a:rPr>
              </a:br>
              <a:br>
                <a:rPr lang="af-ZA">
                  <a:solidFill>
                    <a:srgbClr val="1F1F1F"/>
                  </a:solidFill>
                </a:rPr>
              </a:br>
              <a:r>
                <a:rPr lang="af-ZA">
                  <a:solidFill>
                    <a:srgbClr val="1F1F1F"/>
                  </a:solidFill>
                </a:rPr>
                <a:t># Precedence (OnlyEnforceIf)</a:t>
              </a:r>
              <a:br>
                <a:rPr lang="af-ZA">
                  <a:solidFill>
                    <a:srgbClr val="1F1F1F"/>
                  </a:solidFill>
                </a:rPr>
              </a:br>
              <a:r>
                <a:rPr lang="af-ZA">
                  <a:solidFill>
                    <a:srgbClr val="1F1F1F"/>
                  </a:solidFill>
                </a:rPr>
                <a:t>model.Add(starts[t, b] &gt;= ends[t, a]).OnlyEnforceIf(y[t, a, b])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th_coll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11359"/>
            <a:ext cx="8229600" cy="28015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sz="2600">
                <a:solidFill>
                  <a:srgbClr val="16324F"/>
                </a:solidFill>
              </a:rPr>
              <a:t>Vergleich: Kollision &amp; Deadlock-Prävention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  <a:ln>
            <a:solidFill>
              <a:schemeClr val="tx1">
                <a:alpha val="0"/>
              </a:scheme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noFill/>
          <a:ln>
            <a:solidFill>
              <a:schemeClr val="tx1">
                <a:alpha val="0"/>
              </a:scheme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8618" y="3375427"/>
            <a:ext cx="3931920" cy="365760"/>
          </a:xfrm>
          <a:prstGeom prst="roundRect">
            <a:avLst/>
          </a:prstGeom>
          <a:solidFill>
            <a:srgbClr val="1F4E79"/>
          </a:solidFill>
          <a:ln w="15875" cap="flat" cmpd="sng" algn="ctr">
            <a:solidFill>
              <a:srgbClr val="1F4E79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Ins="127000" rtlCol="0" anchor="ctr" anchorCtr="0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rPr lang="af-ZA" b="1">
                <a:solidFill>
                  <a:srgbClr val="FFFFFF"/>
                </a:solidFill>
              </a:rPr>
              <a:t>Baseline (</a:t>
            </a:r>
            <a:r>
              <a:rPr lang="af-ZA" b="1" err="1">
                <a:solidFill>
                  <a:srgbClr val="FFFFFF"/>
                </a:solidFill>
              </a:rPr>
              <a:t>Gurobi</a:t>
            </a:r>
            <a:r>
              <a:rPr lang="af-ZA" b="1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8618" y="3741187"/>
            <a:ext cx="3931920" cy="1920240"/>
          </a:xfrm>
          <a:prstGeom prst="rect">
            <a:avLst/>
          </a:prstGeom>
          <a:solidFill>
            <a:srgbClr val="F8F9FB"/>
          </a:solidFill>
          <a:ln w="20320" cap="flat" cmpd="sng" algn="ctr">
            <a:solidFill>
              <a:srgbClr val="C9D2DC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t" anchorCtr="0"/>
          <a:lstStyle/>
          <a:p>
            <a:pPr algn="l">
              <a:defRPr sz="1200">
                <a:solidFill>
                  <a:srgbClr val="1E1E1E"/>
                </a:solidFill>
                <a:latin typeface="Consolas"/>
              </a:defRPr>
            </a:pPr>
            <a:r>
              <a:rPr lang="af-ZA">
                <a:solidFill>
                  <a:srgbClr val="1F1F1F"/>
                </a:solidFill>
              </a:rPr>
              <a:t># N² Kollisions-Check (Big-M)</a:t>
            </a:r>
            <a:br>
              <a:rPr lang="af-ZA">
                <a:solidFill>
                  <a:srgbClr val="1F1F1F"/>
                </a:solidFill>
              </a:rPr>
            </a:br>
            <a:r>
              <a:rPr lang="af-ZA">
                <a:solidFill>
                  <a:srgbClr val="1F1F1F"/>
                </a:solidFill>
              </a:rPr>
              <a:t>model.addConstr((z_ab == 1) &gt;&gt; (t_b &gt;= t_a + d_a + H))</a:t>
            </a:r>
            <a:br>
              <a:rPr lang="af-ZA">
                <a:solidFill>
                  <a:srgbClr val="1F1F1F"/>
                </a:solidFill>
              </a:rPr>
            </a:br>
            <a:r>
              <a:rPr lang="af-ZA">
                <a:solidFill>
                  <a:srgbClr val="1F1F1F"/>
                </a:solidFill>
              </a:rPr>
              <a:t>model.addConstr((z_ba == 1) &gt;&gt; (t_a &gt;= t_b + d_b + H))</a:t>
            </a:r>
            <a:br>
              <a:rPr lang="af-ZA">
                <a:solidFill>
                  <a:srgbClr val="1F1F1F"/>
                </a:solidFill>
              </a:rPr>
            </a:br>
            <a:r>
              <a:rPr lang="af-ZA">
                <a:solidFill>
                  <a:srgbClr val="1F1F1F"/>
                </a:solidFill>
              </a:rPr>
              <a:t>model.addConstr(z_ab + z_ba == 1)</a:t>
            </a:r>
            <a:br>
              <a:rPr lang="af-ZA">
                <a:solidFill>
                  <a:srgbClr val="1F1F1F"/>
                </a:solidFill>
              </a:rPr>
            </a:br>
            <a:br>
              <a:rPr lang="af-ZA">
                <a:solidFill>
                  <a:srgbClr val="1F1F1F"/>
                </a:solidFill>
              </a:rPr>
            </a:br>
            <a:r>
              <a:rPr lang="af-ZA">
                <a:solidFill>
                  <a:srgbClr val="1F1F1F"/>
                </a:solidFill>
              </a:rPr>
              <a:t># Deadlock Prävention (Topologische Rank)</a:t>
            </a:r>
            <a:br>
              <a:rPr lang="af-ZA">
                <a:solidFill>
                  <a:srgbClr val="1F1F1F"/>
                </a:solidFill>
              </a:rPr>
            </a:br>
            <a:r>
              <a:rPr lang="af-ZA">
                <a:solidFill>
                  <a:srgbClr val="1F1F1F"/>
                </a:solidFill>
              </a:rPr>
              <a:t>model.addConstr(u_b &gt;= u_a + 1 - M*(1-y_ab))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2526" y="3356136"/>
            <a:ext cx="3931920" cy="365760"/>
          </a:xfrm>
          <a:prstGeom prst="roundRect">
            <a:avLst/>
          </a:prstGeom>
          <a:solidFill>
            <a:srgbClr val="1F4E79"/>
          </a:solidFill>
          <a:ln w="15875" cap="flat" cmpd="sng" algn="ctr">
            <a:solidFill>
              <a:srgbClr val="1F4E79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Ins="127000" rtlCol="0" anchor="ctr" anchorCtr="0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rPr lang="af-ZA" b="1">
                <a:solidFill>
                  <a:srgbClr val="FFFFFF"/>
                </a:solidFill>
              </a:rPr>
              <a:t>Extend (CP-SAT)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2526" y="3721896"/>
            <a:ext cx="3931920" cy="1920240"/>
          </a:xfrm>
          <a:prstGeom prst="rect">
            <a:avLst/>
          </a:prstGeom>
          <a:solidFill>
            <a:srgbClr val="F8F9FB"/>
          </a:solidFill>
          <a:ln w="20320" cap="flat" cmpd="sng" algn="ctr">
            <a:solidFill>
              <a:srgbClr val="C9D2DC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t" anchorCtr="0"/>
          <a:lstStyle/>
          <a:p>
            <a:pPr algn="l">
              <a:defRPr sz="1200">
                <a:solidFill>
                  <a:srgbClr val="1E1E1E"/>
                </a:solidFill>
                <a:latin typeface="Consolas"/>
              </a:defRPr>
            </a:pPr>
            <a:r>
              <a:rPr lang="af-ZA">
                <a:solidFill>
                  <a:srgbClr val="1F1F1F"/>
                </a:solidFill>
              </a:rPr>
              <a:t># Globale Constraint (O(N) vs O(N²))</a:t>
            </a:r>
            <a:br>
              <a:rPr lang="af-ZA">
                <a:solidFill>
                  <a:srgbClr val="1F1F1F"/>
                </a:solidFill>
              </a:rPr>
            </a:br>
            <a:r>
              <a:rPr lang="af-ZA">
                <a:solidFill>
                  <a:srgbClr val="1F1F1F"/>
                </a:solidFill>
              </a:rPr>
              <a:t># IntervalVars: start, duration, end</a:t>
            </a:r>
            <a:br>
              <a:rPr lang="af-ZA">
                <a:solidFill>
                  <a:srgbClr val="1F1F1F"/>
                </a:solidFill>
              </a:rPr>
            </a:br>
            <a:r>
              <a:rPr lang="af-ZA">
                <a:solidFill>
                  <a:srgbClr val="1F1F1F"/>
                </a:solidFill>
              </a:rPr>
              <a:t>intervals_on_resource_r = [...]</a:t>
            </a:r>
            <a:br>
              <a:rPr lang="af-ZA">
                <a:solidFill>
                  <a:srgbClr val="1F1F1F"/>
                </a:solidFill>
              </a:rPr>
            </a:br>
            <a:r>
              <a:rPr lang="af-ZA">
                <a:solidFill>
                  <a:srgbClr val="1F1F1F"/>
                </a:solidFill>
              </a:rPr>
              <a:t>model.AddNoOverlap(intervals_on_resource_r)</a:t>
            </a:r>
            <a:br>
              <a:rPr lang="af-ZA">
                <a:solidFill>
                  <a:srgbClr val="1F1F1F"/>
                </a:solidFill>
              </a:rPr>
            </a:br>
            <a:br>
              <a:rPr lang="af-ZA">
                <a:solidFill>
                  <a:srgbClr val="1F1F1F"/>
                </a:solidFill>
              </a:rPr>
            </a:br>
            <a:r>
              <a:rPr lang="af-ZA">
                <a:solidFill>
                  <a:srgbClr val="1F1F1F"/>
                </a:solidFill>
              </a:rPr>
              <a:t># Deadlock Prävention (Manuell synchronisiert)</a:t>
            </a:r>
            <a:br>
              <a:rPr lang="af-ZA">
                <a:solidFill>
                  <a:srgbClr val="1F1F1F"/>
                </a:solidFill>
              </a:rPr>
            </a:br>
            <a:r>
              <a:rPr lang="af-ZA">
                <a:solidFill>
                  <a:srgbClr val="1F1F1F"/>
                </a:solidFill>
              </a:rPr>
              <a:t>model.Add(u[t, b] &gt;= u[t, a] + 1).OnlyEnforceIf(y_ab)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noFill/>
          <a:ln>
            <a:solidFill>
              <a:schemeClr val="tx1">
                <a:alpha val="0"/>
              </a:scheme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sz="2600">
                <a:solidFill>
                  <a:srgbClr val="16324F"/>
                </a:solidFill>
              </a:rPr>
              <a:t>Warum OR-Tools (CP-SAT)?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lIns="76200" tIns="50800" rIns="76200" bIns="50800"/>
          <a:lstStyle/>
          <a:p>
            <a:r>
              <a:rPr lang="en-US" sz="1800">
                <a:solidFill>
                  <a:srgbClr val="1F1F1F"/>
                </a:solidFill>
              </a:rPr>
              <a:t>• </a:t>
            </a:r>
            <a:r>
              <a:rPr lang="en-US" sz="1800">
                <a:solidFill>
                  <a:srgbClr val="16324F"/>
                </a:solidFill>
              </a:rPr>
              <a:t>Natives Zeitblock-Denken (Interval Variables):</a:t>
            </a:r>
            <a:r>
              <a:rPr lang="en-US" sz="1800">
                <a:solidFill>
                  <a:srgbClr val="1F1F1F"/>
                </a:solidFill>
              </a:rPr>
              <a:t> MIP modelliert Zeit als isolierten Punkt t. CP-SAT bündelt [Start, Dauer, Ende] in einer untrennbaren IntervalVar. Perfekt für Scheduling.</a:t>
            </a:r>
          </a:p>
          <a:p>
            <a:endParaRPr lang="en-US" sz="1800">
              <a:solidFill>
                <a:srgbClr val="1F1F1F"/>
              </a:solidFill>
            </a:endParaRPr>
          </a:p>
          <a:p>
            <a:r>
              <a:rPr lang="en-US" sz="1800">
                <a:solidFill>
                  <a:srgbClr val="1F1F1F"/>
                </a:solidFill>
              </a:rPr>
              <a:t>• </a:t>
            </a:r>
            <a:r>
              <a:rPr lang="en-US" sz="1800">
                <a:solidFill>
                  <a:srgbClr val="16324F"/>
                </a:solidFill>
              </a:rPr>
              <a:t>Keine Big-M Constraint-Explosion:</a:t>
            </a:r>
            <a:r>
              <a:rPr lang="en-US" sz="1800">
                <a:solidFill>
                  <a:srgbClr val="1F1F1F"/>
                </a:solidFill>
              </a:rPr>
              <a:t> MIP benötigt N² Variablen (z_ab) für Konflikte. CP-SAT nutzt AddNoOverlap, welches hochoptimierte Edge-finding Algorithmen verwendet und den Suchraum massiv verkleinert.</a:t>
            </a:r>
          </a:p>
          <a:p>
            <a:endParaRPr lang="en-US" sz="1800">
              <a:solidFill>
                <a:srgbClr val="1F1F1F"/>
              </a:solidFill>
            </a:endParaRPr>
          </a:p>
          <a:p>
            <a:r>
              <a:rPr lang="en-US" sz="1800">
                <a:solidFill>
                  <a:srgbClr val="1F1F1F"/>
                </a:solidFill>
              </a:rPr>
              <a:t>• </a:t>
            </a:r>
            <a:r>
              <a:rPr lang="en-US" sz="1800">
                <a:solidFill>
                  <a:srgbClr val="16324F"/>
                </a:solidFill>
              </a:rPr>
              <a:t>Exakte Lösung vs. Heuristik:</a:t>
            </a:r>
            <a:r>
              <a:rPr lang="en-US" sz="1800">
                <a:solidFill>
                  <a:srgbClr val="1F1F1F"/>
                </a:solidFill>
              </a:rPr>
              <a:t> Im Gegensatz zu Heuristiken (z.B. Hexaly / Local Search) ist CP-SAT ein exakter Löser (kombiniert SAT-Techniken mit Large Neighborhood Search). Garantiert das globale Optimum!</a:t>
            </a:r>
          </a:p>
          <a:p>
            <a:endParaRPr lang="en-US" sz="1800">
              <a:solidFill>
                <a:srgbClr val="1F1F1F"/>
              </a:solidFill>
            </a:endParaRPr>
          </a:p>
          <a:p>
            <a:r>
              <a:rPr lang="en-US" sz="1800">
                <a:solidFill>
                  <a:srgbClr val="1F1F1F"/>
                </a:solidFill>
              </a:rPr>
              <a:t>• </a:t>
            </a:r>
            <a:r>
              <a:rPr lang="en-US" sz="1800">
                <a:solidFill>
                  <a:srgbClr val="16324F"/>
                </a:solidFill>
              </a:rPr>
              <a:t>Deadlock-Freiheit bewahrt:</a:t>
            </a:r>
            <a:r>
              <a:rPr lang="en-US" sz="1800">
                <a:solidFill>
                  <a:srgbClr val="1F1F1F"/>
                </a:solidFill>
              </a:rPr>
              <a:t> Durch die Integration der topologischen Ränge (u) aus dem mathematischen Modell verhindern wir Deadlocks vollständig (hybrider Ansatz).</a:t>
            </a:r>
            <a:endParaRPr lang="en-US" sz="1800" b="0">
              <a:solidFill>
                <a:srgbClr val="1F1F1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09FFF0-F824-462A-B34B-2B7E6FBF8E44}"/>
              </a:ext>
            </a:extLst>
          </p:cNvPr>
          <p:cNvSpPr txBox="1"/>
          <p:nvPr/>
        </p:nvSpPr>
        <p:spPr>
          <a:xfrm>
            <a:off x="381000" y="6223000"/>
            <a:ext cx="3556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lIns="0" tIns="0" rIns="0" bIns="0" rtlCol="0" anchor="ctr" anchorCtr="0">
            <a:spAutoFit/>
          </a:bodyPr>
          <a:lstStyle/>
          <a:p>
            <a:r>
              <a:rPr lang="en-US" sz="1100">
                <a:solidFill>
                  <a:srgbClr val="666666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sz="2600">
                <a:solidFill>
                  <a:srgbClr val="16324F"/>
                </a:solidFill>
              </a:rPr>
              <a:t>Fazit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  <a:ln>
            <a:solidFill>
              <a:schemeClr val="tx1">
                <a:alpha val="0"/>
              </a:scheme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noFill/>
          <a:ln>
            <a:solidFill>
              <a:schemeClr val="tx1">
                <a:alpha val="0"/>
              </a:scheme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4507305" cy="1046440"/>
          </a:xfrm>
          <a:prstGeom prst="rect">
            <a:avLst/>
          </a:prstGeom>
          <a:solidFill>
            <a:srgbClr val="F5F7FA"/>
          </a:solidFill>
          <a:ln w="15875">
            <a:solidFill>
              <a:srgbClr val="C9D2DC"/>
            </a:solidFill>
          </a:ln>
        </p:spPr>
        <p:txBody>
          <a:bodyPr wrap="none" lIns="177800" tIns="152400" rIns="177800" bIns="152400">
            <a:spAutoFit/>
          </a:bodyPr>
          <a:lstStyle/>
          <a:p>
            <a:endParaRPr lang="af-ZA" sz="1600">
              <a:solidFill>
                <a:srgbClr val="1F1F1F"/>
              </a:solidFill>
            </a:endParaRPr>
          </a:p>
          <a:p>
            <a:pPr>
              <a:defRPr sz="2200" b="1">
                <a:solidFill>
                  <a:srgbClr val="003366"/>
                </a:solidFill>
              </a:defRPr>
            </a:pPr>
            <a:r>
              <a:rPr lang="af-ZA" sz="1600">
                <a:solidFill>
                  <a:srgbClr val="1F1F1F"/>
                </a:solidFill>
              </a:rPr>
              <a:t>Ergebnis der Architektur-Erweiterung:</a:t>
            </a:r>
          </a:p>
          <a:p>
            <a:pPr>
              <a:defRPr sz="1800"/>
            </a:pPr>
            <a:r>
              <a:rPr lang="af-ZA" sz="1600">
                <a:solidFill>
                  <a:srgbClr val="1F1F1F"/>
                </a:solidFill>
              </a:rPr>
              <a:t>Die Umstellung auf CP-SAT ermöglicht die Verarbeitung großer Datensätze in Bruchteilen einer Sekunde, ohne Kompromisse bei der Exaktheit einzugehen.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200400"/>
            <a:ext cx="5486400" cy="1371600"/>
          </a:xfrm>
          <a:prstGeom prst="roundRect">
            <a:avLst/>
          </a:prstGeom>
          <a:solidFill>
            <a:srgbClr val="2F5597"/>
          </a:solidFill>
          <a:ln w="19050" cap="flat" cmpd="sng" algn="ctr">
            <a:solidFill>
              <a:srgbClr val="2F5597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3200" tIns="127000" rIns="203200" bIns="127000" rtlCol="0" anchor="ctr" anchorCtr="0"/>
          <a:lstStyle/>
          <a:p>
            <a:pPr algn="ctr"/>
            <a:endParaRPr lang="af-ZA" sz="2200" b="1">
              <a:solidFill>
                <a:srgbClr val="FFFFFF"/>
              </a:solidFill>
            </a:endParaRPr>
          </a:p>
          <a:p>
            <a:pPr algn="ctr">
              <a:defRPr sz="2000" b="1">
                <a:solidFill>
                  <a:srgbClr val="DC381F"/>
                </a:solidFill>
              </a:defRPr>
            </a:pPr>
            <a:r>
              <a:rPr lang="af-ZA" sz="2200" b="1">
                <a:solidFill>
                  <a:srgbClr val="FFFFFF"/>
                </a:solidFill>
              </a:rPr>
              <a:t>Beispiel: Testinstanz smi_close_4</a:t>
            </a:r>
          </a:p>
          <a:p>
            <a:pPr algn="ctr">
              <a:defRPr sz="2400" b="1">
                <a:solidFill>
                  <a:srgbClr val="003366"/>
                </a:solidFill>
              </a:defRPr>
            </a:pPr>
            <a:r>
              <a:rPr lang="af-ZA" sz="2200" b="1">
                <a:solidFill>
                  <a:srgbClr val="FFFFFF"/>
                </a:solidFill>
              </a:rPr>
              <a:t>Lösungszeit mit CP-SAT: &lt; 0.05 Sekunden!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äsentation_Master_RWTH_Institute_16zu9">
  <a:themeElements>
    <a:clrScheme name="RWTH Farben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BDCD00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825358FF-48E6-4ECE-8C04-78B1C1D59C9F}" vid="{DDEF5410-6062-43C4-A715-B78640DDFF8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1E91672D871A544BAD23BB7C45A6B96" ma:contentTypeVersion="3" ma:contentTypeDescription="Ein neues Dokument erstellen." ma:contentTypeScope="" ma:versionID="caedbcdb776b8db0acd84c0334fa8557">
  <xsd:schema xmlns:xsd="http://www.w3.org/2001/XMLSchema" xmlns:xs="http://www.w3.org/2001/XMLSchema" xmlns:p="http://schemas.microsoft.com/office/2006/metadata/properties" xmlns:ns2="5ad56d8a-2b05-4702-9f3b-35ef8f425f89" targetNamespace="http://schemas.microsoft.com/office/2006/metadata/properties" ma:root="true" ma:fieldsID="62bcf6fc4c6579b387533be361a7976c" ns2:_="">
    <xsd:import namespace="5ad56d8a-2b05-4702-9f3b-35ef8f425f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d56d8a-2b05-4702-9f3b-35ef8f425f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591C89-1000-4226-AB40-C7E549EEC717}">
  <ds:schemaRefs>
    <ds:schemaRef ds:uri="5ad56d8a-2b05-4702-9f3b-35ef8f425f8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AC9A9FA-665E-48DC-9E77-FD8318C06C98}">
  <ds:schemaRefs>
    <ds:schemaRef ds:uri="5ad56d8a-2b05-4702-9f3b-35ef8f425f8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1829C64-B2EA-4302-8602-BC928EBC4DB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Präsentation_Master_RWTH_OM_16zu9</Template>
  <Application>Microsoft Office PowerPoint</Application>
  <PresentationFormat>宽屏</PresentationFormat>
  <Slides>9</Slides>
  <Notes>0</Notes>
  <HiddenSlides>0</Hidden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Präsentation_Master_RWTH_Institute_16zu9</vt:lpstr>
      <vt:lpstr>PowerPoint 演示文稿</vt:lpstr>
      <vt:lpstr>PowerPoint 演示文稿</vt:lpstr>
      <vt:lpstr>Das Train Dispatching Problem</vt:lpstr>
      <vt:lpstr>Variablen-Mapping: Math vs. Code</vt:lpstr>
      <vt:lpstr>Vergleich: Zielfunktion (Makespan)</vt:lpstr>
      <vt:lpstr>Vergleich: Flow &amp; Precedence</vt:lpstr>
      <vt:lpstr>Vergleich: Kollision &amp; Deadlock-Prävention</vt:lpstr>
      <vt:lpstr>Warum OR-Tools (CP-SAT)?</vt:lpstr>
      <vt:lpstr>Fazit &amp;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Tianyang Bai</dc:creator>
  <cp:revision>2</cp:revision>
  <dcterms:created xsi:type="dcterms:W3CDTF">2026-05-14T08:40:29Z</dcterms:created>
  <dcterms:modified xsi:type="dcterms:W3CDTF">2026-05-17T18:08:17Z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0x01010061E91672D871A544BAD23BB7C45A6B96</vt:lpwstr>
  </property>
</Properties>
</file>