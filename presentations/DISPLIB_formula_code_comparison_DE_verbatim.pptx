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306130a6fb4bda" /><Relationship Type="http://schemas.openxmlformats.org/officeDocument/2006/relationships/extended-properties" Target="/docProps/app.xml" Id="Rd5341314a1bf4dbb" /><Relationship Type="http://schemas.openxmlformats.org/officeDocument/2006/relationships/officeDocument" Target="/ppt/presentation.xml" Id="R50f166847bd747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dab3d4fdc74c54"/>
  </p:sldMasterIdLst>
  <p:notesMasterIdLst>
    <p:notesMasterId xmlns:r="http://schemas.openxmlformats.org/officeDocument/2006/relationships" r:id="R650007c32f9b4ffc"/>
  </p:notesMasterIdLst>
  <p:sldIdLst>
    <p:sldId xmlns:r="http://schemas.openxmlformats.org/officeDocument/2006/relationships" id="256" r:id="Rc57764006c1a4d26"/>
    <p:sldId xmlns:r="http://schemas.openxmlformats.org/officeDocument/2006/relationships" id="257" r:id="Rb8f36513e5ee4b20"/>
    <p:sldId xmlns:r="http://schemas.openxmlformats.org/officeDocument/2006/relationships" id="258" r:id="R56f38abb983d42b6"/>
    <p:sldId xmlns:r="http://schemas.openxmlformats.org/officeDocument/2006/relationships" id="259" r:id="R8ebf7b5375644062"/>
    <p:sldId xmlns:r="http://schemas.openxmlformats.org/officeDocument/2006/relationships" id="260" r:id="R28ea7130ed8c47e5"/>
    <p:sldId xmlns:r="http://schemas.openxmlformats.org/officeDocument/2006/relationships" id="261" r:id="R552c510e91494c30"/>
    <p:sldId xmlns:r="http://schemas.openxmlformats.org/officeDocument/2006/relationships" id="262" r:id="R90bc0f303c264fb3"/>
    <p:sldId xmlns:r="http://schemas.openxmlformats.org/officeDocument/2006/relationships" id="263" r:id="R23d0222bd4604b74"/>
    <p:sldId xmlns:r="http://schemas.openxmlformats.org/officeDocument/2006/relationships" id="264" r:id="R1353141610e844b2"/>
    <p:sldId xmlns:r="http://schemas.openxmlformats.org/officeDocument/2006/relationships" id="265" r:id="Rfe8455b46ba0474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dab3d4fdc74c54" /><Relationship Type="http://schemas.openxmlformats.org/officeDocument/2006/relationships/theme" Target="/ppt/theme/theme1.xml" Id="Rd0974f32602e469e" /><Relationship Type="http://schemas.openxmlformats.org/officeDocument/2006/relationships/notesMaster" Target="/ppt/notesMasters/notesMaster1.xml" Id="R650007c32f9b4ffc" /><Relationship Type="http://schemas.openxmlformats.org/officeDocument/2006/relationships/presProps" Target="/ppt/presProps.xml" Id="R344ce4a91f604177" /><Relationship Type="http://schemas.openxmlformats.org/officeDocument/2006/relationships/viewProps" Target="/ppt/viewProps.xml" Id="Rd9d8c2b45c8c4ae8" /><Relationship Type="http://schemas.openxmlformats.org/officeDocument/2006/relationships/tableStyles" Target="/ppt/tableStyles.xml" Id="R92fc9a0c05194ac8" /><Relationship Type="http://schemas.openxmlformats.org/officeDocument/2006/relationships/slide" Target="/ppt/slides/slide1.xml" Id="Rc57764006c1a4d26" /><Relationship Type="http://schemas.openxmlformats.org/officeDocument/2006/relationships/slide" Target="/ppt/slides/slide2.xml" Id="Rb8f36513e5ee4b20" /><Relationship Type="http://schemas.openxmlformats.org/officeDocument/2006/relationships/slide" Target="/ppt/slides/slide3.xml" Id="R56f38abb983d42b6" /><Relationship Type="http://schemas.openxmlformats.org/officeDocument/2006/relationships/slide" Target="/ppt/slides/slide4.xml" Id="R8ebf7b5375644062" /><Relationship Type="http://schemas.openxmlformats.org/officeDocument/2006/relationships/slide" Target="/ppt/slides/slide5.xml" Id="R28ea7130ed8c47e5" /><Relationship Type="http://schemas.openxmlformats.org/officeDocument/2006/relationships/slide" Target="/ppt/slides/slide6.xml" Id="R552c510e91494c30" /><Relationship Type="http://schemas.openxmlformats.org/officeDocument/2006/relationships/slide" Target="/ppt/slides/slide7.xml" Id="R90bc0f303c264fb3" /><Relationship Type="http://schemas.openxmlformats.org/officeDocument/2006/relationships/slide" Target="/ppt/slides/slide8.xml" Id="R23d0222bd4604b74" /><Relationship Type="http://schemas.openxmlformats.org/officeDocument/2006/relationships/slide" Target="/ppt/slides/slide9.xml" Id="R1353141610e844b2" /><Relationship Type="http://schemas.openxmlformats.org/officeDocument/2006/relationships/slide" Target="/ppt/slides/slide10.xml" Id="Rfe8455b46ba047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dc08c1f7b2e46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0a7f6c99274fed" /><Relationship Type="http://schemas.openxmlformats.org/officeDocument/2006/relationships/notesMaster" Target="/ppt/notesMasters/notesMaster1.xml" Id="R098657ea876b49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c96a2652cf4a11" /><Relationship Type="http://schemas.openxmlformats.org/officeDocument/2006/relationships/notesMaster" Target="/ppt/notesMasters/notesMaster1.xml" Id="Rb07eeb27769545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557fb21c2a431e" /><Relationship Type="http://schemas.openxmlformats.org/officeDocument/2006/relationships/notesMaster" Target="/ppt/notesMasters/notesMaster1.xml" Id="Rf2148c6213674e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95bcb7234a496b" /><Relationship Type="http://schemas.openxmlformats.org/officeDocument/2006/relationships/notesMaster" Target="/ppt/notesMasters/notesMaster1.xml" Id="R31ee58bba5544a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d80051944048ec" /><Relationship Type="http://schemas.openxmlformats.org/officeDocument/2006/relationships/notesMaster" Target="/ppt/notesMasters/notesMaster1.xml" Id="R502fb8b18e6546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4424b73eb04e5b" /><Relationship Type="http://schemas.openxmlformats.org/officeDocument/2006/relationships/notesMaster" Target="/ppt/notesMasters/notesMaster1.xml" Id="Rd25c5247974540e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589da7418a84279" /><Relationship Type="http://schemas.openxmlformats.org/officeDocument/2006/relationships/notesMaster" Target="/ppt/notesMasters/notesMaster1.xml" Id="R87ba1cfe64544e1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011aa6738d24be6" /><Relationship Type="http://schemas.openxmlformats.org/officeDocument/2006/relationships/notesMaster" Target="/ppt/notesMasters/notesMaster1.xml" Id="R6a759bf5b14a48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d027e2fee69443b" /><Relationship Type="http://schemas.openxmlformats.org/officeDocument/2006/relationships/notesMaster" Target="/ppt/notesMasters/notesMaster1.xml" Id="Reb401a3dafa8459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00f9208fae44a65" /><Relationship Type="http://schemas.openxmlformats.org/officeDocument/2006/relationships/notesMaster" Target="/ppt/notesMasters/notesMaster1.xml" Id="R1d9e92bd518d4a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a846c2b8e747d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06a5b9106a84a91" /><Relationship Type="http://schemas.openxmlformats.org/officeDocument/2006/relationships/slideLayout" Target="/ppt/slideLayouts/slideLayout2.xml" Id="R61d129f0776a4c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d129f0776a4c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82e110082c4383" /><Relationship Type="http://schemas.openxmlformats.org/officeDocument/2006/relationships/notesSlide" Target="/ppt/notesSlides/notesSlide1.xml" Id="R5a0147e84e9148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d73982cc5844ed" /><Relationship Type="http://schemas.openxmlformats.org/officeDocument/2006/relationships/image" Target="/ppt/media/image.png" Id="R1fd1c2091d754ec4" /><Relationship Type="http://schemas.openxmlformats.org/officeDocument/2006/relationships/notesSlide" Target="/ppt/notesSlides/notesSlide2.xml" Id="R36b4a9505d91439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e33bee9c484cf3" /><Relationship Type="http://schemas.openxmlformats.org/officeDocument/2006/relationships/image" Target="/ppt/media/image2.png" Id="R4bcbb6a602c74463" /><Relationship Type="http://schemas.openxmlformats.org/officeDocument/2006/relationships/notesSlide" Target="/ppt/notesSlides/notesSlide3.xml" Id="Rb161c862103a42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e2de2653514bb2" /><Relationship Type="http://schemas.openxmlformats.org/officeDocument/2006/relationships/image" Target="/ppt/media/image3.png" Id="R00e3a2f2e97e4ad9" /><Relationship Type="http://schemas.openxmlformats.org/officeDocument/2006/relationships/notesSlide" Target="/ppt/notesSlides/notesSlide4.xml" Id="Rf456bb8b030042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37e6e755144382" /><Relationship Type="http://schemas.openxmlformats.org/officeDocument/2006/relationships/image" Target="/ppt/media/image4.png" Id="Rc3e3b55ade924ba0" /><Relationship Type="http://schemas.openxmlformats.org/officeDocument/2006/relationships/notesSlide" Target="/ppt/notesSlides/notesSlide5.xml" Id="R2c4fc2c83ba14f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c1a376ce944a15" /><Relationship Type="http://schemas.openxmlformats.org/officeDocument/2006/relationships/image" Target="/ppt/media/image5.png" Id="R8670031f3af3444b" /><Relationship Type="http://schemas.openxmlformats.org/officeDocument/2006/relationships/notesSlide" Target="/ppt/notesSlides/notesSlide6.xml" Id="R5b6d179beb2b433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6fd8dd5ace4ced" /><Relationship Type="http://schemas.openxmlformats.org/officeDocument/2006/relationships/image" Target="/ppt/media/image6.png" Id="R108540590be14ef4" /><Relationship Type="http://schemas.openxmlformats.org/officeDocument/2006/relationships/notesSlide" Target="/ppt/notesSlides/notesSlide7.xml" Id="R61a89e646b6346d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dcc187d95c4d3d" /><Relationship Type="http://schemas.openxmlformats.org/officeDocument/2006/relationships/image" Target="/ppt/media/image7.png" Id="R9982a6083ba5461e" /><Relationship Type="http://schemas.openxmlformats.org/officeDocument/2006/relationships/image" Target="/ppt/media/image8.png" Id="R09f02235f5d740b4" /><Relationship Type="http://schemas.openxmlformats.org/officeDocument/2006/relationships/notesSlide" Target="/ppt/notesSlides/notesSlide8.xml" Id="R9bdd358327c148b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6fe03e5cdf4b39" /><Relationship Type="http://schemas.openxmlformats.org/officeDocument/2006/relationships/image" Target="/ppt/media/image9.png" Id="R7de6dcea244a4150" /><Relationship Type="http://schemas.openxmlformats.org/officeDocument/2006/relationships/notesSlide" Target="/ppt/notesSlides/notesSlide9.xml" Id="Rbaeb5ea9fbc048a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1acbe7c2e74737" /><Relationship Type="http://schemas.openxmlformats.org/officeDocument/2006/relationships/notesSlide" Target="/ppt/notesSlides/notesSlide10.xml" Id="Rb56e075418c0497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CABB4E-A087-424E-8545-C8F1F5BE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C3D50A-1819-4D57-8069-2B24996E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5F332D-B74F-4737-A6F7-19243FA1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17083"/>
                </a:solidFill>
                <a:latin typeface="Aptos"/>
                <a:ea typeface="Aptos"/>
                <a:cs typeface="Aptos"/>
              </a:rPr>
              <a:t>DISPLIB TRAIN DISPATCHING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4C35A9-279D-4CBC-B498-C24E0CD4D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21A24"/>
                </a:solidFill>
                <a:latin typeface="Georgia"/>
                <a:ea typeface="Georgia"/>
                <a:cs typeface="Georgia"/>
              </a:defRPr>
            </a:pPr>
            <a:r>
              <a:rPr sz="3750" b="1">
                <a:solidFill>
                  <a:srgbClr val="121A24"/>
                </a:solidFill>
                <a:latin typeface="Georgia"/>
                <a:ea typeface="Georgia"/>
                <a:cs typeface="Georgia"/>
              </a:rPr>
              <a:t>Mathematisches Modell</a:t>
            </a:r>
          </a:p>
          <a:p xmlns:a="http://schemas.openxmlformats.org/drawingml/2006/main">
            <a:pPr algn="l">
              <a:defRPr sz="3750" b="1">
                <a:solidFill>
                  <a:srgbClr val="121A24"/>
                </a:solidFill>
                <a:latin typeface="Georgia"/>
                <a:ea typeface="Georgia"/>
                <a:cs typeface="Georgia"/>
              </a:defRPr>
            </a:pPr>
            <a:r>
              <a:rPr sz="3750" b="1">
                <a:solidFill>
                  <a:srgbClr val="121A24"/>
                </a:solidFill>
                <a:latin typeface="Georgia"/>
                <a:ea typeface="Georgia"/>
                <a:cs typeface="Georgia"/>
              </a:rPr>
              <a:t>im echten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36FA0F-2876-4E45-B2AD-09A1DC1E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657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Links: Formel. Mitte: Baseline mit Gurobi. Rechts: Extended Modell mit CP-SAT.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9B4B29-1887-4F88-80AE-2C3DD6B1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8671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C269C9-C5F9-4FEB-902A-CC316EA2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097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C7CED8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C7CED8"/>
                </a:solidFill>
                <a:latin typeface="Aptos"/>
                <a:ea typeface="Aptos"/>
                <a:cs typeface="Aptos"/>
              </a:rPr>
              <a:t>was ich hier zeige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6A08F4-6E48-45F3-B918-B22642DA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81200"/>
            <a:ext cx="428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B0A6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0B0A6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BF6CCE-0D8D-4CB0-97BB-1F6DED21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Kein Pseudocode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11C995-06FC-4F89-8216-C2DED7F8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28850"/>
            <a:ext cx="2571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C7CED8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C7CED8"/>
                </a:solidFill>
                <a:latin typeface="Aptos"/>
                <a:ea typeface="Aptos"/>
                <a:cs typeface="Aptos"/>
              </a:rPr>
              <a:t>Die Code-Boxen kommen direkt aus den .py-Dateien.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928F76-605B-410F-961C-A1FC35E5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67000"/>
            <a:ext cx="428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7D6C1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A7D6C1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1A297F-4247-4D05-9D7F-BE45B6AF7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860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Genaue Stellen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940A23-8E66-447D-BC2F-DB2DA9B8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2571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C7CED8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C7CED8"/>
                </a:solidFill>
                <a:latin typeface="Aptos"/>
                <a:ea typeface="Aptos"/>
                <a:cs typeface="Aptos"/>
              </a:rPr>
              <a:t>Jeder Ausschnitt hat Datei und Zeilennummer.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C925E2-01A6-4D51-8D13-7FC790F4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52800"/>
            <a:ext cx="428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B0A6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0B0A6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0FDD6D-DF47-4433-9747-1D63F06A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718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Zwei Solver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5DF860-5AB9-4DD5-BD3E-3338E2AB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00450"/>
            <a:ext cx="2571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C7CED8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C7CED8"/>
                </a:solidFill>
                <a:latin typeface="Aptos"/>
                <a:ea typeface="Aptos"/>
                <a:cs typeface="Aptos"/>
              </a:rPr>
              <a:t>Gurobi schreibt man als MIP; CP-SAT als Scheduling-Modell.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156C5A-AFA4-4F8B-A4EB-664BF213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38600"/>
            <a:ext cx="428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7D6C1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A7D6C1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26650F-A44D-42BB-9E70-48DD3D74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576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Warum anders?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26B260-64A4-4900-AA1B-CB4E61CA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86250"/>
            <a:ext cx="2571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C7CED8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C7CED8"/>
                </a:solidFill>
                <a:latin typeface="Aptos"/>
                <a:ea typeface="Aptos"/>
                <a:cs typeface="Aptos"/>
              </a:rPr>
              <a:t>Andere Solverlogik: LP/Branch-and-Cut vs. Propagation/SAT-Suche.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10391A-0755-4D05-9EFE-C1F862C7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2CC5B7-0416-4968-841A-683B0328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585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Alle Code-Ausschnitte sind unveränderte Auszüge aus phase1_baseline/src und phase2_extend/src.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EBA0E5-726F-4F5D-AEA0-9F49D74E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985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1708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4309906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C24DE8-FF14-46AB-BD8F-FBDFCEB6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20582D-32AE-42BD-8ED2-25D77267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47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4C74FA-8C58-4262-8D78-39D76339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17083"/>
                </a:solidFill>
                <a:latin typeface="Aptos"/>
                <a:ea typeface="Aptos"/>
                <a:cs typeface="Aptos"/>
              </a:rPr>
              <a:t>VERBATIM CODE MAP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025788-2D19-4CFB-9FC1-B2C1835D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33450"/>
            <a:ext cx="971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1A24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121A24"/>
                </a:solidFill>
                <a:latin typeface="Georgia"/>
                <a:ea typeface="Georgia"/>
                <a:cs typeface="Georgia"/>
              </a:rPr>
              <a:t>Entscheidungsvariablen werden als echte Solver-Variablen angelegt.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7B0BDE-5017-4F51-9257-055C8F1A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Die Variablen heißen ähnlich, aber die Solver-Sprache ist unterschiedlich.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E564A0-98B9-4F81-A3CF-DF965B9F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1881EA-179B-4973-A6D0-CFCDF815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A33A2A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A33A2A"/>
                </a:solidFill>
                <a:latin typeface="Aptos"/>
                <a:ea typeface="Aptos"/>
                <a:cs typeface="Aptos"/>
              </a:rPr>
              <a:t>Mathematische Formulierung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6BEEF9-9C32-475A-9B5F-24A04A73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240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73554D-C289-4D63-BA2A-715B1EB8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8595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1E5B87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1E5B87"/>
                </a:solidFill>
                <a:latin typeface="Aptos"/>
                <a:ea typeface="Aptos"/>
                <a:cs typeface="Aptos"/>
              </a:rPr>
              <a:t>Baseline-Code (Gurobi/MIP)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9E611B-85F1-43B2-B716-25CCDCA6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240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7A9E45-66A5-4A9D-ACA5-DBBD91A8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8595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2D7A57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2D7A57"/>
                </a:solidFill>
                <a:latin typeface="Aptos"/>
                <a:ea typeface="Aptos"/>
                <a:cs typeface="Aptos"/>
              </a:rPr>
              <a:t>Extended-Code (CP-SAT)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215AC2-880B-4E52-AB47-56E3F27E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885950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DD86C6-9ADA-4710-BF33-A532C9AF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885950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0DA2DB-318D-42BF-9DFE-5B288C1A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CD3C4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d1c2091d754ec4"/>
          <a:stretch xmlns:a="http://schemas.openxmlformats.org/drawingml/2006/main"/>
        </p:blipFill>
        <p:spPr>
          <a:xfrm xmlns:a="http://schemas.openxmlformats.org/drawingml/2006/main">
            <a:off x="647700" y="2791235"/>
            <a:ext cx="2990850" cy="932631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6FB640-022C-4E3D-B678-1A2428F5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52900"/>
            <a:ext cx="2990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48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548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Paper: Variablendefinitionen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38CB30-30C7-4EA8-ABC2-3C77438A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91050"/>
            <a:ext cx="32194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0478">
            <a:solidFill>
              <a:srgbClr val="A33A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68D9BF-0E2D-472E-BE5C-38CDE77C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2990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1">
                <a:solidFill>
                  <a:srgbClr val="A33A2A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A33A2A"/>
                </a:solidFill>
                <a:latin typeface="Aptos"/>
                <a:ea typeface="Aptos"/>
                <a:cs typeface="Aptos"/>
              </a:rPr>
              <a:t>SPRECHPUNKT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C1C145-E598-4D7B-A859-A38242AF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95850"/>
            <a:ext cx="2990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21A24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121A24"/>
                </a:solidFill>
                <a:latin typeface="Aptos"/>
                <a:ea typeface="Aptos"/>
                <a:cs typeface="Aptos"/>
              </a:rPr>
              <a:t>`x` wählt Operationen, `y` wählt direkte Nachfolger, `t` ist die Startzeit und `u` hilft später bei der Reihenfolge.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02F60A-2D53-410A-973F-DBDC0314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71700"/>
            <a:ext cx="33147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49EB4D-1EF9-42A6-A319-C5AFB089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71700"/>
            <a:ext cx="3314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A611FD-318C-44A0-A274-BD7DB94E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28850"/>
            <a:ext cx="3086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1E5B87"/>
                </a:solidFill>
                <a:latin typeface="Aptos"/>
                <a:ea typeface="Aptos"/>
                <a:cs typeface="Aptos"/>
              </a:defRPr>
            </a:pPr>
            <a:r>
              <a:rPr sz="607" b="1">
                <a:solidFill>
                  <a:srgbClr val="1E5B87"/>
                </a:solidFill>
                <a:latin typeface="Aptos"/>
                <a:ea typeface="Aptos"/>
                <a:cs typeface="Aptos"/>
              </a:rPr>
              <a:t>phase1_baseline/src/mip_model.py:13-41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53F030-A6BB-4A29-9CBA-39A0A411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14600"/>
            <a:ext cx="30861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1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# Variables</a:t>
            </a:r>
          </a:p>
          <a:p xmlns:a="http://schemas.openxmlformats.org/drawingml/2006/main">
            <a:pPr algn="l">
              <a:defRPr sz="51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1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self.x = {} # x[train.id, op.id]</a:t>
            </a:r>
          </a:p>
          <a:p xmlns:a="http://schemas.openxmlformats.org/drawingml/2006/main">
            <a:pPr algn="l">
              <a:defRPr sz="51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1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self.y = {} # y[train.id, op_a.id, op_b.id]</a:t>
            </a:r>
          </a:p>
          <a:p xmlns:a="http://schemas.openxmlformats.org/drawingml/2006/main">
            <a:pPr algn="l">
              <a:defRPr sz="51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1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self.t = {} # t[train.id, op.id]</a:t>
            </a:r>
          </a:p>
          <a:p xmlns:a="http://schemas.openxmlformats.org/drawingml/2006/main">
            <a:pPr algn="l">
              <a:defRPr sz="51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1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self.u = {} # u[train.id, op.id]</a:t>
            </a:r>
          </a:p>
          <a:p xmlns:a="http://schemas.openxmlformats.org/drawingml/2006/main">
            <a:pPr algn="l">
              <a:defRPr sz="51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1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self.z = {} # z[t1, o1, t2, o2]</a:t>
            </a:r>
          </a:p>
          <a:p xmlns:a="http://schemas.openxmlformats.org/drawingml/2006/main">
            <a:pPr algn="l">
              <a:defRPr sz="51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1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self.z_ba = {} # z_ba tracking</a:t>
            </a:r>
          </a:p>
          <a:p xmlns:a="http://schemas.openxmlformats.org/drawingml/2006/main">
            <a:pPr algn="l">
              <a:defRPr sz="51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1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self.v = {} # v[c_idx]</a:t>
            </a:r>
          </a:p>
          <a:p xmlns:a="http://schemas.openxmlformats.org/drawingml/2006/main">
            <a:pPr algn="l">
              <a:defRPr sz="51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1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self.w = {} # w[c_idx]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51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1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self._build_model()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51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1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def _build_model(self):</a:t>
            </a:r>
          </a:p>
          <a:p xmlns:a="http://schemas.openxmlformats.org/drawingml/2006/main">
            <a:pPr algn="l">
              <a:defRPr sz="51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1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# 1. Variables</a:t>
            </a:r>
          </a:p>
          <a:p xmlns:a="http://schemas.openxmlformats.org/drawingml/2006/main">
            <a:pPr algn="l">
              <a:defRPr sz="51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1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for train in self.instance.trains:</a:t>
            </a:r>
          </a:p>
          <a:p xmlns:a="http://schemas.openxmlformats.org/drawingml/2006/main">
            <a:pPr algn="l">
              <a:defRPr sz="51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1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for op in train.operations:</a:t>
            </a:r>
          </a:p>
          <a:p xmlns:a="http://schemas.openxmlformats.org/drawingml/2006/main">
            <a:pPr algn="l">
              <a:defRPr sz="51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1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# Variable x_i,a (1 if operation is selected)</a:t>
            </a:r>
          </a:p>
          <a:p xmlns:a="http://schemas.openxmlformats.org/drawingml/2006/main">
            <a:pPr algn="l">
              <a:defRPr sz="51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1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self.x[train.id, op.id] = self.model.addVar(vtype=GRB.BINARY, name=f"x_{train.id}_{op.id}")</a:t>
            </a:r>
          </a:p>
          <a:p xmlns:a="http://schemas.openxmlformats.org/drawingml/2006/main">
            <a:pPr algn="l">
              <a:defRPr sz="51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1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</a:t>
            </a:r>
          </a:p>
          <a:p xmlns:a="http://schemas.openxmlformats.org/drawingml/2006/main">
            <a:pPr algn="l">
              <a:defRPr sz="51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1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# Variable t_i,a (start time)</a:t>
            </a:r>
          </a:p>
          <a:p xmlns:a="http://schemas.openxmlformats.org/drawingml/2006/main">
            <a:pPr algn="l">
              <a:defRPr sz="51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1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ub = op.start_ub if op.start_ub is not None and op.start_ub &lt; float('inf') else GRB.INFINITY</a:t>
            </a:r>
          </a:p>
          <a:p xmlns:a="http://schemas.openxmlformats.org/drawingml/2006/main">
            <a:pPr algn="l">
              <a:defRPr sz="51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1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self.t[train.id, op.id] = self.model.addVar(lb=op.start_lb, ub=ub, vtype=GRB.CONTINUOUS, name=f"t_{train.id}_{op.id}")</a:t>
            </a:r>
          </a:p>
          <a:p xmlns:a="http://schemas.openxmlformats.org/drawingml/2006/main">
            <a:pPr algn="l">
              <a:defRPr sz="51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1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</a:t>
            </a:r>
          </a:p>
          <a:p xmlns:a="http://schemas.openxmlformats.org/drawingml/2006/main">
            <a:pPr algn="l">
              <a:defRPr sz="51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1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# Variable u_i,a (ordering logic)</a:t>
            </a:r>
          </a:p>
          <a:p xmlns:a="http://schemas.openxmlformats.org/drawingml/2006/main">
            <a:pPr algn="l">
              <a:defRPr sz="51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1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self.u[train.id, op.id] = self.model.addVar(lb=0, vtype=GRB.CONTINUOUS, name=f"u_{train.id}_{op.id}")</a:t>
            </a:r>
          </a:p>
          <a:p xmlns:a="http://schemas.openxmlformats.org/drawingml/2006/main">
            <a:pPr algn="l">
              <a:defRPr sz="51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1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</a:t>
            </a:r>
          </a:p>
          <a:p xmlns:a="http://schemas.openxmlformats.org/drawingml/2006/main">
            <a:pPr algn="l">
              <a:defRPr sz="51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1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# Variable y_i,a,b (1 if operation b immediately follows a)</a:t>
            </a:r>
          </a:p>
          <a:p xmlns:a="http://schemas.openxmlformats.org/drawingml/2006/main">
            <a:pPr algn="l">
              <a:defRPr sz="51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1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for succ in op.successors:</a:t>
            </a:r>
          </a:p>
          <a:p xmlns:a="http://schemas.openxmlformats.org/drawingml/2006/main">
            <a:pPr algn="l">
              <a:defRPr sz="51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1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self.y[train.id, op.id, succ] = self.model.addVar(vtype=GRB.BINARY, name=f"y_{train.id}_{op.id}_{succ}")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307BA2-7054-4CD0-80E4-9BC1484F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71700"/>
            <a:ext cx="331470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E19511-6FC7-4112-9AB2-432CDDE0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71700"/>
            <a:ext cx="3314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713914-C5F2-462F-88C1-BADF32EA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28850"/>
            <a:ext cx="3086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2D7A57"/>
                </a:solidFill>
                <a:latin typeface="Aptos"/>
                <a:ea typeface="Aptos"/>
                <a:cs typeface="Aptos"/>
              </a:defRPr>
            </a:pPr>
            <a:r>
              <a:rPr sz="607" b="1">
                <a:solidFill>
                  <a:srgbClr val="2D7A57"/>
                </a:solidFill>
                <a:latin typeface="Aptos"/>
                <a:ea typeface="Aptos"/>
                <a:cs typeface="Aptos"/>
              </a:rPr>
              <a:t>phase2_extend/src/cp_model.py:16-67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098B8B-B658-4AAE-87C2-5D77D4EC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14600"/>
            <a:ext cx="308610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# Core CP Variables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self.x = {}  # x[train_id, op_id]: Boolean, 1 if operation is selected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self.y = {}  # y[train_id, op_a, op_b]: Boolean, 1 if sequence A -&gt; B is taken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self.u = {}  # u[train_id, op_id]: Integer, topological sequence rank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self.starts = {}   # starts[train_id, op_id]: Integer, start time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self.durations = {} # durations[train_id, op_id]: Integer, duration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self.ends = {}     # ends[train_id, op_id]: Integer, end time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self.status = None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self.obj_val = float('inf')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# Use a scaling factor since CP-SAT only supports integers, but cost coefficients might be floats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self.COEFF_SCALE = 1000 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self._build_model()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def _build_model(self):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resource_intervals = {} # {resource_name: [list of extended IntervalVars]}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obj_costs = [] # List of integer cost variables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# -----------------------------------------------------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# 1. Variables &amp; Interval Construction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# -----------------------------------------------------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for train in self.instance.trains: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for op in train.operations: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t_id = train.id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o_id = op.id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# Active boolean var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self.x[t_id, o_id] = self.model.NewBoolVar(f"x_{t_id}_{o_id}")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self.u[t_id, o_id] = self.model.NewIntVar(0, sum(len(tr.operations) for tr in self.instance.trains), f"u_{t_id}_{o_id}")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# Time bounds mapping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lb = max(0, int(op.start_lb))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ub_val = op.start_ub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ub = self.horizon if (ub_val is None or ub_val == float('inf')) else min(self.horizon, int(ub_val))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if ub &lt; lb: ub = lb # Safety fallback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self.starts[t_id, o_id] = self.model.NewIntVar(lb, ub, f"st_{t_id}_{o_id}")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self.durations[t_id, o_id] = self.model.NewIntVar(int(op.min_duration), self.horizon, f"dur_{t_id}_{o_id}")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self.ends[t_id, o_id] = self.model.NewIntVar(lb + int(op.min_duration), self.horizon + self.horizon, f"end_{t_id}_{o_id}")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# The heart of CP: Optional Interval Variable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iv = self.model.NewOptionalIntervalVar(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self.starts[t_id, o_id], 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self.durations[t_id, o_id], 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self.ends[t_id, o_id], 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self.x[t_id, o_id], 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f"iv_{t_id}_{o_id}"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00CC68-75BC-4DD6-815E-CD0B889B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C063A2-A06B-49CB-83EA-233D127B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585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Gurobi nutzt addVar; CP-SAT nutzt BoolVar, IntVar und optionale Intervalle.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956558-BACB-4B4F-8019-F9905426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985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1708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27892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B7B22E-3197-4D1A-8CBA-CCBCE763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6E8760-6369-4586-8B8A-C49BB4F0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47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44074A-0869-404F-8514-A24CAF94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17083"/>
                </a:solidFill>
                <a:latin typeface="Aptos"/>
                <a:ea typeface="Aptos"/>
                <a:cs typeface="Aptos"/>
              </a:rPr>
              <a:t>VERBATIM CODE MAP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46F1F9-60A9-40A2-A51B-F88A86B1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33450"/>
            <a:ext cx="971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1A24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121A24"/>
                </a:solidFill>
                <a:latin typeface="Georgia"/>
                <a:ea typeface="Georgia"/>
                <a:cs typeface="Georgia"/>
              </a:rPr>
              <a:t>Die Routenlogik steckt direkt in den Flow-Constraints.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6294FE-D5F1-4CD7-B02B-2D10DEA7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Ein Zug muss vom Eingang zum Ausgang laufen, ohne in Zwischenknoten zu verschwinden.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219C42-6749-4E86-BBC4-EE84FFD4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16EE6B-3FDE-468A-9FAE-D0DFBF65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A33A2A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A33A2A"/>
                </a:solidFill>
                <a:latin typeface="Aptos"/>
                <a:ea typeface="Aptos"/>
                <a:cs typeface="Aptos"/>
              </a:rPr>
              <a:t>Mathematische Formulierung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6720DE-EFC6-41BB-BB67-6DA44B7D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240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9A0447-A450-4AC3-9E86-4E89DAA5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8595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1E5B87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1E5B87"/>
                </a:solidFill>
                <a:latin typeface="Aptos"/>
                <a:ea typeface="Aptos"/>
                <a:cs typeface="Aptos"/>
              </a:rPr>
              <a:t>Baseline-Code (Gurobi/MIP)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9EC3E2-EDC1-4045-8A61-144BEB0E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240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7FCCA4-FFD2-4511-A2AC-731A2BBEA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8595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2D7A57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2D7A57"/>
                </a:solidFill>
                <a:latin typeface="Aptos"/>
                <a:ea typeface="Aptos"/>
                <a:cs typeface="Aptos"/>
              </a:rPr>
              <a:t>Extended-Code (CP-SAT)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9BB786-29D8-4816-9F54-8B06015C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885950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0DA3E0-FACD-490C-A56C-572E11B7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885950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EAAABD-BD53-42F3-9978-35A512E2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32194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CD3C4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cbb6a602c74463"/>
          <a:stretch xmlns:a="http://schemas.openxmlformats.org/drawingml/2006/main"/>
        </p:blipFill>
        <p:spPr>
          <a:xfrm xmlns:a="http://schemas.openxmlformats.org/drawingml/2006/main">
            <a:off x="647700" y="2714076"/>
            <a:ext cx="2990850" cy="1258398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E484B6-15DB-4ED4-BDE5-CDD5C235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24350"/>
            <a:ext cx="2990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48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548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Paper Gl. (1): Routing-Constraints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AE477D-0CB2-4E27-AD82-80F3BC86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3219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0478">
            <a:solidFill>
              <a:srgbClr val="A33A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11686E-7D51-4DB7-8500-4CFBC67D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2990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1">
                <a:solidFill>
                  <a:srgbClr val="A33A2A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A33A2A"/>
                </a:solidFill>
                <a:latin typeface="Aptos"/>
                <a:ea typeface="Aptos"/>
                <a:cs typeface="Aptos"/>
              </a:rPr>
              <a:t>SPRECHPUNKT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3C8D89-EC80-418F-9C4A-096E3081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67300"/>
            <a:ext cx="2990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21A24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121A24"/>
                </a:solidFill>
                <a:latin typeface="Aptos"/>
                <a:ea typeface="Aptos"/>
                <a:cs typeface="Aptos"/>
              </a:rPr>
              <a:t>Am Eingang geht genau ein Weg raus. Am Ausgang kommt genau ein Weg rein. In der Mitte gilt: rein gleich raus.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7771EB-5328-4394-B7E4-EB814B7B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71700"/>
            <a:ext cx="33147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4FBBC6-4D1C-4402-AACA-107948CC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71700"/>
            <a:ext cx="3314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03B35D-C8C5-4024-BD8B-65ABE8A5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28850"/>
            <a:ext cx="3086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1E5B87"/>
                </a:solidFill>
                <a:latin typeface="Aptos"/>
                <a:ea typeface="Aptos"/>
                <a:cs typeface="Aptos"/>
              </a:defRPr>
            </a:pPr>
            <a:r>
              <a:rPr sz="607" b="1">
                <a:solidFill>
                  <a:srgbClr val="1E5B87"/>
                </a:solidFill>
                <a:latin typeface="Aptos"/>
                <a:ea typeface="Aptos"/>
                <a:cs typeface="Aptos"/>
              </a:rPr>
              <a:t>phase1_baseline/src/mip_model.py:70-102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E6424B-ABD9-4BEF-AC4E-8B31E9C6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14600"/>
            <a:ext cx="308610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# A) Flow constraints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for train in self.instance.trains: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entries = [op.id for op in train.operations if len(predecessors[train.id][op.id]) == 0]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exits = [op.id for op in train.operations if len(op.successors) == 0]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# Flow leaving entry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for entry in entries: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op = train.get_operation(entry)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self.model.addConstr(gp.quicksum(self.y[train.id, entry, succ] for succ in op.successors) == 1)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self.model.addConstr(self.x[train.id, entry] == 1)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# Flow entering exit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for exit in exits: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self.model.addConstr(gp.quicksum(self.y[train.id, pred, exit] for pred in predecessors[train.id][exit]) == 1)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self.model.addConstr(self.x[train.id, exit] == 1)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# Flow conservation for intermediate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for op in train.operations: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if op.id not in entries and op.id not in exits: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sum_in = gp.quicksum(self.y[train.id, pred, op.id] for pred in predecessors[train.id][op.id])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sum_out = gp.quicksum(self.y[train.id, op.id, succ] for succ in op.successors)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self.model.addConstr(sum_in == sum_out)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self.model.addConstr(sum_in == self.x[train.id, op.id])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# Logical y relates to x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for op in train.operations: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for succ in op.successors: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self.model.addConstr(self.y[train.id, op.id, succ] &lt;= self.x[train.id, op.id])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self.model.addConstr(self.y[train.id, op.id, succ] &lt;= self.x[train.id, succ])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self.model.addConstr(self.x[train.id, op.id] + self.x[train.id, succ] - 1 &lt;= self.y[train.id, op.id, succ])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# Duration minimum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self.model.addConstr(self.t[train.id, succ] - self.t[train.id, op.id] &gt;= op.min_duration * self.y[train.id, op.id, succ])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9570B4-CA20-4D74-9BCB-AC65ABCE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71700"/>
            <a:ext cx="33147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7FF7C1-4B75-4D2F-B887-056AEEBC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71700"/>
            <a:ext cx="3314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BA931A-EC56-4C52-BAD8-DBE5BF94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28850"/>
            <a:ext cx="3086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2D7A57"/>
                </a:solidFill>
                <a:latin typeface="Aptos"/>
                <a:ea typeface="Aptos"/>
                <a:cs typeface="Aptos"/>
              </a:defRPr>
            </a:pPr>
            <a:r>
              <a:rPr sz="607" b="1">
                <a:solidFill>
                  <a:srgbClr val="2D7A57"/>
                </a:solidFill>
                <a:latin typeface="Aptos"/>
                <a:ea typeface="Aptos"/>
                <a:cs typeface="Aptos"/>
              </a:rPr>
              <a:t>phase2_extend/src/cp_model.py:156-188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D030FB-B8F2-473D-9862-880DA57E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14600"/>
            <a:ext cx="308610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46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6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# 3. Flow Constraints (Entering &amp; Leaving)</a:t>
            </a:r>
          </a:p>
          <a:p xmlns:a="http://schemas.openxmlformats.org/drawingml/2006/main">
            <a:pPr algn="l">
              <a:defRPr sz="446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6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# -----------------------------------------------------</a:t>
            </a:r>
          </a:p>
          <a:p xmlns:a="http://schemas.openxmlformats.org/drawingml/2006/main">
            <a:pPr algn="l">
              <a:defRPr sz="446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6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predecessors = {train.id: {op.id: [] for op in train.operations} for train in self.instance.trains}</a:t>
            </a:r>
          </a:p>
          <a:p xmlns:a="http://schemas.openxmlformats.org/drawingml/2006/main">
            <a:pPr algn="l">
              <a:defRPr sz="446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6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for train in self.instance.trains:</a:t>
            </a:r>
          </a:p>
          <a:p xmlns:a="http://schemas.openxmlformats.org/drawingml/2006/main">
            <a:pPr algn="l">
              <a:defRPr sz="446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6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for op in train.operations:</a:t>
            </a:r>
          </a:p>
          <a:p xmlns:a="http://schemas.openxmlformats.org/drawingml/2006/main">
            <a:pPr algn="l">
              <a:defRPr sz="446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6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for succ in op.successors:</a:t>
            </a:r>
          </a:p>
          <a:p xmlns:a="http://schemas.openxmlformats.org/drawingml/2006/main">
            <a:pPr algn="l">
              <a:defRPr sz="446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6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predecessors[train.id][succ].append(op.id)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446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6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for train in self.instance.trains:</a:t>
            </a:r>
          </a:p>
          <a:p xmlns:a="http://schemas.openxmlformats.org/drawingml/2006/main">
            <a:pPr algn="l">
              <a:defRPr sz="446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6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t_id = train.id</a:t>
            </a:r>
          </a:p>
          <a:p xmlns:a="http://schemas.openxmlformats.org/drawingml/2006/main">
            <a:pPr algn="l">
              <a:defRPr sz="446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6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</a:t>
            </a:r>
          </a:p>
          <a:p xmlns:a="http://schemas.openxmlformats.org/drawingml/2006/main">
            <a:pPr algn="l">
              <a:defRPr sz="446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6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starts_idx = [op.id for op in train.operations if len(predecessors[t_id][op.id]) == 0]</a:t>
            </a:r>
          </a:p>
          <a:p xmlns:a="http://schemas.openxmlformats.org/drawingml/2006/main">
            <a:pPr algn="l">
              <a:defRPr sz="446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6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ends_idx = [op.id for op in train.operations if len(op.successors) == 0]</a:t>
            </a:r>
          </a:p>
          <a:p xmlns:a="http://schemas.openxmlformats.org/drawingml/2006/main">
            <a:pPr algn="l">
              <a:defRPr sz="446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6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</a:t>
            </a:r>
          </a:p>
          <a:p xmlns:a="http://schemas.openxmlformats.org/drawingml/2006/main">
            <a:pPr algn="l">
              <a:defRPr sz="446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6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# Start Ops must be active (usually only 1 start)</a:t>
            </a:r>
          </a:p>
          <a:p xmlns:a="http://schemas.openxmlformats.org/drawingml/2006/main">
            <a:pPr algn="l">
              <a:defRPr sz="446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6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for o_idx in starts_idx:</a:t>
            </a:r>
          </a:p>
          <a:p xmlns:a="http://schemas.openxmlformats.org/drawingml/2006/main">
            <a:pPr algn="l">
              <a:defRPr sz="446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6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self.model.Add(self.x[t_id, o_idx] == 1)</a:t>
            </a:r>
          </a:p>
          <a:p xmlns:a="http://schemas.openxmlformats.org/drawingml/2006/main">
            <a:pPr algn="l">
              <a:defRPr sz="446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6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</a:t>
            </a:r>
          </a:p>
          <a:p xmlns:a="http://schemas.openxmlformats.org/drawingml/2006/main">
            <a:pPr algn="l">
              <a:defRPr sz="446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6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# End Ops must be active (usually only 1 end)</a:t>
            </a:r>
          </a:p>
          <a:p xmlns:a="http://schemas.openxmlformats.org/drawingml/2006/main">
            <a:pPr algn="l">
              <a:defRPr sz="446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6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for o_idx in ends_idx:</a:t>
            </a:r>
          </a:p>
          <a:p xmlns:a="http://schemas.openxmlformats.org/drawingml/2006/main">
            <a:pPr algn="l">
              <a:defRPr sz="446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6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self.model.Add(self.x[t_id, o_idx] == 1)</a:t>
            </a:r>
          </a:p>
          <a:p xmlns:a="http://schemas.openxmlformats.org/drawingml/2006/main">
            <a:pPr algn="l">
              <a:defRPr sz="446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6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</a:t>
            </a:r>
          </a:p>
          <a:p xmlns:a="http://schemas.openxmlformats.org/drawingml/2006/main">
            <a:pPr algn="l">
              <a:defRPr sz="446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6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for op in train.operations:</a:t>
            </a:r>
          </a:p>
          <a:p xmlns:a="http://schemas.openxmlformats.org/drawingml/2006/main">
            <a:pPr algn="l">
              <a:defRPr sz="446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6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o_id = op.id</a:t>
            </a:r>
          </a:p>
          <a:p xmlns:a="http://schemas.openxmlformats.org/drawingml/2006/main">
            <a:pPr algn="l">
              <a:defRPr sz="446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6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</a:t>
            </a:r>
          </a:p>
          <a:p xmlns:a="http://schemas.openxmlformats.org/drawingml/2006/main">
            <a:pPr algn="l">
              <a:defRPr sz="446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6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# Flow OUT: sum_out == x</a:t>
            </a:r>
          </a:p>
          <a:p xmlns:a="http://schemas.openxmlformats.org/drawingml/2006/main">
            <a:pPr algn="l">
              <a:defRPr sz="446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6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if o_id not in ends_idx:</a:t>
            </a:r>
          </a:p>
          <a:p xmlns:a="http://schemas.openxmlformats.org/drawingml/2006/main">
            <a:pPr algn="l">
              <a:defRPr sz="446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6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self.model.Add(sum(self.y[t_id, o_id, succ] for succ in op.successors) == self.x[t_id, o_id])</a:t>
            </a:r>
          </a:p>
          <a:p xmlns:a="http://schemas.openxmlformats.org/drawingml/2006/main">
            <a:pPr algn="l">
              <a:defRPr sz="446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6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</a:t>
            </a:r>
          </a:p>
          <a:p xmlns:a="http://schemas.openxmlformats.org/drawingml/2006/main">
            <a:pPr algn="l">
              <a:defRPr sz="446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6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# Flow IN: sum_in == x</a:t>
            </a:r>
          </a:p>
          <a:p xmlns:a="http://schemas.openxmlformats.org/drawingml/2006/main">
            <a:pPr algn="l">
              <a:defRPr sz="446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6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if o_id not in starts_idx:</a:t>
            </a:r>
          </a:p>
          <a:p xmlns:a="http://schemas.openxmlformats.org/drawingml/2006/main">
            <a:pPr algn="l">
              <a:defRPr sz="446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6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preds = predecessors[t_id][o_id]</a:t>
            </a:r>
          </a:p>
          <a:p xmlns:a="http://schemas.openxmlformats.org/drawingml/2006/main">
            <a:pPr algn="l">
              <a:defRPr sz="446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6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self.model.Add(sum(self.y[t_id, p, o_id] for p in preds) == self.x[t_id, o_id])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23E495-EA06-4721-8395-6691B80F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7C5482-0D08-45DB-868F-89CBC9DF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585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Diese Folie ist der direkte Code-Gegenpart zu Gleichung (1).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D9B743-5664-4541-92F9-A8C7032E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985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1708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4595093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E0CA33-1A45-4578-9CC8-AF3B6F2A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91E708-D1EF-404B-98FF-A4EDE837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47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42D279-37D7-4DAC-8B78-36A38DBA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17083"/>
                </a:solidFill>
                <a:latin typeface="Aptos"/>
                <a:ea typeface="Aptos"/>
                <a:cs typeface="Aptos"/>
              </a:rPr>
              <a:t>VERBATIM CODE MAP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39AC36-A626-4CC3-A660-F94F4C35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33450"/>
            <a:ext cx="971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1A24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121A24"/>
                </a:solidFill>
                <a:latin typeface="Georgia"/>
                <a:ea typeface="Georgia"/>
                <a:cs typeface="Georgia"/>
              </a:rPr>
              <a:t>Zeitfenster und Mindestdauern stehen an zwei Code-Stellen.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8BCD14-F6BE-459E-9AA8-3783B547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Im MIP gibt es Startzeiten; im CP-SAT Modell gibt es Start, Dauer, Ende und Intervalle.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072A1-6D93-4305-AFAC-49CD9944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66748D-E754-4019-91CD-C0F9AC8B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A33A2A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A33A2A"/>
                </a:solidFill>
                <a:latin typeface="Aptos"/>
                <a:ea typeface="Aptos"/>
                <a:cs typeface="Aptos"/>
              </a:rPr>
              <a:t>Mathematische Formulierung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11AC9E-FCD3-4B2A-954C-271B2F03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240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BEDB6D-083A-4F1E-8308-C1D6E98E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8595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1E5B87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1E5B87"/>
                </a:solidFill>
                <a:latin typeface="Aptos"/>
                <a:ea typeface="Aptos"/>
                <a:cs typeface="Aptos"/>
              </a:rPr>
              <a:t>Baseline-Code (Gurobi/MIP)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DDD3B0-40B1-413E-AE26-0E35CE4D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240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0F07D6-7271-4507-A1AF-5B627EA9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8595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2D7A57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2D7A57"/>
                </a:solidFill>
                <a:latin typeface="Aptos"/>
                <a:ea typeface="Aptos"/>
                <a:cs typeface="Aptos"/>
              </a:rPr>
              <a:t>Extended-Code (CP-SAT)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8B0B18-C9D9-435D-B544-4F1DEB6E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885950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38F4D2-6692-4BA3-8FC7-E1051059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885950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1D5237-4830-4638-B849-63B70BE9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32194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CD3C4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e3a2f2e97e4ad9"/>
          <a:stretch xmlns:a="http://schemas.openxmlformats.org/drawingml/2006/main"/>
        </p:blipFill>
        <p:spPr>
          <a:xfrm xmlns:a="http://schemas.openxmlformats.org/drawingml/2006/main">
            <a:off x="647700" y="2747908"/>
            <a:ext cx="2990850" cy="790684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D3DA82-0FB7-416C-9498-71D0276A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24300"/>
            <a:ext cx="2990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48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548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Problemdefinition: Zeitfenster und Dauer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41A52E-D792-4455-A2B7-B49A3C23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0"/>
            <a:ext cx="32194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0478">
            <a:solidFill>
              <a:srgbClr val="A33A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BCD1F7-8CF9-4D45-85F7-582E7D9E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0"/>
            <a:ext cx="2990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1">
                <a:solidFill>
                  <a:srgbClr val="A33A2A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A33A2A"/>
                </a:solidFill>
                <a:latin typeface="Aptos"/>
                <a:ea typeface="Aptos"/>
                <a:cs typeface="Aptos"/>
              </a:rPr>
              <a:t>SPRECHPUNKT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0E8FA9-5FCB-48C5-8F4A-2A36A046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29908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21A24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121A24"/>
                </a:solidFill>
                <a:latin typeface="Aptos"/>
                <a:ea typeface="Aptos"/>
                <a:cs typeface="Aptos"/>
              </a:rPr>
              <a:t>Die untere und obere Schranke kommen beim Erzeugen von `t`. Die Mindestdauer kommt später als Constraint zwischen Vorgänger und Nachfolger.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CA71F9-F630-4495-83D6-30D5366E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71700"/>
            <a:ext cx="33147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33155D-A365-40CC-8B06-E9C5BD36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71700"/>
            <a:ext cx="3314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CDBF85-C876-4D09-988F-EB7FBE26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28850"/>
            <a:ext cx="3086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1E5B87"/>
                </a:solidFill>
                <a:latin typeface="Aptos"/>
                <a:ea typeface="Aptos"/>
                <a:cs typeface="Aptos"/>
              </a:defRPr>
            </a:pPr>
            <a:r>
              <a:rPr sz="607" b="1">
                <a:solidFill>
                  <a:srgbClr val="1E5B87"/>
                </a:solidFill>
                <a:latin typeface="Aptos"/>
                <a:ea typeface="Aptos"/>
                <a:cs typeface="Aptos"/>
              </a:rPr>
              <a:t>mip_model.py:32-34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98BB11-4A35-49D2-8F9A-75941B89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14600"/>
            <a:ext cx="3086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4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# Variable t_i,a (start time)</a:t>
            </a:r>
          </a:p>
          <a:p xmlns:a="http://schemas.openxmlformats.org/drawingml/2006/main">
            <a:pPr algn="l">
              <a:defRPr sz="54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4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ub = op.start_ub if op.start_ub is not None and op.start_ub &lt; float('inf') else GRB.INFINITY</a:t>
            </a:r>
          </a:p>
          <a:p xmlns:a="http://schemas.openxmlformats.org/drawingml/2006/main">
            <a:pPr algn="l">
              <a:defRPr sz="54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4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self.t[train.id, op.id] = self.model.addVar(lb=op.start_lb, ub=ub, vtype=GRB.CONTINUOUS, name=f"t_{train.id}_{op.id}")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643361-B649-481F-9193-CD03B489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95700"/>
            <a:ext cx="3314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83BE5A-C7E8-4074-898B-B4A18F6B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95700"/>
            <a:ext cx="3314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04CD32-1016-4119-8E6D-BE5C6850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52850"/>
            <a:ext cx="3086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1E5B87"/>
                </a:solidFill>
                <a:latin typeface="Aptos"/>
                <a:ea typeface="Aptos"/>
                <a:cs typeface="Aptos"/>
              </a:defRPr>
            </a:pPr>
            <a:r>
              <a:rPr sz="607" b="1">
                <a:solidFill>
                  <a:srgbClr val="1E5B87"/>
                </a:solidFill>
                <a:latin typeface="Aptos"/>
                <a:ea typeface="Aptos"/>
                <a:cs typeface="Aptos"/>
              </a:rPr>
              <a:t>mip_model.py:101-102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C6B86E-8328-403E-83A7-D4CB6B9F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38600"/>
            <a:ext cx="30861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4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# Duration minimum</a:t>
            </a:r>
          </a:p>
          <a:p xmlns:a="http://schemas.openxmlformats.org/drawingml/2006/main">
            <a:pPr algn="l">
              <a:defRPr sz="54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4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self.model.addConstr(self.t[train.id, succ] - self.t[train.id, op.id] &gt;= op.min_duration * self.y[train.id, op.id, succ])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DA7A24-AD29-4CF3-9C9A-195C639D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71700"/>
            <a:ext cx="33147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746325-EDB6-4270-8B6F-65F07289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71700"/>
            <a:ext cx="3314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364B5A-44FE-4D0E-AF99-FE474371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28850"/>
            <a:ext cx="3086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2D7A57"/>
                </a:solidFill>
                <a:latin typeface="Aptos"/>
                <a:ea typeface="Aptos"/>
                <a:cs typeface="Aptos"/>
              </a:defRPr>
            </a:pPr>
            <a:r>
              <a:rPr sz="607" b="1">
                <a:solidFill>
                  <a:srgbClr val="2D7A57"/>
                </a:solidFill>
                <a:latin typeface="Aptos"/>
                <a:ea typeface="Aptos"/>
                <a:cs typeface="Aptos"/>
              </a:rPr>
              <a:t>cp_model.py:50-67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FD30DF-E36B-4A69-99B5-B43667BD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14600"/>
            <a:ext cx="30861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8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8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# Time bounds mapping</a:t>
            </a:r>
          </a:p>
          <a:p xmlns:a="http://schemas.openxmlformats.org/drawingml/2006/main">
            <a:pPr algn="l">
              <a:defRPr sz="458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8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lb = max(0, int(op.start_lb))</a:t>
            </a:r>
          </a:p>
          <a:p xmlns:a="http://schemas.openxmlformats.org/drawingml/2006/main">
            <a:pPr algn="l">
              <a:defRPr sz="458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8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ub_val = op.start_ub</a:t>
            </a:r>
          </a:p>
          <a:p xmlns:a="http://schemas.openxmlformats.org/drawingml/2006/main">
            <a:pPr algn="l">
              <a:defRPr sz="458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8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ub = self.horizon if (ub_val is None or ub_val == float('inf')) else min(self.horizon, int(ub_val))</a:t>
            </a:r>
          </a:p>
          <a:p xmlns:a="http://schemas.openxmlformats.org/drawingml/2006/main">
            <a:pPr algn="l">
              <a:defRPr sz="458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8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if ub &lt; lb: ub = lb # Safety fallback</a:t>
            </a:r>
          </a:p>
          <a:p xmlns:a="http://schemas.openxmlformats.org/drawingml/2006/main">
            <a:pPr algn="l">
              <a:defRPr sz="458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8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</a:t>
            </a:r>
          </a:p>
          <a:p xmlns:a="http://schemas.openxmlformats.org/drawingml/2006/main">
            <a:pPr algn="l">
              <a:defRPr sz="458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8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self.starts[t_id, o_id] = self.model.NewIntVar(lb, ub, f"st_{t_id}_{o_id}")</a:t>
            </a:r>
          </a:p>
          <a:p xmlns:a="http://schemas.openxmlformats.org/drawingml/2006/main">
            <a:pPr algn="l">
              <a:defRPr sz="458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8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self.durations[t_id, o_id] = self.model.NewIntVar(int(op.min_duration), self.horizon, f"dur_{t_id}_{o_id}")</a:t>
            </a:r>
          </a:p>
          <a:p xmlns:a="http://schemas.openxmlformats.org/drawingml/2006/main">
            <a:pPr algn="l">
              <a:defRPr sz="458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8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self.ends[t_id, o_id] = self.model.NewIntVar(lb + int(op.min_duration), self.horizon + self.horizon, f"end_{t_id}_{o_id}")</a:t>
            </a:r>
          </a:p>
          <a:p xmlns:a="http://schemas.openxmlformats.org/drawingml/2006/main">
            <a:pPr algn="l">
              <a:defRPr sz="458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8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</a:t>
            </a:r>
          </a:p>
          <a:p xmlns:a="http://schemas.openxmlformats.org/drawingml/2006/main">
            <a:pPr algn="l">
              <a:defRPr sz="458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8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# The heart of CP: Optional Interval Variable</a:t>
            </a:r>
          </a:p>
          <a:p xmlns:a="http://schemas.openxmlformats.org/drawingml/2006/main">
            <a:pPr algn="l">
              <a:defRPr sz="458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8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iv = self.model.NewOptionalIntervalVar(</a:t>
            </a:r>
          </a:p>
          <a:p xmlns:a="http://schemas.openxmlformats.org/drawingml/2006/main">
            <a:pPr algn="l">
              <a:defRPr sz="458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8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self.starts[t_id, o_id], </a:t>
            </a:r>
          </a:p>
          <a:p xmlns:a="http://schemas.openxmlformats.org/drawingml/2006/main">
            <a:pPr algn="l">
              <a:defRPr sz="458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8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self.durations[t_id, o_id], </a:t>
            </a:r>
          </a:p>
          <a:p xmlns:a="http://schemas.openxmlformats.org/drawingml/2006/main">
            <a:pPr algn="l">
              <a:defRPr sz="458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8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self.ends[t_id, o_id], </a:t>
            </a:r>
          </a:p>
          <a:p xmlns:a="http://schemas.openxmlformats.org/drawingml/2006/main">
            <a:pPr algn="l">
              <a:defRPr sz="458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8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self.x[t_id, o_id], </a:t>
            </a:r>
          </a:p>
          <a:p xmlns:a="http://schemas.openxmlformats.org/drawingml/2006/main">
            <a:pPr algn="l">
              <a:defRPr sz="458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8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f"iv_{t_id}_{o_id}"</a:t>
            </a:r>
          </a:p>
          <a:p xmlns:a="http://schemas.openxmlformats.org/drawingml/2006/main">
            <a:pPr algn="l">
              <a:defRPr sz="458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8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F2FB1D-0F92-4054-8081-94664775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43400"/>
            <a:ext cx="33147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B157AD-C8A2-4989-8B8E-C973E48D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43400"/>
            <a:ext cx="3314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BE0844-7D49-42CF-B9BA-6C0F6F2B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00550"/>
            <a:ext cx="3086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2D7A57"/>
                </a:solidFill>
                <a:latin typeface="Aptos"/>
                <a:ea typeface="Aptos"/>
                <a:cs typeface="Aptos"/>
              </a:defRPr>
            </a:pPr>
            <a:r>
              <a:rPr sz="607" b="1">
                <a:solidFill>
                  <a:srgbClr val="2D7A57"/>
                </a:solidFill>
                <a:latin typeface="Aptos"/>
                <a:ea typeface="Aptos"/>
                <a:cs typeface="Aptos"/>
              </a:rPr>
              <a:t>cp_model.py:190-197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B42580-9748-4E6E-A5E6-51EC8CFE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686300"/>
            <a:ext cx="3086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# Precedences Time Logic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for succ in op.successors: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# IF y[op-&gt;succ] is true =&gt; start(succ) == end(op)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# This is critical: the train occupies the resource until it physically starts the next operation!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self.model.Add(self.starts[t_id, succ] == self.ends[t_id, o_id]).OnlyEnforceIf(self.y[t_id, o_id, succ])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# Strict topological rank progression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self.model.Add(self.u[t_id, succ] &gt;= self.u[t_id, o_id] + 1).OnlyEnforceIf(self.y[t_id, o_id, succ])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5A12B0-6336-4850-A883-F15094A7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EAE240-A8C1-439C-B4FE-05C9B425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585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Die Code-Boxen sind bewusst nicht gekürzt oder in Pseudocode umgeschrieben.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873AE3-5972-41D4-9974-CC7964A3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985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1708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9990846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442C8C-8E1A-4F62-B8B7-15B4D45B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62867A-CCB9-4059-8CD8-C524902C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47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702B0C-7679-4391-BB35-48D48BD9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17083"/>
                </a:solidFill>
                <a:latin typeface="Aptos"/>
                <a:ea typeface="Aptos"/>
                <a:cs typeface="Aptos"/>
              </a:rPr>
              <a:t>VERBATIM CODE MAP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F2B9C2-4012-4167-BC7C-890CB632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33450"/>
            <a:ext cx="971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1A24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121A24"/>
                </a:solidFill>
                <a:latin typeface="Georgia"/>
                <a:ea typeface="Georgia"/>
                <a:cs typeface="Georgia"/>
              </a:rPr>
              <a:t>Die Konfliktmenge A wird im Parser aus gemeinsamen Ressourcen gebaut.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0F1F05-E56E-4963-B6A7-977EF69F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Das Modell bekommt die Konfliktpaare also schon vorbereitet.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59CC57-852A-4B4A-9AF1-E876F1A1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76B379-EF49-41B5-A2DE-11939475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A33A2A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A33A2A"/>
                </a:solidFill>
                <a:latin typeface="Aptos"/>
                <a:ea typeface="Aptos"/>
                <a:cs typeface="Aptos"/>
              </a:rPr>
              <a:t>Mathematische Formulierung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66632F-6DB0-48D7-82E6-BC781D9D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240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B2C4E0-F30B-4422-8C46-C6338E77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8595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1E5B87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1E5B87"/>
                </a:solidFill>
                <a:latin typeface="Aptos"/>
                <a:ea typeface="Aptos"/>
                <a:cs typeface="Aptos"/>
              </a:rPr>
              <a:t>Baseline-Code (Gurobi/MIP)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3B86AB-C10E-4392-9AE3-00F344C7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240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C6CB46-3F95-45DC-A8D5-9E93EC52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8595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2D7A57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2D7A57"/>
                </a:solidFill>
                <a:latin typeface="Aptos"/>
                <a:ea typeface="Aptos"/>
                <a:cs typeface="Aptos"/>
              </a:rPr>
              <a:t>Extended-Code (CP-SAT)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6D5FDC-3E45-4BFB-A067-ECDEFF98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885950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2BEC1B-BB16-4BDD-9DFB-EE1D0D83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885950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D8F29E-2B20-4369-9D56-7D8BAD6D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32194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CD3C4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e3b55ade924ba0"/>
          <a:stretch xmlns:a="http://schemas.openxmlformats.org/drawingml/2006/main"/>
        </p:blipFill>
        <p:spPr>
          <a:xfrm xmlns:a="http://schemas.openxmlformats.org/drawingml/2006/main">
            <a:off x="647700" y="2767421"/>
            <a:ext cx="2990850" cy="256359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9127BF-E9BF-411D-9DB0-3B0B638E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19450"/>
            <a:ext cx="2990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48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548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Paper: Konfliktmenge 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21D490-8ABD-45AA-BD57-EB18DA3F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90950"/>
            <a:ext cx="32194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0478">
            <a:solidFill>
              <a:srgbClr val="A33A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1149C3-E2FF-46D7-9C27-C73174D6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2990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1">
                <a:solidFill>
                  <a:srgbClr val="A33A2A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A33A2A"/>
                </a:solidFill>
                <a:latin typeface="Aptos"/>
                <a:ea typeface="Aptos"/>
                <a:cs typeface="Aptos"/>
              </a:rPr>
              <a:t>SPRECHPUNKT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32435A-69B0-42B4-B1B5-036DF43BB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29908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21A24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121A24"/>
                </a:solidFill>
                <a:latin typeface="Aptos"/>
                <a:ea typeface="Aptos"/>
                <a:cs typeface="Aptos"/>
              </a:rPr>
              <a:t>Zwei Operationen stehen im Konflikt, wenn sie zu verschiedenen Zügen gehören, aber dieselbe Ressource benutzen.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776DC4-01E6-4ED1-95C6-CFE13091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71700"/>
            <a:ext cx="33147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FF66D2-F897-4E40-9446-0C7DE51F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71700"/>
            <a:ext cx="3314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D91EC0-581C-4E18-9B69-EADCDD27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28850"/>
            <a:ext cx="3086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1E5B87"/>
                </a:solidFill>
                <a:latin typeface="Aptos"/>
                <a:ea typeface="Aptos"/>
                <a:cs typeface="Aptos"/>
              </a:defRPr>
            </a:pPr>
            <a:r>
              <a:rPr sz="607" b="1">
                <a:solidFill>
                  <a:srgbClr val="1E5B87"/>
                </a:solidFill>
                <a:latin typeface="Aptos"/>
                <a:ea typeface="Aptos"/>
                <a:cs typeface="Aptos"/>
              </a:rPr>
              <a:t>phase1_baseline/src/data_parser.py:85-113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BD4EE9-E951-455F-A64F-94690D6C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14600"/>
            <a:ext cx="308610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def find_conflict_pairs(self) -&gt; List[Tuple[int, int, int, int, str, int, int]]: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"""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Returns pairs of operations from different trains that require the same resource.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Returns tuples of (train_i, op_a, train_j, op_b, resource, lambda_i, lambda_j)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for i &lt; j to avoid duplicate symmetric pairs.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"""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# Map resource -&gt; list of (train_idx, op_idx, release_time)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res_map = {}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for t in self.trains: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for op in t.operations: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for req in op.resources: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if req.resource not in res_map: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    res_map[req.resource] = []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res_map[req.resource].append((t.id, op.id, req.release_time))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conflicts = []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for res, usage_list in res_map.items():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for idx1 in range(len(usage_list)):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for idx2 in range(idx1 + 1, len(usage_list)):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t1, op1, l1 = usage_list[idx1]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t2, op2, l2 = usage_list[idx2]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if t1 != t2: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    # ensure t1 &lt; t2 for consistent ordering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    if t1 &gt; t2: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        conflicts.append((t2, op2, t1, op1, res, l2, l1))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    else: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        conflicts.append((t1, op1, t2, op2, res, l1, l2))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return list(set(conflicts))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9D9E04-9832-43B6-9C7D-CBFE0E8F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71700"/>
            <a:ext cx="33147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4A9AE1-1C16-4107-B54F-172D28EC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71700"/>
            <a:ext cx="3314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5BC52F-D3D2-4FDC-9E94-20AA9F8E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28850"/>
            <a:ext cx="3086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2D7A57"/>
                </a:solidFill>
                <a:latin typeface="Aptos"/>
                <a:ea typeface="Aptos"/>
                <a:cs typeface="Aptos"/>
              </a:defRPr>
            </a:pPr>
            <a:r>
              <a:rPr sz="607" b="1">
                <a:solidFill>
                  <a:srgbClr val="2D7A57"/>
                </a:solidFill>
                <a:latin typeface="Aptos"/>
                <a:ea typeface="Aptos"/>
                <a:cs typeface="Aptos"/>
              </a:rPr>
              <a:t>phase2_extend/src/data_parser.py:85-113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8ACC91-E1E0-4AC7-915F-F6D2F630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14600"/>
            <a:ext cx="308610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def find_conflict_pairs(self) -&gt; List[Tuple[int, int, int, int, str, int, int]]: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"""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Returns pairs of operations from different trains that require the same resource.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Returns tuples of (train_i, op_a, train_j, op_b, resource, lambda_i, lambda_j)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for i &lt; j to avoid duplicate symmetric pairs.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"""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# Map resource -&gt; list of (train_idx, op_idx, release_time)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res_map = {}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for t in self.trains: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for op in t.operations: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for req in op.resources: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if req.resource not in res_map: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    res_map[req.resource] = []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res_map[req.resource].append((t.id, op.id, req.release_time))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conflicts = []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for res, usage_list in res_map.items():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for idx1 in range(len(usage_list)):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for idx2 in range(idx1 + 1, len(usage_list)):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t1, op1, l1 = usage_list[idx1]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t2, op2, l2 = usage_list[idx2]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if t1 != t2: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    # ensure t1 &lt; t2 for consistent ordering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    if t1 &gt; t2: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        conflicts.append((t2, op2, t1, op1, res, l2, l1))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    else: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        conflicts.append((t1, op1, t2, op2, res, l1, l2))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return list(set(conflicts))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D23029-2409-418F-B20A-1709A5B9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2512C7-31AE-4B85-AE0A-6588CA6B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585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Die Parser-Logik ist in beiden Phasen gleich: Ressource scannen, Konfliktpaar erzeugen.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F917B0-4C37-40D6-AEBF-4CC8F102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985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1708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6951320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D2E711-7AC4-42F6-B04C-CCB2991F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32E739-5CDD-4370-ABE3-4A20F090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47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3A4A0B-D421-4AE3-ABCD-3A3722B2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17083"/>
                </a:solidFill>
                <a:latin typeface="Aptos"/>
                <a:ea typeface="Aptos"/>
                <a:cs typeface="Aptos"/>
              </a:rPr>
              <a:t>VERBATIM CODE MAP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449C5E-5804-4683-83E6-F670DD32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33450"/>
            <a:ext cx="971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1A24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121A24"/>
                </a:solidFill>
                <a:latin typeface="Georgia"/>
                <a:ea typeface="Georgia"/>
                <a:cs typeface="Georgia"/>
              </a:rPr>
              <a:t>Ressourcenkonflikte: Gurobi braucht Paarlogik, CP-SAT nutzt NoOverlap.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CA84BB-2AD5-4546-9AA1-ACABFA39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Das ist der wichtigste Grund, warum die beiden Codeblöcke so unterschiedlich aussehen.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556285-63BA-439D-B6B5-B1E035A4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EEC0ED-B8ED-4CBD-90B6-8039EA43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A33A2A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A33A2A"/>
                </a:solidFill>
                <a:latin typeface="Aptos"/>
                <a:ea typeface="Aptos"/>
                <a:cs typeface="Aptos"/>
              </a:rPr>
              <a:t>Mathematische Formulierung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E2A0C3-D7EA-4522-BF4B-850D2D4F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240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BA0346-B5B0-407F-A132-8178FC3F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8595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1E5B87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1E5B87"/>
                </a:solidFill>
                <a:latin typeface="Aptos"/>
                <a:ea typeface="Aptos"/>
                <a:cs typeface="Aptos"/>
              </a:rPr>
              <a:t>Baseline-Code (Gurobi/MIP)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C4F7B5-F0BF-4F7E-AE8A-C5B19779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240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13D665-E53E-4B7E-923C-2197D370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8595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2D7A57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2D7A57"/>
                </a:solidFill>
                <a:latin typeface="Aptos"/>
                <a:ea typeface="Aptos"/>
                <a:cs typeface="Aptos"/>
              </a:rPr>
              <a:t>Extended-Code (CP-SAT)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6AC405-20C6-41AA-B2C5-47BD257B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885950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0A1D3B-720F-45F4-BD5C-CBCBD8A1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885950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837A6A-8AFF-49C8-BEBB-0C0B2BBE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32194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CD3C4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70031f3af3444b"/>
          <a:stretch xmlns:a="http://schemas.openxmlformats.org/drawingml/2006/main"/>
        </p:blipFill>
        <p:spPr>
          <a:xfrm xmlns:a="http://schemas.openxmlformats.org/drawingml/2006/main">
            <a:off x="647700" y="2752474"/>
            <a:ext cx="2990850" cy="724403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43C437-ECC6-4A95-BE66-18B55BA1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67150"/>
            <a:ext cx="2990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48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548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Paper Gl. (2): Ressourcenreihenfolge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7B4874-6226-4087-87AE-BF119427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62450"/>
            <a:ext cx="32194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0478">
            <a:solidFill>
              <a:srgbClr val="A33A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0B2387-7EC6-4EE8-A720-44342E1A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57700"/>
            <a:ext cx="2990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1">
                <a:solidFill>
                  <a:srgbClr val="A33A2A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A33A2A"/>
                </a:solidFill>
                <a:latin typeface="Aptos"/>
                <a:ea typeface="Aptos"/>
                <a:cs typeface="Aptos"/>
              </a:rPr>
              <a:t>WARUM ANDERS?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1C39A2-FE7E-4E01-931B-CBA58695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29908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121A24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121A24"/>
                </a:solidFill>
                <a:latin typeface="Aptos"/>
                <a:ea typeface="Aptos"/>
                <a:cs typeface="Aptos"/>
              </a:rPr>
              <a:t>Gurobi löst ein MIP: dafür formulieren wir lineare und indicator constraints mit `z_ab` und `z_ba`. CP-SAT hat Scheduling-Intervalle und kann mit `AddNoOverlap` direkt sagen: nicht gleichzeitig.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481286-4556-48A5-B78B-6BCE37F8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71700"/>
            <a:ext cx="33147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35A1DB-8178-49BB-8411-AD404FC1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71700"/>
            <a:ext cx="3314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660E5E-FE3D-4ED2-84B1-DDEF21BC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28850"/>
            <a:ext cx="3086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1E5B87"/>
                </a:solidFill>
                <a:latin typeface="Aptos"/>
                <a:ea typeface="Aptos"/>
                <a:cs typeface="Aptos"/>
              </a:defRPr>
            </a:pPr>
            <a:r>
              <a:rPr sz="607" b="1">
                <a:solidFill>
                  <a:srgbClr val="1E5B87"/>
                </a:solidFill>
                <a:latin typeface="Aptos"/>
                <a:ea typeface="Aptos"/>
                <a:cs typeface="Aptos"/>
              </a:rPr>
              <a:t>mip_model.py:43-53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C8D34D-0535-42E4-9711-614ACCC7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14600"/>
            <a:ext cx="30861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# Resource Precedence z variables</a:t>
            </a:r>
          </a:p>
          <a:p xmlns:a="http://schemas.openxmlformats.org/drawingml/2006/main">
            <a:pPr algn="l">
              <a:defRPr sz="45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conflicts = self.instance.find_conflict_pairs()</a:t>
            </a:r>
          </a:p>
          <a:p xmlns:a="http://schemas.openxmlformats.org/drawingml/2006/main">
            <a:pPr algn="l">
              <a:defRPr sz="45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for c in conflicts:</a:t>
            </a:r>
          </a:p>
          <a:p xmlns:a="http://schemas.openxmlformats.org/drawingml/2006/main">
            <a:pPr algn="l">
              <a:defRPr sz="45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t1, o1, t2, o2, res, l1, l2 = c</a:t>
            </a:r>
          </a:p>
          <a:p xmlns:a="http://schemas.openxmlformats.org/drawingml/2006/main">
            <a:pPr algn="l">
              <a:defRPr sz="45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# z_ab (1 if t1_o1 precedes t2_o2)</a:t>
            </a:r>
          </a:p>
          <a:p xmlns:a="http://schemas.openxmlformats.org/drawingml/2006/main">
            <a:pPr algn="l">
              <a:defRPr sz="45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z_ab = self.model.addVar(vtype=GRB.BINARY, name=f"z_{t1}_{o1}_{t2}_{o2}_r_{res}")</a:t>
            </a:r>
          </a:p>
          <a:p xmlns:a="http://schemas.openxmlformats.org/drawingml/2006/main">
            <a:pPr algn="l">
              <a:defRPr sz="45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# z_ba (1 if t2_o2 precedes t1_o1)</a:t>
            </a:r>
          </a:p>
          <a:p xmlns:a="http://schemas.openxmlformats.org/drawingml/2006/main">
            <a:pPr algn="l">
              <a:defRPr sz="45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z_ba = self.model.addVar(vtype=GRB.BINARY, name=f"z_{t2}_{o2}_{t1}_{o1}_r_{res}")</a:t>
            </a:r>
          </a:p>
          <a:p xmlns:a="http://schemas.openxmlformats.org/drawingml/2006/main">
            <a:pPr algn="l">
              <a:defRPr sz="45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</a:t>
            </a:r>
          </a:p>
          <a:p xmlns:a="http://schemas.openxmlformats.org/drawingml/2006/main">
            <a:pPr algn="l">
              <a:defRPr sz="45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self.z[t1, o1, t2, o2, res] = z_ab</a:t>
            </a:r>
          </a:p>
          <a:p xmlns:a="http://schemas.openxmlformats.org/drawingml/2006/main">
            <a:pPr algn="l">
              <a:defRPr sz="45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self.z_ba[t1, o1, t2, o2, res] = z_ba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C9B468-5054-4412-9B72-62C85FD7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733800"/>
            <a:ext cx="33147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F8A8B7-8537-48CC-A23F-2ECBD447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733800"/>
            <a:ext cx="3314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78151A-2BCB-4245-811D-9AA7CDFF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90950"/>
            <a:ext cx="3086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1E5B87"/>
                </a:solidFill>
                <a:latin typeface="Aptos"/>
                <a:ea typeface="Aptos"/>
                <a:cs typeface="Aptos"/>
              </a:defRPr>
            </a:pPr>
            <a:r>
              <a:rPr sz="607" b="1">
                <a:solidFill>
                  <a:srgbClr val="1E5B87"/>
                </a:solidFill>
                <a:latin typeface="Aptos"/>
                <a:ea typeface="Aptos"/>
                <a:cs typeface="Aptos"/>
              </a:rPr>
              <a:t>mip_model.py:125-148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BB3BDD-10EF-44F1-AE58-B7DED350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76700"/>
            <a:ext cx="30861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0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self.model.addConstr(x_a &gt;= z_ab + z_ba)</a:t>
            </a:r>
          </a:p>
          <a:p xmlns:a="http://schemas.openxmlformats.org/drawingml/2006/main">
            <a:pPr algn="l">
              <a:defRPr sz="40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0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self.model.addConstr(x_b &gt;= z_ab + z_ba)</a:t>
            </a:r>
          </a:p>
          <a:p xmlns:a="http://schemas.openxmlformats.org/drawingml/2006/main">
            <a:pPr algn="l">
              <a:defRPr sz="40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0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self.model.addConstr(x_a + x_b - 1 &lt;= z_ab + z_ba)</a:t>
            </a:r>
          </a:p>
          <a:p xmlns:a="http://schemas.openxmlformats.org/drawingml/2006/main">
            <a:pPr algn="l">
              <a:defRPr sz="40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0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</a:t>
            </a:r>
          </a:p>
          <a:p xmlns:a="http://schemas.openxmlformats.org/drawingml/2006/main">
            <a:pPr algn="l">
              <a:defRPr sz="40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0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op_a = self.instance.trains[t1].get_operation(o1)</a:t>
            </a:r>
          </a:p>
          <a:p xmlns:a="http://schemas.openxmlformats.org/drawingml/2006/main">
            <a:pPr algn="l">
              <a:defRPr sz="40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0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op_b = self.instance.trains[t2].get_operation(o2)</a:t>
            </a:r>
          </a:p>
          <a:p xmlns:a="http://schemas.openxmlformats.org/drawingml/2006/main">
            <a:pPr algn="l">
              <a:defRPr sz="40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0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</a:t>
            </a:r>
          </a:p>
          <a:p xmlns:a="http://schemas.openxmlformats.org/drawingml/2006/main">
            <a:pPr algn="l">
              <a:defRPr sz="40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0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for succ_a in op_a.successors:</a:t>
            </a:r>
          </a:p>
          <a:p xmlns:a="http://schemas.openxmlformats.org/drawingml/2006/main">
            <a:pPr algn="l">
              <a:defRPr sz="40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0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# 1. Physical time-blocking: If Train 1 goes before Train 2 (z_ab==1), Train 1 must fully </a:t>
            </a:r>
          </a:p>
          <a:p xmlns:a="http://schemas.openxmlformats.org/drawingml/2006/main">
            <a:pPr algn="l">
              <a:defRPr sz="40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0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# reach its next step (succ_a) before Train 2's timeline is allowed to start.</a:t>
            </a:r>
          </a:p>
          <a:p xmlns:a="http://schemas.openxmlformats.org/drawingml/2006/main">
            <a:pPr algn="l">
              <a:defRPr sz="40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0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self.model.addConstr((z_ab == 1) &gt;&gt; (self.t[t1, succ_a] - self.t[t2, o2] &lt;= -l1))</a:t>
            </a:r>
          </a:p>
          <a:p xmlns:a="http://schemas.openxmlformats.org/drawingml/2006/main">
            <a:pPr algn="l">
              <a:defRPr sz="40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0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</a:t>
            </a:r>
          </a:p>
          <a:p xmlns:a="http://schemas.openxmlformats.org/drawingml/2006/main">
            <a:pPr algn="l">
              <a:defRPr sz="40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0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# 2. Cycle-crushing sequence: If Train 1 goes before Train 2, the topological rank (u-value)</a:t>
            </a:r>
          </a:p>
          <a:p xmlns:a="http://schemas.openxmlformats.org/drawingml/2006/main">
            <a:pPr algn="l">
              <a:defRPr sz="40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0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# assigned to Train 1's next step must be strictly smaller than Train 2's start. This breaks cyclic swapping.</a:t>
            </a:r>
          </a:p>
          <a:p xmlns:a="http://schemas.openxmlformats.org/drawingml/2006/main">
            <a:pPr algn="l">
              <a:defRPr sz="40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0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# --&gt; Corresponds to DISPLIB Paper Eq (3) lower part: u_{a_bar}^i - u_b^j &lt;= -1 + M(1 - z_{a,b}^{i,j})</a:t>
            </a:r>
          </a:p>
          <a:p xmlns:a="http://schemas.openxmlformats.org/drawingml/2006/main">
            <a:pPr algn="l">
              <a:defRPr sz="40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0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#     (u_{a_bar}^i &lt;==&gt; self.u[t1, succ_a],  u_b^j &lt;==&gt; self.u[t2, o2], z_{a,b}^{i,j} &lt;==&gt; z_ab)</a:t>
            </a:r>
          </a:p>
          <a:p xmlns:a="http://schemas.openxmlformats.org/drawingml/2006/main">
            <a:pPr algn="l">
              <a:defRPr sz="40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0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self.model.addConstr((z_ab == 1) &gt;&gt; (self.u[t1, succ_a] - self.u[t2, o2] &lt;= -1))</a:t>
            </a:r>
          </a:p>
          <a:p xmlns:a="http://schemas.openxmlformats.org/drawingml/2006/main">
            <a:pPr algn="l">
              <a:defRPr sz="40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0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</a:t>
            </a:r>
          </a:p>
          <a:p xmlns:a="http://schemas.openxmlformats.org/drawingml/2006/main">
            <a:pPr algn="l">
              <a:defRPr sz="40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0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for succ_b in op_b.successors:</a:t>
            </a:r>
          </a:p>
          <a:p xmlns:a="http://schemas.openxmlformats.org/drawingml/2006/main">
            <a:pPr algn="l">
              <a:defRPr sz="40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0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# Same blocking logic mirrored if Train 2 goes before Train 1 (z_ba==1).</a:t>
            </a:r>
          </a:p>
          <a:p xmlns:a="http://schemas.openxmlformats.org/drawingml/2006/main">
            <a:pPr algn="l">
              <a:defRPr sz="40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0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# --&gt; Corresponds to DISPLIB Paper Eq (3) lower part: u_{b_bar}^j - u_a^i &lt;= -1 + M(1 - z_{b,a}^{i,j})</a:t>
            </a:r>
          </a:p>
          <a:p xmlns:a="http://schemas.openxmlformats.org/drawingml/2006/main">
            <a:pPr algn="l">
              <a:defRPr sz="40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0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#     (u_{b_bar}^j &lt;==&gt; self.u[t2, succ_b], u_a^i &lt;==&gt; self.u[t1, o1], z_{b,a}^{i,j} &lt;==&gt; z_ba)</a:t>
            </a:r>
          </a:p>
          <a:p xmlns:a="http://schemas.openxmlformats.org/drawingml/2006/main">
            <a:pPr algn="l">
              <a:defRPr sz="40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0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self.model.addConstr((z_ba == 1) &gt;&gt; (self.t[t2, succ_b] - self.t[t1, o1] &lt;= -l2))</a:t>
            </a:r>
          </a:p>
          <a:p xmlns:a="http://schemas.openxmlformats.org/drawingml/2006/main">
            <a:pPr algn="l">
              <a:defRPr sz="40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0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self.model.addConstr((z_ba == 1) &gt;&gt; (self.u[t2, succ_b] - self.u[t1, o1] &lt;= -1))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618AC5-6013-49B7-A0D7-CA244E38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71700"/>
            <a:ext cx="33147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A911EE-08AA-4A50-AC40-D8CE6117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71700"/>
            <a:ext cx="3314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89A88F-BCA2-4E40-A3AF-150F0611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28850"/>
            <a:ext cx="3086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2D7A57"/>
                </a:solidFill>
                <a:latin typeface="Aptos"/>
                <a:ea typeface="Aptos"/>
                <a:cs typeface="Aptos"/>
              </a:defRPr>
            </a:pPr>
            <a:r>
              <a:rPr sz="607" b="1">
                <a:solidFill>
                  <a:srgbClr val="2D7A57"/>
                </a:solidFill>
                <a:latin typeface="Aptos"/>
                <a:ea typeface="Aptos"/>
                <a:cs typeface="Aptos"/>
              </a:rPr>
              <a:t>cp_model.py:69-90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01801F-1C8A-48C4-B500-7C180F18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14600"/>
            <a:ext cx="30861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# Process resources for AddNoOverlap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for r_data in op.resources: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res_name = r_data.resource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rel_time = int(r_data.release_time)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if res_name not in resource_intervals: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    resource_intervals[res_name] = []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    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# If there's a headway (release_time), we must artificially extend the block's end.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if rel_time &gt; 0: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    ext_dur = self.model.NewIntVar(int(op.min_duration) + rel_time, self.horizon + rel_time, f"ext_dur_{t_id}_{o_id}_{res_name}")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    self.model.Add(ext_dur == self.durations[t_id, o_id] + rel_time)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    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    ext_end = self.model.NewIntVar(lb + int(op.min_duration) + rel_time, self.horizon * 2 + rel_time, f"ext_end_{t_id}_{o_id}_{res_name}")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    self.model.Add(ext_end == self.ends[t_id, o_id] + rel_time)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    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    ext_iv = self.model.NewOptionalIntervalVar(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        self.starts[t_id, o_id], ext_dur, ext_end, self.x[t_id, o_id], f"ext_iv_{t_id}_{o_id}_{res_name}"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    )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    resource_intervals[res_name].append(ext_iv)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else: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    resource_intervals[res_name].append(iv)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96A5F9-1121-497E-A1FA-33539675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895850"/>
            <a:ext cx="33147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6694FB-7291-4E13-B68E-6E2A4A98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895850"/>
            <a:ext cx="3314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8BF5C5-7998-4ADB-878C-B715DB35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953000"/>
            <a:ext cx="3086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2D7A57"/>
                </a:solidFill>
                <a:latin typeface="Aptos"/>
                <a:ea typeface="Aptos"/>
                <a:cs typeface="Aptos"/>
              </a:defRPr>
            </a:pPr>
            <a:r>
              <a:rPr sz="607" b="1">
                <a:solidFill>
                  <a:srgbClr val="2D7A57"/>
                </a:solidFill>
                <a:latin typeface="Aptos"/>
                <a:ea typeface="Aptos"/>
                <a:cs typeface="Aptos"/>
              </a:rPr>
              <a:t>cp_model.py:117-119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7FAE2C-54A8-43E5-A77B-360A8CA2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238750"/>
            <a:ext cx="3086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0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0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# This absolutely annihilates the logic of Big-M!</a:t>
            </a:r>
          </a:p>
          <a:p xmlns:a="http://schemas.openxmlformats.org/drawingml/2006/main">
            <a:pPr algn="l">
              <a:defRPr sz="50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0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for res_name, intervals in resource_intervals.items():</a:t>
            </a:r>
          </a:p>
          <a:p xmlns:a="http://schemas.openxmlformats.org/drawingml/2006/main">
            <a:pPr algn="l">
              <a:defRPr sz="50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0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self.model.AddNoOverlap(intervals)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B16C0F-89CB-407D-9C80-D2F72B67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BE4ED6-ABDE-4A47-951F-95C28453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585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Gleiches Ziel, andere Modellierungssprache: paarweise Vorrangvariablen versus globale NoOverlap-Constraint.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8A3A2A1-0DCF-44E6-916C-E240E226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985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1708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3137787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17EFA1-CA51-4821-BCAA-9363D843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9A693D-647B-467D-9028-2FCF72F0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47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575782-4EFE-4BA2-9249-0B595A67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17083"/>
                </a:solidFill>
                <a:latin typeface="Aptos"/>
                <a:ea typeface="Aptos"/>
                <a:cs typeface="Aptos"/>
              </a:rPr>
              <a:t>VERBATIM CODE MAP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0AD923-3F09-421E-8007-A93D6E25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33450"/>
            <a:ext cx="971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1A24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121A24"/>
                </a:solidFill>
                <a:latin typeface="Georgia"/>
                <a:ea typeface="Georgia"/>
                <a:cs typeface="Georgia"/>
              </a:rPr>
              <a:t>Die Variable `u` macht die Ereignisreihenfolge eindeutig.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89434D-BD5C-4FCD-BD83-A37C87CF8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Sie hilft besonders dann, wenn Zeiten nah beieinander liegen oder gleich wirken.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54A8E6-E517-44F4-B0E8-5D63B499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2BC8C6-99AA-4B10-8AF0-AE97E64D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A33A2A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A33A2A"/>
                </a:solidFill>
                <a:latin typeface="Aptos"/>
                <a:ea typeface="Aptos"/>
                <a:cs typeface="Aptos"/>
              </a:rPr>
              <a:t>Mathematische Formulierung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62EA78-5D82-426A-89FA-1636B07D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240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93DA69-090B-45C8-9027-BD4D5A91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8595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1E5B87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1E5B87"/>
                </a:solidFill>
                <a:latin typeface="Aptos"/>
                <a:ea typeface="Aptos"/>
                <a:cs typeface="Aptos"/>
              </a:rPr>
              <a:t>Baseline-Code (Gurobi/MIP)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B6A71E-2506-4774-9A67-13EB65C4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240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0CE290-1AFF-4531-9216-F6BBF573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8595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2D7A57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2D7A57"/>
                </a:solidFill>
                <a:latin typeface="Aptos"/>
                <a:ea typeface="Aptos"/>
                <a:cs typeface="Aptos"/>
              </a:rPr>
              <a:t>Extended-Code (CP-SAT)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A58EF4-5C48-47F3-9D4E-A27A0145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885950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5D4365-FC74-4DAC-AC66-D2372FC9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885950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98F97B-18ED-46CE-8485-4D7160AC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32194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CD3C4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8540590be14ef4"/>
          <a:stretch xmlns:a="http://schemas.openxmlformats.org/drawingml/2006/main"/>
        </p:blipFill>
        <p:spPr>
          <a:xfrm xmlns:a="http://schemas.openxmlformats.org/drawingml/2006/main">
            <a:off x="647700" y="2581771"/>
            <a:ext cx="2990850" cy="475258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8EC688-E1A1-432C-A4D5-83D437ED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2990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48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548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Paper Gl. (3): Ordnungsbedingungen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C54E92-AB63-45EB-BA8B-5E8957C7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29050"/>
            <a:ext cx="32194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0478">
            <a:solidFill>
              <a:srgbClr val="A33A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22F8D5-56F3-4372-837E-ED72973F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24300"/>
            <a:ext cx="2990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1">
                <a:solidFill>
                  <a:srgbClr val="A33A2A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A33A2A"/>
                </a:solidFill>
                <a:latin typeface="Aptos"/>
                <a:ea typeface="Aptos"/>
                <a:cs typeface="Aptos"/>
              </a:rPr>
              <a:t>SPRECHPUNKT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4370BC-C379-4C0F-B08D-CC8CA373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33850"/>
            <a:ext cx="29908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21A24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121A24"/>
                </a:solidFill>
                <a:latin typeface="Aptos"/>
                <a:ea typeface="Aptos"/>
                <a:cs typeface="Aptos"/>
              </a:rPr>
              <a:t>`u` ist wie ein Rang in der Ereignisliste. Wenn A vor B liegt, muss der Rang von A kleiner sein als der Rang von B.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C60D11-C94C-473A-83A8-708BFC1F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71700"/>
            <a:ext cx="33147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195ED0-1657-4FB7-AC0C-30007CE5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71700"/>
            <a:ext cx="3314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05EF62-032A-494A-88F5-0DEAF912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28850"/>
            <a:ext cx="3086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1E5B87"/>
                </a:solidFill>
                <a:latin typeface="Aptos"/>
                <a:ea typeface="Aptos"/>
                <a:cs typeface="Aptos"/>
              </a:defRPr>
            </a:pPr>
            <a:r>
              <a:rPr sz="607" b="1">
                <a:solidFill>
                  <a:srgbClr val="1E5B87"/>
                </a:solidFill>
                <a:latin typeface="Aptos"/>
                <a:ea typeface="Aptos"/>
                <a:cs typeface="Aptos"/>
              </a:rPr>
              <a:t>mip_model.py:132-148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72523-1EC2-4F0B-A7CC-2BBE641E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14600"/>
            <a:ext cx="30861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1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1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for succ_a in op_a.successors:</a:t>
            </a:r>
          </a:p>
          <a:p xmlns:a="http://schemas.openxmlformats.org/drawingml/2006/main">
            <a:pPr algn="l">
              <a:defRPr sz="41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1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# 1. Physical time-blocking: If Train 1 goes before Train 2 (z_ab==1), Train 1 must fully </a:t>
            </a:r>
          </a:p>
          <a:p xmlns:a="http://schemas.openxmlformats.org/drawingml/2006/main">
            <a:pPr algn="l">
              <a:defRPr sz="41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1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# reach its next step (succ_a) before Train 2's timeline is allowed to start.</a:t>
            </a:r>
          </a:p>
          <a:p xmlns:a="http://schemas.openxmlformats.org/drawingml/2006/main">
            <a:pPr algn="l">
              <a:defRPr sz="41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1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self.model.addConstr((z_ab == 1) &gt;&gt; (self.t[t1, succ_a] - self.t[t2, o2] &lt;= -l1))</a:t>
            </a:r>
          </a:p>
          <a:p xmlns:a="http://schemas.openxmlformats.org/drawingml/2006/main">
            <a:pPr algn="l">
              <a:defRPr sz="41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1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</a:t>
            </a:r>
          </a:p>
          <a:p xmlns:a="http://schemas.openxmlformats.org/drawingml/2006/main">
            <a:pPr algn="l">
              <a:defRPr sz="41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1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# 2. Cycle-crushing sequence: If Train 1 goes before Train 2, the topological rank (u-value)</a:t>
            </a:r>
          </a:p>
          <a:p xmlns:a="http://schemas.openxmlformats.org/drawingml/2006/main">
            <a:pPr algn="l">
              <a:defRPr sz="41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1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# assigned to Train 1's next step must be strictly smaller than Train 2's start. This breaks cyclic swapping.</a:t>
            </a:r>
          </a:p>
          <a:p xmlns:a="http://schemas.openxmlformats.org/drawingml/2006/main">
            <a:pPr algn="l">
              <a:defRPr sz="41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1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# --&gt; Corresponds to DISPLIB Paper Eq (3) lower part: u_{a_bar}^i - u_b^j &lt;= -1 + M(1 - z_{a,b}^{i,j})</a:t>
            </a:r>
          </a:p>
          <a:p xmlns:a="http://schemas.openxmlformats.org/drawingml/2006/main">
            <a:pPr algn="l">
              <a:defRPr sz="41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1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#     (u_{a_bar}^i &lt;==&gt; self.u[t1, succ_a],  u_b^j &lt;==&gt; self.u[t2, o2], z_{a,b}^{i,j} &lt;==&gt; z_ab)</a:t>
            </a:r>
          </a:p>
          <a:p xmlns:a="http://schemas.openxmlformats.org/drawingml/2006/main">
            <a:pPr algn="l">
              <a:defRPr sz="41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1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self.model.addConstr((z_ab == 1) &gt;&gt; (self.u[t1, succ_a] - self.u[t2, o2] &lt;= -1))</a:t>
            </a:r>
          </a:p>
          <a:p xmlns:a="http://schemas.openxmlformats.org/drawingml/2006/main">
            <a:pPr algn="l">
              <a:defRPr sz="41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1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</a:t>
            </a:r>
          </a:p>
          <a:p xmlns:a="http://schemas.openxmlformats.org/drawingml/2006/main">
            <a:pPr algn="l">
              <a:defRPr sz="41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1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for succ_b in op_b.successors:</a:t>
            </a:r>
          </a:p>
          <a:p xmlns:a="http://schemas.openxmlformats.org/drawingml/2006/main">
            <a:pPr algn="l">
              <a:defRPr sz="41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1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# Same blocking logic mirrored if Train 2 goes before Train 1 (z_ba==1).</a:t>
            </a:r>
          </a:p>
          <a:p xmlns:a="http://schemas.openxmlformats.org/drawingml/2006/main">
            <a:pPr algn="l">
              <a:defRPr sz="41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1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# --&gt; Corresponds to DISPLIB Paper Eq (3) lower part: u_{b_bar}^j - u_a^i &lt;= -1 + M(1 - z_{b,a}^{i,j})</a:t>
            </a:r>
          </a:p>
          <a:p xmlns:a="http://schemas.openxmlformats.org/drawingml/2006/main">
            <a:pPr algn="l">
              <a:defRPr sz="41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1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#     (u_{b_bar}^j &lt;==&gt; self.u[t2, succ_b], u_a^i &lt;==&gt; self.u[t1, o1], z_{b,a}^{i,j} &lt;==&gt; z_ba)</a:t>
            </a:r>
          </a:p>
          <a:p xmlns:a="http://schemas.openxmlformats.org/drawingml/2006/main">
            <a:pPr algn="l">
              <a:defRPr sz="41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1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self.model.addConstr((z_ba == 1) &gt;&gt; (self.t[t2, succ_b] - self.t[t1, o1] &lt;= -l2))</a:t>
            </a:r>
          </a:p>
          <a:p xmlns:a="http://schemas.openxmlformats.org/drawingml/2006/main">
            <a:pPr algn="l">
              <a:defRPr sz="41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1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self.model.addConstr((z_ba == 1) &gt;&gt; (self.u[t2, succ_b] - self.u[t1, o1] &lt;= -1))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5BFA36-4FDB-4F6A-B518-B424F94C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248150"/>
            <a:ext cx="33147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9E6AD3-82D5-4DB7-8790-52FE5F6C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248150"/>
            <a:ext cx="3314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6300ED-4A26-4F65-9235-C9D4BE30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05300"/>
            <a:ext cx="3086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1E5B87"/>
                </a:solidFill>
                <a:latin typeface="Aptos"/>
                <a:ea typeface="Aptos"/>
                <a:cs typeface="Aptos"/>
              </a:defRPr>
            </a:pPr>
            <a:r>
              <a:rPr sz="607" b="1">
                <a:solidFill>
                  <a:srgbClr val="1E5B87"/>
                </a:solidFill>
                <a:latin typeface="Aptos"/>
                <a:ea typeface="Aptos"/>
                <a:cs typeface="Aptos"/>
              </a:rPr>
              <a:t>mip_model.py:157-164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EC114F-F20F-4BEA-89B3-DF57A1A6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591050"/>
            <a:ext cx="3086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8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8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for train in self.instance.trains:</a:t>
            </a:r>
          </a:p>
          <a:p xmlns:a="http://schemas.openxmlformats.org/drawingml/2006/main">
            <a:pPr algn="l">
              <a:defRPr sz="458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8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for op in train.operations:</a:t>
            </a:r>
          </a:p>
          <a:p xmlns:a="http://schemas.openxmlformats.org/drawingml/2006/main">
            <a:pPr algn="l">
              <a:defRPr sz="458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8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for succ in op.successors:</a:t>
            </a:r>
          </a:p>
          <a:p xmlns:a="http://schemas.openxmlformats.org/drawingml/2006/main">
            <a:pPr algn="l">
              <a:defRPr sz="458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8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# Enforce strictly increasing topological sequence (u-values) </a:t>
            </a:r>
          </a:p>
          <a:p xmlns:a="http://schemas.openxmlformats.org/drawingml/2006/main">
            <a:pPr algn="l">
              <a:defRPr sz="458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8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# as the train progresses forward through its route.</a:t>
            </a:r>
          </a:p>
          <a:p xmlns:a="http://schemas.openxmlformats.org/drawingml/2006/main">
            <a:pPr algn="l">
              <a:defRPr sz="458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8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# --&gt; Corresponds to DISPLIB Paper Eq (3) upper part: u_a^i - u_b^i &lt;= -1 + M(1 - y_{a,b}^i)</a:t>
            </a:r>
          </a:p>
          <a:p xmlns:a="http://schemas.openxmlformats.org/drawingml/2006/main">
            <a:pPr algn="l">
              <a:defRPr sz="458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8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#     (u_a^i &lt;==&gt; self.u[..op.id], u_b^i &lt;==&gt; self.u[..succ])</a:t>
            </a:r>
          </a:p>
          <a:p xmlns:a="http://schemas.openxmlformats.org/drawingml/2006/main">
            <a:pPr algn="l">
              <a:defRPr sz="458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8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self.model.addConstr((self.y[train.id, op.id, succ] == 1) &gt;&gt; (self.u[train.id, op.id] - self.u[train.id, succ] &lt;= -1))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18D051-08CC-485C-98B9-1E2C2AEE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71700"/>
            <a:ext cx="33147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A0EE41-A001-4765-BC95-55A6BB32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71700"/>
            <a:ext cx="3314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BC8561-5323-4489-B43E-3F10535C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28850"/>
            <a:ext cx="3086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2D7A57"/>
                </a:solidFill>
                <a:latin typeface="Aptos"/>
                <a:ea typeface="Aptos"/>
                <a:cs typeface="Aptos"/>
              </a:defRPr>
            </a:pPr>
            <a:r>
              <a:rPr sz="607" b="1">
                <a:solidFill>
                  <a:srgbClr val="2D7A57"/>
                </a:solidFill>
                <a:latin typeface="Aptos"/>
                <a:ea typeface="Aptos"/>
                <a:cs typeface="Aptos"/>
              </a:rPr>
              <a:t>cp_model.py:146-153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2C720D-5A6E-4667-A7BE-3424CD08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14600"/>
            <a:ext cx="3086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6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6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for succ_a in op_a.successors:</a:t>
            </a:r>
          </a:p>
          <a:p xmlns:a="http://schemas.openxmlformats.org/drawingml/2006/main">
            <a:pPr algn="l">
              <a:defRPr sz="46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6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# If Train 1 goes before Train 2 (z_ab==1), Train 1 must reach succ_a before Train 2 starts o2.</a:t>
            </a:r>
          </a:p>
          <a:p xmlns:a="http://schemas.openxmlformats.org/drawingml/2006/main">
            <a:pPr algn="l">
              <a:defRPr sz="46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6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self.model.Add(self.starts[t2, o2] &gt;= self.starts[t1, succ_a] + l1).OnlyEnforceIf([z_ab, self.y[t1, o1, succ_a]])</a:t>
            </a:r>
          </a:p>
          <a:p xmlns:a="http://schemas.openxmlformats.org/drawingml/2006/main">
            <a:pPr algn="l">
              <a:defRPr sz="46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6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self.model.Add(self.u[t2, o2] &gt;= self.u[t1, succ_a] + 1).OnlyEnforceIf([z_ab, self.y[t1, o1, succ_a]])</a:t>
            </a:r>
          </a:p>
          <a:p xmlns:a="http://schemas.openxmlformats.org/drawingml/2006/main">
            <a:pPr algn="l">
              <a:defRPr sz="46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6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</a:t>
            </a:r>
          </a:p>
          <a:p xmlns:a="http://schemas.openxmlformats.org/drawingml/2006/main">
            <a:pPr algn="l">
              <a:defRPr sz="46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6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for succ_b in op_b.successors:</a:t>
            </a:r>
          </a:p>
          <a:p xmlns:a="http://schemas.openxmlformats.org/drawingml/2006/main">
            <a:pPr algn="l">
              <a:defRPr sz="46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6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self.model.Add(self.starts[t1, o1] &gt;= self.starts[t2, succ_b] + l2).OnlyEnforceIf([z_ba, self.y[t2, o2, succ_b]])</a:t>
            </a:r>
          </a:p>
          <a:p xmlns:a="http://schemas.openxmlformats.org/drawingml/2006/main">
            <a:pPr algn="l">
              <a:defRPr sz="46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6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self.model.Add(self.u[t1, o1] &gt;= self.u[t2, succ_b] + 1).OnlyEnforceIf([z_ba, self.y[t2, o2, succ_b]])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D1B1BF-6CBE-4CC9-9D38-A75031C6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10000"/>
            <a:ext cx="3314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7A7C38-268F-4C57-AA06-3B0DC7F8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10000"/>
            <a:ext cx="3314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2A7AF5-6947-427E-8BD0-4B8F8FEE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67150"/>
            <a:ext cx="3086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2D7A57"/>
                </a:solidFill>
                <a:latin typeface="Aptos"/>
                <a:ea typeface="Aptos"/>
                <a:cs typeface="Aptos"/>
              </a:defRPr>
            </a:pPr>
            <a:r>
              <a:rPr sz="607" b="1">
                <a:solidFill>
                  <a:srgbClr val="2D7A57"/>
                </a:solidFill>
                <a:latin typeface="Aptos"/>
                <a:ea typeface="Aptos"/>
                <a:cs typeface="Aptos"/>
              </a:rPr>
              <a:t>cp_model.py:190-197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2008B5-20A4-4CEE-8965-747530A8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52900"/>
            <a:ext cx="30861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6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6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# Precedences Time Logic</a:t>
            </a:r>
          </a:p>
          <a:p xmlns:a="http://schemas.openxmlformats.org/drawingml/2006/main">
            <a:pPr algn="l">
              <a:defRPr sz="46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6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for succ in op.successors:</a:t>
            </a:r>
          </a:p>
          <a:p xmlns:a="http://schemas.openxmlformats.org/drawingml/2006/main">
            <a:pPr algn="l">
              <a:defRPr sz="46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6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# IF y[op-&gt;succ] is true =&gt; start(succ) == end(op)</a:t>
            </a:r>
          </a:p>
          <a:p xmlns:a="http://schemas.openxmlformats.org/drawingml/2006/main">
            <a:pPr algn="l">
              <a:defRPr sz="46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6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# This is critical: the train occupies the resource until it physically starts the next operation!</a:t>
            </a:r>
          </a:p>
          <a:p xmlns:a="http://schemas.openxmlformats.org/drawingml/2006/main">
            <a:pPr algn="l">
              <a:defRPr sz="46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6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self.model.Add(self.starts[t_id, succ] == self.ends[t_id, o_id]).OnlyEnforceIf(self.y[t_id, o_id, succ])</a:t>
            </a:r>
          </a:p>
          <a:p xmlns:a="http://schemas.openxmlformats.org/drawingml/2006/main">
            <a:pPr algn="l">
              <a:defRPr sz="46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6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</a:t>
            </a:r>
          </a:p>
          <a:p xmlns:a="http://schemas.openxmlformats.org/drawingml/2006/main">
            <a:pPr algn="l">
              <a:defRPr sz="46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6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# Strict topological rank progression</a:t>
            </a:r>
          </a:p>
          <a:p xmlns:a="http://schemas.openxmlformats.org/drawingml/2006/main">
            <a:pPr algn="l">
              <a:defRPr sz="46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6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self.model.Add(self.u[t_id, succ] &gt;= self.u[t_id, o_id] + 1).OnlyEnforceIf(self.y[t_id, o_id, succ])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AEE3CE-BEBF-4162-A0A5-EEAF57C1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767B7DA-308B-4689-9A38-420E991E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585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Ehrlicher Hinweis: Im Paper ist `u` ganzzahlig; im Baseline-Code ist `u` kontinuierlich.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7A24EDC-B410-4E6C-8DF5-CD3FDC0F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985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1708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3817698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3D6DAB-146E-456D-8CCA-FD8DDE4F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B97204-7FC9-4899-898C-201850F3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47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34F84A-AEB9-4D07-B401-AC063B80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17083"/>
                </a:solidFill>
                <a:latin typeface="Aptos"/>
                <a:ea typeface="Aptos"/>
                <a:cs typeface="Aptos"/>
              </a:rPr>
              <a:t>VERBATIM CODE MAP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6680AE-7D03-4F38-B961-02D48516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33450"/>
            <a:ext cx="971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1A24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121A24"/>
                </a:solidFill>
                <a:latin typeface="Georgia"/>
                <a:ea typeface="Georgia"/>
                <a:cs typeface="Georgia"/>
              </a:rPr>
              <a:t>Die Zielfunktion minimiert die gewichtete Verspätung.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7EB383-7717-4BA3-A34C-10800A5D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Die aktuelle Implementierung bildet vor allem den linearen Verspätungsteil ab.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586768-E740-45A0-8E9B-779647FA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6C00FA-1BB0-41AB-AAA0-065BAFAA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A33A2A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A33A2A"/>
                </a:solidFill>
                <a:latin typeface="Aptos"/>
                <a:ea typeface="Aptos"/>
                <a:cs typeface="Aptos"/>
              </a:rPr>
              <a:t>Mathematische Formulierung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6EBDB0-98A6-44BE-908A-9738A331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240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8D778E-0B17-483D-9E7C-E72B7411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8595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1E5B87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1E5B87"/>
                </a:solidFill>
                <a:latin typeface="Aptos"/>
                <a:ea typeface="Aptos"/>
                <a:cs typeface="Aptos"/>
              </a:rPr>
              <a:t>Baseline-Code (Gurobi/MIP)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8B2863-D62F-48BD-8A5F-7854B638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240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6128EC-A692-47EE-B3A3-275199EB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8595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2D7A57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2D7A57"/>
                </a:solidFill>
                <a:latin typeface="Aptos"/>
                <a:ea typeface="Aptos"/>
                <a:cs typeface="Aptos"/>
              </a:rPr>
              <a:t>Extended-Code (CP-SAT)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F51460-8F6D-457D-B9BA-5C268C39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885950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10FF58-1751-4967-836B-E92DC7F2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885950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0113A4-FDEC-49F0-A215-BE52551D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3219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CD3C4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82a6083ba5461e"/>
          <a:stretch xmlns:a="http://schemas.openxmlformats.org/drawingml/2006/main"/>
        </p:blipFill>
        <p:spPr>
          <a:xfrm xmlns:a="http://schemas.openxmlformats.org/drawingml/2006/main">
            <a:off x="1344187" y="2438400"/>
            <a:ext cx="1597876" cy="5905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F83AF9-E9FA-4C36-B599-BD6F76D0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2990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48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548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Problemdefinition: Verspätungskosten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183EA6-D7F8-4ACC-8245-B4856EE6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32194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CD3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f02235f5d740b4"/>
          <a:stretch xmlns:a="http://schemas.openxmlformats.org/drawingml/2006/main"/>
        </p:blipFill>
        <p:spPr>
          <a:xfrm xmlns:a="http://schemas.openxmlformats.org/drawingml/2006/main">
            <a:off x="1025037" y="3829050"/>
            <a:ext cx="2236177" cy="2667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2A9605-7304-49B3-92E6-5F7C540F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2990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48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548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Paper Gl. (4): Objective-Constraints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1BE5FE-60D3-497C-888A-6B49F058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0"/>
            <a:ext cx="3219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0478">
            <a:solidFill>
              <a:srgbClr val="A33A2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66A1B6-EF7E-4ADE-A44A-F124F409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0"/>
            <a:ext cx="2990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1">
                <a:solidFill>
                  <a:srgbClr val="A33A2A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A33A2A"/>
                </a:solidFill>
                <a:latin typeface="Aptos"/>
                <a:ea typeface="Aptos"/>
                <a:cs typeface="Aptos"/>
              </a:rPr>
              <a:t>EHRLICHER HINWEIS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169132-855B-4733-8F5E-46323259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72050"/>
            <a:ext cx="2990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21A24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121A24"/>
                </a:solidFill>
                <a:latin typeface="Aptos"/>
                <a:ea typeface="Aptos"/>
                <a:cs typeface="Aptos"/>
              </a:rPr>
              <a:t>Der Code zeigt `coeff * delay`. Die feste Step-Penalty aus der vollen DISPLIB-Definition ist hier nicht vollständig umgesetzt.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1F1ECF-0EE0-4BDF-BECE-7E55D137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71700"/>
            <a:ext cx="3314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AF7C96-4625-497A-8030-04AD214E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71700"/>
            <a:ext cx="3314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07C892-D697-40F6-A482-13141367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28850"/>
            <a:ext cx="3086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1E5B87"/>
                </a:solidFill>
                <a:latin typeface="Aptos"/>
                <a:ea typeface="Aptos"/>
                <a:cs typeface="Aptos"/>
              </a:defRPr>
            </a:pPr>
            <a:r>
              <a:rPr sz="607" b="1">
                <a:solidFill>
                  <a:srgbClr val="1E5B87"/>
                </a:solidFill>
                <a:latin typeface="Aptos"/>
                <a:ea typeface="Aptos"/>
                <a:cs typeface="Aptos"/>
              </a:rPr>
              <a:t>mip_model.py:55-58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052A60-63CE-4472-ACE2-C8F38729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14600"/>
            <a:ext cx="3086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0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0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# Objective variables</a:t>
            </a:r>
          </a:p>
          <a:p xmlns:a="http://schemas.openxmlformats.org/drawingml/2006/main">
            <a:pPr algn="l">
              <a:defRPr sz="50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0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for c_idx, comp in enumerate(self.instance.objective):</a:t>
            </a:r>
          </a:p>
          <a:p xmlns:a="http://schemas.openxmlformats.org/drawingml/2006/main">
            <a:pPr algn="l">
              <a:defRPr sz="50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0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self.v[c_idx] = self.model.addVar(vtype=GRB.BINARY, name=f"v_{c_idx}")</a:t>
            </a:r>
          </a:p>
          <a:p xmlns:a="http://schemas.openxmlformats.org/drawingml/2006/main">
            <a:pPr algn="l">
              <a:defRPr sz="50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0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self.w[c_idx] = self.model.addVar(lb=0, vtype=GRB.CONTINUOUS, name=f"w_{c_idx}")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FD3BED-41F3-424F-B454-A631816D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24250"/>
            <a:ext cx="33147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231D32-5CFF-467D-B454-6561FDC9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24250"/>
            <a:ext cx="3314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C3F7FF-A5BF-4E47-9E07-A4687F3E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581400"/>
            <a:ext cx="3086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1E5B87"/>
                </a:solidFill>
                <a:latin typeface="Aptos"/>
                <a:ea typeface="Aptos"/>
                <a:cs typeface="Aptos"/>
              </a:defRPr>
            </a:pPr>
            <a:r>
              <a:rPr sz="607" b="1">
                <a:solidFill>
                  <a:srgbClr val="1E5B87"/>
                </a:solidFill>
                <a:latin typeface="Aptos"/>
                <a:ea typeface="Aptos"/>
                <a:cs typeface="Aptos"/>
              </a:rPr>
              <a:t>mip_model.py:166-183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BEAEF3-68D9-4949-97AB-F37CB8FA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67150"/>
            <a:ext cx="30861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# D) Objective Cost Component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obj_expr = gp.LinExpr()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for c_idx, comp in enumerate(self.instance.objective):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if comp.train == -1 or comp.operation == -1: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continue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w_c = self.w[c_idx]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v_c = self.v[c_idx]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t_a = self.t[comp.train, comp.operation]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x_a = self.x[comp.train, comp.operation]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# Indicators for computing penalty exactly when x_a == 1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self.model.addConstr((x_a == 1) &gt;&gt; (t_a - comp.threshold &lt;= self.M * v_c))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self.model.addConstr((x_a == 1) &gt;&gt; (w_c &gt;= comp.coeff * (t_a - comp.threshold)))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obj_expr += w_c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self.model.setObjective(obj_expr, GRB.MINIMIZE)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46AFCD-D90B-44A6-8947-1C7A29CD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71700"/>
            <a:ext cx="331470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F2848B-069F-4F16-A52C-558C9AF2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71700"/>
            <a:ext cx="3314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72D661-B6EB-4D84-8B4D-F06092DC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28850"/>
            <a:ext cx="3086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2D7A57"/>
                </a:solidFill>
                <a:latin typeface="Aptos"/>
                <a:ea typeface="Aptos"/>
                <a:cs typeface="Aptos"/>
              </a:defRPr>
            </a:pPr>
            <a:r>
              <a:rPr sz="607" b="1">
                <a:solidFill>
                  <a:srgbClr val="2D7A57"/>
                </a:solidFill>
                <a:latin typeface="Aptos"/>
                <a:ea typeface="Aptos"/>
                <a:cs typeface="Aptos"/>
              </a:rPr>
              <a:t>cp_model.py:200-229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6D2A8A-1663-46F8-B154-AC7168CE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14600"/>
            <a:ext cx="308610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# 4. Objective Costs Calculation (Penalty)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# -----------------------------------------------------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for c_idx, comp in enumerate(self.instance.objective):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if comp.train == -1 or comp.operation == -1: 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continue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t_id = comp.train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o_id = comp.operation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th = int(comp.threshold)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cf = comp.coeff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scaled_cf = int(cf * self.COEFF_SCALE)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x_a = self.x.get((t_id, o_id))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if x_a is None: 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continue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over_time = self.model.NewIntVar(0, self.horizon * 2, f"ov_{c_idx}")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self.model.Add(over_time &gt;= self.starts[t_id, o_id] - th).OnlyEnforceIf(x_a)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cost_var = self.model.NewIntVar(0, int(self.horizon * 2 * max(1, scaled_cf)), f"cost_{c_idx}")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self.model.Add(cost_var == over_time * scaled_cf).OnlyEnforceIf(x_a)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self.model.Add(cost_var == 0).OnlyEnforceIf(x_a.Not())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obj_costs.append(cost_var)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# -----------------------------------------------------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# 5. Set Objective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# -----------------------------------------------------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if len(obj_costs) &gt; 0: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self.model.Minimize(sum(obj_costs))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9F469A-ABE7-4CF7-9A3A-7EB4467C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76B327-C1F0-4942-8534-C773560B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585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Für den Bericht ist diese Einschränkung wichtig, weil sie direkt im Code sichtbar ist.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E1858B-6731-48C9-890C-F4DFB08F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985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17083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3515021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D9DF76-6579-4C9E-9C88-9DA10B17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3DF3C2-27EF-48E1-8FFA-A289D8FE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47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5A35D7-F7F8-4939-9431-BD1BB925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17083"/>
                </a:solidFill>
                <a:latin typeface="Aptos"/>
                <a:ea typeface="Aptos"/>
                <a:cs typeface="Aptos"/>
              </a:rPr>
              <a:t>VERBATIM CODE MAP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E939A2-86C1-4805-B5FA-41DE0B1A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33450"/>
            <a:ext cx="971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1A24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121A24"/>
                </a:solidFill>
                <a:latin typeface="Georgia"/>
                <a:ea typeface="Georgia"/>
                <a:cs typeface="Georgia"/>
              </a:rPr>
              <a:t>Am Ende wird eine geordnete Event-Liste exportiert.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5684B7-6648-40F7-8D81-691BABAC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Das Ergebnis ist nicht nur ein Zielfunktionswert, sondern eine Lösung im DISPLIB-Format.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11FE3A-4E4B-4254-81B3-B90C2FA6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1BDE5C-482B-4B57-97C4-2F977756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A33A2A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A33A2A"/>
                </a:solidFill>
                <a:latin typeface="Aptos"/>
                <a:ea typeface="Aptos"/>
                <a:cs typeface="Aptos"/>
              </a:rPr>
              <a:t>Mathematische Formulierung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03AA01-5C45-435E-935B-32C434CD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240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78B462-F958-41D8-A863-98D0886A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8595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1E5B87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1E5B87"/>
                </a:solidFill>
                <a:latin typeface="Aptos"/>
                <a:ea typeface="Aptos"/>
                <a:cs typeface="Aptos"/>
              </a:rPr>
              <a:t>Baseline-Code (Gurobi/MIP)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5378AB-DAAB-40F5-AB29-252A57A9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240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339037-A804-4C75-A733-3F9D39F4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8595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2D7A57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2D7A57"/>
                </a:solidFill>
                <a:latin typeface="Aptos"/>
                <a:ea typeface="Aptos"/>
                <a:cs typeface="Aptos"/>
              </a:rPr>
              <a:t>Extended-Code (CP-SAT)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A66E86-CBBF-4A12-8FC9-62A5A205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885950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B77B7E-BD5C-4817-B01A-045E2039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885950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9234A9-9E2B-41EC-9551-6636C914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3219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CD3C4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e6dcea244a4150"/>
          <a:stretch xmlns:a="http://schemas.openxmlformats.org/drawingml/2006/main"/>
        </p:blipFill>
        <p:spPr>
          <a:xfrm xmlns:a="http://schemas.openxmlformats.org/drawingml/2006/main">
            <a:off x="856059" y="2438400"/>
            <a:ext cx="2574131" cy="8763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89862D-E081-46AB-BAA5-884D4A9A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990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48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548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Problemdefinition: geordnete Events und Freigabezeiten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302A41-6F31-4FE3-A098-87F338CF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62400"/>
            <a:ext cx="32194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0478">
            <a:solidFill>
              <a:srgbClr val="A33A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ED346F-E642-4F53-8AA3-85640C1A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57650"/>
            <a:ext cx="2990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1">
                <a:solidFill>
                  <a:srgbClr val="A33A2A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A33A2A"/>
                </a:solidFill>
                <a:latin typeface="Aptos"/>
                <a:ea typeface="Aptos"/>
                <a:cs typeface="Aptos"/>
              </a:rPr>
              <a:t>SPRECHPUNKT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9D4A75-AEF4-463B-B875-FDC0DFF4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67200"/>
            <a:ext cx="2990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21A24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121A24"/>
                </a:solidFill>
                <a:latin typeface="Aptos"/>
                <a:ea typeface="Aptos"/>
                <a:cs typeface="Aptos"/>
              </a:rPr>
              <a:t>Beide Solver sammeln die gewählten Operationen und sortieren sie nach Zeit und `u`, bevor die JSON-Lösung geschrieben wird.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B36B8C-1C2D-46B1-A2A8-757CF854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71700"/>
            <a:ext cx="33147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25AA70-B55D-4600-9742-612B3E67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71700"/>
            <a:ext cx="3314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8FD913-13BF-4F8B-A7E4-4866482C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28850"/>
            <a:ext cx="3086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1E5B87"/>
                </a:solidFill>
                <a:latin typeface="Aptos"/>
                <a:ea typeface="Aptos"/>
                <a:cs typeface="Aptos"/>
              </a:defRPr>
            </a:pPr>
            <a:r>
              <a:rPr sz="607" b="1">
                <a:solidFill>
                  <a:srgbClr val="1E5B87"/>
                </a:solidFill>
                <a:latin typeface="Aptos"/>
                <a:ea typeface="Aptos"/>
                <a:cs typeface="Aptos"/>
              </a:rPr>
              <a:t>mip_model.py:189-218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5647F2-66FB-454C-8A85-FF370C14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14600"/>
            <a:ext cx="308610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def export_solution(self, filename: str):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if self.model.status not in (GRB.OPTIMAL, GRB.TIME_LIMIT, GRB.SUBOPTIMAL):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print("No valid solution to export!")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return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events = []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for train in self.instance.trains: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for op in train.operations: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val_x = self.x[train.id, op.id].X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if val_x &gt; 0.5: # Operation is selected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val_t = self.t[train.id, op.id].X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events.append({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    "operation": op.id,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    "time": int(round(val_t)),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    "train": train.id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})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# ---------------------------------------------------------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# ROBUST TOPOLOGICAL SORT FOR VERIFIER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# ---------------------------------------------------------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# We can directly use the topological rank `u` calculated by the Gurobi solver!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# This completely guarantees no cyclic dependencies and matches the physical causality.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events.sort(key=lambda x: (x["time"], self.u[x["train"], x["operation"]].X))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final_events = events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# ---------------------------------------------------------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output = {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"events": events,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"objective_value": int(round(self.model.ObjVal))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601B19-6D06-437B-8017-B27E2326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71700"/>
            <a:ext cx="33147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1C8AD1-08C5-462C-A956-D48E745C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71700"/>
            <a:ext cx="3314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8A379D-12DF-44DA-A8D0-602386C9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28850"/>
            <a:ext cx="3086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2D7A57"/>
                </a:solidFill>
                <a:latin typeface="Aptos"/>
                <a:ea typeface="Aptos"/>
                <a:cs typeface="Aptos"/>
              </a:defRPr>
            </a:pPr>
            <a:r>
              <a:rPr sz="607" b="1">
                <a:solidFill>
                  <a:srgbClr val="2D7A57"/>
                </a:solidFill>
                <a:latin typeface="Aptos"/>
                <a:ea typeface="Aptos"/>
                <a:cs typeface="Aptos"/>
              </a:rPr>
              <a:t>cp_model.py:250-282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FA074C-AFF5-43FF-B7FA-A8E7E25A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14600"/>
            <a:ext cx="308610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def export_solution(self, filename: str):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if self.status not in ["OPTIMAL", "FEASIBLE"]: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print("Cannot export: No feasible solution available.")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return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events = []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for train in self.instance.trains: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t_id = train.id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for op in train.operations: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o_id = op.id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if self.solver.BooleanValue(self.x[t_id, o_id]):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st = self.solver.Value(self.starts[t_id, o_id])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events.append({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    "operation": o_id,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    "time": int(st),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    "train": t_id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})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# ---------------------------------------------------------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# ROBUST TOPOLOGICAL SORT FOR VERIFIER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# ---------------------------------------------------------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# We can directly use the topological rank `u` calculated by the CP-SAT solver!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# This completely guarantees no cyclic dependencies and matches the physical causality.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events.sort(key=lambda x: (x["time"], self.solver.Value(self.u[x["train"], x["operation"]])))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final_events = events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events = final_events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# ---------------------------------------------------------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output = {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"events": events,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"objective_value": int(round(self.obj_val))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6BE49E-6DE9-4CCE-93C4-ACB906E2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E32FC7-69B6-4A06-A3EC-4D8848BB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585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Hier werden auch objective_value und events in die DISPLIB-Lösungsdatei geschrieben.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1392D4-06EF-4F9A-AC2C-5C67A511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985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17083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2963214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DC54C9-21B8-44FA-93C5-FB6490C7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56AF35-B272-4EA0-8F16-F4FD4178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B1AF8B-E267-4FC7-ACD2-A2C263953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47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60C811-7C9A-4B1F-AC81-6DF0D929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17083"/>
                </a:solidFill>
                <a:latin typeface="Aptos"/>
                <a:ea typeface="Aptos"/>
                <a:cs typeface="Aptos"/>
              </a:rPr>
              <a:t>VERBATIM CODE MAP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80EAF4-9974-4CBB-845D-0C9634FF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33450"/>
            <a:ext cx="971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1A24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121A24"/>
                </a:solidFill>
                <a:latin typeface="Georgia"/>
                <a:ea typeface="Georgia"/>
                <a:cs typeface="Georgia"/>
              </a:rPr>
              <a:t>Kurz gesagt: gleiche Dispatching-Logik, aber zwei verschiedene Solver-Welten.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6C23B4-92E0-477D-80A0-909885A9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Für die Präsentation ist genau dieser Unterschied der rote Faden.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9F42D8-1618-4B8B-84CE-FDDD2C8C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0025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E62D2-BDA2-46DD-AE34-12E115E2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00250"/>
            <a:ext cx="3295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71B4F8-80C4-4E6A-9D0C-7D465E27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00250"/>
            <a:ext cx="3295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67D74F-4DB0-4DA3-8DCF-92CC2014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95500"/>
            <a:ext cx="2000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Aspekt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84F153-E1AA-4928-974C-E0DA9C43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3105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Gurobi / Baseline MIP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B54DDD-BF56-4A7C-9812-CFA01F1D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95500"/>
            <a:ext cx="3105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CP-SAT / Extended Modell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EC65ED-A549-470D-8318-AF605433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62200"/>
            <a:ext cx="8782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3BB9FC-C7A8-41A9-9321-B27E48FF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765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21A24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21A24"/>
                </a:solidFill>
                <a:latin typeface="Aptos"/>
                <a:ea typeface="Aptos"/>
                <a:cs typeface="Aptos"/>
              </a:rPr>
              <a:t>Modelltyp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28E6C6-339E-4098-BE4A-EAF4E419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76500"/>
            <a:ext cx="3105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21A24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121A24"/>
                </a:solidFill>
                <a:latin typeface="Aptos"/>
                <a:ea typeface="Aptos"/>
                <a:cs typeface="Aptos"/>
              </a:rPr>
              <a:t>gemischt-ganzzahliges lineares Modell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97DB7F-09D2-4222-A594-92C7E72D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76500"/>
            <a:ext cx="3105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21A24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121A24"/>
                </a:solidFill>
                <a:latin typeface="Aptos"/>
                <a:ea typeface="Aptos"/>
                <a:cs typeface="Aptos"/>
              </a:rPr>
              <a:t>Constraint Programming + SAT-basierte Suche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E707D9-37C2-471A-A9AA-8D6BCBD7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76550"/>
            <a:ext cx="8782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4ABF45-3468-44DA-A3B8-734E0554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908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21A24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21A24"/>
                </a:solidFill>
                <a:latin typeface="Aptos"/>
                <a:ea typeface="Aptos"/>
                <a:cs typeface="Aptos"/>
              </a:rPr>
              <a:t>Typische Syntax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C71009-5259-49B7-94FC-76ADA160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90850"/>
            <a:ext cx="3105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21A24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121A24"/>
                </a:solidFill>
                <a:latin typeface="Aptos"/>
                <a:ea typeface="Aptos"/>
                <a:cs typeface="Aptos"/>
              </a:rPr>
              <a:t>`addVar`, `quicksum`, lineare Constraints, indicator constraints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F0A359-A7AB-4C31-99AB-979FDBEC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990850"/>
            <a:ext cx="3105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21A24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121A24"/>
                </a:solidFill>
                <a:latin typeface="Aptos"/>
                <a:ea typeface="Aptos"/>
                <a:cs typeface="Aptos"/>
              </a:rPr>
              <a:t>`NewBoolVar`, `NewIntVar`, `OnlyEnforceIf`, `IntervalVar`, `AddNoOverlap`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C2ED63-7CD6-4E4F-9D3B-626BEBE8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90900"/>
            <a:ext cx="8782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92E7AD-CDF7-449B-87C5-0EF739A9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052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21A24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21A24"/>
                </a:solidFill>
                <a:latin typeface="Aptos"/>
                <a:ea typeface="Aptos"/>
                <a:cs typeface="Aptos"/>
              </a:rPr>
              <a:t>Ressourcen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6CA755-C7D4-4472-873E-039113E1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505200"/>
            <a:ext cx="3105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21A24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121A24"/>
                </a:solidFill>
                <a:latin typeface="Aptos"/>
                <a:ea typeface="Aptos"/>
                <a:cs typeface="Aptos"/>
              </a:rPr>
              <a:t>paarweise Reihenfolge mit `z_ab` und `z_ba`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7AB8EB-7C13-4041-B198-7B873D6D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505200"/>
            <a:ext cx="3105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21A24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121A24"/>
                </a:solidFill>
                <a:latin typeface="Aptos"/>
                <a:ea typeface="Aptos"/>
                <a:cs typeface="Aptos"/>
              </a:rPr>
              <a:t>Intervalle pro Ressource, globale NoOverlap-Constraint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5CC037-DA8F-4DAF-A2D4-A1CFEF80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05250"/>
            <a:ext cx="8782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EAFB00-FCBA-4278-B5F0-34B80AEE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195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21A24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21A24"/>
                </a:solidFill>
                <a:latin typeface="Aptos"/>
                <a:ea typeface="Aptos"/>
                <a:cs typeface="Aptos"/>
              </a:rPr>
              <a:t>Suchidee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9D3285-3067-47C0-970A-6FE76472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19550"/>
            <a:ext cx="3105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21A24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121A24"/>
                </a:solidFill>
                <a:latin typeface="Aptos"/>
                <a:ea typeface="Aptos"/>
                <a:cs typeface="Aptos"/>
              </a:rPr>
              <a:t>LP-Relaxationen, Branch-and-Bound/Branch-and-Cut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7672ED-669E-4A90-86ED-2A3C532A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019550"/>
            <a:ext cx="3105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21A24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121A24"/>
                </a:solidFill>
                <a:latin typeface="Aptos"/>
                <a:ea typeface="Aptos"/>
                <a:cs typeface="Aptos"/>
              </a:rPr>
              <a:t>Constraint Propagation, SAT-Lernen und kombinatorische Suche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5C5147-72BA-48D0-BCA1-2B704286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19600"/>
            <a:ext cx="8782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77BE75-5D9A-4F8B-A9D6-9381724D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339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21A24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21A24"/>
                </a:solidFill>
                <a:latin typeface="Aptos"/>
                <a:ea typeface="Aptos"/>
                <a:cs typeface="Aptos"/>
              </a:rPr>
              <a:t>Merksatz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D711E7-5E05-42E9-B942-CE9A3E8D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533900"/>
            <a:ext cx="3105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21A24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121A24"/>
                </a:solidFill>
                <a:latin typeface="Aptos"/>
                <a:ea typeface="Aptos"/>
                <a:cs typeface="Aptos"/>
              </a:rPr>
              <a:t>mathematisch nah an der MILP-Formulierung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8327B8-44CC-4E15-9EF6-441E095D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533900"/>
            <a:ext cx="3105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21A24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121A24"/>
                </a:solidFill>
                <a:latin typeface="Aptos"/>
                <a:ea typeface="Aptos"/>
                <a:cs typeface="Aptos"/>
              </a:rPr>
              <a:t>modelliert Scheduling-Konflikte direkter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46D42D-A133-420A-BE37-D01B3D67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34000"/>
            <a:ext cx="4476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0478">
            <a:solidFill>
              <a:srgbClr val="1E5B8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00FA05-B422-4F1C-9BC4-4C78EBC8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29250"/>
            <a:ext cx="4248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1">
                <a:solidFill>
                  <a:srgbClr val="1E5B87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1E5B87"/>
                </a:solidFill>
                <a:latin typeface="Aptos"/>
                <a:ea typeface="Aptos"/>
                <a:cs typeface="Aptos"/>
              </a:rPr>
              <a:t>GUTER SATZ ZUM SAGEN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FF7F5E-3306-4961-AD02-914564CB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38800"/>
            <a:ext cx="424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21A24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21A24"/>
                </a:solidFill>
                <a:latin typeface="Aptos"/>
                <a:ea typeface="Aptos"/>
                <a:cs typeface="Aptos"/>
              </a:rPr>
              <a:t>Die beiden Codes sehen nicht deshalb anders aus, weil sie etwas anderes lösen, sondern weil die Solver unterschiedliche Modellierungssprachen haben.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9AD17C-B2E5-423A-93DD-4A6C0E7F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334000"/>
            <a:ext cx="4476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0478">
            <a:solidFill>
              <a:srgbClr val="A33A2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880F897-5B43-442F-B63F-13EB1E1B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429250"/>
            <a:ext cx="4248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1">
                <a:solidFill>
                  <a:srgbClr val="A33A2A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A33A2A"/>
                </a:solidFill>
                <a:latin typeface="Aptos"/>
                <a:ea typeface="Aptos"/>
                <a:cs typeface="Aptos"/>
              </a:rPr>
              <a:t>EHRLICHE EINSCHRÄNKUNG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A837DA3-B2BF-4A7B-BA6B-52ED8117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638800"/>
            <a:ext cx="424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121A24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121A24"/>
                </a:solidFill>
                <a:latin typeface="Aptos"/>
                <a:ea typeface="Aptos"/>
                <a:cs typeface="Aptos"/>
              </a:rPr>
              <a:t>Die Step-Penalty ist nicht vollständig abgebildet, und `u` ist im Baseline-Code kontinuierlich, obwohl das Paper `u` ganzzahlig definiert.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1F96FBA-389F-452A-936C-66194D40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185E5DE-E6B6-4FF3-B0EB-E44D54EC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585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Alle Code-Ausschnitte in dieser Präsentation sind echte Auszüge aus dem Repository.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FBD3597-D6F9-4B7C-BDC0-C8DFD98C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985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17083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26553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2026-05-17T20:02:05.4610000Z</dcterms:created>
  <dcterms:modified xsi:type="dcterms:W3CDTF">2026-05-17T20:02:05.4610000Z</dcterms:modified>
</coreProperties>
</file>