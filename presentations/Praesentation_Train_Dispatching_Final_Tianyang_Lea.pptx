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56" r:id="rId5"/>
    <p:sldId id="266" r:id="rId6"/>
    <p:sldId id="267" r:id="rId7"/>
    <p:sldId id="268" r:id="rId8"/>
    <p:sldId id="272" r:id="rId9"/>
    <p:sldId id="273" r:id="rId10"/>
    <p:sldId id="274" r:id="rId11"/>
    <p:sldId id="275" r:id="rId12"/>
    <p:sldId id="276" r:id="rId13"/>
    <p:sldId id="278" r:id="rId14"/>
    <p:sldId id="277" r:id="rId15"/>
    <p:sldId id="264" r:id="rId16"/>
    <p:sldId id="270" r:id="rId17"/>
    <p:sldId id="279" r:id="rId18"/>
    <p:sldId id="269" r:id="rId19"/>
  </p:sldIdLst>
  <p:sldSz cx="12192000" cy="6858000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56D2F2-96B4-781A-AA90-B8BE86105E79}" v="1" dt="2026-05-19T16:00:16.446"/>
    <p1510:client id="{CD758B56-5F3A-D640-BC27-F20EF2A4A83C}" v="3046" dt="2026-05-19T15:48:03.9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51460" autoAdjust="0"/>
  </p:normalViewPr>
  <p:slideViewPr>
    <p:cSldViewPr snapToGrid="0">
      <p:cViewPr varScale="1">
        <p:scale>
          <a:sx n="38" d="100"/>
          <a:sy n="38" d="100"/>
        </p:scale>
        <p:origin x="167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B061A-A430-704C-A9CB-065DB6E7613A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977621-69B6-244A-B352-3A907D568C3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4739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Zuerst erkläre ich, was hier überhaupt entschieden wird. Ein Zug hat in DISPLIB nicht einfach nur eine feste Liste, sondern einen Graphen möglicher Operationen. x sagt: Wird diese Operation benutzt oder nicht? y sagt: Welche direkte Kante wird genommen? Direkt heißt: Wenn Operation 1 die </a:t>
            </a:r>
            <a:r>
              <a:rPr lang="de-DE" dirty="0" err="1"/>
              <a:t>successors</a:t>
            </a:r>
            <a:r>
              <a:rPr lang="de-DE" dirty="0"/>
              <a:t> 2 und 3 hat, dann bedeutet y[1,2] = 1, dass nach 1 unmittelbar 2 kommt. t ist die Startzeit. u ist zusätzlich eine logische Reihenfolge. In </a:t>
            </a:r>
            <a:r>
              <a:rPr lang="de-DE" dirty="0" err="1"/>
              <a:t>Gurobi</a:t>
            </a:r>
            <a:r>
              <a:rPr lang="de-DE" dirty="0"/>
              <a:t> entstehen diese Größen mit </a:t>
            </a:r>
            <a:r>
              <a:rPr lang="de-DE" dirty="0" err="1"/>
              <a:t>addVar</a:t>
            </a:r>
            <a:r>
              <a:rPr lang="de-DE" dirty="0"/>
              <a:t>. In CP-SAT gibt es Bool- und Integer-Variablen, aber zusätzlich ein </a:t>
            </a:r>
            <a:r>
              <a:rPr lang="de-DE" dirty="0" err="1"/>
              <a:t>OptionalIntervalVar</a:t>
            </a:r>
            <a:r>
              <a:rPr lang="de-DE" dirty="0"/>
              <a:t>: Start, Dauer, Ende und Aktivierung gehören als Scheduling-Objekt zusammen.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77621-69B6-244A-B352-3A907D568C3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8886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Auf dieser Folie ergänze ich die Variablen, die in der ersten Variablenseite leicht untergehen. </a:t>
            </a:r>
            <a:r>
              <a:rPr lang="de-DE" dirty="0" err="1"/>
              <a:t>z_ab</a:t>
            </a:r>
            <a:r>
              <a:rPr lang="de-DE" dirty="0"/>
              <a:t> und </a:t>
            </a:r>
            <a:r>
              <a:rPr lang="de-DE" dirty="0" err="1"/>
              <a:t>z_ba</a:t>
            </a:r>
            <a:r>
              <a:rPr lang="de-DE" dirty="0"/>
              <a:t> sind für Ressourcenkonflikte: Wenn zwei Züge denselben Gleisabschnitt brauchen, muss eine Reihenfolge entschieden werden. </a:t>
            </a:r>
            <a:r>
              <a:rPr lang="de-DE" dirty="0" err="1"/>
              <a:t>z_ab</a:t>
            </a:r>
            <a:r>
              <a:rPr lang="de-DE" dirty="0"/>
              <a:t> bedeutet A vor B, </a:t>
            </a:r>
            <a:r>
              <a:rPr lang="de-DE" dirty="0" err="1"/>
              <a:t>z_ba</a:t>
            </a:r>
            <a:r>
              <a:rPr lang="de-DE" dirty="0"/>
              <a:t> bedeutet B vor A. In der Baseline werden diese Variablen als </a:t>
            </a:r>
            <a:r>
              <a:rPr lang="de-DE" dirty="0" err="1"/>
              <a:t>Gurobi</a:t>
            </a:r>
            <a:r>
              <a:rPr lang="de-DE" dirty="0"/>
              <a:t>-Binärvariablen gespeichert. v und w sind Hilfsvariablen für die Kostenrechnung: v zeigt eine Schwellenlogik an, w ist der Strafkostenbetrag. In CP-SAT gibt es zusätzlich </a:t>
            </a:r>
            <a:r>
              <a:rPr lang="de-DE" dirty="0" err="1"/>
              <a:t>resource_intervals</a:t>
            </a:r>
            <a:r>
              <a:rPr lang="de-DE" dirty="0"/>
              <a:t> und </a:t>
            </a:r>
            <a:r>
              <a:rPr lang="de-DE" dirty="0" err="1"/>
              <a:t>obj_costs</a:t>
            </a:r>
            <a:r>
              <a:rPr lang="de-DE" dirty="0"/>
              <a:t>; der Solver arbeitet stärker mit Intervallen und ganzzahligen Kostenvariablen.</a:t>
            </a:r>
          </a:p>
          <a:p>
            <a:endParaRPr lang="de-DE" dirty="0"/>
          </a:p>
          <a:p>
            <a:r>
              <a:rPr lang="de-DE" dirty="0"/>
              <a:t>Für CP-SAT ist wichtig: Es arbeitet nicht mit kontinuierlichen </a:t>
            </a:r>
            <a:r>
              <a:rPr lang="de-DE" dirty="0" err="1"/>
              <a:t>Gurobi</a:t>
            </a:r>
            <a:r>
              <a:rPr lang="de-DE" dirty="0"/>
              <a:t>-Variablen, sondern mit Bool- und Integer-Variablen. Deshalb gibt es hier nicht einfach nur t, sondern </a:t>
            </a:r>
            <a:r>
              <a:rPr lang="de-DE" dirty="0" err="1"/>
              <a:t>starts</a:t>
            </a:r>
            <a:r>
              <a:rPr lang="de-DE" dirty="0"/>
              <a:t>, </a:t>
            </a:r>
            <a:r>
              <a:rPr lang="de-DE" dirty="0" err="1"/>
              <a:t>durations</a:t>
            </a:r>
            <a:r>
              <a:rPr lang="de-DE" dirty="0"/>
              <a:t> und </a:t>
            </a:r>
            <a:r>
              <a:rPr lang="de-DE" dirty="0" err="1"/>
              <a:t>ends</a:t>
            </a:r>
            <a:r>
              <a:rPr lang="de-DE" dirty="0"/>
              <a:t>. Diese drei Variablen werden zusätzlich zu einem optionalen Intervall verbunden.</a:t>
            </a:r>
          </a:p>
          <a:p>
            <a:endParaRPr lang="de-DE" dirty="0"/>
          </a:p>
          <a:p>
            <a:r>
              <a:rPr lang="de-DE" dirty="0"/>
              <a:t>Optional heißt: Das Intervall existiert nur, wenn die Aktivierungsvariable x gleich 1 ist. Wenn eine Operation nicht gewählt wird, ist auch ihr Intervall für den Ressourcenplan nicht aktiv. Das passt gut zu unserem Problem, weil eine Operation im Operation-Graphen nur eine mögliche Alternative sein kann.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77621-69B6-244A-B352-3A907D568C3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5372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Hier erkläre ich die Routing-Gleichungen. Der Zug soll nicht beliebig einzelne Operationen auswählen, sondern einen zusammenhängenden Weg. Am Anfang muss genau eine Kante herausgehen, am Ende genau eine Kante hineingehen. Für eine Zwischenoperation gilt: Wenn ich hineinkomme, muss ich auch wieder hinausgehen. Das ist wie Flusserhaltung. Die y-Variable ist die gewählte Kante, die x-Variable ist der gewählte Knoten. In CP-SAT ist die Logik inhaltlich ähnlich, aber sie wird mit </a:t>
            </a:r>
            <a:r>
              <a:rPr lang="de-DE" dirty="0" err="1"/>
              <a:t>model.Add</a:t>
            </a:r>
            <a:r>
              <a:rPr lang="de-DE" dirty="0"/>
              <a:t> formuliert. Zusätzlich koppelt CP-SAT die Zeit direkter: Wenn y aktiv ist, dann startet der Nachfolger genau am Ende der aktuellen Operation.</a:t>
            </a:r>
          </a:p>
          <a:p>
            <a:endParaRPr lang="de-DE" dirty="0"/>
          </a:p>
          <a:p>
            <a:r>
              <a:rPr lang="de-DE" dirty="0"/>
              <a:t>Bei CP-SAT wird die Routing-Logik mit </a:t>
            </a:r>
            <a:r>
              <a:rPr lang="de-DE" dirty="0" err="1"/>
              <a:t>model.Add</a:t>
            </a:r>
            <a:r>
              <a:rPr lang="de-DE" dirty="0"/>
              <a:t> formuliert. Inhaltlich ist es ähnlich wie im MIP: Startoperationen und Endoperationen müssen aktiv sein, und für Zwischenoperationen gilt, dass die Summe der eingehenden und ausgehenden Kanten zu x passen muss.</a:t>
            </a:r>
          </a:p>
          <a:p>
            <a:endParaRPr lang="de-DE" dirty="0"/>
          </a:p>
          <a:p>
            <a:r>
              <a:rPr lang="de-DE" dirty="0"/>
              <a:t>Der wichtige Unterschied ist die Reifikation über </a:t>
            </a:r>
            <a:r>
              <a:rPr lang="de-DE" dirty="0" err="1"/>
              <a:t>OnlyEnforceIf</a:t>
            </a:r>
            <a:r>
              <a:rPr lang="de-DE" dirty="0"/>
              <a:t>. Wenn y für eine Kante aktiv ist, dann werden zusätzliche Bedingungen erzwungen. Zum Beispiel: Wenn der Zug von Operation a direkt zu Operation b geht, dann muss </a:t>
            </a:r>
            <a:r>
              <a:rPr lang="de-DE" dirty="0" err="1"/>
              <a:t>start</a:t>
            </a:r>
            <a:r>
              <a:rPr lang="de-DE" dirty="0"/>
              <a:t>(b) gleich end(a) sein. CP-SAT kann solche logischen Wenn-Dann-Beziehungen sehr natürlich ausdrücken.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77621-69B6-244A-B352-3A907D568C32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1080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Diese Folie ist die strikte Code-Entsprechung zur mathematischen Konfliktmenge A. A ist noch keine Optimierungsbedingung, sondern eine vorbereitete Menge von Konfliktpaaren. Ein Konfliktpaar bedeutet: zwei Operationen verschiedener Züge benutzen dieselbe Ressource. In beiden Implementierungen passiert das im </a:t>
            </a:r>
            <a:r>
              <a:rPr lang="de-DE" dirty="0" err="1"/>
              <a:t>data_parser</a:t>
            </a:r>
            <a:r>
              <a:rPr lang="de-DE" dirty="0"/>
              <a:t> über </a:t>
            </a:r>
            <a:r>
              <a:rPr lang="de-DE" dirty="0" err="1"/>
              <a:t>find_conflict_pairs</a:t>
            </a:r>
            <a:r>
              <a:rPr lang="de-DE" dirty="0"/>
              <a:t>. Erst auf der nächsten Folie sieht man dann, wie MIP und CP-SAT diese Konfliktpaare unterschiedlich als Constraints verwenden.</a:t>
            </a:r>
          </a:p>
          <a:p>
            <a:endParaRPr lang="de-DE" dirty="0"/>
          </a:p>
          <a:p>
            <a:r>
              <a:rPr lang="de-DE" dirty="0"/>
              <a:t>Für CP-SAT ist diese Folie noch nicht die eigentliche CP-SAT-Stärke, sondern nur die gemeinsame Vorbereitung. Genau wie die Baseline braucht auch CP-SAT zuerst die Liste der Konfliktpaare. Diese Liste sagt: Welche Operationen verschiedener Züge benutzen dieselbe Ressource?</a:t>
            </a:r>
          </a:p>
          <a:p>
            <a:endParaRPr lang="de-DE" dirty="0"/>
          </a:p>
          <a:p>
            <a:r>
              <a:rPr lang="de-DE" dirty="0"/>
              <a:t>Der Unterschied kommt erst danach. Der Parser liefert nur die Paare. CP-SAT nutzt diese Information später, um Intervalle pro Ressource zu sammeln und </a:t>
            </a:r>
            <a:r>
              <a:rPr lang="de-DE" dirty="0" err="1"/>
              <a:t>NoOverlap</a:t>
            </a:r>
            <a:r>
              <a:rPr lang="de-DE" dirty="0"/>
              <a:t>-Constraints zu bauen.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77621-69B6-244A-B352-3A907D568C32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6225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Hier kann man den Unterschied zwischen </a:t>
            </a:r>
            <a:r>
              <a:rPr lang="de-DE" dirty="0" err="1"/>
              <a:t>Gurobi</a:t>
            </a:r>
            <a:r>
              <a:rPr lang="de-DE" dirty="0"/>
              <a:t> und CP-SAT am besten erklären. Im MIP muss ich für jedes Konfliktpaar explizit entscheiden: A vor B oder B vor A. Dafür stehen </a:t>
            </a:r>
            <a:r>
              <a:rPr lang="de-DE" dirty="0" err="1"/>
              <a:t>z_ab</a:t>
            </a:r>
            <a:r>
              <a:rPr lang="de-DE" dirty="0"/>
              <a:t> und </a:t>
            </a:r>
            <a:r>
              <a:rPr lang="de-DE" dirty="0" err="1"/>
              <a:t>z_ba</a:t>
            </a:r>
            <a:r>
              <a:rPr lang="de-DE" dirty="0"/>
              <a:t> im Code. Danach kommen </a:t>
            </a:r>
            <a:r>
              <a:rPr lang="de-DE" dirty="0" err="1"/>
              <a:t>Indicator</a:t>
            </a:r>
            <a:r>
              <a:rPr lang="de-DE" dirty="0"/>
              <a:t> Constraints: Wenn </a:t>
            </a:r>
            <a:r>
              <a:rPr lang="de-DE" dirty="0" err="1"/>
              <a:t>z_ab</a:t>
            </a:r>
            <a:r>
              <a:rPr lang="de-DE" dirty="0"/>
              <a:t> gleich 1 ist, dann muss der Nachfolger von A zeitlich vor B liegen, inklusive release time. CP-SAT kann denselben Sachverhalt </a:t>
            </a:r>
            <a:r>
              <a:rPr lang="de-DE" dirty="0" err="1"/>
              <a:t>scheduling</a:t>
            </a:r>
            <a:r>
              <a:rPr lang="de-DE" dirty="0"/>
              <a:t>-näher formulieren. Jede Ressourcenbelegung wird als Intervall modelliert. Wenn eine release time existiert, wird das Intervall künstlich verlängert. Danach genügt </a:t>
            </a:r>
            <a:r>
              <a:rPr lang="de-DE" dirty="0" err="1"/>
              <a:t>AddNoOverlap</a:t>
            </a:r>
            <a:r>
              <a:rPr lang="de-DE" dirty="0"/>
              <a:t>: Alle Intervalle auf derselben Ressource dürfen sich nicht überschneiden.</a:t>
            </a:r>
          </a:p>
          <a:p>
            <a:endParaRPr lang="de-DE" dirty="0"/>
          </a:p>
          <a:p>
            <a:r>
              <a:rPr lang="de-DE" dirty="0"/>
              <a:t>Das ist die wichtigste CP-SAT-Folie. CP-SAT modelliert eine Ressourcenbelegung als Intervall: Start, Dauer, Ende und Aktivierungsvariable gehören zusammen. Wenn die Operation nicht gewählt wird, ist auch das Intervall nicht aktiv.</a:t>
            </a:r>
          </a:p>
          <a:p>
            <a:endParaRPr lang="de-DE" dirty="0"/>
          </a:p>
          <a:p>
            <a:r>
              <a:rPr lang="de-DE" dirty="0"/>
              <a:t>Für jede Ressource sammelt der Code alle Intervalle, die diese Ressource benutzen. Danach sagt </a:t>
            </a:r>
            <a:r>
              <a:rPr lang="de-DE" dirty="0" err="1"/>
              <a:t>AddNoOverlap</a:t>
            </a:r>
            <a:r>
              <a:rPr lang="de-DE" dirty="0"/>
              <a:t>: Diese Intervalle dürfen sich zeitlich nicht überschneiden. Das ist sehr nah an der realen Bedeutung: Zwei Züge können nicht gleichzeitig denselben Gleisabschnitt belegen.</a:t>
            </a:r>
          </a:p>
          <a:p>
            <a:endParaRPr lang="de-DE" dirty="0"/>
          </a:p>
          <a:p>
            <a:r>
              <a:rPr lang="de-DE" dirty="0"/>
              <a:t>Wenn es eine release time gibt, verlängert der Code das Intervall künstlich. Dadurch wird nicht nur die eigentliche Belegung blockiert, sondern auch der Sicherheitsabstand danach.</a:t>
            </a:r>
          </a:p>
          <a:p>
            <a:endParaRPr lang="de-DE" dirty="0"/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77621-69B6-244A-B352-3A907D568C32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8726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Diese Folie erkläre ich so: Startzeiten allein reichen nicht immer, weil zwei Events sehr nahe oder gleich liegen können. u ist deshalb ein zusätzlicher topologischer Rang. Wenn der Zug von Operation a nach Operation b geht, dann muss u von b größer sein als u von a. Das verhindert auch zyklische oder unklare Reihenfolgen. In der Baseline steht das als </a:t>
            </a:r>
            <a:r>
              <a:rPr lang="de-DE" dirty="0" err="1"/>
              <a:t>Indicator</a:t>
            </a:r>
            <a:r>
              <a:rPr lang="de-DE" dirty="0"/>
              <a:t> Constraint mit y. In CP-SAT wird dieselbe Logik mit </a:t>
            </a:r>
            <a:r>
              <a:rPr lang="de-DE" dirty="0" err="1"/>
              <a:t>OnlyEnforceIf</a:t>
            </a:r>
            <a:r>
              <a:rPr lang="de-DE" dirty="0"/>
              <a:t> geschrieben. Wichtig für die Diskussion: Im Paper ist u ganzzahlig. In der Baseline ist u als kontinuierliche Variable angelegt, funktioniert hier aber als Ordnungsgröße; CP-SAT legt u direkt als Integer an.</a:t>
            </a:r>
          </a:p>
          <a:p>
            <a:endParaRPr lang="de-DE" dirty="0"/>
          </a:p>
          <a:p>
            <a:r>
              <a:rPr lang="de-DE" dirty="0"/>
              <a:t>Auch CP-SAT verwendet u als topologischen Rang. Der Rang ist keine reale Zeit, sondern eine zusätzliche logische Reihenfolge. Wenn y aktiv ist, also wenn eine Operation direkt auf eine andere folgt, dann muss der u-Wert des Nachfolgers größer sein.</a:t>
            </a:r>
          </a:p>
          <a:p>
            <a:endParaRPr lang="de-DE" dirty="0"/>
          </a:p>
          <a:p>
            <a:r>
              <a:rPr lang="de-DE" dirty="0"/>
              <a:t>Bei Ressourcenkonflikten wird u zusätzlich mit </a:t>
            </a:r>
            <a:r>
              <a:rPr lang="de-DE" dirty="0" err="1"/>
              <a:t>z_ab</a:t>
            </a:r>
            <a:r>
              <a:rPr lang="de-DE" dirty="0"/>
              <a:t> oder </a:t>
            </a:r>
            <a:r>
              <a:rPr lang="de-DE" dirty="0" err="1"/>
              <a:t>z_ba</a:t>
            </a:r>
            <a:r>
              <a:rPr lang="de-DE" dirty="0"/>
              <a:t> gekoppelt. Wenn also entschieden wird, dass Zug A vor Zug B kommt, dann muss nicht nur die Zeit passen, sondern auch die logische Reihenfolge. Das hilft, zyklische oder unklare Event-Reihenfolgen zu vermeiden.</a:t>
            </a:r>
          </a:p>
          <a:p>
            <a:endParaRPr lang="de-DE" dirty="0"/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77621-69B6-244A-B352-3A907D568C32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1619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Zum Schluss geht es nicht mehr um das Modell selbst, sondern um die Lösungsausgabe. DISPLIB erwartet eine Liste von Events: welcher Zug, welche Operation, welche Zeit. Beide Modelle machen hier fast dasselbe. Sie gehen durch alle Operationen, prüfen ob x aktiv ist, lesen die Startzeit und schreiben ein Event. Danach wird nach time und zusätzlich nach u sortiert. Das ist wichtig, weil die Verifikation nicht nur den </a:t>
            </a:r>
            <a:r>
              <a:rPr lang="de-DE" dirty="0" err="1"/>
              <a:t>Objective</a:t>
            </a:r>
            <a:r>
              <a:rPr lang="de-DE" dirty="0"/>
              <a:t>-Wert braucht, sondern auch eine kausal saubere Reihenfolge der Events.</a:t>
            </a:r>
          </a:p>
          <a:p>
            <a:endParaRPr lang="de-DE" dirty="0"/>
          </a:p>
          <a:p>
            <a:r>
              <a:rPr lang="de-DE" dirty="0"/>
              <a:t>Beim Export ist der Unterschied nicht mehr die Modellierung, sondern nur die Solver-API. In </a:t>
            </a:r>
            <a:r>
              <a:rPr lang="de-DE" dirty="0" err="1"/>
              <a:t>Gurobi</a:t>
            </a:r>
            <a:r>
              <a:rPr lang="de-DE" dirty="0"/>
              <a:t> liest man die Variablenwerte über .X aus. In CP-SAT liest man Boolesche Werte mit </a:t>
            </a:r>
            <a:r>
              <a:rPr lang="de-DE" dirty="0" err="1"/>
              <a:t>BooleanValue</a:t>
            </a:r>
            <a:r>
              <a:rPr lang="de-DE" dirty="0"/>
              <a:t> und Integer-Werte mit </a:t>
            </a:r>
            <a:r>
              <a:rPr lang="de-DE" dirty="0" err="1"/>
              <a:t>solver.Value</a:t>
            </a:r>
            <a:r>
              <a:rPr lang="de-DE" dirty="0"/>
              <a:t>.</a:t>
            </a:r>
          </a:p>
          <a:p>
            <a:endParaRPr lang="de-DE" dirty="0"/>
          </a:p>
          <a:p>
            <a:r>
              <a:rPr lang="de-DE" dirty="0"/>
              <a:t>Die Logik bleibt gleich: Wenn x aktiv ist, wird die Operation in die Event-Liste aufgenommen. Danach wird nach Startzeit und zusätzlich nach u sortiert. Das ist wichtig, damit die ausgegebene Lösung nicht nur einen Zielfunktionswert hat, sondern auch als DISPLIB-Event-Liste überprüfbar ist.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77621-69B6-244A-B352-3A907D568C32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1792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Bei der Zielfunktion muss ich vorsichtig formulieren: Die Implementierung minimiert die gewichtete Verspätung. Für jedes </a:t>
            </a:r>
            <a:r>
              <a:rPr lang="de-DE" dirty="0" err="1"/>
              <a:t>Objective</a:t>
            </a:r>
            <a:r>
              <a:rPr lang="de-DE" dirty="0"/>
              <a:t>-Element gibt es einen </a:t>
            </a:r>
            <a:r>
              <a:rPr lang="de-DE" dirty="0" err="1"/>
              <a:t>threshold</a:t>
            </a:r>
            <a:r>
              <a:rPr lang="de-DE" dirty="0"/>
              <a:t> und einen </a:t>
            </a:r>
            <a:r>
              <a:rPr lang="de-DE" dirty="0" err="1"/>
              <a:t>coeff</a:t>
            </a:r>
            <a:r>
              <a:rPr lang="de-DE" dirty="0"/>
              <a:t>. Wenn die Operation später als der </a:t>
            </a:r>
            <a:r>
              <a:rPr lang="de-DE" dirty="0" err="1"/>
              <a:t>threshold</a:t>
            </a:r>
            <a:r>
              <a:rPr lang="de-DE" dirty="0"/>
              <a:t> startet, entstehen Kosten. In </a:t>
            </a:r>
            <a:r>
              <a:rPr lang="de-DE" dirty="0" err="1"/>
              <a:t>Gurobi</a:t>
            </a:r>
            <a:r>
              <a:rPr lang="de-DE" dirty="0"/>
              <a:t> wird dafür </a:t>
            </a:r>
            <a:r>
              <a:rPr lang="de-DE" dirty="0" err="1"/>
              <a:t>w_c</a:t>
            </a:r>
            <a:r>
              <a:rPr lang="de-DE" dirty="0"/>
              <a:t> als kontinuierliche Kostenvariable in eine lineare </a:t>
            </a:r>
            <a:r>
              <a:rPr lang="de-DE" dirty="0" err="1"/>
              <a:t>Objective</a:t>
            </a:r>
            <a:r>
              <a:rPr lang="de-DE" dirty="0"/>
              <a:t> summiert. CP-SAT arbeitet ganzzahliger; deshalb wird der Koeffizient mit COEFF_SCALE skaliert, und </a:t>
            </a:r>
            <a:r>
              <a:rPr lang="de-DE" dirty="0" err="1"/>
              <a:t>cost_var</a:t>
            </a:r>
            <a:r>
              <a:rPr lang="de-DE" dirty="0"/>
              <a:t> wird als Integer-Variable gebaut. Wichtig als Caveat: Die volle </a:t>
            </a:r>
            <a:r>
              <a:rPr lang="de-DE" dirty="0" err="1"/>
              <a:t>Step</a:t>
            </a:r>
            <a:r>
              <a:rPr lang="de-DE" dirty="0"/>
              <a:t>-Penalty aus DISPLIB ist in unserem Code nicht komplett identisch umgesetzt; der Code bildet eine vereinfachte gewichtete Delay-Logik ab.</a:t>
            </a:r>
          </a:p>
          <a:p>
            <a:endParaRPr lang="de-DE" dirty="0"/>
          </a:p>
          <a:p>
            <a:r>
              <a:rPr lang="de-DE" dirty="0"/>
              <a:t>Bei CP-SAT muss die Zielfunktion ganzzahlig formuliert werden. Deshalb wird die Verspätung zuerst als </a:t>
            </a:r>
            <a:r>
              <a:rPr lang="de-DE" dirty="0" err="1"/>
              <a:t>over_time</a:t>
            </a:r>
            <a:r>
              <a:rPr lang="de-DE" dirty="0"/>
              <a:t> modelliert. </a:t>
            </a:r>
            <a:r>
              <a:rPr lang="de-DE" dirty="0" err="1"/>
              <a:t>over_time</a:t>
            </a:r>
            <a:r>
              <a:rPr lang="de-DE" dirty="0"/>
              <a:t> misst, wie weit die Startzeit über dem </a:t>
            </a:r>
            <a:r>
              <a:rPr lang="de-DE" dirty="0" err="1"/>
              <a:t>threshold</a:t>
            </a:r>
            <a:r>
              <a:rPr lang="de-DE" dirty="0"/>
              <a:t> liegt.</a:t>
            </a:r>
          </a:p>
          <a:p>
            <a:endParaRPr lang="de-DE" dirty="0"/>
          </a:p>
          <a:p>
            <a:r>
              <a:rPr lang="de-DE" dirty="0"/>
              <a:t>Danach wird daraus </a:t>
            </a:r>
            <a:r>
              <a:rPr lang="de-DE" dirty="0" err="1"/>
              <a:t>cost_var</a:t>
            </a:r>
            <a:r>
              <a:rPr lang="de-DE" dirty="0"/>
              <a:t> berechnet. Weil CP-SAT Integer bevorzugt, wird der Koeffizient mit COEFF_SCALE skaliert. Am Ende minimiert CP-SAT die Summe dieser </a:t>
            </a:r>
            <a:r>
              <a:rPr lang="de-DE" dirty="0" err="1"/>
              <a:t>cost_var</a:t>
            </a:r>
            <a:r>
              <a:rPr lang="de-DE" dirty="0"/>
              <a:t>-Variablen. Inhaltlich ist es also dieselbe Idee wie bei der Baseline: verspätete Operationen erzeugen gewichtete Kosten.</a:t>
            </a:r>
          </a:p>
          <a:p>
            <a:endParaRPr lang="de-DE" dirty="0"/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77621-69B6-244A-B352-3A907D568C32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8019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DF0A73D3-FBC1-4D47-8543-A11BA3B4DC28}"/>
              </a:ext>
            </a:extLst>
          </p:cNvPr>
          <p:cNvSpPr/>
          <p:nvPr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F4CBBA1-954F-4A35-A14D-1D851EF8E326}"/>
              </a:ext>
            </a:extLst>
          </p:cNvPr>
          <p:cNvSpPr txBox="1"/>
          <p:nvPr/>
        </p:nvSpPr>
        <p:spPr>
          <a:xfrm>
            <a:off x="-1776413" y="479425"/>
            <a:ext cx="1576388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Institutslogo: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Dateiformat: PNG in RGB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Skalieren auf</a:t>
            </a:r>
          </a:p>
          <a:p>
            <a:pPr eaLnBrk="1" hangingPunct="1">
              <a:defRPr/>
            </a:pPr>
            <a:r>
              <a:rPr lang="de-DE" altLang="de-DE" sz="1000"/>
              <a:t>     Höhe: 2,26 cm</a:t>
            </a:r>
          </a:p>
          <a:p>
            <a:pPr eaLnBrk="1" hangingPunct="1">
              <a:defRPr/>
            </a:pPr>
            <a:r>
              <a:rPr lang="de-DE" altLang="de-DE" sz="1000"/>
              <a:t>     (Breite variiert je nach   </a:t>
            </a:r>
          </a:p>
          <a:p>
            <a:pPr eaLnBrk="1" hangingPunct="1">
              <a:defRPr/>
            </a:pPr>
            <a:r>
              <a:rPr lang="de-DE" altLang="de-DE" sz="1000"/>
              <a:t>     Schutzraum)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fik 7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19A859E0-99BD-4462-A66E-7FFF62E40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0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1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>
            <a:extLst>
              <a:ext uri="{FF2B5EF4-FFF2-40B4-BE49-F238E27FC236}">
                <a16:creationId xmlns:a16="http://schemas.microsoft.com/office/drawing/2014/main" id="{965939E9-23E5-4822-9F20-1E5729CD1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C54D22BF-B1FC-40F1-832A-3AB19A24FBCE}"/>
              </a:ext>
            </a:extLst>
          </p:cNvPr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err="1">
                <a:latin typeface="+mn-lt"/>
                <a:ea typeface="+mn-ea"/>
              </a:rPr>
              <a:t>Zuschneidewerkzeug</a:t>
            </a:r>
            <a:r>
              <a:rPr lang="de-DE" sz="1000">
                <a:latin typeface="+mn-lt"/>
                <a:ea typeface="+mn-ea"/>
              </a:rPr>
              <a:t> horizontal bis zur ersten oder zweiten Linie ziehen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Grafik 6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CCAD97C0-27D9-4A7C-82D4-A17FE9DE9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1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2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690C6E24-94B2-4220-99A9-3818B4A91586}"/>
              </a:ext>
            </a:extLst>
          </p:cNvPr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err="1">
                <a:latin typeface="+mn-lt"/>
                <a:ea typeface="+mn-ea"/>
              </a:rPr>
              <a:t>Zuschneidewerkzeug</a:t>
            </a:r>
            <a:r>
              <a:rPr lang="de-DE" sz="1000">
                <a:latin typeface="+mn-lt"/>
                <a:ea typeface="+mn-ea"/>
              </a:rPr>
              <a:t> horizontal bis zur ersten oder zweiten Linie ziehen</a:t>
            </a:r>
          </a:p>
        </p:txBody>
      </p:sp>
      <p:pic>
        <p:nvPicPr>
          <p:cNvPr id="5" name="Grafik 9">
            <a:extLst>
              <a:ext uri="{FF2B5EF4-FFF2-40B4-BE49-F238E27FC236}">
                <a16:creationId xmlns:a16="http://schemas.microsoft.com/office/drawing/2014/main" id="{E3EF9CEB-A41E-45D4-A833-3E2B3393F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84000" y="5230801"/>
            <a:ext cx="114840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Grafik 6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75A3AB05-F813-4AC6-9044-5F0DA7A3C8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29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FCEC0078-E1D4-4A54-B33E-F7A0F4720198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fik 5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D05B0B5C-83F5-4414-B2AA-037B41B9C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319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7">
            <a:extLst>
              <a:ext uri="{FF2B5EF4-FFF2-40B4-BE49-F238E27FC236}">
                <a16:creationId xmlns:a16="http://schemas.microsoft.com/office/drawing/2014/main" id="{D5D0E2FC-3DC5-4EA0-A175-0B1CC51FC78A}"/>
              </a:ext>
            </a:extLst>
          </p:cNvPr>
          <p:cNvCxnSpPr/>
          <p:nvPr/>
        </p:nvCxnSpPr>
        <p:spPr>
          <a:xfrm>
            <a:off x="392113" y="30368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fik 5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813E6BA0-BACC-4066-A4A7-81433711D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378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373038" y="1684800"/>
            <a:ext cx="11484000" cy="3193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9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383117" y="1684801"/>
            <a:ext cx="11484000" cy="3751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4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7">
            <a:extLst>
              <a:ext uri="{FF2B5EF4-FFF2-40B4-BE49-F238E27FC236}">
                <a16:creationId xmlns:a16="http://schemas.microsoft.com/office/drawing/2014/main" id="{25821BAF-A998-441B-8191-CE326EE1E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1684338"/>
            <a:ext cx="3635375" cy="398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platzhalter 11"/>
          <p:cNvSpPr>
            <a:spLocks noGrp="1"/>
          </p:cNvSpPr>
          <p:nvPr>
            <p:ph type="body" sz="quarter" idx="14"/>
          </p:nvPr>
        </p:nvSpPr>
        <p:spPr>
          <a:xfrm>
            <a:off x="383117" y="1684800"/>
            <a:ext cx="7560000" cy="398595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154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>
            <a:extLst>
              <a:ext uri="{FF2B5EF4-FFF2-40B4-BE49-F238E27FC236}">
                <a16:creationId xmlns:a16="http://schemas.microsoft.com/office/drawing/2014/main" id="{668FF3C9-89D1-4793-A0F8-160C43D2C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152525"/>
            <a:ext cx="11480800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83117" y="5359401"/>
            <a:ext cx="11484000" cy="4995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9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1878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383117" y="1684800"/>
            <a:ext cx="11484000" cy="3632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noProof="0"/>
              <a:t>Click icon to add chart</a:t>
            </a:r>
            <a:endParaRPr lang="de-DE" noProof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6468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C3FBA6D-D185-4E65-BA58-F6D60A8CDCD2}"/>
              </a:ext>
            </a:extLst>
          </p:cNvPr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>
                <a:solidFill>
                  <a:schemeClr val="tx2"/>
                </a:solidFill>
              </a:rPr>
              <a:t>Vielen Dank</a:t>
            </a:r>
            <a:br>
              <a:rPr lang="de-DE" altLang="de-DE" sz="3200" b="1">
                <a:solidFill>
                  <a:schemeClr val="tx2"/>
                </a:solidFill>
              </a:rPr>
            </a:br>
            <a:r>
              <a:rPr lang="de-DE" altLang="de-DE" sz="3200" b="1">
                <a:solidFill>
                  <a:schemeClr val="tx2"/>
                </a:solidFill>
              </a:rPr>
              <a:t>für Ihre Aufmerksamkeit</a:t>
            </a:r>
            <a:endParaRPr lang="en-US" altLang="de-DE" sz="3200" b="1">
              <a:solidFill>
                <a:schemeClr val="tx2"/>
              </a:solidFill>
            </a:endParaRPr>
          </a:p>
        </p:txBody>
      </p:sp>
      <p:cxnSp>
        <p:nvCxnSpPr>
          <p:cNvPr id="5" name="Gerader Verbinder 11">
            <a:extLst>
              <a:ext uri="{FF2B5EF4-FFF2-40B4-BE49-F238E27FC236}">
                <a16:creationId xmlns:a16="http://schemas.microsoft.com/office/drawing/2014/main" id="{7EAD0A55-458C-461C-8A98-FB757E9F4A7E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fik 5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BF6B2EA4-A7DF-477E-A555-153DA86B2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1686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926CE-F9EE-BF3D-2A2E-1911B5493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DAD42-091A-D2B5-BD4F-7F527F7EB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306EB-FB49-CB5A-8484-EA061946B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5A80C-4252-4477-8AC9-3985050A38FC}" type="datetimeFigureOut">
              <a:rPr lang="en-DE" smtClean="0"/>
              <a:t>19/05/2026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B4696-78C0-B4B7-5964-9B824CCAB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F26C3-C462-BC2E-D9FC-F48B796A0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4D59F-9EAF-44A0-9EC7-CCBBDCCFF17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984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8CBF0E6-97C3-473E-A6E8-CB800563BB33}"/>
              </a:ext>
            </a:extLst>
          </p:cNvPr>
          <p:cNvSpPr txBox="1">
            <a:spLocks/>
          </p:cNvSpPr>
          <p:nvPr/>
        </p:nvSpPr>
        <p:spPr>
          <a:xfrm>
            <a:off x="1195388" y="6227763"/>
            <a:ext cx="7002462" cy="6302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900">
                <a:solidFill>
                  <a:schemeClr val="tx2"/>
                </a:solidFill>
              </a:rPr>
              <a:t>APPL </a:t>
            </a:r>
            <a:r>
              <a:rPr lang="de-DE" altLang="de-DE" sz="900" err="1">
                <a:solidFill>
                  <a:schemeClr val="tx2"/>
                </a:solidFill>
              </a:rPr>
              <a:t>Optimization</a:t>
            </a:r>
            <a:r>
              <a:rPr lang="de-DE" altLang="de-DE" sz="900">
                <a:solidFill>
                  <a:schemeClr val="tx2"/>
                </a:solidFill>
              </a:rPr>
              <a:t> Lab - Zwischenpräsentation|  </a:t>
            </a:r>
            <a:r>
              <a:rPr lang="de-DE" altLang="de-DE" sz="900" err="1">
                <a:solidFill>
                  <a:schemeClr val="tx2"/>
                </a:solidFill>
              </a:rPr>
              <a:t>Tianyang</a:t>
            </a:r>
            <a:r>
              <a:rPr lang="de-DE" altLang="de-DE" sz="900">
                <a:solidFill>
                  <a:schemeClr val="tx2"/>
                </a:solidFill>
              </a:rPr>
              <a:t> Bai, Lea Gierenz  |  20.05.2026  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03F14107-F8A8-4432-ADBA-17617EB7E0D5}"/>
              </a:ext>
            </a:extLst>
          </p:cNvPr>
          <p:cNvCxnSpPr/>
          <p:nvPr/>
        </p:nvCxnSpPr>
        <p:spPr>
          <a:xfrm>
            <a:off x="360363" y="8143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A4433757-720D-4347-908D-4390B2080B31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feld 6">
            <a:extLst>
              <a:ext uri="{FF2B5EF4-FFF2-40B4-BE49-F238E27FC236}">
                <a16:creationId xmlns:a16="http://schemas.microsoft.com/office/drawing/2014/main" id="{1EFD7C95-1B86-405C-AB6F-F43FD0AF2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784350" y="5073650"/>
            <a:ext cx="1668462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Fußzeile anpassen:</a:t>
            </a:r>
            <a:endParaRPr lang="de-DE" altLang="de-DE" sz="1000"/>
          </a:p>
          <a:p>
            <a:pPr eaLnBrk="1" hangingPunct="1">
              <a:defRPr/>
            </a:pPr>
            <a:r>
              <a:rPr lang="de-DE" altLang="de-DE" sz="1000"/>
              <a:t>Zum Anpassen der Fußzeile unter Karteireiter Ansicht &gt; auf Folienmaster klicken. Links in der Übersicht auf die oberste Folie scrollen und dort in die Fußzeile klicken. So wird der Text automatisch auf allen Seiten angepasst.</a:t>
            </a:r>
            <a:endParaRPr lang="de-DE" altLang="de-DE" sz="1000" b="1"/>
          </a:p>
        </p:txBody>
      </p:sp>
      <p:sp>
        <p:nvSpPr>
          <p:cNvPr id="1031" name="Textfeld 13">
            <a:extLst>
              <a:ext uri="{FF2B5EF4-FFF2-40B4-BE49-F238E27FC236}">
                <a16:creationId xmlns:a16="http://schemas.microsoft.com/office/drawing/2014/main" id="{6F5E163A-F32F-4307-A238-CBCE094AF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96AFAB6-A7B6-45C5-B5AC-8B3CADFAAA85}" type="slidenum">
              <a:rPr lang="de-DE" altLang="de-DE" sz="900">
                <a:solidFill>
                  <a:schemeClr val="tx2"/>
                </a:solidFill>
              </a:rPr>
              <a:pPr eaLnBrk="1" hangingPunct="1"/>
              <a:t>‹#›</a:t>
            </a:fld>
            <a:endParaRPr lang="de-DE" altLang="de-DE" sz="900">
              <a:solidFill>
                <a:schemeClr val="tx2"/>
              </a:solidFill>
            </a:endParaRPr>
          </a:p>
        </p:txBody>
      </p:sp>
      <p:pic>
        <p:nvPicPr>
          <p:cNvPr id="3" name="Grafik 2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9A65EF06-F076-4140-B064-D92FFD5FE32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212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46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6341724-AA7A-7643-5484-DEFE07CAB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00" y="4737600"/>
            <a:ext cx="11484000" cy="540000"/>
          </a:xfrm>
        </p:spPr>
        <p:txBody>
          <a:bodyPr/>
          <a:lstStyle/>
          <a:p>
            <a:r>
              <a:rPr lang="en-US">
                <a:latin typeface="Arial"/>
                <a:ea typeface="ＭＳ Ｐゴシック"/>
                <a:cs typeface="Arial"/>
              </a:rPr>
              <a:t>APPL Optimization Lab - </a:t>
            </a:r>
            <a:r>
              <a:rPr lang="en-US" err="1">
                <a:latin typeface="Arial"/>
                <a:ea typeface="ＭＳ Ｐゴシック"/>
                <a:cs typeface="Arial"/>
              </a:rPr>
              <a:t>Zwischenpräsentation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0E28D7B-B42A-D1A0-DA66-D1D2A84DF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00" y="5230801"/>
            <a:ext cx="11484000" cy="812813"/>
          </a:xfrm>
        </p:spPr>
        <p:txBody>
          <a:bodyPr lIns="0" tIns="0" rIns="0" bIns="0" anchor="t"/>
          <a:lstStyle/>
          <a:p>
            <a:r>
              <a:rPr lang="en-US">
                <a:latin typeface="Arial"/>
                <a:ea typeface="ＭＳ Ｐゴシック"/>
                <a:cs typeface="Arial"/>
              </a:rPr>
              <a:t>Das Train Dispatching Problem </a:t>
            </a:r>
            <a:r>
              <a:rPr lang="en-US" err="1">
                <a:latin typeface="Arial"/>
                <a:ea typeface="ＭＳ Ｐゴシック"/>
                <a:cs typeface="Arial"/>
              </a:rPr>
              <a:t>mit</a:t>
            </a:r>
            <a:r>
              <a:rPr lang="en-US">
                <a:latin typeface="Arial"/>
                <a:ea typeface="ＭＳ Ｐゴシック"/>
                <a:cs typeface="Arial"/>
              </a:rPr>
              <a:t> OR – Tools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20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EF9835-8C15-5FCB-E85F-E5BE4838B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600"/>
              <a:t>Das Train </a:t>
            </a:r>
            <a:r>
              <a:rPr lang="de-DE" sz="2600" err="1"/>
              <a:t>Dispatching</a:t>
            </a:r>
            <a:r>
              <a:rPr lang="de-DE" sz="2600"/>
              <a:t> Problem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8399310-43A7-26A3-D70F-4DBF6024E3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 flipV="1">
            <a:off x="-150283" y="8532031"/>
            <a:ext cx="11484000" cy="932009"/>
          </a:xfrm>
        </p:spPr>
        <p:txBody>
          <a:bodyPr/>
          <a:lstStyle/>
          <a:p>
            <a:endParaRPr lang="de-DE"/>
          </a:p>
        </p:txBody>
      </p:sp>
      <p:pic>
        <p:nvPicPr>
          <p:cNvPr id="5" name="Inhaltsplatzhalter 6" descr="Ein Bild, das Diagramm, Reihe, Screenshot, Design enthält.&#10;&#10;Automatisch generierte Beschreibung">
            <a:extLst>
              <a:ext uri="{FF2B5EF4-FFF2-40B4-BE49-F238E27FC236}">
                <a16:creationId xmlns:a16="http://schemas.microsoft.com/office/drawing/2014/main" id="{631EF1B8-5A44-7A92-067E-82AFE81273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165" y="2838097"/>
            <a:ext cx="7669669" cy="1605280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D0094F7E-BA69-B74D-55BA-393396D4BF39}"/>
              </a:ext>
            </a:extLst>
          </p:cNvPr>
          <p:cNvSpPr txBox="1"/>
          <p:nvPr/>
        </p:nvSpPr>
        <p:spPr>
          <a:xfrm>
            <a:off x="595997" y="1141619"/>
            <a:ext cx="4860000" cy="172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r>
              <a:rPr lang="de-DE" b="1"/>
              <a:t>	Zielsetzungen:</a:t>
            </a:r>
            <a:endParaRPr lang="de-DE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/>
              <a:t>Ressourcenbelegung 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/>
              <a:t>Sicherheitsabstände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/>
              <a:t>Fahrplanstabilität	</a:t>
            </a:r>
            <a:endParaRPr lang="de-DE" b="1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3FC7A21-B64E-1EA2-753C-BE38C184BD09}"/>
              </a:ext>
            </a:extLst>
          </p:cNvPr>
          <p:cNvSpPr txBox="1"/>
          <p:nvPr/>
        </p:nvSpPr>
        <p:spPr>
          <a:xfrm>
            <a:off x="6736005" y="1110097"/>
            <a:ext cx="4860000" cy="172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r>
              <a:rPr lang="de-DE" b="1"/>
              <a:t>	Herausforderungen: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/>
              <a:t>Routing und Scheduling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/>
              <a:t>Viele Konfliktpaare 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/>
              <a:t>Große Instanzen</a:t>
            </a:r>
          </a:p>
        </p:txBody>
      </p:sp>
      <p:pic>
        <p:nvPicPr>
          <p:cNvPr id="24" name="Inhaltsplatzhalter 23" descr="Volltreffer Silhouette">
            <a:extLst>
              <a:ext uri="{FF2B5EF4-FFF2-40B4-BE49-F238E27FC236}">
                <a16:creationId xmlns:a16="http://schemas.microsoft.com/office/drawing/2014/main" id="{41A29DFB-248E-B26B-B26D-91E291E1F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997" y="1268783"/>
            <a:ext cx="543600" cy="543600"/>
          </a:xfrm>
        </p:spPr>
      </p:pic>
      <p:pic>
        <p:nvPicPr>
          <p:cNvPr id="26" name="Grafik 25" descr="Berge Silhouette">
            <a:extLst>
              <a:ext uri="{FF2B5EF4-FFF2-40B4-BE49-F238E27FC236}">
                <a16:creationId xmlns:a16="http://schemas.microsoft.com/office/drawing/2014/main" id="{79D5E890-7A21-66BD-D372-88A9E53D9B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6005" y="1267642"/>
            <a:ext cx="543600" cy="543600"/>
          </a:xfrm>
          <a:prstGeom prst="rect">
            <a:avLst/>
          </a:prstGeom>
        </p:spPr>
      </p:pic>
      <p:sp>
        <p:nvSpPr>
          <p:cNvPr id="27" name="Textfeld 26">
            <a:extLst>
              <a:ext uri="{FF2B5EF4-FFF2-40B4-BE49-F238E27FC236}">
                <a16:creationId xmlns:a16="http://schemas.microsoft.com/office/drawing/2014/main" id="{52DD5A65-B5D1-035E-C940-7C606E6FF4B1}"/>
              </a:ext>
            </a:extLst>
          </p:cNvPr>
          <p:cNvSpPr txBox="1"/>
          <p:nvPr/>
        </p:nvSpPr>
        <p:spPr>
          <a:xfrm>
            <a:off x="597600" y="4965819"/>
            <a:ext cx="11212003" cy="504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r>
              <a:rPr lang="de-DE"/>
              <a:t>		</a:t>
            </a:r>
            <a:r>
              <a:rPr lang="de-DE" b="1"/>
              <a:t>Viele Konfliktpaare führen zu komplexen hohen Laufzeiten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01E51B1-389D-4C0B-5088-384A3E3B1FF5}"/>
              </a:ext>
            </a:extLst>
          </p:cNvPr>
          <p:cNvSpPr txBox="1"/>
          <p:nvPr/>
        </p:nvSpPr>
        <p:spPr>
          <a:xfrm>
            <a:off x="595997" y="5632472"/>
            <a:ext cx="7818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65000"/>
                  </a:schemeClr>
                </a:solidFill>
              </a:rPr>
              <a:t>Quelle: https://</a:t>
            </a:r>
            <a:r>
              <a:rPr lang="de-DE" sz="1200" err="1">
                <a:solidFill>
                  <a:schemeClr val="bg1">
                    <a:lumMod val="65000"/>
                  </a:schemeClr>
                </a:solidFill>
              </a:rPr>
              <a:t>displib.github.io</a:t>
            </a:r>
            <a:r>
              <a:rPr lang="de-DE" sz="1200">
                <a:solidFill>
                  <a:schemeClr val="bg1">
                    <a:lumMod val="65000"/>
                  </a:schemeClr>
                </a:solidFill>
              </a:rPr>
              <a:t> </a:t>
            </a:r>
          </a:p>
        </p:txBody>
      </p:sp>
      <p:pic>
        <p:nvPicPr>
          <p:cNvPr id="32" name="Grafik 31" descr="Puzzleteile Silhouette">
            <a:extLst>
              <a:ext uri="{FF2B5EF4-FFF2-40B4-BE49-F238E27FC236}">
                <a16:creationId xmlns:a16="http://schemas.microsoft.com/office/drawing/2014/main" id="{08D3B996-55E1-5EA9-8A65-23CB0AF964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9597" y="4889838"/>
            <a:ext cx="646331" cy="646331"/>
          </a:xfrm>
          <a:prstGeom prst="rect">
            <a:avLst/>
          </a:prstGeom>
        </p:spPr>
      </p:pic>
      <p:pic>
        <p:nvPicPr>
          <p:cNvPr id="37" name="Grafik 36" descr="Ein Bild, das Reihe, Diagramm, Screenshot, Design enthält.&#10;&#10;Automatisch generierte Beschreibung">
            <a:extLst>
              <a:ext uri="{FF2B5EF4-FFF2-40B4-BE49-F238E27FC236}">
                <a16:creationId xmlns:a16="http://schemas.microsoft.com/office/drawing/2014/main" id="{2F51D167-348A-F11D-4040-21E1F668899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7" r="12517"/>
          <a:stretch/>
        </p:blipFill>
        <p:spPr>
          <a:xfrm>
            <a:off x="2042309" y="3166345"/>
            <a:ext cx="8107379" cy="147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618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48A64F-E82B-F8F2-D2A1-7BE32C86F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600"/>
              <a:t>Warum OR – Tools?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5F439EE-A2AB-D369-B9E7-CE5A479CA5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4000" y="7506481"/>
            <a:ext cx="11484000" cy="3751263"/>
          </a:xfrm>
        </p:spPr>
        <p:txBody>
          <a:bodyPr/>
          <a:lstStyle/>
          <a:p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1038E1F-385C-5375-EF69-7F084BB5F853}"/>
              </a:ext>
            </a:extLst>
          </p:cNvPr>
          <p:cNvSpPr txBox="1"/>
          <p:nvPr/>
        </p:nvSpPr>
        <p:spPr>
          <a:xfrm>
            <a:off x="384000" y="1108440"/>
            <a:ext cx="11484000" cy="504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de-DE" b="1"/>
              <a:t>Wie lösen wir das komplexe Train </a:t>
            </a:r>
            <a:r>
              <a:rPr lang="de-DE" b="1" err="1"/>
              <a:t>Dispatching</a:t>
            </a:r>
            <a:r>
              <a:rPr lang="de-DE" b="1"/>
              <a:t> Problem effizient?</a:t>
            </a:r>
          </a:p>
        </p:txBody>
      </p:sp>
      <p:pic>
        <p:nvPicPr>
          <p:cNvPr id="11" name="Inhaltsplatzhalter 10" descr="Hilfe Silhouette">
            <a:extLst>
              <a:ext uri="{FF2B5EF4-FFF2-40B4-BE49-F238E27FC236}">
                <a16:creationId xmlns:a16="http://schemas.microsoft.com/office/drawing/2014/main" id="{D064E7D0-F533-7D7F-EF6D-2FECC669DB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44480" y="1088640"/>
            <a:ext cx="543600" cy="543600"/>
          </a:xfr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7DBA4029-E224-0645-8885-9CEECEAD86BA}"/>
              </a:ext>
            </a:extLst>
          </p:cNvPr>
          <p:cNvSpPr/>
          <p:nvPr/>
        </p:nvSpPr>
        <p:spPr>
          <a:xfrm>
            <a:off x="1597680" y="2243340"/>
            <a:ext cx="1008000" cy="1008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8" name="Grafik 27" descr="Uhr Silhouette">
            <a:extLst>
              <a:ext uri="{FF2B5EF4-FFF2-40B4-BE49-F238E27FC236}">
                <a16:creationId xmlns:a16="http://schemas.microsoft.com/office/drawing/2014/main" id="{941CFF0F-551D-32D7-E318-DCD85740D4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4480" y="2290140"/>
            <a:ext cx="914400" cy="914400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AE2CC0C2-6976-F1E6-0E9C-5373B4131AAB}"/>
              </a:ext>
            </a:extLst>
          </p:cNvPr>
          <p:cNvSpPr/>
          <p:nvPr/>
        </p:nvSpPr>
        <p:spPr>
          <a:xfrm>
            <a:off x="9646320" y="2243340"/>
            <a:ext cx="1008000" cy="1008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A996DA8-4F2A-A9F8-DE58-E6AA98F1C95E}"/>
              </a:ext>
            </a:extLst>
          </p:cNvPr>
          <p:cNvSpPr/>
          <p:nvPr/>
        </p:nvSpPr>
        <p:spPr>
          <a:xfrm>
            <a:off x="5592000" y="2243340"/>
            <a:ext cx="1008000" cy="1008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500">
                <a:solidFill>
                  <a:schemeClr val="tx2"/>
                </a:solidFill>
              </a:rPr>
              <a:t>Big-M</a:t>
            </a:r>
          </a:p>
        </p:txBody>
      </p:sp>
      <p:pic>
        <p:nvPicPr>
          <p:cNvPr id="34" name="Grafik 33" descr="Marke Kreuz Silhouette">
            <a:extLst>
              <a:ext uri="{FF2B5EF4-FFF2-40B4-BE49-F238E27FC236}">
                <a16:creationId xmlns:a16="http://schemas.microsoft.com/office/drawing/2014/main" id="{89EA40E1-3275-81B3-0BE2-E4A2E70A8D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2290140"/>
            <a:ext cx="914400" cy="914400"/>
          </a:xfrm>
          <a:prstGeom prst="rect">
            <a:avLst/>
          </a:prstGeom>
        </p:spPr>
      </p:pic>
      <p:pic>
        <p:nvPicPr>
          <p:cNvPr id="36" name="Grafik 35" descr="Volltreffer Silhouette">
            <a:extLst>
              <a:ext uri="{FF2B5EF4-FFF2-40B4-BE49-F238E27FC236}">
                <a16:creationId xmlns:a16="http://schemas.microsoft.com/office/drawing/2014/main" id="{848F7BCA-F5C9-ED38-B449-CF8817DD2D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3120" y="2291220"/>
            <a:ext cx="914400" cy="914400"/>
          </a:xfrm>
          <a:prstGeom prst="rect">
            <a:avLst/>
          </a:prstGeom>
        </p:spPr>
      </p:pic>
      <p:sp>
        <p:nvSpPr>
          <p:cNvPr id="37" name="Textfeld 36">
            <a:extLst>
              <a:ext uri="{FF2B5EF4-FFF2-40B4-BE49-F238E27FC236}">
                <a16:creationId xmlns:a16="http://schemas.microsoft.com/office/drawing/2014/main" id="{1A6F9FD8-BC3A-784A-6361-99678AD7D7F5}"/>
              </a:ext>
            </a:extLst>
          </p:cNvPr>
          <p:cNvSpPr txBox="1"/>
          <p:nvPr/>
        </p:nvSpPr>
        <p:spPr>
          <a:xfrm>
            <a:off x="722460" y="3429000"/>
            <a:ext cx="2758440" cy="733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/>
              <a:t>Scheduling orientiert</a:t>
            </a:r>
          </a:p>
          <a:p>
            <a:pPr algn="ctr">
              <a:lnSpc>
                <a:spcPct val="150000"/>
              </a:lnSpc>
            </a:pPr>
            <a:r>
              <a:rPr lang="de-DE"/>
              <a:t>Zeit als Intervall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EDBF2E69-52A1-B2BE-AC26-340F4BE8B713}"/>
              </a:ext>
            </a:extLst>
          </p:cNvPr>
          <p:cNvSpPr txBox="1"/>
          <p:nvPr/>
        </p:nvSpPr>
        <p:spPr>
          <a:xfrm>
            <a:off x="4606290" y="3429000"/>
            <a:ext cx="2979420" cy="733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/>
              <a:t>Keine Big-M </a:t>
            </a:r>
            <a:r>
              <a:rPr lang="de-DE" b="1" err="1"/>
              <a:t>Constraints</a:t>
            </a:r>
            <a:endParaRPr lang="de-DE" b="1"/>
          </a:p>
          <a:p>
            <a:pPr algn="ctr">
              <a:lnSpc>
                <a:spcPct val="150000"/>
              </a:lnSpc>
            </a:pPr>
            <a:r>
              <a:rPr lang="de-DE" err="1"/>
              <a:t>AddNoOverLap</a:t>
            </a:r>
            <a:r>
              <a:rPr lang="de-DE"/>
              <a:t> statt Big-M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D7FCCD28-2201-2276-2C02-541D7157CE12}"/>
              </a:ext>
            </a:extLst>
          </p:cNvPr>
          <p:cNvSpPr txBox="1"/>
          <p:nvPr/>
        </p:nvSpPr>
        <p:spPr>
          <a:xfrm>
            <a:off x="8711100" y="3420575"/>
            <a:ext cx="2758440" cy="733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/>
              <a:t>Exakter Solver</a:t>
            </a:r>
          </a:p>
          <a:p>
            <a:pPr algn="ctr">
              <a:lnSpc>
                <a:spcPct val="150000"/>
              </a:lnSpc>
            </a:pPr>
            <a:r>
              <a:rPr lang="de-DE"/>
              <a:t>SAT + CP + LNS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5B80CE83-D04D-1381-13A2-82AC8AD38CA3}"/>
              </a:ext>
            </a:extLst>
          </p:cNvPr>
          <p:cNvSpPr txBox="1"/>
          <p:nvPr/>
        </p:nvSpPr>
        <p:spPr>
          <a:xfrm>
            <a:off x="396476" y="4920953"/>
            <a:ext cx="11484000" cy="64633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r>
              <a:rPr lang="de-DE"/>
              <a:t>				</a:t>
            </a:r>
            <a:r>
              <a:rPr lang="de-DE" b="1"/>
              <a:t>CP-SAT reduziert den Suchraum und</a:t>
            </a:r>
          </a:p>
          <a:p>
            <a:r>
              <a:rPr lang="de-DE" b="1"/>
              <a:t>				liefert schneller optimale Lösungen.</a:t>
            </a:r>
          </a:p>
        </p:txBody>
      </p:sp>
      <p:pic>
        <p:nvPicPr>
          <p:cNvPr id="55" name="Grafik 54" descr="Marke neu Silhouette">
            <a:extLst>
              <a:ext uri="{FF2B5EF4-FFF2-40B4-BE49-F238E27FC236}">
                <a16:creationId xmlns:a16="http://schemas.microsoft.com/office/drawing/2014/main" id="{1A532CFB-2AB4-5497-4F48-6C05DC23DC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05680" y="4853935"/>
            <a:ext cx="780366" cy="78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148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9E2219-414A-B8A7-8866-534F988B3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>
                <a:solidFill>
                  <a:srgbClr val="00549F"/>
                </a:solidFill>
                <a:latin typeface="Aptos Display"/>
                <a:ea typeface="Aptos Display"/>
                <a:cs typeface="Aptos Display"/>
              </a:rPr>
              <a:t>Variablen: dieselbe Bedeutung, andere Solver-Bausteine</a:t>
            </a:r>
            <a:endParaRPr lang="de-DE" sz="26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39EEC74-9249-C4E1-F449-FDD1A71EB6E2}"/>
              </a:ext>
            </a:extLst>
          </p:cNvPr>
          <p:cNvSpPr txBox="1"/>
          <p:nvPr/>
        </p:nvSpPr>
        <p:spPr>
          <a:xfrm>
            <a:off x="4747260" y="51816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de-D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3950234-201E-5F3F-6A83-903683BCA26E}"/>
              </a:ext>
            </a:extLst>
          </p:cNvPr>
          <p:cNvSpPr/>
          <p:nvPr/>
        </p:nvSpPr>
        <p:spPr>
          <a:xfrm>
            <a:off x="384000" y="2979230"/>
            <a:ext cx="5592725" cy="296437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C9D1D9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t" anchorCtr="0"/>
          <a:lstStyle/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{} # x[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self.y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{} #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y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op_a.id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op_b.id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self.t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{} # t[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{} #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u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</a:t>
            </a:r>
          </a:p>
          <a:p>
            <a:endParaRPr lang="de-DE" sz="8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self.instance.trains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train.operations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=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self.model.addVar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vtype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=GRB.BINARY,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	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name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=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f"x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}_{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}")</a:t>
            </a:r>
          </a:p>
          <a:p>
            <a:endParaRPr lang="de-DE" sz="8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ub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op.start_ub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op.start_ub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is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not None and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op.start_ub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&lt;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float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('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inf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‘)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else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GRB.INFINITY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self.t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=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self.model.addVar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lb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=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op.start_lb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ub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=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ub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vtype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=GRB.CONTINUOUS,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name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=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f"t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}_{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}")</a:t>
            </a:r>
          </a:p>
          <a:p>
            <a:endParaRPr lang="de-DE" sz="8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=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self.model.addVar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lb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=0, 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vtype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=GRB.CONTINUOUS,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name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=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f"u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}_{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}")</a:t>
            </a:r>
          </a:p>
          <a:p>
            <a:endParaRPr lang="de-DE" sz="8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op.successors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self.y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=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self.model.addVar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vtype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=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	GRB.BINARY, 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name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=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f"y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}_{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}_{</a:t>
            </a:r>
            <a:r>
              <a:rPr lang="de-DE" sz="8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8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E6DA61-16D1-AB2E-3680-72408345476D}"/>
              </a:ext>
            </a:extLst>
          </p:cNvPr>
          <p:cNvSpPr/>
          <p:nvPr/>
        </p:nvSpPr>
        <p:spPr>
          <a:xfrm>
            <a:off x="6275275" y="900114"/>
            <a:ext cx="5592725" cy="50434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C9D1D9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t" anchorCtr="0"/>
          <a:lstStyle/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endParaRPr lang="de-DE" sz="9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endParaRPr lang="de-DE" sz="9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endParaRPr lang="de-DE" sz="9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{}  # x[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]: Boolean, 1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operation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is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selected</a:t>
            </a:r>
            <a:endParaRPr lang="de-DE" sz="9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self.y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{}  #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y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op_a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op_b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]: Boolean, 1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sequence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A -&gt; B </a:t>
            </a: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is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taken</a:t>
            </a:r>
            <a:endParaRPr lang="de-DE" sz="9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{}  #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u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]: Integer,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topological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sequence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rank</a:t>
            </a:r>
          </a:p>
          <a:p>
            <a:endParaRPr lang="de-DE" sz="9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self.starts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{}   #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starts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]: Integer,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start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time</a:t>
            </a: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self.durations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{} #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durations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]: Integer,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duration</a:t>
            </a:r>
            <a:endParaRPr lang="de-DE" sz="9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self.ends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{}     #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ends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]: Integer, end time</a:t>
            </a:r>
          </a:p>
          <a:p>
            <a:endParaRPr lang="de-DE" sz="9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=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self.model.NewBoolVar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f"x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}_{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}")</a:t>
            </a: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=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self.model.NewIntVar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(0,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sum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len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tr.operations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 </a:t>
            </a: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self.instance.trains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),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f"u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}_{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}")</a:t>
            </a:r>
          </a:p>
          <a:p>
            <a:endParaRPr lang="de-DE" sz="9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self.starts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=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self.model.NewIntVar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lb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ub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f"st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}_{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}")</a:t>
            </a: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self.durations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=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self.model.NewIntVar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int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op.min_duration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), </a:t>
            </a: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self.horizon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f"dur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}_{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}")</a:t>
            </a: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self.ends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=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self.model.NewIntVar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lb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+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int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op.min_duration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), </a:t>
            </a: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self.horizon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+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self.horizon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f"end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}_{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}")</a:t>
            </a:r>
          </a:p>
          <a:p>
            <a:endParaRPr lang="de-DE" sz="9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100" b="1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self.model.NewOptionalIntervalVar</a:t>
            </a:r>
            <a:r>
              <a:rPr lang="de-DE" sz="1100" b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(</a:t>
            </a: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100" b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1100" b="1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self.starts</a:t>
            </a:r>
            <a:r>
              <a:rPr lang="de-DE" sz="1100" b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1100" b="1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1100" b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1100" b="1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1100" b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], </a:t>
            </a:r>
            <a:r>
              <a:rPr lang="de-DE" sz="1100" b="1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self.durations</a:t>
            </a:r>
            <a:r>
              <a:rPr lang="de-DE" sz="1100" b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1100" b="1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1100" b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1100" b="1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1100" b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],</a:t>
            </a: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100" b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1100" b="1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self.ends</a:t>
            </a:r>
            <a:r>
              <a:rPr lang="de-DE" sz="1100" b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1100" b="1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1100" b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1100" b="1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1100" b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], </a:t>
            </a:r>
            <a:r>
              <a:rPr lang="de-DE" sz="1100" b="1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self.x</a:t>
            </a:r>
            <a:r>
              <a:rPr lang="de-DE" sz="1100" b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1100" b="1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1100" b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1100" b="1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1100" b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], </a:t>
            </a: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100" b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1100" b="1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f"iv</a:t>
            </a:r>
            <a:r>
              <a:rPr lang="de-DE" sz="1100" b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_{</a:t>
            </a:r>
            <a:r>
              <a:rPr lang="de-DE" sz="1100" b="1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1100" b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}_{</a:t>
            </a:r>
            <a:r>
              <a:rPr lang="de-DE" sz="1100" b="1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1100" b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}")</a:t>
            </a:r>
          </a:p>
          <a:p>
            <a:endParaRPr lang="de-DE" sz="9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op.successors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self.y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= 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self.model.NewBoolVar</a:t>
            </a:r>
            <a:endParaRPr lang="de-DE" sz="9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(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f"y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}_{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}_{</a:t>
            </a:r>
            <a:r>
              <a:rPr lang="de-DE" sz="9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9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}")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06C25AF-96B9-BBE3-DB08-AC630A681128}"/>
              </a:ext>
            </a:extLst>
          </p:cNvPr>
          <p:cNvSpPr txBox="1"/>
          <p:nvPr/>
        </p:nvSpPr>
        <p:spPr>
          <a:xfrm>
            <a:off x="383999" y="5605045"/>
            <a:ext cx="5592725" cy="33855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err="1"/>
              <a:t>addVar</a:t>
            </a:r>
            <a:r>
              <a:rPr lang="de-DE" sz="1600"/>
              <a:t> erzeugt echte </a:t>
            </a:r>
            <a:r>
              <a:rPr lang="de-DE" sz="1600" err="1"/>
              <a:t>Gurobi</a:t>
            </a:r>
            <a:r>
              <a:rPr lang="de-DE" sz="1600"/>
              <a:t> – Variablen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4DA7A88B-0BD4-4EB0-B5AF-D26295B82B9C}"/>
              </a:ext>
            </a:extLst>
          </p:cNvPr>
          <p:cNvSpPr txBox="1"/>
          <p:nvPr/>
        </p:nvSpPr>
        <p:spPr>
          <a:xfrm>
            <a:off x="383998" y="2661100"/>
            <a:ext cx="5592725" cy="3385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Baseline/ </a:t>
            </a:r>
            <a:r>
              <a:rPr lang="de-DE" sz="1600" b="1" err="1"/>
              <a:t>Gurobi</a:t>
            </a:r>
            <a:endParaRPr lang="de-DE" sz="1600" b="1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68A4BE8-75C7-360E-7681-4683846E08AD}"/>
              </a:ext>
            </a:extLst>
          </p:cNvPr>
          <p:cNvSpPr txBox="1"/>
          <p:nvPr/>
        </p:nvSpPr>
        <p:spPr>
          <a:xfrm>
            <a:off x="6275275" y="900114"/>
            <a:ext cx="5592725" cy="3385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b="1"/>
              <a:t>Extended</a:t>
            </a:r>
            <a:r>
              <a:rPr lang="de-DE" sz="1600" b="1" dirty="0"/>
              <a:t>/ CP-SAT</a:t>
            </a:r>
            <a:endParaRPr lang="de-DE" sz="1600" b="1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59ED3F7-88C1-37B6-E77A-D0000EFE8724}"/>
              </a:ext>
            </a:extLst>
          </p:cNvPr>
          <p:cNvSpPr txBox="1"/>
          <p:nvPr/>
        </p:nvSpPr>
        <p:spPr>
          <a:xfrm>
            <a:off x="6275274" y="5605045"/>
            <a:ext cx="5592725" cy="33855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/>
              <a:t>CP-SAT bündelt Start, Dauer, Ende als optionales Intervall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F18557AB-C2DA-22B1-866C-68ED2A9CE5FB}"/>
              </a:ext>
            </a:extLst>
          </p:cNvPr>
          <p:cNvSpPr txBox="1"/>
          <p:nvPr/>
        </p:nvSpPr>
        <p:spPr>
          <a:xfrm>
            <a:off x="383998" y="891645"/>
            <a:ext cx="5592725" cy="3385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b="1"/>
              <a:t>Paper: Definition von t, x, </a:t>
            </a:r>
            <a:r>
              <a:rPr lang="de-DE" sz="1600" b="1" err="1"/>
              <a:t>y</a:t>
            </a:r>
            <a:endParaRPr lang="de-DE" sz="1600" b="1"/>
          </a:p>
        </p:txBody>
      </p:sp>
      <p:pic>
        <p:nvPicPr>
          <p:cNvPr id="25" name="Picture 10">
            <a:extLst>
              <a:ext uri="{FF2B5EF4-FFF2-40B4-BE49-F238E27FC236}">
                <a16:creationId xmlns:a16="http://schemas.microsoft.com/office/drawing/2014/main" id="{EBC4AC24-910F-2BA5-8AC2-60766B5AE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3998" y="1256213"/>
            <a:ext cx="4505325" cy="140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486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AA50A-E41A-A8B3-B172-D15B305F5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F409E8-2639-AD81-8E54-5D46193EB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>
                <a:solidFill>
                  <a:srgbClr val="00549F"/>
                </a:solidFill>
                <a:latin typeface="Aptos Display"/>
                <a:ea typeface="Aptos Display"/>
                <a:cs typeface="Aptos Display"/>
              </a:rPr>
              <a:t>Hilfsvariablen</a:t>
            </a:r>
            <a:r>
              <a:rPr lang="de-DE" sz="2800">
                <a:solidFill>
                  <a:srgbClr val="00549F"/>
                </a:solidFill>
                <a:latin typeface="Aptos Display"/>
                <a:ea typeface="Aptos Display"/>
                <a:cs typeface="Aptos Display"/>
              </a:rPr>
              <a:t>: </a:t>
            </a:r>
            <a:r>
              <a:rPr lang="de-DE" sz="2800" dirty="0">
                <a:solidFill>
                  <a:srgbClr val="00549F"/>
                </a:solidFill>
                <a:latin typeface="Aptos Display"/>
                <a:ea typeface="Aptos Display"/>
                <a:cs typeface="Aptos Display"/>
              </a:rPr>
              <a:t>Konfliktreihenfolge und Verspätungskosten</a:t>
            </a:r>
            <a:endParaRPr lang="de-DE" sz="26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7812EC6-3519-015B-A9A9-46C8277AFB88}"/>
              </a:ext>
            </a:extLst>
          </p:cNvPr>
          <p:cNvSpPr txBox="1"/>
          <p:nvPr/>
        </p:nvSpPr>
        <p:spPr>
          <a:xfrm>
            <a:off x="4747260" y="51816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de-D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8F16FE-A3D9-6CCE-ECE2-3A26C111CA03}"/>
              </a:ext>
            </a:extLst>
          </p:cNvPr>
          <p:cNvSpPr/>
          <p:nvPr/>
        </p:nvSpPr>
        <p:spPr>
          <a:xfrm>
            <a:off x="384000" y="2999654"/>
            <a:ext cx="5592725" cy="294394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C9D1D9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t" anchorCtr="0"/>
          <a:lstStyle/>
          <a:p>
            <a:pPr>
              <a:def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conflicts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self.instance.find_conflict_pairs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()</a:t>
            </a:r>
          </a:p>
          <a:p>
            <a:pPr>
              <a:def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c in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conflicts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t1, o1, t2, o2,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l1, l2 = c</a:t>
            </a:r>
          </a:p>
          <a:p>
            <a:pPr>
              <a:def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z_ab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self.model.addVar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vtype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=GRB.BINARY, </a:t>
            </a:r>
          </a:p>
          <a:p>
            <a:pPr>
              <a:def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name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=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f"z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_{t1}_{o1}_{t2}_{o2}_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}")</a:t>
            </a:r>
          </a:p>
          <a:p>
            <a:pPr>
              <a:def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z_ba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self.model.addVar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vtype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=GRB.BINARY, </a:t>
            </a:r>
          </a:p>
          <a:p>
            <a:pPr>
              <a:def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name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=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f"z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_{t2}_{o2}_{t1}_{o1}_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}")</a:t>
            </a:r>
          </a:p>
          <a:p>
            <a:endParaRPr lang="de-DE" sz="10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self.z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[t1, o1, t2, o2,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=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z_ab</a:t>
            </a:r>
            <a:endParaRPr lang="de-DE" sz="10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self.z_ba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[t1, o1, t2, o2,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=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z_ba</a:t>
            </a:r>
            <a:endParaRPr lang="de-DE" sz="10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endParaRPr lang="de-DE" sz="10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c_idx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comp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enumerate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self.instance.objective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):</a:t>
            </a:r>
          </a:p>
          <a:p>
            <a:pPr>
              <a:def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self.v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c_idx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=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self.model.addVar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vtype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=GRB.BINARY, </a:t>
            </a:r>
          </a:p>
          <a:p>
            <a:pPr>
              <a:def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name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=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f"v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c_idx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}")</a:t>
            </a:r>
          </a:p>
          <a:p>
            <a:pPr>
              <a:def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self.w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c_idx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=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self.model.addVar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lb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=0,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vtype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=GRB.CONTINUOUS, </a:t>
            </a:r>
          </a:p>
          <a:p>
            <a:pPr>
              <a:def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name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=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f"w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c_idx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}")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endParaRPr lang="de-DE" sz="8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8AC2C3-E1E3-3174-7E84-044D172E613F}"/>
              </a:ext>
            </a:extLst>
          </p:cNvPr>
          <p:cNvSpPr/>
          <p:nvPr/>
        </p:nvSpPr>
        <p:spPr>
          <a:xfrm>
            <a:off x="6275275" y="900114"/>
            <a:ext cx="5592725" cy="50434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C9D1D9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t" anchorCtr="0"/>
          <a:lstStyle/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endParaRPr lang="de-DE" sz="9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endParaRPr lang="de-DE" sz="9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endParaRPr lang="de-DE" sz="10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resource_intervals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{} # {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resource_name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 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[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list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of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extended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IntervalVars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]}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obj_costs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[] # List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of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integer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cost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variables</a:t>
            </a:r>
          </a:p>
          <a:p>
            <a:endParaRPr lang="de-DE" sz="10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conflicts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self.instance.find_conflict_pairs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()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c in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conflicts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t1, o1, t2, o2,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l1, l2 = c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z_ab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self.model.NewBoolVar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f"z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_{t1}_{o1}_{t2}_{o2}_{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}")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z_ba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self.model.NewBoolVar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f"z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_{t2}_{o2}_{t1}_{o1}_{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}")</a:t>
            </a:r>
          </a:p>
          <a:p>
            <a:endParaRPr lang="de-DE" sz="10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over_time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self.model.NewIntVar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(0,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self.horizon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* 2,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f"ov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c_idx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}")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over_time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&gt;=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self.starts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-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th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).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OnlyEnforceIf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x_a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endParaRPr lang="de-DE" sz="10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cost_var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self.model.NewIntVar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(0,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int</a:t>
            </a:r>
            <a:endParaRPr lang="de-DE" sz="10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(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self.horizon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* 2 *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max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(1,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scaled_cf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)),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f"cost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c_idx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}")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cost_var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==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over_time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* 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scaled_cf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).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OnlyEnforceIf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x_a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cost_var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== 0).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OnlyEnforceIf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x_a.Not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())</a:t>
            </a:r>
          </a:p>
          <a:p>
            <a:endParaRPr lang="de-DE" sz="10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obj_costs.append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100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cost_var</a:t>
            </a:r>
            <a:r>
              <a:rPr lang="de-DE" sz="100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endParaRPr lang="de-DE" sz="90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2331F5B-589D-D6B9-799F-B18473354497}"/>
              </a:ext>
            </a:extLst>
          </p:cNvPr>
          <p:cNvSpPr txBox="1"/>
          <p:nvPr/>
        </p:nvSpPr>
        <p:spPr>
          <a:xfrm>
            <a:off x="383999" y="5605045"/>
            <a:ext cx="5592725" cy="33855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z</a:t>
            </a:r>
            <a:r>
              <a:rPr lang="de-DE" sz="1600" dirty="0"/>
              <a:t>/</a:t>
            </a:r>
            <a:r>
              <a:rPr lang="de-DE" sz="1600" dirty="0" err="1"/>
              <a:t>z_ba</a:t>
            </a:r>
            <a:r>
              <a:rPr lang="de-DE" sz="1600" dirty="0"/>
              <a:t> für Konflikte; v/</a:t>
            </a:r>
            <a:r>
              <a:rPr lang="de-DE" sz="1600" dirty="0" err="1"/>
              <a:t>w</a:t>
            </a:r>
            <a:r>
              <a:rPr lang="de-DE" sz="1600" dirty="0"/>
              <a:t> für Zielfunktion</a:t>
            </a:r>
            <a:endParaRPr lang="de-DE" sz="160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D62B58F-B9BF-3622-3CA0-5012F0F7B784}"/>
              </a:ext>
            </a:extLst>
          </p:cNvPr>
          <p:cNvSpPr txBox="1"/>
          <p:nvPr/>
        </p:nvSpPr>
        <p:spPr>
          <a:xfrm>
            <a:off x="383998" y="2661100"/>
            <a:ext cx="5592725" cy="3385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Baseline/ </a:t>
            </a:r>
            <a:r>
              <a:rPr lang="de-DE" sz="1600" b="1" err="1"/>
              <a:t>Gurobi</a:t>
            </a:r>
            <a:endParaRPr lang="de-DE" sz="1600" b="1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ECA091E-F330-D476-CA1E-32C53B880A4B}"/>
              </a:ext>
            </a:extLst>
          </p:cNvPr>
          <p:cNvSpPr txBox="1"/>
          <p:nvPr/>
        </p:nvSpPr>
        <p:spPr>
          <a:xfrm>
            <a:off x="6275275" y="900114"/>
            <a:ext cx="5592725" cy="3385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b="1"/>
              <a:t>Extended</a:t>
            </a:r>
            <a:r>
              <a:rPr lang="de-DE" sz="1600" b="1" dirty="0"/>
              <a:t>/ CP-SAT</a:t>
            </a:r>
            <a:endParaRPr lang="de-DE" sz="1600" b="1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4B9C745-4864-6AE6-A663-805210A8D6AC}"/>
              </a:ext>
            </a:extLst>
          </p:cNvPr>
          <p:cNvSpPr txBox="1"/>
          <p:nvPr/>
        </p:nvSpPr>
        <p:spPr>
          <a:xfrm>
            <a:off x="6275274" y="5605045"/>
            <a:ext cx="5592725" cy="33855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/>
              <a:t>CP-SAT </a:t>
            </a:r>
            <a:r>
              <a:rPr lang="de-DE" sz="1600" dirty="0"/>
              <a:t>nutzt Intervalle und Integer </a:t>
            </a:r>
            <a:r>
              <a:rPr lang="de-DE" sz="1600" dirty="0" err="1"/>
              <a:t>cost</a:t>
            </a:r>
            <a:r>
              <a:rPr lang="de-DE" sz="1600" dirty="0"/>
              <a:t> variables</a:t>
            </a:r>
            <a:endParaRPr lang="de-DE" sz="160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C68E15B7-942E-8CA6-C287-82CDB6FCD87B}"/>
              </a:ext>
            </a:extLst>
          </p:cNvPr>
          <p:cNvSpPr txBox="1"/>
          <p:nvPr/>
        </p:nvSpPr>
        <p:spPr>
          <a:xfrm>
            <a:off x="383998" y="891645"/>
            <a:ext cx="5592725" cy="3385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b="1"/>
              <a:t>Paper: </a:t>
            </a:r>
            <a:r>
              <a:rPr lang="de-DE" sz="1600" b="1" err="1"/>
              <a:t>z</a:t>
            </a:r>
            <a:r>
              <a:rPr lang="de-DE" sz="1600" b="1"/>
              <a:t> für Reihenfolge der Ressourcen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7AE38DB-DC28-0CBA-EBF7-B9280420A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998" y="1559513"/>
            <a:ext cx="5592725" cy="54921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87149D9-AF6B-19BC-6AA7-32DC6F9DB9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998" y="1238668"/>
            <a:ext cx="5592725" cy="34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464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7AFF5-18F7-7E64-7536-43910D81B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C81060-D1F6-990F-6261-E782D4B96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>
                <a:solidFill>
                  <a:srgbClr val="00549F"/>
                </a:solidFill>
                <a:latin typeface="Aptos Display"/>
                <a:ea typeface="Aptos Display"/>
                <a:cs typeface="Aptos Display"/>
              </a:rPr>
              <a:t>Routing: Gleichung (1) wird in beiden Codes als Flusslogik gebaut</a:t>
            </a:r>
            <a:endParaRPr lang="de-DE" sz="26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0A72123-0F99-7019-636D-DC8212210A84}"/>
              </a:ext>
            </a:extLst>
          </p:cNvPr>
          <p:cNvSpPr txBox="1"/>
          <p:nvPr/>
        </p:nvSpPr>
        <p:spPr>
          <a:xfrm>
            <a:off x="4747260" y="51816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de-D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4D940B7-708F-D1EB-141D-41F83CF1D7D6}"/>
              </a:ext>
            </a:extLst>
          </p:cNvPr>
          <p:cNvSpPr/>
          <p:nvPr/>
        </p:nvSpPr>
        <p:spPr>
          <a:xfrm>
            <a:off x="384000" y="1143001"/>
            <a:ext cx="5592725" cy="480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C9D1D9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t" anchorCtr="0"/>
          <a:lstStyle/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endParaRPr lang="de-DE" sz="8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entry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entries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train.get_operation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entry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gp.quicksum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self.y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entry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</a:t>
            </a: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op.successors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 == 1)</a:t>
            </a: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entry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== 1)</a:t>
            </a:r>
          </a:p>
          <a:p>
            <a:endParaRPr lang="de-DE" sz="8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exit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exits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gp.quicksum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self.y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pred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exit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</a:t>
            </a: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pred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predecessors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exit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]) == 1)</a:t>
            </a: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exit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== 1)</a:t>
            </a:r>
          </a:p>
          <a:p>
            <a:endParaRPr lang="de-DE" sz="8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sum_in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gp.quicksum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self.y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pred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</a:t>
            </a: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pred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predecessors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])</a:t>
            </a: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sum_out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gp.quicksum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self.y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op.successors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endParaRPr lang="de-DE" sz="8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sum_in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==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sum_out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sum_in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==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])</a:t>
            </a:r>
          </a:p>
          <a:p>
            <a:endParaRPr lang="de-DE" sz="8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train.operations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op.successors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self.y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&lt;=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])</a:t>
            </a: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endParaRPr lang="de-DE" sz="8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self.y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&lt;=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])</a:t>
            </a: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endParaRPr lang="de-DE" sz="8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+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- 1 </a:t>
            </a: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&lt;=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self.y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])</a:t>
            </a: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endParaRPr lang="de-DE" sz="8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self.t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-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self.t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</a:t>
            </a:r>
          </a:p>
          <a:p>
            <a:pPr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&gt;=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op.min_duration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*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self.y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7FF8F1-F781-D7E8-2D1A-50B417E9C5EA}"/>
              </a:ext>
            </a:extLst>
          </p:cNvPr>
          <p:cNvSpPr/>
          <p:nvPr/>
        </p:nvSpPr>
        <p:spPr>
          <a:xfrm>
            <a:off x="6275275" y="3000375"/>
            <a:ext cx="5592725" cy="29432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C9D1D9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t" anchorCtr="0"/>
          <a:lstStyle/>
          <a:p>
            <a:pPr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endParaRPr lang="de-DE" sz="6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endParaRPr lang="de-DE" sz="6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o_idx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starts_idx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o_idx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== 1)</a:t>
            </a:r>
          </a:p>
          <a:p>
            <a:endParaRPr lang="de-DE" sz="8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o_idx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ends_idx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o_idx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== 1)</a:t>
            </a:r>
          </a:p>
          <a:p>
            <a:endParaRPr lang="de-DE" sz="8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not in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ends_idx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sum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self.y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op.successors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 </a:t>
            </a:r>
          </a:p>
          <a:p>
            <a:pPr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==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])</a:t>
            </a:r>
          </a:p>
          <a:p>
            <a:endParaRPr lang="de-DE" sz="8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not in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starts_idx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preds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predecessors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</a:t>
            </a:r>
          </a:p>
          <a:p>
            <a:pPr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sum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self.y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p,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p in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preds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 ==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])</a:t>
            </a:r>
          </a:p>
          <a:p>
            <a:endParaRPr lang="de-DE" sz="8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op.successors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8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self.model.Add</a:t>
            </a:r>
            <a:r>
              <a:rPr lang="de-DE" sz="8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self.starts</a:t>
            </a:r>
            <a:r>
              <a:rPr lang="de-DE" sz="8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8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8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] == </a:t>
            </a:r>
            <a:r>
              <a:rPr lang="de-DE" sz="8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self.ends</a:t>
            </a:r>
            <a:r>
              <a:rPr lang="de-DE" sz="8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8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8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])</a:t>
            </a:r>
          </a:p>
          <a:p>
            <a:pPr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	.</a:t>
            </a:r>
            <a:r>
              <a:rPr lang="de-DE" sz="8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OnlyEnforceIf</a:t>
            </a:r>
            <a:r>
              <a:rPr lang="de-DE" sz="8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self.y</a:t>
            </a:r>
            <a:r>
              <a:rPr lang="de-DE" sz="8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8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8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8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])</a:t>
            </a:r>
          </a:p>
          <a:p>
            <a:pPr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&gt;=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+ 1)</a:t>
            </a:r>
          </a:p>
          <a:p>
            <a:pPr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.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OnlyEnforceIf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self.y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8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8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])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4B7C23F7-048F-BD73-C08D-EBE05DD3D786}"/>
              </a:ext>
            </a:extLst>
          </p:cNvPr>
          <p:cNvSpPr txBox="1"/>
          <p:nvPr/>
        </p:nvSpPr>
        <p:spPr>
          <a:xfrm>
            <a:off x="383999" y="5605045"/>
            <a:ext cx="5592725" cy="33855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Lineare Constraints über </a:t>
            </a:r>
            <a:r>
              <a:rPr lang="de-DE" sz="1600" dirty="0" err="1"/>
              <a:t>quicksum</a:t>
            </a:r>
            <a:r>
              <a:rPr lang="de-DE" sz="1600" dirty="0"/>
              <a:t> und </a:t>
            </a:r>
            <a:r>
              <a:rPr lang="de-DE" sz="1600" dirty="0" err="1"/>
              <a:t>y</a:t>
            </a:r>
            <a:r>
              <a:rPr lang="de-DE" sz="1600" dirty="0"/>
              <a:t>/x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EDD1514-4A3A-563A-E30D-A4E9DF76B84B}"/>
              </a:ext>
            </a:extLst>
          </p:cNvPr>
          <p:cNvSpPr txBox="1"/>
          <p:nvPr/>
        </p:nvSpPr>
        <p:spPr>
          <a:xfrm>
            <a:off x="383999" y="914400"/>
            <a:ext cx="5592725" cy="3385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Baseline/ </a:t>
            </a:r>
            <a:r>
              <a:rPr lang="de-DE" sz="1600" b="1" dirty="0" err="1"/>
              <a:t>Gurobi</a:t>
            </a:r>
            <a:endParaRPr lang="de-DE" sz="1600" b="1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14895F6-06C0-F3EE-C898-C347CAB7FB88}"/>
              </a:ext>
            </a:extLst>
          </p:cNvPr>
          <p:cNvSpPr txBox="1"/>
          <p:nvPr/>
        </p:nvSpPr>
        <p:spPr>
          <a:xfrm>
            <a:off x="6275274" y="2831098"/>
            <a:ext cx="5592725" cy="3385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Extended/ CP-SAT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48F2F7A-EA93-6F87-B43A-78F5A01C1531}"/>
              </a:ext>
            </a:extLst>
          </p:cNvPr>
          <p:cNvSpPr txBox="1"/>
          <p:nvPr/>
        </p:nvSpPr>
        <p:spPr>
          <a:xfrm>
            <a:off x="6275274" y="5605045"/>
            <a:ext cx="5592725" cy="33855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Add-Constraints plus </a:t>
            </a:r>
            <a:r>
              <a:rPr lang="de-DE" sz="1600" dirty="0" err="1"/>
              <a:t>start</a:t>
            </a:r>
            <a:r>
              <a:rPr lang="de-DE" sz="1600" dirty="0"/>
              <a:t>(</a:t>
            </a:r>
            <a:r>
              <a:rPr lang="de-DE" sz="1600" dirty="0" err="1"/>
              <a:t>successor</a:t>
            </a:r>
            <a:r>
              <a:rPr lang="de-DE" sz="1600" dirty="0"/>
              <a:t>) = end(</a:t>
            </a:r>
            <a:r>
              <a:rPr lang="de-DE" sz="1600" dirty="0" err="1"/>
              <a:t>current</a:t>
            </a:r>
            <a:r>
              <a:rPr lang="de-DE" sz="1600" dirty="0"/>
              <a:t>)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2B6AF09D-1A8F-EEB2-C67B-7F1A9294CCBF}"/>
              </a:ext>
            </a:extLst>
          </p:cNvPr>
          <p:cNvSpPr txBox="1"/>
          <p:nvPr/>
        </p:nvSpPr>
        <p:spPr>
          <a:xfrm>
            <a:off x="6275273" y="914400"/>
            <a:ext cx="5592725" cy="3385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Paper: Routing und Mindestdauer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64343800-8125-2ACF-0C79-81EFD9318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75273" y="1260059"/>
            <a:ext cx="3733904" cy="157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904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4331D-0230-A057-7FBC-7324E5AC1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D3B58-776D-F9DA-DD90-998885C7A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600" dirty="0"/>
              <a:t>Konfliktmenge A: gemeinsame Ressourcen werden gefunden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2ECA9AD-00AA-607A-ED48-C04180FBA639}"/>
              </a:ext>
            </a:extLst>
          </p:cNvPr>
          <p:cNvSpPr txBox="1"/>
          <p:nvPr/>
        </p:nvSpPr>
        <p:spPr>
          <a:xfrm>
            <a:off x="4747260" y="51816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de-D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2F63EAD-4FA3-F8F8-FE59-1F098CBC78C2}"/>
              </a:ext>
            </a:extLst>
          </p:cNvPr>
          <p:cNvSpPr/>
          <p:nvPr/>
        </p:nvSpPr>
        <p:spPr>
          <a:xfrm>
            <a:off x="384000" y="2028744"/>
            <a:ext cx="5592725" cy="391485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C9D1D9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t" anchorCtr="0"/>
          <a:lstStyle/>
          <a:p>
            <a:pPr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def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find_conflict_pairs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 </a:t>
            </a:r>
          </a:p>
          <a:p>
            <a:pPr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-&gt; List[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Tuple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int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int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int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int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str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int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int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]]:</a:t>
            </a:r>
          </a:p>
          <a:p>
            <a:pPr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res_map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{}</a:t>
            </a:r>
          </a:p>
          <a:p>
            <a:pPr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t in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self.trains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t.operations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req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op.resources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req.resource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not in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res_map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res_map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req.resource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= []</a:t>
            </a:r>
          </a:p>
          <a:p>
            <a:pPr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res_map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req.resource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].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append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t.id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req.release_time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))</a:t>
            </a:r>
          </a:p>
          <a:p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conflicts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[]</a:t>
            </a:r>
          </a:p>
          <a:p>
            <a:pPr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usage_list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res_map.items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():</a:t>
            </a:r>
          </a:p>
          <a:p>
            <a:pPr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idx1 in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range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len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usage_list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)):</a:t>
            </a:r>
          </a:p>
          <a:p>
            <a:pPr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idx2 in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range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(idx1 + 1,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len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usage_list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)):</a:t>
            </a:r>
          </a:p>
          <a:p>
            <a:pPr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t1, op1, l1 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usage_list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[idx1]</a:t>
            </a:r>
          </a:p>
          <a:p>
            <a:pPr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t2, op2, l2 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usage_list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[idx2]</a:t>
            </a:r>
          </a:p>
          <a:p>
            <a:pPr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t1 != t2:</a:t>
            </a:r>
          </a:p>
          <a:p>
            <a:pPr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t1 &gt; t2:</a:t>
            </a:r>
          </a:p>
          <a:p>
            <a:pPr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conflicts.append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((t2, op2, t1, op1,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l2, l1))</a:t>
            </a:r>
          </a:p>
          <a:p>
            <a:pPr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else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conflicts.append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((t1, op1, t2, op2,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l1, l2))</a:t>
            </a:r>
          </a:p>
          <a:p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return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list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conflicts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16192F-DC29-C557-F061-A74420D58AD8}"/>
              </a:ext>
            </a:extLst>
          </p:cNvPr>
          <p:cNvSpPr/>
          <p:nvPr/>
        </p:nvSpPr>
        <p:spPr>
          <a:xfrm>
            <a:off x="6275275" y="900114"/>
            <a:ext cx="5592725" cy="50434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C9D1D9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t" anchorCtr="0"/>
          <a:lstStyle/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def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find_conflict_pairs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self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) </a:t>
            </a: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-&gt; List[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Tuple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[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int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int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int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int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str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int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int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]]:
   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res_map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 = {}
   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for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 t in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self.trains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:
       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for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op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 in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t.operations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:
           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for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req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 in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op.resources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:
               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if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req.resource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 not in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res_map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:
                   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res_map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[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req.resource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] = []
               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res_map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[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req.resource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].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append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((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t.id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op.id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req.release_time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))
   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conflicts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 = []
   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for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res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usage_list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 in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res_map.items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():
       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for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 idx1 in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range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len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usage_list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)):
           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for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 idx2 in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range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(idx1 + 1,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len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usage_list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)):
                t1, op1, l1 =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usage_list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[idx1]
                t2, op2, l2 =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usage_list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[idx2]
               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if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 t1 != t2:
                   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if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 t1 &gt; t2:
                       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conflicts.append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((t2, op2, t1, op1,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res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, l2, l1))
                   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else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:
                       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conflicts.append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((t1, op1, t2, op2,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res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, l1, l2))
   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return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list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set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conflicts</a:t>
            </a:r>
            <a:r>
              <a:rPr lang="de-DE" sz="900" dirty="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))</a:t>
            </a:r>
          </a:p>
          <a:p>
            <a:pPr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A6DE96C-B56A-881D-5E7B-BF7AB063F7A2}"/>
              </a:ext>
            </a:extLst>
          </p:cNvPr>
          <p:cNvSpPr txBox="1"/>
          <p:nvPr/>
        </p:nvSpPr>
        <p:spPr>
          <a:xfrm>
            <a:off x="383998" y="1690190"/>
            <a:ext cx="5592725" cy="3385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Baseline/ </a:t>
            </a:r>
            <a:r>
              <a:rPr lang="de-DE" sz="1600" b="1" dirty="0" err="1"/>
              <a:t>Gurobi</a:t>
            </a:r>
            <a:endParaRPr lang="de-DE" sz="1600" b="1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4E5DD0D-F021-194F-D151-E0EE1AFAA7EB}"/>
              </a:ext>
            </a:extLst>
          </p:cNvPr>
          <p:cNvSpPr txBox="1"/>
          <p:nvPr/>
        </p:nvSpPr>
        <p:spPr>
          <a:xfrm>
            <a:off x="6275275" y="900114"/>
            <a:ext cx="5592725" cy="3385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Extended/ CP-SAT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B497E35-8D33-85B9-0495-520611F912C7}"/>
              </a:ext>
            </a:extLst>
          </p:cNvPr>
          <p:cNvSpPr txBox="1"/>
          <p:nvPr/>
        </p:nvSpPr>
        <p:spPr>
          <a:xfrm>
            <a:off x="6275274" y="5605045"/>
            <a:ext cx="5592725" cy="33855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CP-SAT baut dieselbe Konfliktmenge A auf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937D9E4B-D02A-4F2F-B66D-96C271E49436}"/>
              </a:ext>
            </a:extLst>
          </p:cNvPr>
          <p:cNvSpPr txBox="1"/>
          <p:nvPr/>
        </p:nvSpPr>
        <p:spPr>
          <a:xfrm>
            <a:off x="383998" y="891645"/>
            <a:ext cx="5592725" cy="3385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Paper: Definition der Kantenmenge A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D2982060-0855-C5B3-EC6B-41125C8B6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3998" y="1238668"/>
            <a:ext cx="5267760" cy="45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899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EF905-0CC3-9290-A14A-3EC89B0C8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503134-7B1E-B12F-F9F5-B2380E8F0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>
                <a:solidFill>
                  <a:srgbClr val="00549F"/>
                </a:solidFill>
                <a:latin typeface="Aptos Display"/>
                <a:ea typeface="Aptos Display"/>
                <a:cs typeface="Aptos Display"/>
              </a:rPr>
              <a:t>Ressourcenkonflikte: MIP entscheidet paarweise, CP-SAT nutzt Intervalle</a:t>
            </a:r>
            <a:endParaRPr lang="de-DE" sz="26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220B659-46CF-7282-90EA-E806E602783E}"/>
              </a:ext>
            </a:extLst>
          </p:cNvPr>
          <p:cNvSpPr txBox="1"/>
          <p:nvPr/>
        </p:nvSpPr>
        <p:spPr>
          <a:xfrm>
            <a:off x="4747260" y="51816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de-D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5517928-D0CA-233C-1DC8-06E20A0450D4}"/>
              </a:ext>
            </a:extLst>
          </p:cNvPr>
          <p:cNvSpPr/>
          <p:nvPr/>
        </p:nvSpPr>
        <p:spPr>
          <a:xfrm>
            <a:off x="384000" y="2999654"/>
            <a:ext cx="5592725" cy="294394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C9D1D9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t" anchorCtr="0"/>
          <a:lstStyle/>
          <a:p>
            <a:pPr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t1, o1, t2, o2,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l1, l2 = c</a:t>
            </a:r>
          </a:p>
          <a:p>
            <a:endParaRPr lang="de-DE" sz="7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z_ab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self.z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[t1, o1, t2, o2,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</a:t>
            </a:r>
          </a:p>
          <a:p>
            <a:pPr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z_ba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self.z_ba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[t1, o1, t2, o2,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</a:t>
            </a:r>
          </a:p>
          <a:p>
            <a:endParaRPr lang="de-DE" sz="7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x_a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[t1, o1]</a:t>
            </a:r>
          </a:p>
          <a:p>
            <a:pPr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x_b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[t2, o2]</a:t>
            </a:r>
          </a:p>
          <a:p>
            <a:endParaRPr lang="de-DE" sz="7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x_a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&gt;=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z_ab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+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z_ba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x_b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&gt;=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z_ab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+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z_ba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x_a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+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x_b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- 1 &lt;=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z_ab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+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z_ba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endParaRPr lang="de-DE" sz="7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op_a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self.instance.trains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[t1].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get_operation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(o1)</a:t>
            </a:r>
          </a:p>
          <a:p>
            <a:pPr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op_b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self.instance.trains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[t2].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get_operation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(o2)</a:t>
            </a:r>
          </a:p>
          <a:p>
            <a:endParaRPr lang="de-DE" sz="7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succ_a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op_a.successors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((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z_ab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== 1) &gt;&gt; (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self.t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[t1,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succ_a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-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self.t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[t2, o2] &lt;= -l1))</a:t>
            </a:r>
          </a:p>
          <a:p>
            <a:pPr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((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z_ab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== 1) &gt;&gt; (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[t1,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succ_a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-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[t2, o2] &lt;= -1))</a:t>
            </a:r>
          </a:p>
          <a:p>
            <a:endParaRPr lang="de-DE" sz="7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succ_b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op_b.successors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((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z_ba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== 1) &gt;&gt; (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self.t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[t2,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succ_b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-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self.t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[t1, o1] &lt;= -l2))</a:t>
            </a:r>
          </a:p>
          <a:p>
            <a:pPr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((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z_ba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== 1) &gt;&gt; (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[t2,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succ_b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- </a:t>
            </a:r>
            <a:r>
              <a:rPr lang="de-DE" sz="7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</a:t>
            </a:r>
            <a:r>
              <a:rPr lang="de-DE" sz="7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[t1, o1] &lt;= -1))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endParaRPr lang="de-DE" sz="8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BE0BEF-81B6-491B-F26E-EDD71E1192B7}"/>
              </a:ext>
            </a:extLst>
          </p:cNvPr>
          <p:cNvSpPr/>
          <p:nvPr/>
        </p:nvSpPr>
        <p:spPr>
          <a:xfrm>
            <a:off x="6275275" y="1238668"/>
            <a:ext cx="5592725" cy="47049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C9D1D9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t" anchorCtr="0"/>
          <a:lstStyle/>
          <a:p>
            <a:pPr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r_data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op.resources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res_name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r_data.resource</a:t>
            </a:r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rel_time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int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r_data.release_time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res_name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not in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resource_intervals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resource_intervals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res_name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= []</a:t>
            </a:r>
          </a:p>
          <a:p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rel_time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&gt; 0:</a:t>
            </a:r>
          </a:p>
          <a:p>
            <a:pPr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ext_dur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self.model.NewIntVar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int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op.min_duration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 +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rel_time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</a:p>
          <a:p>
            <a:pPr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self.horizon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+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rel_time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f"ext_dur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}_{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}_{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res_name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}")</a:t>
            </a:r>
          </a:p>
          <a:p>
            <a:pPr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ext_dur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self.durations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+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rel_time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ext_end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self.model.NewIntVar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lb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+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int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op.min_duration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 +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rel_time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</a:p>
          <a:p>
            <a:pPr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self.horizon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* 2 +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rel_time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f"ext_end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}_{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}_{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res_name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}")</a:t>
            </a:r>
          </a:p>
          <a:p>
            <a:pPr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ext_end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self.ends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+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rel_time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ext_iv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self.model.NewOptionalIntervalVar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</a:p>
          <a:p>
            <a:pPr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self.starts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ext_dur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ext_end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], </a:t>
            </a:r>
          </a:p>
          <a:p>
            <a:pPr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f"ext_iv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}_{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}_{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res_name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</a:t>
            </a:r>
          </a:p>
          <a:p>
            <a:pPr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)</a:t>
            </a:r>
          </a:p>
          <a:p>
            <a:pPr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resource_intervals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res_name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].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append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ext_iv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else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resource_intervals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res_name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].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append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(iv)</a:t>
            </a:r>
          </a:p>
          <a:p>
            <a:endParaRPr lang="de-DE" sz="900" b="1" dirty="0">
              <a:solidFill>
                <a:schemeClr val="bg2">
                  <a:lumMod val="50000"/>
                </a:schemeClr>
              </a:solidFill>
              <a:latin typeface="Aptos Mono"/>
              <a:ea typeface="Aptos Mono"/>
              <a:cs typeface="Aptos Mono"/>
            </a:endParaRPr>
          </a:p>
          <a:p>
            <a:pPr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10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10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res_name</a:t>
            </a:r>
            <a:r>
              <a:rPr lang="de-DE" sz="10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10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intervals</a:t>
            </a:r>
            <a:r>
              <a:rPr lang="de-DE" sz="10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10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resource_intervals.items</a:t>
            </a:r>
            <a:r>
              <a:rPr lang="de-DE" sz="10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():</a:t>
            </a:r>
          </a:p>
          <a:p>
            <a:pPr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10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self.model.AddNoOverlap</a:t>
            </a:r>
            <a:r>
              <a:rPr lang="de-DE" sz="10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10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intervals</a:t>
            </a:r>
            <a:r>
              <a:rPr lang="de-DE" sz="10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)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43C34FC-5B88-AD98-4057-3CDBCCD3EDA9}"/>
              </a:ext>
            </a:extLst>
          </p:cNvPr>
          <p:cNvSpPr txBox="1"/>
          <p:nvPr/>
        </p:nvSpPr>
        <p:spPr>
          <a:xfrm>
            <a:off x="383999" y="5605045"/>
            <a:ext cx="5592725" cy="33855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z_ab</a:t>
            </a:r>
            <a:r>
              <a:rPr lang="de-DE" sz="1600" dirty="0"/>
              <a:t>/</a:t>
            </a:r>
            <a:r>
              <a:rPr lang="de-DE" sz="1600" dirty="0" err="1"/>
              <a:t>z_ba</a:t>
            </a:r>
            <a:r>
              <a:rPr lang="de-DE" sz="1600" dirty="0"/>
              <a:t> + </a:t>
            </a:r>
            <a:r>
              <a:rPr lang="de-DE" sz="1600" dirty="0" err="1"/>
              <a:t>Indicator</a:t>
            </a:r>
            <a:r>
              <a:rPr lang="de-DE" sz="1600" dirty="0"/>
              <a:t> Constraints erzwingen Reihenfolge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DD93922-6EFA-E6A2-93A5-CD7C9CCC3D16}"/>
              </a:ext>
            </a:extLst>
          </p:cNvPr>
          <p:cNvSpPr txBox="1"/>
          <p:nvPr/>
        </p:nvSpPr>
        <p:spPr>
          <a:xfrm>
            <a:off x="383998" y="2661100"/>
            <a:ext cx="5592725" cy="3385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Baseline/ </a:t>
            </a:r>
            <a:r>
              <a:rPr lang="de-DE" sz="1600" b="1" dirty="0" err="1"/>
              <a:t>Gurobi</a:t>
            </a:r>
            <a:endParaRPr lang="de-DE" sz="1600" b="1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D7120AC-0960-3867-753C-91EE2F8E4950}"/>
              </a:ext>
            </a:extLst>
          </p:cNvPr>
          <p:cNvSpPr txBox="1"/>
          <p:nvPr/>
        </p:nvSpPr>
        <p:spPr>
          <a:xfrm>
            <a:off x="6275275" y="900114"/>
            <a:ext cx="5592725" cy="3385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Extended/ CP-SAT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60D6F794-D0A4-3B86-64D8-DA3F95E1F7C6}"/>
              </a:ext>
            </a:extLst>
          </p:cNvPr>
          <p:cNvSpPr txBox="1"/>
          <p:nvPr/>
        </p:nvSpPr>
        <p:spPr>
          <a:xfrm>
            <a:off x="6275274" y="5605045"/>
            <a:ext cx="5592725" cy="33855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AddNoOverlap</a:t>
            </a:r>
            <a:r>
              <a:rPr lang="de-DE" sz="1600" dirty="0"/>
              <a:t> verbietet Überlappung auf einer Ressource 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6A0A399-08D8-B32A-59E7-DFB8AE12C533}"/>
              </a:ext>
            </a:extLst>
          </p:cNvPr>
          <p:cNvSpPr txBox="1"/>
          <p:nvPr/>
        </p:nvSpPr>
        <p:spPr>
          <a:xfrm>
            <a:off x="383998" y="891645"/>
            <a:ext cx="5592725" cy="3385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Paper: gleiche Ressource eine Reihenfolge 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4FBF8DE5-188E-FEE2-8E77-FFCA2517B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3998" y="1238668"/>
            <a:ext cx="5359577" cy="129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046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593E7-2783-090B-90F7-063430800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5B3574-0C79-AE76-44A0-E89427DA0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600" dirty="0"/>
              <a:t>Ordnungsvariable </a:t>
            </a:r>
            <a:r>
              <a:rPr lang="de-DE" sz="2600" dirty="0" err="1"/>
              <a:t>u</a:t>
            </a:r>
            <a:r>
              <a:rPr lang="de-DE" sz="2600" dirty="0"/>
              <a:t>: verhindert unklare oder zyklische Reihenfolge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FF48D6F-534A-DCCA-219D-AB98D97F5F94}"/>
              </a:ext>
            </a:extLst>
          </p:cNvPr>
          <p:cNvSpPr txBox="1"/>
          <p:nvPr/>
        </p:nvSpPr>
        <p:spPr>
          <a:xfrm>
            <a:off x="4747260" y="51816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de-D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66FB86-30C2-FB0B-8CDD-CCFA24943D81}"/>
              </a:ext>
            </a:extLst>
          </p:cNvPr>
          <p:cNvSpPr/>
          <p:nvPr/>
        </p:nvSpPr>
        <p:spPr>
          <a:xfrm>
            <a:off x="384000" y="2999654"/>
            <a:ext cx="5592725" cy="294394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C9D1D9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t" anchorCtr="0"/>
          <a:lstStyle/>
          <a:p>
            <a:pPr>
              <a:defRPr sz="55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self.instance.trains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55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train.operations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55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op.successors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55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((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self.y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== 1) </a:t>
            </a:r>
          </a:p>
          <a:p>
            <a:pPr>
              <a:defRPr sz="55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&gt;&gt; (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-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&lt;= -1))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741A9-D9D1-0959-3B24-28AA8A428158}"/>
              </a:ext>
            </a:extLst>
          </p:cNvPr>
          <p:cNvSpPr/>
          <p:nvPr/>
        </p:nvSpPr>
        <p:spPr>
          <a:xfrm>
            <a:off x="6275275" y="1238668"/>
            <a:ext cx="5592725" cy="47049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C9D1D9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t" anchorCtr="0"/>
          <a:lstStyle/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succ_a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op_a.successors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self.starts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[t2, o2] &gt;=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self.starts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[t1,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succ_a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+ l1)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OnlyEnforceIf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([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z_ab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self.y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[t1, o1, 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succ_a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]])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[t2, o2] &gt;=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[t1,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succ_a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+ 1)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OnlyEnforceIf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([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z_ab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self.y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[t1, o1, 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succ_a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]])</a:t>
            </a:r>
          </a:p>
          <a:p>
            <a:endParaRPr lang="de-DE" sz="10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succ_b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op_b.successors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self.starts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[t1, o1] &gt;=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self.starts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[t2,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succ_b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+ l2)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OnlyEnforceIf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([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z_ba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self.y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[t2, o2, 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succ_b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]])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[t1, o1] &gt;=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[t2,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succ_b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+ 1)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OnlyEnforceIf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([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z_ba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self.y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[t2, o2, 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succ_b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]])</a:t>
            </a:r>
          </a:p>
          <a:p>
            <a:endParaRPr lang="de-DE" sz="10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op.successors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self.starts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==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self.ends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])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OnlyEnforceIf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self.y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])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&gt;=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10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+ 1)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10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OnlyEnforceIf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self.y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1100" b="1" dirty="0" err="1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succ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])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91AC920-7A87-E3A9-34DB-7B5C834D7D67}"/>
              </a:ext>
            </a:extLst>
          </p:cNvPr>
          <p:cNvSpPr txBox="1"/>
          <p:nvPr/>
        </p:nvSpPr>
        <p:spPr>
          <a:xfrm>
            <a:off x="383999" y="5605045"/>
            <a:ext cx="5592725" cy="33855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Indicator</a:t>
            </a:r>
            <a:r>
              <a:rPr lang="de-DE" sz="1600" dirty="0"/>
              <a:t> Constraint: </a:t>
            </a:r>
            <a:r>
              <a:rPr lang="de-DE" sz="1600" dirty="0" err="1"/>
              <a:t>y</a:t>
            </a:r>
            <a:r>
              <a:rPr lang="de-DE" sz="1600" dirty="0"/>
              <a:t> aktiv =&gt; </a:t>
            </a:r>
            <a:r>
              <a:rPr lang="de-DE" sz="1600" dirty="0" err="1"/>
              <a:t>u</a:t>
            </a:r>
            <a:r>
              <a:rPr lang="de-DE" sz="1600" dirty="0"/>
              <a:t> streng steigend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59E8C1B-292D-6605-5FC4-06D9E2979478}"/>
              </a:ext>
            </a:extLst>
          </p:cNvPr>
          <p:cNvSpPr txBox="1"/>
          <p:nvPr/>
        </p:nvSpPr>
        <p:spPr>
          <a:xfrm>
            <a:off x="383998" y="2661100"/>
            <a:ext cx="5592725" cy="3385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Baseline/ </a:t>
            </a:r>
            <a:r>
              <a:rPr lang="de-DE" sz="1600" b="1" dirty="0" err="1"/>
              <a:t>Gurobi</a:t>
            </a:r>
            <a:endParaRPr lang="de-DE" sz="1600" b="1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5146D3C-59D4-0061-29DF-AAFB8C048C6F}"/>
              </a:ext>
            </a:extLst>
          </p:cNvPr>
          <p:cNvSpPr txBox="1"/>
          <p:nvPr/>
        </p:nvSpPr>
        <p:spPr>
          <a:xfrm>
            <a:off x="6275275" y="900114"/>
            <a:ext cx="5592725" cy="3385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Extended/ CP-SAT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4C73483-B927-D50F-A98A-B1C3852BFF7F}"/>
              </a:ext>
            </a:extLst>
          </p:cNvPr>
          <p:cNvSpPr txBox="1"/>
          <p:nvPr/>
        </p:nvSpPr>
        <p:spPr>
          <a:xfrm>
            <a:off x="6275274" y="5605045"/>
            <a:ext cx="5592725" cy="33855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OnlyEnforceIf</a:t>
            </a:r>
            <a:r>
              <a:rPr lang="de-DE" sz="1600" dirty="0"/>
              <a:t> koppelt Zeit und Ranglogik an </a:t>
            </a:r>
            <a:r>
              <a:rPr lang="de-DE" sz="1600" dirty="0" err="1"/>
              <a:t>y</a:t>
            </a:r>
            <a:r>
              <a:rPr lang="de-DE" sz="1600" dirty="0"/>
              <a:t>/</a:t>
            </a:r>
            <a:r>
              <a:rPr lang="de-DE" sz="1600" dirty="0" err="1"/>
              <a:t>z</a:t>
            </a:r>
            <a:endParaRPr lang="de-DE" sz="1600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5685BF4E-F9D6-C18D-4ABB-EB65FFB39C0D}"/>
              </a:ext>
            </a:extLst>
          </p:cNvPr>
          <p:cNvSpPr txBox="1"/>
          <p:nvPr/>
        </p:nvSpPr>
        <p:spPr>
          <a:xfrm>
            <a:off x="383998" y="891645"/>
            <a:ext cx="5592725" cy="3385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Paper: Gleichung (3), Ordnungslogik</a:t>
            </a: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AA66D540-38EF-F6A7-19F1-89D64AE41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3997" y="1230198"/>
            <a:ext cx="5592725" cy="9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069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0A841-E350-52A1-3480-31C4CE446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CAD7B-75FD-F1B9-8ED5-D18BFEB9E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600" dirty="0"/>
              <a:t>Output: beide Modelle schreiben am Ende dieselbe Event-Liste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9F4132E-1B34-A7B8-45CB-FA02528510FC}"/>
              </a:ext>
            </a:extLst>
          </p:cNvPr>
          <p:cNvSpPr txBox="1"/>
          <p:nvPr/>
        </p:nvSpPr>
        <p:spPr>
          <a:xfrm>
            <a:off x="4747260" y="51816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de-D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DF2B616-CFED-3AD9-511C-D742FDC3EF76}"/>
              </a:ext>
            </a:extLst>
          </p:cNvPr>
          <p:cNvSpPr/>
          <p:nvPr/>
        </p:nvSpPr>
        <p:spPr>
          <a:xfrm>
            <a:off x="384000" y="2999654"/>
            <a:ext cx="5592725" cy="294394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C9D1D9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t" anchorCtr="0"/>
          <a:lstStyle/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events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[]</a:t>
            </a: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self.instance.trains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train.operations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val_x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.X</a:t>
            </a: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val_x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&gt; 0.5: # Operation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selected</a:t>
            </a:r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val_t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.X</a:t>
            </a: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events.append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({</a:t>
            </a: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"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operation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":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</a:t>
            </a: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"time":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int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round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val_t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)),</a:t>
            </a: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"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":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})</a:t>
            </a:r>
          </a:p>
          <a:p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events.sort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key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=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lambda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x: (x["time"],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[x["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"], x["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operation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"]]</a:t>
            </a:r>
            <a:r>
              <a:rPr lang="de-DE" sz="1100" b="1" dirty="0">
                <a:solidFill>
                  <a:schemeClr val="bg2">
                    <a:lumMod val="50000"/>
                  </a:schemeClr>
                </a:solidFill>
                <a:latin typeface="Aptos Mono"/>
                <a:ea typeface="Aptos Mono"/>
                <a:cs typeface="Aptos Mono"/>
              </a:rPr>
              <a:t>.X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))</a:t>
            </a:r>
          </a:p>
          <a:p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output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{</a:t>
            </a: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"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events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":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events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</a:t>
            </a: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"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objective_value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":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int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round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self.model.ObjVal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))</a:t>
            </a: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A1FA0E-D8C1-1D6A-5FB7-C6AE86941FF9}"/>
              </a:ext>
            </a:extLst>
          </p:cNvPr>
          <p:cNvSpPr/>
          <p:nvPr/>
        </p:nvSpPr>
        <p:spPr>
          <a:xfrm>
            <a:off x="6275275" y="1238668"/>
            <a:ext cx="5592725" cy="47049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C9D1D9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t" anchorCtr="0"/>
          <a:lstStyle/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events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[]</a:t>
            </a: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self.instance.trains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train.id</a:t>
            </a:r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train.operations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</a:t>
            </a:r>
            <a:r>
              <a:rPr lang="de-DE" sz="1100" b="1" dirty="0" err="1">
                <a:solidFill>
                  <a:schemeClr val="tx2"/>
                </a:solidFill>
                <a:latin typeface="Aptos Mono"/>
                <a:ea typeface="Aptos Mono"/>
                <a:cs typeface="Aptos Mono"/>
              </a:rPr>
              <a:t>solver.BooleanValue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]):</a:t>
            </a: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</a:t>
            </a:r>
            <a:r>
              <a:rPr lang="de-DE" sz="1100" b="1" dirty="0" err="1">
                <a:solidFill>
                  <a:schemeClr val="tx2"/>
                </a:solidFill>
                <a:latin typeface="Aptos Mono"/>
                <a:ea typeface="Aptos Mono"/>
                <a:cs typeface="Aptos Mono"/>
              </a:rPr>
              <a:t>solver.Value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self.starts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</a:t>
            </a: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events.append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({</a:t>
            </a: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"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operation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":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</a:t>
            </a: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"time":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int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"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":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})</a:t>
            </a:r>
          </a:p>
          <a:p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events.sort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key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=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lambda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x: (x["time"],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</a:t>
            </a:r>
            <a:r>
              <a:rPr lang="de-DE" sz="1100" b="1" dirty="0" err="1">
                <a:solidFill>
                  <a:schemeClr val="tx2"/>
                </a:solidFill>
                <a:latin typeface="Aptos Mono"/>
                <a:ea typeface="Aptos Mono"/>
                <a:cs typeface="Aptos Mono"/>
              </a:rPr>
              <a:t>solver.Value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(x["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train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"], </a:t>
            </a: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x["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operation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"]])))</a:t>
            </a:r>
          </a:p>
          <a:p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output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{</a:t>
            </a: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"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events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":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events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</a:t>
            </a: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"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objective_value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":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int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round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self.obj_val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))</a:t>
            </a:r>
          </a:p>
          <a:p>
            <a:pPr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56019E6-E501-715E-FD71-A449B38912EB}"/>
              </a:ext>
            </a:extLst>
          </p:cNvPr>
          <p:cNvSpPr txBox="1"/>
          <p:nvPr/>
        </p:nvSpPr>
        <p:spPr>
          <a:xfrm>
            <a:off x="383999" y="5605045"/>
            <a:ext cx="5592725" cy="33855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Gurobi</a:t>
            </a:r>
            <a:r>
              <a:rPr lang="de-DE" sz="1600" dirty="0"/>
              <a:t>-Werte werden über .X gelesen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5C54BDD-904F-710B-44B0-0E378747D17B}"/>
              </a:ext>
            </a:extLst>
          </p:cNvPr>
          <p:cNvSpPr txBox="1"/>
          <p:nvPr/>
        </p:nvSpPr>
        <p:spPr>
          <a:xfrm>
            <a:off x="383998" y="2661100"/>
            <a:ext cx="5592725" cy="3385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Baseline/ </a:t>
            </a:r>
            <a:r>
              <a:rPr lang="de-DE" sz="1600" b="1" dirty="0" err="1"/>
              <a:t>Gurobi</a:t>
            </a:r>
            <a:endParaRPr lang="de-DE" sz="1600" b="1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86F8662-0638-D655-76E4-51C9AAEF8D61}"/>
              </a:ext>
            </a:extLst>
          </p:cNvPr>
          <p:cNvSpPr txBox="1"/>
          <p:nvPr/>
        </p:nvSpPr>
        <p:spPr>
          <a:xfrm>
            <a:off x="6275275" y="900114"/>
            <a:ext cx="5592725" cy="3385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Extended/ CP-SAT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AFCDF744-F593-90C5-8F74-837EC1D8947A}"/>
              </a:ext>
            </a:extLst>
          </p:cNvPr>
          <p:cNvSpPr txBox="1"/>
          <p:nvPr/>
        </p:nvSpPr>
        <p:spPr>
          <a:xfrm>
            <a:off x="6275274" y="5353019"/>
            <a:ext cx="5592725" cy="58477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CP-SAT-Werte werden über </a:t>
            </a:r>
            <a:r>
              <a:rPr lang="de-DE" sz="1600" dirty="0" err="1"/>
              <a:t>solver.Value</a:t>
            </a:r>
            <a:r>
              <a:rPr lang="de-DE" sz="1600" dirty="0"/>
              <a:t>/ Boolean Value gelesen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207CD2E1-46B4-1D7D-64C6-125E31826015}"/>
              </a:ext>
            </a:extLst>
          </p:cNvPr>
          <p:cNvSpPr txBox="1"/>
          <p:nvPr/>
        </p:nvSpPr>
        <p:spPr>
          <a:xfrm>
            <a:off x="383998" y="891645"/>
            <a:ext cx="5592725" cy="3385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Paper: </a:t>
            </a:r>
            <a:r>
              <a:rPr lang="de-DE" sz="1600" b="1" dirty="0" err="1"/>
              <a:t>Objective</a:t>
            </a:r>
            <a:r>
              <a:rPr lang="de-DE" sz="1600" b="1" dirty="0"/>
              <a:t>/ Delay Penalty</a:t>
            </a: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E0415340-0560-638C-3F90-BD68496BC0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559" b="9811"/>
          <a:stretch>
            <a:fillRect/>
          </a:stretch>
        </p:blipFill>
        <p:spPr>
          <a:xfrm>
            <a:off x="383998" y="1257400"/>
            <a:ext cx="5826023" cy="125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806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9701F-353E-242A-1AF5-5851594E5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DFC319-E1C9-8520-9635-B42C7B6D6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600" dirty="0"/>
              <a:t>Zielfunktion: im Code wird gewichtete Verspätung minimiert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DAF009E-7D27-89DF-ABDF-2CAB02911BF1}"/>
              </a:ext>
            </a:extLst>
          </p:cNvPr>
          <p:cNvSpPr txBox="1"/>
          <p:nvPr/>
        </p:nvSpPr>
        <p:spPr>
          <a:xfrm>
            <a:off x="4747260" y="51816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de-D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050F1B7-EB56-F2B6-4DB3-ABDA2F67018C}"/>
              </a:ext>
            </a:extLst>
          </p:cNvPr>
          <p:cNvSpPr/>
          <p:nvPr/>
        </p:nvSpPr>
        <p:spPr>
          <a:xfrm>
            <a:off x="384000" y="2999654"/>
            <a:ext cx="5592725" cy="294394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C9D1D9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t" anchorCtr="0"/>
          <a:lstStyle/>
          <a:p>
            <a:pPr>
              <a:def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obj_expr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gp.LinExpr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()</a:t>
            </a:r>
          </a:p>
          <a:p>
            <a:pPr>
              <a:def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c_idx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comp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enumerate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self.instance.objective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):</a:t>
            </a:r>
          </a:p>
          <a:p>
            <a:pPr>
              <a:def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comp.train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== -1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comp.operation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== -1:</a:t>
            </a:r>
          </a:p>
          <a:p>
            <a:pPr>
              <a:def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continue</a:t>
            </a:r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w_c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self.w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c_idx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</a:t>
            </a:r>
          </a:p>
          <a:p>
            <a:pPr>
              <a:def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v_c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self.v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c_idx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</a:t>
            </a:r>
          </a:p>
          <a:p>
            <a:pPr>
              <a:def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t_a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comp.train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comp.operation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</a:t>
            </a:r>
          </a:p>
          <a:p>
            <a:pPr>
              <a:def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x_a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comp.train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comp.operation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</a:t>
            </a:r>
          </a:p>
          <a:p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x_a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== 1) &gt;&gt; 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t_a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-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comp.threshold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&lt;=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*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v_c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))</a:t>
            </a:r>
          </a:p>
          <a:p>
            <a:pPr>
              <a:def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x_a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== 1) &gt;&gt; 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w_c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</a:p>
          <a:p>
            <a:pPr>
              <a:def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&gt;=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comp.coeff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* 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t_a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-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comp.threshold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)))</a:t>
            </a:r>
          </a:p>
          <a:p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obj_expr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+=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w_c</a:t>
            </a:r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self.model.setObjective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obj_expr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GRB.MINIMIZE)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BAA921-6E72-5573-1C18-447C8AC78ACE}"/>
              </a:ext>
            </a:extLst>
          </p:cNvPr>
          <p:cNvSpPr/>
          <p:nvPr/>
        </p:nvSpPr>
        <p:spPr>
          <a:xfrm>
            <a:off x="6275275" y="1238668"/>
            <a:ext cx="5592725" cy="47049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C9D1D9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t" anchorCtr="0"/>
          <a:lstStyle/>
          <a:p>
            <a:pPr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c_idx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comp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enumerate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self.instance.objective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):</a:t>
            </a:r>
          </a:p>
          <a:p>
            <a:pPr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comp.train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== -1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comp.operation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== -1:</a:t>
            </a:r>
          </a:p>
          <a:p>
            <a:pPr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continue</a:t>
            </a:r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comp.train</a:t>
            </a:r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comp.operation</a:t>
            </a:r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th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int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comp.threshold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cf 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comp.coeff</a:t>
            </a:r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scaled_cf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int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(cf *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self.COEFF_SCALE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x_a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self.x.get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))</a:t>
            </a:r>
          </a:p>
          <a:p>
            <a:pPr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x_a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None:</a:t>
            </a:r>
          </a:p>
          <a:p>
            <a:pPr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continue</a:t>
            </a:r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over_time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self.model.NewIntVar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(0,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self.horizon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* 2,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f"ov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c_idx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}")</a:t>
            </a:r>
          </a:p>
          <a:p>
            <a:pPr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over_time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&gt;=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self.starts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-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th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).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OnlyEnforceIf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x_a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cost_var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self.model.NewIntVar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(0,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int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self.horizon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* 2 *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max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(1,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scaled_cf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))</a:t>
            </a:r>
          </a:p>
          <a:p>
            <a:pPr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	,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f"cost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c_idx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}")</a:t>
            </a:r>
          </a:p>
          <a:p>
            <a:pPr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cost_var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==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over_time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*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scaled_cf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).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OnlyEnforceIf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x_a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cost_var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== 0).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OnlyEnforceIf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x_a.Not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())</a:t>
            </a:r>
          </a:p>
          <a:p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obj_costs.append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cost_var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endParaRPr lang="de-DE" sz="90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len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obj_costs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 &gt; 0:</a:t>
            </a:r>
          </a:p>
          <a:p>
            <a:pPr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self.model.Minimize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sum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de-DE" sz="90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obj_costs</a:t>
            </a:r>
            <a:r>
              <a:rPr lang="de-DE" sz="90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))</a:t>
            </a:r>
          </a:p>
          <a:p>
            <a:pPr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endParaRPr lang="de-DE" sz="1100" b="1" dirty="0">
              <a:solidFill>
                <a:schemeClr val="bg2">
                  <a:lumMod val="50000"/>
                </a:schemeClr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CB23923-9F81-0AEA-BE0F-B8B10238DF33}"/>
              </a:ext>
            </a:extLst>
          </p:cNvPr>
          <p:cNvSpPr txBox="1"/>
          <p:nvPr/>
        </p:nvSpPr>
        <p:spPr>
          <a:xfrm>
            <a:off x="383999" y="5605045"/>
            <a:ext cx="5592725" cy="33855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w_c</a:t>
            </a:r>
            <a:r>
              <a:rPr lang="de-DE" sz="1600" dirty="0"/>
              <a:t> fließt direkt in die lineare </a:t>
            </a:r>
            <a:r>
              <a:rPr lang="de-DE" sz="1600" dirty="0" err="1"/>
              <a:t>Objective</a:t>
            </a:r>
            <a:r>
              <a:rPr lang="de-DE" sz="1600" dirty="0"/>
              <a:t> ein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447259D-0F90-8CA3-4852-7A34BA8095D7}"/>
              </a:ext>
            </a:extLst>
          </p:cNvPr>
          <p:cNvSpPr txBox="1"/>
          <p:nvPr/>
        </p:nvSpPr>
        <p:spPr>
          <a:xfrm>
            <a:off x="383998" y="2661100"/>
            <a:ext cx="5592725" cy="3385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Baseline/ </a:t>
            </a:r>
            <a:r>
              <a:rPr lang="de-DE" sz="1600" b="1" dirty="0" err="1"/>
              <a:t>Gurobi</a:t>
            </a:r>
            <a:endParaRPr lang="de-DE" sz="1600" b="1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B68887B-70BC-461E-03F2-1F36CD1535FC}"/>
              </a:ext>
            </a:extLst>
          </p:cNvPr>
          <p:cNvSpPr txBox="1"/>
          <p:nvPr/>
        </p:nvSpPr>
        <p:spPr>
          <a:xfrm>
            <a:off x="6275275" y="900114"/>
            <a:ext cx="5592725" cy="3385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Extended/ CP-SAT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A129E382-BEC5-1F44-C4A9-59D0766E9137}"/>
              </a:ext>
            </a:extLst>
          </p:cNvPr>
          <p:cNvSpPr txBox="1"/>
          <p:nvPr/>
        </p:nvSpPr>
        <p:spPr>
          <a:xfrm>
            <a:off x="6275274" y="5605045"/>
            <a:ext cx="5592725" cy="33855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CP-SAT skaliert Koeffizienten, weil es Integer bevorzugt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335ACAE-9449-ED20-1CBA-623DBB10D3D6}"/>
              </a:ext>
            </a:extLst>
          </p:cNvPr>
          <p:cNvSpPr txBox="1"/>
          <p:nvPr/>
        </p:nvSpPr>
        <p:spPr>
          <a:xfrm>
            <a:off x="383998" y="891645"/>
            <a:ext cx="5592725" cy="3385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Paper: </a:t>
            </a:r>
            <a:r>
              <a:rPr lang="de-DE" sz="1600" b="1" dirty="0" err="1"/>
              <a:t>Objective</a:t>
            </a:r>
            <a:r>
              <a:rPr lang="de-DE" sz="1600" b="1" dirty="0"/>
              <a:t>/ Delay Penalty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C4A0CC0B-4D1B-4004-D7D4-D76F08DA9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4210" y="1243176"/>
            <a:ext cx="5592513" cy="66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996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sz="2600" err="1"/>
              <a:t>Performance</a:t>
            </a:r>
            <a:r>
              <a:rPr lang="af-ZA" sz="2600"/>
              <a:t> </a:t>
            </a:r>
            <a:r>
              <a:rPr lang="af-ZA" sz="2600" err="1"/>
              <a:t>nach</a:t>
            </a:r>
            <a:r>
              <a:rPr lang="af-ZA" sz="2600"/>
              <a:t> 10s (nor1_critical_...)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 flipV="1">
            <a:off x="1622108" y="-3246119"/>
            <a:ext cx="11484000" cy="1370488"/>
          </a:xfrm>
          <a:noFill/>
          <a:ln>
            <a:solidFill>
              <a:schemeClr val="tx1">
                <a:alpha val="0"/>
              </a:scheme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E80030B-32E2-215E-3713-61F6355F9058}"/>
              </a:ext>
            </a:extLst>
          </p:cNvPr>
          <p:cNvSpPr txBox="1"/>
          <p:nvPr/>
        </p:nvSpPr>
        <p:spPr>
          <a:xfrm>
            <a:off x="381001" y="3842391"/>
            <a:ext cx="7330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>
                <a:solidFill>
                  <a:schemeClr val="bg1">
                    <a:lumMod val="65000"/>
                  </a:schemeClr>
                </a:solidFill>
              </a:rPr>
              <a:t>Vergleich an den nor1_critical Instanzen: 75 - 3055 Konfliktpaare</a:t>
            </a:r>
          </a:p>
          <a:p>
            <a:r>
              <a:rPr lang="de-DE" sz="1400">
                <a:solidFill>
                  <a:schemeClr val="bg1">
                    <a:lumMod val="65000"/>
                  </a:schemeClr>
                </a:solidFill>
              </a:rPr>
              <a:t>Relative Abweichung: (Obj_10s − bester Wert) / bester Wert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4C9ABAA-6FC2-8FB2-71F4-20934F5991EB}"/>
              </a:ext>
            </a:extLst>
          </p:cNvPr>
          <p:cNvSpPr txBox="1"/>
          <p:nvPr/>
        </p:nvSpPr>
        <p:spPr>
          <a:xfrm>
            <a:off x="451080" y="5095606"/>
            <a:ext cx="11088600" cy="64633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/>
              <a:t>		CP-SAT liefert, für kleine Instanzen, konsistent gute Lösungen innerhalb von 10 		Sekunden.</a:t>
            </a:r>
          </a:p>
        </p:txBody>
      </p:sp>
      <p:pic>
        <p:nvPicPr>
          <p:cNvPr id="23" name="Grafik 22" descr="Ein Bild, das Text, Screenshot, Schrift enthält.&#10;&#10;Automatisch generierte Beschreibung">
            <a:extLst>
              <a:ext uri="{FF2B5EF4-FFF2-40B4-BE49-F238E27FC236}">
                <a16:creationId xmlns:a16="http://schemas.microsoft.com/office/drawing/2014/main" id="{1219A529-CA07-27A9-E6B0-70C2DA0A5D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466"/>
          <a:stretch/>
        </p:blipFill>
        <p:spPr>
          <a:xfrm>
            <a:off x="7714440" y="3222642"/>
            <a:ext cx="3825240" cy="1762718"/>
          </a:xfrm>
          <a:prstGeom prst="rect">
            <a:avLst/>
          </a:prstGeom>
        </p:spPr>
      </p:pic>
      <p:pic>
        <p:nvPicPr>
          <p:cNvPr id="25" name="Grafik 24" descr="Marke Häkchen Silhouette">
            <a:extLst>
              <a:ext uri="{FF2B5EF4-FFF2-40B4-BE49-F238E27FC236}">
                <a16:creationId xmlns:a16="http://schemas.microsoft.com/office/drawing/2014/main" id="{B96F51CA-AD0A-2BFF-919A-BF53847270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8262" y="5124925"/>
            <a:ext cx="587691" cy="587691"/>
          </a:xfrm>
          <a:prstGeom prst="rect">
            <a:avLst/>
          </a:prstGeom>
        </p:spPr>
      </p:pic>
      <p:pic>
        <p:nvPicPr>
          <p:cNvPr id="13" name="Inhaltsplatzhalter 12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6F5EF2C7-765B-BE70-E977-EA0CF8850C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26" b="31902"/>
          <a:stretch>
            <a:fillRect/>
          </a:stretch>
        </p:blipFill>
        <p:spPr>
          <a:xfrm>
            <a:off x="348799" y="1364949"/>
            <a:ext cx="11293162" cy="1957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59EA2-490B-51ED-2A75-046319EE7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4A2B1-2248-A264-058C-B14672F9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sz="2600" err="1"/>
              <a:t>Performance</a:t>
            </a:r>
            <a:r>
              <a:rPr lang="af-ZA" sz="2600"/>
              <a:t> </a:t>
            </a:r>
            <a:r>
              <a:rPr lang="af-ZA" sz="2600" err="1"/>
              <a:t>nach</a:t>
            </a:r>
            <a:r>
              <a:rPr lang="af-ZA" sz="2600"/>
              <a:t> 60s (nor2_..., nor3_...)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8BBE60-166B-6D18-4841-B275C512E5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 flipV="1">
            <a:off x="1622108" y="-3246119"/>
            <a:ext cx="11484000" cy="1370488"/>
          </a:xfrm>
          <a:noFill/>
          <a:ln>
            <a:solidFill>
              <a:schemeClr val="tx1">
                <a:alpha val="0"/>
              </a:scheme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CAAE3BD-3176-A8DE-46AC-61F1189AB11B}"/>
              </a:ext>
            </a:extLst>
          </p:cNvPr>
          <p:cNvSpPr txBox="1"/>
          <p:nvPr/>
        </p:nvSpPr>
        <p:spPr>
          <a:xfrm>
            <a:off x="381001" y="3842391"/>
            <a:ext cx="7330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>
                <a:solidFill>
                  <a:schemeClr val="bg1">
                    <a:lumMod val="65000"/>
                  </a:schemeClr>
                </a:solidFill>
              </a:rPr>
              <a:t>Vergleich an den nor2/ nor3 Instanzen: 8523 - 12854 Konfliktpaare</a:t>
            </a:r>
          </a:p>
          <a:p>
            <a:r>
              <a:rPr lang="de-DE" sz="1400">
                <a:solidFill>
                  <a:schemeClr val="bg1">
                    <a:lumMod val="65000"/>
                  </a:schemeClr>
                </a:solidFill>
              </a:rPr>
              <a:t>Relative Abweichung: (Obj_10s − bester Wert) / bester Wert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251DBB7-9950-BE20-03D0-E6AB9571ED55}"/>
              </a:ext>
            </a:extLst>
          </p:cNvPr>
          <p:cNvSpPr txBox="1"/>
          <p:nvPr/>
        </p:nvSpPr>
        <p:spPr>
          <a:xfrm>
            <a:off x="451080" y="5095606"/>
            <a:ext cx="11088600" cy="64633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/>
              <a:t>		CP-SAT liefert auch für die nor2-/ nor3-Instanzen überwiegend akzeptable 			Lösungen.</a:t>
            </a:r>
          </a:p>
        </p:txBody>
      </p:sp>
      <p:pic>
        <p:nvPicPr>
          <p:cNvPr id="23" name="Grafik 22" descr="Ein Bild, das Text, Screenshot, Schrift enthält.&#10;&#10;Automatisch generierte Beschreibung">
            <a:extLst>
              <a:ext uri="{FF2B5EF4-FFF2-40B4-BE49-F238E27FC236}">
                <a16:creationId xmlns:a16="http://schemas.microsoft.com/office/drawing/2014/main" id="{C2FF8419-1B0C-3B38-2233-2F65564DD2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466"/>
          <a:stretch/>
        </p:blipFill>
        <p:spPr>
          <a:xfrm>
            <a:off x="7714440" y="3222642"/>
            <a:ext cx="3825240" cy="1762718"/>
          </a:xfrm>
          <a:prstGeom prst="rect">
            <a:avLst/>
          </a:prstGeom>
        </p:spPr>
      </p:pic>
      <p:pic>
        <p:nvPicPr>
          <p:cNvPr id="25" name="Grafik 24" descr="Marke Häkchen Silhouette">
            <a:extLst>
              <a:ext uri="{FF2B5EF4-FFF2-40B4-BE49-F238E27FC236}">
                <a16:creationId xmlns:a16="http://schemas.microsoft.com/office/drawing/2014/main" id="{0A9C60D3-33C3-3190-2BED-D3253736A8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8262" y="5124925"/>
            <a:ext cx="587691" cy="587691"/>
          </a:xfrm>
          <a:prstGeom prst="rect">
            <a:avLst/>
          </a:prstGeom>
        </p:spPr>
      </p:pic>
      <p:pic>
        <p:nvPicPr>
          <p:cNvPr id="7" name="Inhaltsplatzhalter 6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306D2444-133B-A47E-526A-568DF874B5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22" b="32813"/>
          <a:stretch>
            <a:fillRect/>
          </a:stretch>
        </p:blipFill>
        <p:spPr>
          <a:xfrm>
            <a:off x="381001" y="1255117"/>
            <a:ext cx="11484000" cy="19675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70626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577E86-745F-EBF3-9989-E586492901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4000" y="881349"/>
            <a:ext cx="5213408" cy="5208709"/>
          </a:xfrm>
        </p:spPr>
        <p:txBody>
          <a:bodyPr/>
          <a:lstStyle/>
          <a:p>
            <a:r>
              <a:rPr lang="en-US" sz="2000" b="1" dirty="0"/>
              <a:t>MIP / </a:t>
            </a:r>
            <a:r>
              <a:rPr lang="en-US" sz="2000" b="1" dirty="0" err="1"/>
              <a:t>Gurobi</a:t>
            </a:r>
            <a:r>
              <a:rPr lang="en-US" sz="2000" b="1" dirty="0"/>
              <a:t>:</a:t>
            </a:r>
            <a:r>
              <a:rPr lang="en-US" sz="2000" dirty="0"/>
              <a:t> converts conflicts into many pairwise Big-M constraints, which can create dense formulations and weak LP relaxations.</a:t>
            </a:r>
          </a:p>
          <a:p>
            <a:r>
              <a:rPr lang="en-US" sz="2000" b="1" dirty="0"/>
              <a:t>CP-SAT:</a:t>
            </a:r>
            <a:r>
              <a:rPr lang="en-US" sz="2000" dirty="0"/>
              <a:t> represents train movements as interval variables and handles shared-track conflicts through global </a:t>
            </a:r>
            <a:r>
              <a:rPr lang="en-US" sz="2000" dirty="0" err="1"/>
              <a:t>NoOverlap</a:t>
            </a:r>
            <a:r>
              <a:rPr lang="en-US" sz="2000" dirty="0"/>
              <a:t> constraints.</a:t>
            </a:r>
          </a:p>
          <a:p>
            <a:r>
              <a:rPr lang="en-US" sz="2000" b="1" dirty="0"/>
              <a:t>For our project:</a:t>
            </a:r>
            <a:r>
              <a:rPr lang="en-US" sz="2000" dirty="0"/>
              <a:t> CP-SAT fits the railway dispatching structure better because routing and timing conflicts can be detected earlier and refined through SAT-based conflict learning.</a:t>
            </a:r>
            <a:endParaRPr lang="en-DE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CFB6C4-EC7C-C034-3C56-DBC193AED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CP-SAT Fits Train Dispatching Better Than a Big-M MIP Formulation</a:t>
            </a:r>
            <a:endParaRPr lang="en-D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0892F7-6DEE-2B1A-E1A2-EBC28C63A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408" y="767942"/>
            <a:ext cx="6270592" cy="470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658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5D69A8-E66F-C04B-DA84-66339AF3C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600"/>
              <a:t>Fazit und Ausblick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CFE8D9F-814C-573F-EDCD-0CAE80607F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7341889"/>
            <a:ext cx="11484000" cy="3751263"/>
          </a:xfrm>
        </p:spPr>
        <p:txBody>
          <a:bodyPr/>
          <a:lstStyle/>
          <a:p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E61206C-249D-D703-6165-E5ECE85FDB0B}"/>
              </a:ext>
            </a:extLst>
          </p:cNvPr>
          <p:cNvSpPr txBox="1"/>
          <p:nvPr/>
        </p:nvSpPr>
        <p:spPr>
          <a:xfrm>
            <a:off x="323999" y="1112262"/>
            <a:ext cx="5359977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/>
              <a:t>	Fazit</a:t>
            </a:r>
          </a:p>
        </p:txBody>
      </p:sp>
      <p:pic>
        <p:nvPicPr>
          <p:cNvPr id="13" name="Inhaltsplatzhalter 12" descr="Straßenbahnwagen Silhouette">
            <a:extLst>
              <a:ext uri="{FF2B5EF4-FFF2-40B4-BE49-F238E27FC236}">
                <a16:creationId xmlns:a16="http://schemas.microsoft.com/office/drawing/2014/main" id="{A93C04AA-9F1C-243F-31BC-055F7F6A75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4304" y="1077695"/>
            <a:ext cx="438465" cy="438465"/>
          </a:xfr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E7ECE39B-F169-E1AE-3B27-3D9BA87A741A}"/>
              </a:ext>
            </a:extLst>
          </p:cNvPr>
          <p:cNvSpPr txBox="1"/>
          <p:nvPr/>
        </p:nvSpPr>
        <p:spPr>
          <a:xfrm>
            <a:off x="324000" y="1516160"/>
            <a:ext cx="5359976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de-DE" dirty="0"/>
              <a:t>CP-SAT liefert innerhalb kurzer Laufzeiten überwiegend gute Lösungen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de-DE" dirty="0"/>
              <a:t>Besonders für kleine nor1_critical-Instanzen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de-DE" dirty="0" err="1"/>
              <a:t>Gurobi</a:t>
            </a:r>
            <a:r>
              <a:rPr lang="de-DE" dirty="0"/>
              <a:t> findet unter denselben Zeitlimits häufig keine Lösung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de-DE" dirty="0"/>
              <a:t>Die betrachteten Instanzen sind überwiegend klein, mit wachsender </a:t>
            </a:r>
            <a:r>
              <a:rPr lang="de-DE" dirty="0" err="1"/>
              <a:t>Instanzgröße</a:t>
            </a:r>
            <a:r>
              <a:rPr lang="de-DE" dirty="0"/>
              <a:t> steigt die Laufzeit deutlich an. </a:t>
            </a:r>
          </a:p>
          <a:p>
            <a:pPr lvl="1"/>
            <a:r>
              <a:rPr lang="de-DE" dirty="0"/>
              <a:t> 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FA94900-AC8E-B33E-3BB8-DB6CE09F76C0}"/>
              </a:ext>
            </a:extLst>
          </p:cNvPr>
          <p:cNvSpPr txBox="1"/>
          <p:nvPr/>
        </p:nvSpPr>
        <p:spPr>
          <a:xfrm>
            <a:off x="6508023" y="1112262"/>
            <a:ext cx="5359977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/>
              <a:t>	Ausblick</a:t>
            </a:r>
          </a:p>
        </p:txBody>
      </p:sp>
      <p:pic>
        <p:nvPicPr>
          <p:cNvPr id="17" name="Grafik 16" descr="Fernglas Silhouette">
            <a:extLst>
              <a:ext uri="{FF2B5EF4-FFF2-40B4-BE49-F238E27FC236}">
                <a16:creationId xmlns:a16="http://schemas.microsoft.com/office/drawing/2014/main" id="{A5DD816C-1643-D500-9614-6DE6A875E7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6383" y="1076132"/>
            <a:ext cx="440028" cy="440028"/>
          </a:xfrm>
          <a:prstGeom prst="rect">
            <a:avLst/>
          </a:prstGeom>
        </p:spPr>
      </p:pic>
      <p:sp>
        <p:nvSpPr>
          <p:cNvPr id="3" name="Textfeld 13">
            <a:extLst>
              <a:ext uri="{FF2B5EF4-FFF2-40B4-BE49-F238E27FC236}">
                <a16:creationId xmlns:a16="http://schemas.microsoft.com/office/drawing/2014/main" id="{5ADF26C5-FCF7-F36E-63C7-9EA7F55B337D}"/>
              </a:ext>
            </a:extLst>
          </p:cNvPr>
          <p:cNvSpPr txBox="1"/>
          <p:nvPr/>
        </p:nvSpPr>
        <p:spPr>
          <a:xfrm>
            <a:off x="6508023" y="1552290"/>
            <a:ext cx="53599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de-DE" dirty="0"/>
              <a:t>• Rolling-Horizon-Ansatz für größere Instanzen weiterentwickeln</a:t>
            </a:r>
          </a:p>
          <a:p>
            <a:pPr lvl="1"/>
            <a:r>
              <a:rPr lang="de-DE" dirty="0"/>
              <a:t>• Systematischer Vergleich von MIP und CP-SAT nach Laufzeit, Qualität und Skalierbarkeit</a:t>
            </a:r>
          </a:p>
          <a:p>
            <a:pPr lvl="1"/>
            <a:r>
              <a:rPr lang="de-DE" dirty="0"/>
              <a:t>• CP-SAT-Parameter und Modellierung weiter tunen</a:t>
            </a:r>
          </a:p>
          <a:p>
            <a:pPr lvl="1"/>
            <a:r>
              <a:rPr lang="de-DE" dirty="0"/>
              <a:t>• </a:t>
            </a:r>
            <a:r>
              <a:rPr lang="de-DE" dirty="0" err="1"/>
              <a:t>Objective</a:t>
            </a:r>
            <a:r>
              <a:rPr lang="de-DE" dirty="0"/>
              <a:t>-/Penalty-Modell näher an die vollständige DISPLIB-Formulierung anpassen</a:t>
            </a:r>
          </a:p>
          <a:p>
            <a:pPr lvl="1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2720277"/>
      </p:ext>
    </p:extLst>
  </p:cSld>
  <p:clrMapOvr>
    <a:masterClrMapping/>
  </p:clrMapOvr>
</p:sld>
</file>

<file path=ppt/theme/theme1.xml><?xml version="1.0" encoding="utf-8"?>
<a:theme xmlns:a="http://schemas.openxmlformats.org/drawingml/2006/main" name="Präsentation_Master_RWTH_Institute_16zu9">
  <a:themeElements>
    <a:clrScheme name="RWTH Farben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BDCD00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825358FF-48E6-4ECE-8C04-78B1C1D59C9F}" vid="{DDEF5410-6062-43C4-A715-B78640DDFF8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1E91672D871A544BAD23BB7C45A6B96" ma:contentTypeVersion="3" ma:contentTypeDescription="Ein neues Dokument erstellen." ma:contentTypeScope="" ma:versionID="caedbcdb776b8db0acd84c0334fa8557">
  <xsd:schema xmlns:xsd="http://www.w3.org/2001/XMLSchema" xmlns:xs="http://www.w3.org/2001/XMLSchema" xmlns:p="http://schemas.microsoft.com/office/2006/metadata/properties" xmlns:ns2="5ad56d8a-2b05-4702-9f3b-35ef8f425f89" targetNamespace="http://schemas.microsoft.com/office/2006/metadata/properties" ma:root="true" ma:fieldsID="62bcf6fc4c6579b387533be361a7976c" ns2:_="">
    <xsd:import namespace="5ad56d8a-2b05-4702-9f3b-35ef8f425f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d56d8a-2b05-4702-9f3b-35ef8f425f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AC9A9FA-665E-48DC-9E77-FD8318C06C98}">
  <ds:schemaRefs>
    <ds:schemaRef ds:uri="http://purl.org/dc/elements/1.1/"/>
    <ds:schemaRef ds:uri="http://www.w3.org/XML/1998/namespace"/>
    <ds:schemaRef ds:uri="http://schemas.microsoft.com/office/2006/documentManagement/types"/>
    <ds:schemaRef ds:uri="5ad56d8a-2b05-4702-9f3b-35ef8f425f89"/>
    <ds:schemaRef ds:uri="http://purl.org/dc/dcmitype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E1829C64-B2EA-4302-8602-BC928EBC4DB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591C89-1000-4226-AB40-C7E549EEC717}">
  <ds:schemaRefs>
    <ds:schemaRef ds:uri="5ad56d8a-2b05-4702-9f3b-35ef8f425f8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Präsentation_Master_RWTH_OM_16zu9</Template>
  <TotalTime>0</TotalTime>
  <Words>6512</Words>
  <Application>Microsoft Office PowerPoint</Application>
  <PresentationFormat>Widescreen</PresentationFormat>
  <Paragraphs>463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Aptos Mono</vt:lpstr>
      <vt:lpstr>Arial</vt:lpstr>
      <vt:lpstr>Symbol</vt:lpstr>
      <vt:lpstr>Wingdings</vt:lpstr>
      <vt:lpstr>Präsentation_Master_RWTH_Institute_16zu9</vt:lpstr>
      <vt:lpstr>APPL Optimization Lab - Zwischenpräsentation</vt:lpstr>
      <vt:lpstr>Das Train Dispatching Problem</vt:lpstr>
      <vt:lpstr>Warum OR – Tools?</vt:lpstr>
      <vt:lpstr>Variablen: dieselbe Bedeutung, andere Solver-Bausteine</vt:lpstr>
      <vt:lpstr>Hilfsvariablen: Konfliktreihenfolge und Verspätungskosten</vt:lpstr>
      <vt:lpstr>Routing: Gleichung (1) wird in beiden Codes als Flusslogik gebaut</vt:lpstr>
      <vt:lpstr>Konfliktmenge A: gemeinsame Ressourcen werden gefunden</vt:lpstr>
      <vt:lpstr>Ressourcenkonflikte: MIP entscheidet paarweise, CP-SAT nutzt Intervalle</vt:lpstr>
      <vt:lpstr>Ordnungsvariable u: verhindert unklare oder zyklische Reihenfolge</vt:lpstr>
      <vt:lpstr>Output: beide Modelle schreiben am Ende dieselbe Event-Liste</vt:lpstr>
      <vt:lpstr>Zielfunktion: im Code wird gewichtete Verspätung minimiert </vt:lpstr>
      <vt:lpstr>Performance nach 10s (nor1_critical_...) </vt:lpstr>
      <vt:lpstr>Performance nach 60s (nor2_..., nor3_...) </vt:lpstr>
      <vt:lpstr>Why CP-SAT Fits Train Dispatching Better Than a Big-M MIP Formulation</vt:lpstr>
      <vt:lpstr>Fazit und Ausblick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 Optimization Lab - Zwischenpräsentation</dc:title>
  <dc:creator>Tianyang Bai</dc:creator>
  <cp:lastModifiedBy>Tianyang Bai</cp:lastModifiedBy>
  <cp:revision>2</cp:revision>
  <dcterms:created xsi:type="dcterms:W3CDTF">2026-05-14T08:40:29Z</dcterms:created>
  <dcterms:modified xsi:type="dcterms:W3CDTF">2026-05-19T20:25:03Z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0x01010061E91672D871A544BAD23BB7C45A6B96</vt:lpwstr>
  </property>
</Properties>
</file>