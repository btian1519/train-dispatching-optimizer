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DF0A73D3-FBC1-4D47-8543-A11BA3B4DC28}"/>
              </a:ext>
            </a:extLst>
          </p:cNvPr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F4CBBA1-954F-4A35-A14D-1D851EF8E326}"/>
              </a:ext>
            </a:extLst>
          </p:cNvPr>
          <p:cNvSpPr txBox="1"/>
          <p:nvPr/>
        </p:nvSpPr>
        <p:spPr>
          <a:xfrm>
            <a:off x="-1776413" y="479425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Skalieren auf</a:t>
            </a:r>
          </a:p>
          <a:p>
            <a:pPr eaLnBrk="1" hangingPunct="1">
              <a:defRPr/>
            </a:pPr>
            <a:r>
              <a:rPr lang="de-DE" altLang="de-DE" sz="1000"/>
              <a:t>     Höhe: 2,26 cm</a:t>
            </a:r>
          </a:p>
          <a:p>
            <a:pPr eaLnBrk="1" hangingPunct="1">
              <a:defRPr/>
            </a:pPr>
            <a:r>
              <a:rPr lang="de-DE" altLang="de-DE" sz="100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Grafik 7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19A859E0-99BD-4462-A66E-7FFF62E40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965939E9-23E5-4822-9F20-1E5729CD1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54D22BF-B1FC-40F1-832A-3AB19A24FBCE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fik 6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CCAD97C0-27D9-4A7C-82D4-A17FE9DE9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1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690C6E24-94B2-4220-99A9-3818B4A91586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5" name="Grafik 9">
            <a:extLst>
              <a:ext uri="{FF2B5EF4-FFF2-40B4-BE49-F238E27FC236}">
                <a16:creationId xmlns:a16="http://schemas.microsoft.com/office/drawing/2014/main" id="{E3EF9CEB-A41E-45D4-A833-3E2B3393F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fik 6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75A3AB05-F813-4AC6-9044-5F0DA7A3C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29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FCEC0078-E1D4-4A54-B33E-F7A0F4720198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D05B0B5C-83F5-4414-B2AA-037B41B9C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319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7">
            <a:extLst>
              <a:ext uri="{FF2B5EF4-FFF2-40B4-BE49-F238E27FC236}">
                <a16:creationId xmlns:a16="http://schemas.microsoft.com/office/drawing/2014/main" id="{D5D0E2FC-3DC5-4EA0-A175-0B1CC51FC78A}"/>
              </a:ext>
            </a:extLst>
          </p:cNvPr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813E6BA0-BACC-4066-A4A7-81433711D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7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9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7">
            <a:extLst>
              <a:ext uri="{FF2B5EF4-FFF2-40B4-BE49-F238E27FC236}">
                <a16:creationId xmlns:a16="http://schemas.microsoft.com/office/drawing/2014/main" id="{25821BAF-A998-441B-8191-CE326EE1E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15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668FF3C9-89D1-4793-A0F8-160C43D2C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878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468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C3FBA6D-D185-4E65-BA58-F6D60A8CDCD2}"/>
              </a:ext>
            </a:extLst>
          </p:cNvPr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>
                <a:solidFill>
                  <a:schemeClr val="tx2"/>
                </a:solidFill>
              </a:rPr>
              <a:t>Vielen Dank</a:t>
            </a:r>
            <a:br>
              <a:rPr lang="de-DE" altLang="de-DE" sz="3200" b="1">
                <a:solidFill>
                  <a:schemeClr val="tx2"/>
                </a:solidFill>
              </a:rPr>
            </a:br>
            <a:r>
              <a:rPr lang="de-DE" altLang="de-DE" sz="3200" b="1">
                <a:solidFill>
                  <a:schemeClr val="tx2"/>
                </a:solidFill>
              </a:rPr>
              <a:t>für Ihre Aufmerksamkeit</a:t>
            </a:r>
            <a:endParaRPr lang="en-US" altLang="de-DE" sz="3200" b="1">
              <a:solidFill>
                <a:schemeClr val="tx2"/>
              </a:solidFill>
            </a:endParaRPr>
          </a:p>
        </p:txBody>
      </p:sp>
      <p:cxnSp>
        <p:nvCxnSpPr>
          <p:cNvPr id="5" name="Gerader Verbinder 11">
            <a:extLst>
              <a:ext uri="{FF2B5EF4-FFF2-40B4-BE49-F238E27FC236}">
                <a16:creationId xmlns:a16="http://schemas.microsoft.com/office/drawing/2014/main" id="{7EAD0A55-458C-461C-8A98-FB757E9F4A7E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BF6B2EA4-A7DF-477E-A555-153DA86B2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68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26CE-F9EE-BF3D-2A2E-1911B5493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DAD42-091A-D2B5-BD4F-7F527F7EB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306EB-FB49-CB5A-8484-EA061946B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5A80C-4252-4477-8AC9-3985050A38FC}" type="datetimeFigureOut">
              <a:rPr lang="en-DE" smtClean="0"/>
              <a:t>14/05/2026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B4696-78C0-B4B7-5964-9B824CCAB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F26C3-C462-BC2E-D9FC-F48B796A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D59F-9EAF-44A0-9EC7-CCBBDCCFF17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984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8CBF0E6-97C3-473E-A6E8-CB800563BB33}"/>
              </a:ext>
            </a:extLst>
          </p:cNvPr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900">
                <a:solidFill>
                  <a:schemeClr val="tx2"/>
                </a:solidFill>
              </a:rPr>
              <a:t>Titel der Präsentation  |  Name des Vortragenden  |  Organisationseinheit  |  00.00.2000  |  Die Fußzeile bietet Platz für einen Text über 3 Zeilen  |  Die Fußzeile bietet Platz für einen Text über 3 Zeilen  |  Die Fußzeile bietet Platz für 3 Zeilen  |  Die Fußzeile bietet Platz für 3 Zeilen  |  Die Fußzeile bietet Platz für 3 Zeilen  |  Die Fußzeile bietet Platz für 3 Zeilen</a:t>
            </a:r>
          </a:p>
          <a:p>
            <a:pPr eaLnBrk="1" hangingPunct="1">
              <a:defRPr/>
            </a:pPr>
            <a:endParaRPr lang="de-DE" altLang="de-DE" sz="900">
              <a:solidFill>
                <a:schemeClr val="tx2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3F14107-F8A8-4432-ADBA-17617EB7E0D5}"/>
              </a:ext>
            </a:extLst>
          </p:cNvPr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4433757-720D-4347-908D-4390B2080B31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feld 6">
            <a:extLst>
              <a:ext uri="{FF2B5EF4-FFF2-40B4-BE49-F238E27FC236}">
                <a16:creationId xmlns:a16="http://schemas.microsoft.com/office/drawing/2014/main" id="{1EFD7C95-1B86-405C-AB6F-F43FD0AF2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84350" y="5073650"/>
            <a:ext cx="16684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Fußzeile anpassen:</a:t>
            </a:r>
            <a:endParaRPr lang="de-DE" altLang="de-DE" sz="1000"/>
          </a:p>
          <a:p>
            <a:pPr eaLnBrk="1" hangingPunct="1">
              <a:defRPr/>
            </a:pPr>
            <a:r>
              <a:rPr lang="de-DE" altLang="de-DE" sz="1000"/>
              <a:t>Zum Anpassen der Fußzeile unter Karteireiter Ansicht &gt; auf Folienmaster klicken. Links in der Übersicht auf die oberste Folie scrollen und dort in die Fußzeile klicken. So wird der Text automatisch auf allen Seiten angepasst.</a:t>
            </a:r>
            <a:endParaRPr lang="de-DE" altLang="de-DE" sz="1000" b="1"/>
          </a:p>
        </p:txBody>
      </p:sp>
      <p:sp>
        <p:nvSpPr>
          <p:cNvPr id="1031" name="Textfeld 13">
            <a:extLst>
              <a:ext uri="{FF2B5EF4-FFF2-40B4-BE49-F238E27FC236}">
                <a16:creationId xmlns:a16="http://schemas.microsoft.com/office/drawing/2014/main" id="{6F5E163A-F32F-4307-A238-CBCE094AF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96AFAB6-A7B6-45C5-B5AC-8B3CADFAAA85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‹#›</a:t>
            </a:fld>
            <a:endParaRPr lang="de-DE" altLang="de-DE" sz="900">
              <a:solidFill>
                <a:schemeClr val="tx2"/>
              </a:solidFill>
            </a:endParaRPr>
          </a:p>
        </p:txBody>
      </p:sp>
      <p:pic>
        <p:nvPicPr>
          <p:cNvPr id="3" name="Grafik 2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9A65EF06-F076-4140-B064-D92FFD5FE32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212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6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6341724-AA7A-7643-5484-DEFE07CAB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0E28D7B-B42A-D1A0-DA66-D1D2A84DF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0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DEAE-3F61-CA6A-99AF-3573C7F72D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1AC59-996D-7754-6721-65C2E887F0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50979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Optimierung des Train Dispatching Problems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Von MIP-Baseline zu Constraint Programming (CP-SAT)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1800"/>
              <a:t>1. Einführung &amp; Problemlogik</a:t>
            </a:r>
          </a:p>
          <a:p>
            <a:r>
              <a:rPr sz="1800"/>
              <a:t>2. Mathematische Modellierung</a:t>
            </a:r>
          </a:p>
          <a:p>
            <a:r>
              <a:rPr sz="1800"/>
              <a:t>3. Implementierungsvergleich: Modell vs. Baseline vs. Extension</a:t>
            </a:r>
          </a:p>
          <a:p>
            <a:r>
              <a:rPr sz="1800"/>
              <a:t>4. Methodenvergleich: MIP (Gurobi) vs. CP (OR-Tools)</a:t>
            </a:r>
          </a:p>
          <a:p>
            <a:r>
              <a:rPr sz="1800"/>
              <a:t>5. Fazit &amp; Ausblick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Train Dispatching Problem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1800"/>
              <a:t>Ziel: Zuweisung von Streckenressourcen an Züge unter strikter Einhaltung von Sicherheitsabständen.</a:t>
            </a:r>
          </a:p>
          <a:p>
            <a:r>
              <a:rPr sz="1800"/>
              <a:t>Herausforderung (Flow &amp; Time Routing): Simultane Optimierung der Zugpfade und der exakten Belegungszeiten.</a:t>
            </a:r>
          </a:p>
          <a:p>
            <a:r>
              <a:rPr sz="1800"/>
              <a:t>Ressourcenexklusivität: Züge konkurrieren um dieselben Ressourcen (Konfliktpotenzial).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Mathematische Modellierung: Routing &amp; Zeitplanung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1800"/>
              <a:t>Entscheidungsvariablen:</a:t>
            </a:r>
          </a:p>
          <a:p>
            <a:r>
              <a:rPr sz="1800"/>
              <a:t>  - x_a ∈ {0, 1}: Wird Operation a ausgeführt?</a:t>
            </a:r>
          </a:p>
          <a:p>
            <a:r>
              <a:rPr sz="1800"/>
              <a:t>  - y_a,b ∈ {0, 1}: Findet Operation b direkt nach a statt?</a:t>
            </a:r>
          </a:p>
          <a:p>
            <a:r>
              <a:rPr sz="1800"/>
              <a:t>  - t_a ≥ 0: Startzeitpunkt der Operation a (kontinuierlich).</a:t>
            </a:r>
          </a:p>
          <a:p>
            <a:r>
              <a:rPr sz="1800"/>
              <a:t>Flusserhaltung (Flow Conservation):</a:t>
            </a:r>
          </a:p>
          <a:p>
            <a:r>
              <a:rPr sz="1800"/>
              <a:t>  - Jeder Zug benötigt einen logischen Pfad durch das Netzwerk.</a:t>
            </a:r>
          </a:p>
          <a:p>
            <a:r>
              <a:rPr sz="1800"/>
              <a:t>Zeitliche Abhängigkeit (Precedence):</a:t>
            </a:r>
          </a:p>
          <a:p>
            <a:r>
              <a:rPr sz="1800"/>
              <a:t>  - t_b ≥ t_a + duration_a (Nur wenn y_a,b = 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Kollisionsvermeidung &amp; Deadlock-Prävention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1800"/>
              <a:t>Big-M Methode:</a:t>
            </a:r>
          </a:p>
          <a:p>
            <a:r>
              <a:rPr sz="1800"/>
              <a:t>  - Konfliktvariable z_a,b trennt Züge zeitlich. Zug A fährt vor B, oder umgekehrt.</a:t>
            </a:r>
          </a:p>
          <a:p>
            <a:r>
              <a:rPr sz="1800"/>
              <a:t>Das Problem (Head-on Deadlocks):</a:t>
            </a:r>
          </a:p>
          <a:p>
            <a:r>
              <a:rPr sz="1800"/>
              <a:t>  - Das reine Zeitmodell (t) erlaubt theoretisches 'Durchfahren' auf eingleisigen Strecken.</a:t>
            </a:r>
          </a:p>
          <a:p>
            <a:r>
              <a:rPr sz="1800"/>
              <a:t>Die Lösung (Topologisches Sortieren):</a:t>
            </a:r>
          </a:p>
          <a:p>
            <a:r>
              <a:rPr sz="1800"/>
              <a:t>  - Einführung der topologischen Ränge u_a.</a:t>
            </a:r>
          </a:p>
          <a:p>
            <a:r>
              <a:rPr sz="1800"/>
              <a:t>  - Wenn b nach a folgt, muss u_b ≤ u_a - 1 gelten.</a:t>
            </a:r>
          </a:p>
          <a:p>
            <a:r>
              <a:rPr sz="1800"/>
              <a:t>  - Dies erzwingt einen gerichteten, azyklischen Graphen (DAG).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Mapping: Modell vs. Baseline vs. Extend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400"/>
                        <a:t>Konzept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Math. Modell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Baseline (Gurobi)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Extend (CP-SAT)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Fluss (y)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y_i,a,b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self.y[train_id, op_a, op_b]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self.y[t_id, o_id, succ]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Zeit (t)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t_i,a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self.t (Kontinuierlich)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IntervalVar (Block: Start, Dauer, Ende)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Kollision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Big-M mit z_a,b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Indikator-Constraints (&gt;&gt;)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Globale Constraint AddNoOverlap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Deadlock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u_a - u_b &lt;= -1 +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Big-M Rang-Vergleich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Manuelle Topologie-Synchronisation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Methodenvergleich: MIP (Gurobi) vs. CP (OR-Tools)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1800"/>
              <a:t>MIP-Nachteile für Scheduling:</a:t>
            </a:r>
          </a:p>
          <a:p>
            <a:r>
              <a:rPr sz="1800"/>
              <a:t>  - Zeit ist isolierter Punkt. Big-M erzeugt N² Variablen (Suchbaum-Explosion).</a:t>
            </a:r>
          </a:p>
          <a:p>
            <a:r>
              <a:rPr sz="1800"/>
              <a:t>Vorteile von CP-SAT (Constraint Programming):</a:t>
            </a:r>
          </a:p>
          <a:p>
            <a:r>
              <a:rPr sz="1800"/>
              <a:t>  - Interval Variables: Zeit wird nativ als Block modelliert.</a:t>
            </a:r>
          </a:p>
          <a:p>
            <a:r>
              <a:rPr sz="1800"/>
              <a:t>  - Globale Constraints: AddNoOverlap nutzt Edge-finding Algorithmen.</a:t>
            </a:r>
          </a:p>
          <a:p>
            <a:r>
              <a:rPr sz="1800"/>
              <a:t>  - Exakter Löser: Garantiert mathematisch das globale Optimum.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Ergebnisse &amp; Ausblick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1800"/>
              <a:t>Fazit: Hybrides Vorgehen aus CP-SAT für Zeit-Scheduling und topologischen Regeln (u) für absolute Deadlock-Freiheit.</a:t>
            </a:r>
          </a:p>
          <a:p>
            <a:r>
              <a:rPr sz="1800"/>
              <a:t>Performance:</a:t>
            </a:r>
          </a:p>
          <a:p>
            <a:r>
              <a:rPr sz="1800"/>
              <a:t>  - CP-SAT löst komplexe Testinstanzen (z.B. smi_close_4) in weniger als 0.05 Sekunden.</a:t>
            </a:r>
          </a:p>
          <a:p>
            <a:r>
              <a:rPr sz="1800"/>
              <a:t>  - Enorme Verbesserung gegenüber der reinen MIP-Baseline.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äsentation_Master_RWTH_Institute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825358FF-48E6-4ECE-8C04-78B1C1D59C9F}" vid="{DDEF5410-6062-43C4-A715-B78640DDFF8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Präsentation_Master_RWTH_OM_16zu9</Template>
  <TotalTime>0</TotalTime>
  <Words>541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Symbol</vt:lpstr>
      <vt:lpstr>Wingdings</vt:lpstr>
      <vt:lpstr>Präsentation_Master_RWTH_Institute_16zu9</vt:lpstr>
      <vt:lpstr>PowerPoint Presentation</vt:lpstr>
      <vt:lpstr>PowerPoint Presentation</vt:lpstr>
      <vt:lpstr>Optimierung des Train Dispatching Problems</vt:lpstr>
      <vt:lpstr>Agenda</vt:lpstr>
      <vt:lpstr>Das Train Dispatching Problem</vt:lpstr>
      <vt:lpstr>Mathematische Modellierung: Routing &amp; Zeitplanung</vt:lpstr>
      <vt:lpstr>Kollisionsvermeidung &amp; Deadlock-Prävention</vt:lpstr>
      <vt:lpstr>Mapping: Modell vs. Baseline vs. Extend</vt:lpstr>
      <vt:lpstr>Methodenvergleich: MIP (Gurobi) vs. CP (OR-Tools)</vt:lpstr>
      <vt:lpstr>Ergebnisse &amp; Ausblick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Tianyang Bai</dc:creator>
  <cp:lastModifiedBy>Tianyang Bai</cp:lastModifiedBy>
  <cp:revision>2</cp:revision>
  <dcterms:created xsi:type="dcterms:W3CDTF">2026-05-14T08:40:29Z</dcterms:created>
  <dcterms:modified xsi:type="dcterms:W3CDTF">2026-05-14T11:07:42Z</dcterms:modified>
</cp:coreProperties>
</file>